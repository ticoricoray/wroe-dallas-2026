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[Pre-event loop — plays 12:45–1:10 PM as guests return from Walt Brown’s lunch and take a 10-minute break. No emcee needed. Slide auto-advances every 15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[Pre-event loop — no emcee needed. Confirmed venue Wi-Fi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[Pre-event loop — no emcee needed. Replace directional details with actual venue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[Pre-event loop — no emcee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[Pre-event loop — no emcee needed. Displays 5 minutes before 1:10 PM to prompt seating.]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EMCEE OPEN (60-90 seconds) — Paid-Day Return from Lunch:
Welcome back, North Texas. Hope you enjoyed lunch and the conversation with Walt Brown — the 7 Critical Needs is going to stick with you.
Quick reminders as we get into the paid workshops. Restrooms are down the main hallway on your right. Wi-Fi info is on the pre-event slides if you missed it. Please silence your phones — not off, silence — because we want you posting from every session this afternoon. Hashtag is #WRoENorthTexas2026.
This afternoon: three of the best Expert EOS Implementers in the country, three hardcover books in your bag, and a Happy Hour at 6:15 that you will not want to miss.
Let’s kick this off. Please welcome to the stage — Expert EOS Implementer and author of Data, Mark Stanley.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EMCEE INTRO (30-45 seconds):
In this session we're going to challenge one of the most common assumptions in business — that growth equals health. Mark Stanley, Expert EOS Implementer and author of Data, is going to help you decide whether you're really getting stronger or just getting bigger. Please welcome Mark Stanley.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 HANDOFF for Mark Stanley:
1. Press Esc to exit this master deck.
2. Open speaker-decks\Profit-Power-Deck.pptx in PowerPoint.
3. Press F5 to run the presenter's deck.
4. When they finish, Esc and re-open Deck.pptx &gt; Custom Show &gt; Event to continue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EMCEE (20 seconds): "Fifteen minute break. Sponsor lounge is open — say hi. Back at 2:55 with Beth Fahey."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EMCEE INTRO (30-45 seconds):
Getting EOS to the leadership team is one thing. Getting it all the way through the organization is another. Beth Fahey, Expert EOS Implementer and author of Rollout, is going to give you the field-tested playbook. Please welcome Beth Fahey.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canvas for Beth Fahey. Replace with the presenter's deck, or annotate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EMCEE: "Last break of the day, twenty minutes. Stretch, refuel, then we bring it home with Mark C. Winters."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EMCEE (20-30 seconds):
Take a look at the screen — these are the companies that made today possible. Please visit their tables at the break, follow them on LinkedIn, and if any of them can serve your business — reach out. This day exists because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EMCEE (15 seconds):
One more round of thanks — our community sponsors put swag in your bag and staffed booths in the lounge all day. Stop by, grab a card, and thank them personally.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EMCEE INTRO (30-45 seconds):
We save the very best for last. Mark C. Winters — Expert EOS Implementer and co-author of Rocket Fuel and Visionary — is going to walk us through the ten pillars of Visionary greatness. Please welcome Mark C. Winters.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 HANDOFF for Mark C. Winters:
1. Press Esc to exit this master deck.
2. Open speaker-decks\10-Pillars-of-Visionary-Greatness.pptx in PowerPoint.
3. Press F5 to run the presenter's deck.
4. When they finish, Esc and re-open Deck.pptx &gt; Custom Show &gt; Event to continue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EMCEE CLOSE (60-90 seconds):
That's a wrap on the formal program — but don't leave yet. Happy Hour starts right now, right here, sponsored by our friends at Ninety.io.
A few thank-yous. Thank you to every one of our speakers — you gave us your very best today. Thank you to our fifteen sponsors — this doesn't happen without you. Thank you to the venue and the staff for taking care of us all day.
And most of all — thank YOU for showing up. Your business is better today than it was this morning. Now go find someone you don't know, buy them a drink, and swap notes. See you at We Run on EOS North Texas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slideLayout" Target="../slideLayouts/slideLayout1.xml"/><Relationship Id="rId1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image" Target="../media/image-12-16.png"/><Relationship Id="rId17" Type="http://schemas.openxmlformats.org/officeDocument/2006/relationships/image" Target="../media/image-12-17.png"/><Relationship Id="rId18" Type="http://schemas.openxmlformats.org/officeDocument/2006/relationships/slideLayout" Target="../slideLayouts/slideLayout1.xml"/><Relationship Id="rId1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slideLayout" Target="../slideLayouts/slideLayout1.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457200" y="1097280"/>
            <a:ext cx="11277295" cy="457200"/>
          </a:xfrm>
          <a:prstGeom prst="rect">
            <a:avLst/>
          </a:prstGeom>
          <a:noFill/>
          <a:ln/>
        </p:spPr>
        <p:txBody>
          <a:bodyPr wrap="square" rtlCol="0" anchor="ctr"/>
          <a:lstStyle/>
          <a:p>
            <a:pPr algn="ctr" indent="0" marL="0">
              <a:buNone/>
            </a:pPr>
            <a:r>
              <a:rPr lang="en-US" sz="1800" b="1" spc="1200" kern="0" dirty="0">
                <a:solidFill>
                  <a:srgbClr val="E87722"/>
                </a:solidFill>
                <a:latin typeface="Calibri" pitchFamily="34" charset="0"/>
                <a:ea typeface="Calibri" pitchFamily="34" charset="-122"/>
                <a:cs typeface="Calibri" pitchFamily="34" charset="-120"/>
              </a:rPr>
              <a:t>WELCOME</a:t>
            </a:r>
            <a:endParaRPr lang="en-US" sz="1800" dirty="0"/>
          </a:p>
        </p:txBody>
      </p:sp>
      <p:sp>
        <p:nvSpPr>
          <p:cNvPr id="3" name="Text 1"/>
          <p:cNvSpPr/>
          <p:nvPr/>
        </p:nvSpPr>
        <p:spPr>
          <a:xfrm>
            <a:off x="457200" y="1737360"/>
            <a:ext cx="11277295" cy="1097280"/>
          </a:xfrm>
          <a:prstGeom prst="rect">
            <a:avLst/>
          </a:prstGeom>
          <a:noFill/>
          <a:ln/>
        </p:spPr>
        <p:txBody>
          <a:bodyPr wrap="square" rtlCol="0" anchor="ctr"/>
          <a:lstStyle/>
          <a:p>
            <a:pPr algn="ctr" indent="0" marL="0">
              <a:buNone/>
            </a:pPr>
            <a:r>
              <a:rPr lang="en-US" sz="7200" b="1" dirty="0">
                <a:solidFill>
                  <a:srgbClr val="FFFFFF"/>
                </a:solidFill>
                <a:latin typeface="Calibri" pitchFamily="34" charset="0"/>
                <a:ea typeface="Calibri" pitchFamily="34" charset="-122"/>
                <a:cs typeface="Calibri" pitchFamily="34" charset="-120"/>
              </a:rPr>
              <a:t>We Run on EOS®</a:t>
            </a:r>
            <a:endParaRPr lang="en-US" sz="7200" dirty="0"/>
          </a:p>
        </p:txBody>
      </p:sp>
      <p:sp>
        <p:nvSpPr>
          <p:cNvPr id="4" name="Text 2"/>
          <p:cNvSpPr/>
          <p:nvPr/>
        </p:nvSpPr>
        <p:spPr>
          <a:xfrm>
            <a:off x="457200" y="2834640"/>
            <a:ext cx="11277295" cy="731520"/>
          </a:xfrm>
          <a:prstGeom prst="rect">
            <a:avLst/>
          </a:prstGeom>
          <a:noFill/>
          <a:ln/>
        </p:spPr>
        <p:txBody>
          <a:bodyPr wrap="square" rtlCol="0" anchor="ctr"/>
          <a:lstStyle/>
          <a:p>
            <a:pPr algn="ctr" indent="0" marL="0">
              <a:buNone/>
            </a:pPr>
            <a:r>
              <a:rPr lang="en-US" sz="4400" dirty="0">
                <a:solidFill>
                  <a:srgbClr val="FFFFFF"/>
                </a:solidFill>
                <a:latin typeface="Calibri" pitchFamily="34" charset="0"/>
                <a:ea typeface="Calibri" pitchFamily="34" charset="-122"/>
                <a:cs typeface="Calibri" pitchFamily="34" charset="-120"/>
              </a:rPr>
              <a:t>North Texas 2026</a:t>
            </a:r>
            <a:endParaRPr lang="en-US" sz="4400" dirty="0"/>
          </a:p>
        </p:txBody>
      </p:sp>
      <p:sp>
        <p:nvSpPr>
          <p:cNvPr id="5" name="Text 3"/>
          <p:cNvSpPr/>
          <p:nvPr/>
        </p:nvSpPr>
        <p:spPr>
          <a:xfrm>
            <a:off x="457200" y="4114800"/>
            <a:ext cx="11277295" cy="457200"/>
          </a:xfrm>
          <a:prstGeom prst="rect">
            <a:avLst/>
          </a:prstGeom>
          <a:noFill/>
          <a:ln/>
        </p:spPr>
        <p:txBody>
          <a:bodyPr wrap="square" rtlCol="0" anchor="ctr"/>
          <a:lstStyle/>
          <a:p>
            <a:pPr algn="ctr" indent="0" marL="0">
              <a:buNone/>
            </a:pPr>
            <a:r>
              <a:rPr lang="en-US" sz="2200" i="1" dirty="0">
                <a:solidFill>
                  <a:srgbClr val="E87722"/>
                </a:solidFill>
                <a:latin typeface="Calibri" pitchFamily="34" charset="0"/>
                <a:ea typeface="Calibri" pitchFamily="34" charset="-122"/>
                <a:cs typeface="Calibri" pitchFamily="34" charset="-120"/>
              </a:rPr>
              <a:t>Afternoon Program  ·  Resumes at 1:10 PM</a:t>
            </a:r>
            <a:endParaRPr lang="en-US" sz="2200" dirty="0"/>
          </a:p>
        </p:txBody>
      </p:sp>
      <p:sp>
        <p:nvSpPr>
          <p:cNvPr id="6" name="Text 4"/>
          <p:cNvSpPr/>
          <p:nvPr/>
        </p:nvSpPr>
        <p:spPr>
          <a:xfrm>
            <a:off x="457200" y="4663440"/>
            <a:ext cx="11277295" cy="36576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Grab coffee. Say hello. Take a seat near the front.</a:t>
            </a:r>
            <a:endParaRPr lang="en-US" sz="1600" dirty="0"/>
          </a:p>
        </p:txBody>
      </p:sp>
      <p:sp>
        <p:nvSpPr>
          <p:cNvPr id="7" name="Shape 5"/>
          <p:cNvSpPr/>
          <p:nvPr/>
        </p:nvSpPr>
        <p:spPr>
          <a:xfrm>
            <a:off x="0" y="6675120"/>
            <a:ext cx="12191695" cy="182880"/>
          </a:xfrm>
          <a:prstGeom prst="rect">
            <a:avLst/>
          </a:prstGeom>
          <a:solidFill>
            <a:srgbClr val="E87722"/>
          </a:solidFill>
          <a:ln w="12700">
            <a:solidFill>
              <a:srgbClr val="E87722"/>
            </a:solidFill>
            <a:prstDash val="solid"/>
          </a:ln>
        </p:spPr>
      </p:sp>
      <p:sp>
        <p:nvSpPr>
          <p:cNvPr id="8" name="Text 6"/>
          <p:cNvSpPr/>
          <p:nvPr/>
        </p:nvSpPr>
        <p:spPr>
          <a:xfrm>
            <a:off x="457200" y="6446520"/>
            <a:ext cx="7315200" cy="228600"/>
          </a:xfrm>
          <a:prstGeom prst="rect">
            <a:avLst/>
          </a:prstGeom>
          <a:noFill/>
          <a:ln/>
        </p:spPr>
        <p:txBody>
          <a:bodyPr wrap="square"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WE RUN ON EOS® NORTH TEXAS  ·  SEPTEMBER 14, 2026</a:t>
            </a:r>
            <a:endParaRPr lang="en-US" sz="900" dirty="0"/>
          </a:p>
        </p:txBody>
      </p:sp>
      <p:sp>
        <p:nvSpPr>
          <p:cNvPr id="9" name="Text 7"/>
          <p:cNvSpPr/>
          <p:nvPr/>
        </p:nvSpPr>
        <p:spPr>
          <a:xfrm>
            <a:off x="5029200" y="6446520"/>
            <a:ext cx="667512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#WRoENorthTexas2026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457200" y="1097280"/>
            <a:ext cx="11277295" cy="457200"/>
          </a:xfrm>
          <a:prstGeom prst="rect">
            <a:avLst/>
          </a:prstGeom>
          <a:noFill/>
          <a:ln/>
        </p:spPr>
        <p:txBody>
          <a:bodyPr wrap="square" rtlCol="0" anchor="ctr"/>
          <a:lstStyle/>
          <a:p>
            <a:pPr algn="ctr" indent="0" marL="0">
              <a:buNone/>
            </a:pPr>
            <a:r>
              <a:rPr lang="en-US" sz="1800" b="1" spc="1200" kern="0" dirty="0">
                <a:solidFill>
                  <a:srgbClr val="E87722"/>
                </a:solidFill>
                <a:latin typeface="Calibri" pitchFamily="34" charset="0"/>
                <a:ea typeface="Calibri" pitchFamily="34" charset="-122"/>
                <a:cs typeface="Calibri" pitchFamily="34" charset="-120"/>
              </a:rPr>
              <a:t>WI-FI</a:t>
            </a:r>
            <a:endParaRPr lang="en-US" sz="1800" dirty="0"/>
          </a:p>
        </p:txBody>
      </p:sp>
      <p:sp>
        <p:nvSpPr>
          <p:cNvPr id="3" name="Text 1"/>
          <p:cNvSpPr/>
          <p:nvPr/>
        </p:nvSpPr>
        <p:spPr>
          <a:xfrm>
            <a:off x="457200" y="1737360"/>
            <a:ext cx="11277295" cy="64008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Connect while you settle in</a:t>
            </a:r>
            <a:endParaRPr lang="en-US" sz="3200" dirty="0"/>
          </a:p>
        </p:txBody>
      </p:sp>
      <p:sp>
        <p:nvSpPr>
          <p:cNvPr id="4" name="Shape 2"/>
          <p:cNvSpPr/>
          <p:nvPr/>
        </p:nvSpPr>
        <p:spPr>
          <a:xfrm>
            <a:off x="3200400" y="2926080"/>
            <a:ext cx="5790895" cy="1005840"/>
          </a:xfrm>
          <a:prstGeom prst="roundRect">
            <a:avLst>
              <a:gd name="adj" fmla="val 9091"/>
            </a:avLst>
          </a:prstGeom>
          <a:solidFill>
            <a:srgbClr val="1A2E4A"/>
          </a:solidFill>
          <a:ln w="12700">
            <a:solidFill>
              <a:srgbClr val="E87722"/>
            </a:solidFill>
            <a:prstDash val="solid"/>
          </a:ln>
        </p:spPr>
      </p:sp>
      <p:sp>
        <p:nvSpPr>
          <p:cNvPr id="5" name="Text 3"/>
          <p:cNvSpPr/>
          <p:nvPr/>
        </p:nvSpPr>
        <p:spPr>
          <a:xfrm>
            <a:off x="3383280" y="3017520"/>
            <a:ext cx="5486400" cy="274320"/>
          </a:xfrm>
          <a:prstGeom prst="rect">
            <a:avLst/>
          </a:prstGeom>
          <a:noFill/>
          <a:ln/>
        </p:spPr>
        <p:txBody>
          <a:bodyPr wrap="square" rtlCol="0" anchor="ctr"/>
          <a:lstStyle/>
          <a:p>
            <a:pPr indent="0" marL="0">
              <a:buNone/>
            </a:pPr>
            <a:r>
              <a:rPr lang="en-US" sz="1200" b="1" spc="800" kern="0" dirty="0">
                <a:solidFill>
                  <a:srgbClr val="E87722"/>
                </a:solidFill>
                <a:latin typeface="Calibri" pitchFamily="34" charset="0"/>
                <a:ea typeface="Calibri" pitchFamily="34" charset="-122"/>
                <a:cs typeface="Calibri" pitchFamily="34" charset="-120"/>
              </a:rPr>
              <a:t>NETWORK</a:t>
            </a:r>
            <a:endParaRPr lang="en-US" sz="1200" dirty="0"/>
          </a:p>
        </p:txBody>
      </p:sp>
      <p:sp>
        <p:nvSpPr>
          <p:cNvPr id="6" name="Text 4"/>
          <p:cNvSpPr/>
          <p:nvPr/>
        </p:nvSpPr>
        <p:spPr>
          <a:xfrm>
            <a:off x="3383280" y="3337560"/>
            <a:ext cx="5486400" cy="50292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Hilton Honors Meeting</a:t>
            </a:r>
            <a:endParaRPr lang="en-US" sz="3200" dirty="0"/>
          </a:p>
        </p:txBody>
      </p:sp>
      <p:sp>
        <p:nvSpPr>
          <p:cNvPr id="7" name="Shape 5"/>
          <p:cNvSpPr/>
          <p:nvPr/>
        </p:nvSpPr>
        <p:spPr>
          <a:xfrm>
            <a:off x="3200400" y="4114800"/>
            <a:ext cx="5790895" cy="1005840"/>
          </a:xfrm>
          <a:prstGeom prst="roundRect">
            <a:avLst>
              <a:gd name="adj" fmla="val 9091"/>
            </a:avLst>
          </a:prstGeom>
          <a:solidFill>
            <a:srgbClr val="1A2E4A"/>
          </a:solidFill>
          <a:ln w="12700">
            <a:solidFill>
              <a:srgbClr val="E87722"/>
            </a:solidFill>
            <a:prstDash val="solid"/>
          </a:ln>
        </p:spPr>
      </p:sp>
      <p:sp>
        <p:nvSpPr>
          <p:cNvPr id="8" name="Text 6"/>
          <p:cNvSpPr/>
          <p:nvPr/>
        </p:nvSpPr>
        <p:spPr>
          <a:xfrm>
            <a:off x="3383280" y="4206240"/>
            <a:ext cx="5486400" cy="274320"/>
          </a:xfrm>
          <a:prstGeom prst="rect">
            <a:avLst/>
          </a:prstGeom>
          <a:noFill/>
          <a:ln/>
        </p:spPr>
        <p:txBody>
          <a:bodyPr wrap="square" rtlCol="0" anchor="ctr"/>
          <a:lstStyle/>
          <a:p>
            <a:pPr indent="0" marL="0">
              <a:buNone/>
            </a:pPr>
            <a:r>
              <a:rPr lang="en-US" sz="1200" b="1" spc="800" kern="0" dirty="0">
                <a:solidFill>
                  <a:srgbClr val="E87722"/>
                </a:solidFill>
                <a:latin typeface="Calibri" pitchFamily="34" charset="0"/>
                <a:ea typeface="Calibri" pitchFamily="34" charset="-122"/>
                <a:cs typeface="Calibri" pitchFamily="34" charset="-120"/>
              </a:rPr>
              <a:t>PASSWORD</a:t>
            </a:r>
            <a:endParaRPr lang="en-US" sz="1200" dirty="0"/>
          </a:p>
        </p:txBody>
      </p:sp>
      <p:sp>
        <p:nvSpPr>
          <p:cNvPr id="9" name="Text 7"/>
          <p:cNvSpPr/>
          <p:nvPr/>
        </p:nvSpPr>
        <p:spPr>
          <a:xfrm>
            <a:off x="3383280" y="4526280"/>
            <a:ext cx="5486400" cy="50292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Traction</a:t>
            </a:r>
            <a:endParaRPr lang="en-US" sz="3200" dirty="0"/>
          </a:p>
        </p:txBody>
      </p:sp>
      <p:sp>
        <p:nvSpPr>
          <p:cNvPr id="10" name="Shape 8"/>
          <p:cNvSpPr/>
          <p:nvPr/>
        </p:nvSpPr>
        <p:spPr>
          <a:xfrm>
            <a:off x="0" y="6675120"/>
            <a:ext cx="12191695" cy="182880"/>
          </a:xfrm>
          <a:prstGeom prst="rect">
            <a:avLst/>
          </a:prstGeom>
          <a:solidFill>
            <a:srgbClr val="E87722"/>
          </a:solidFill>
          <a:ln w="12700">
            <a:solidFill>
              <a:srgbClr val="E87722"/>
            </a:solidFill>
            <a:prstDash val="solid"/>
          </a:ln>
        </p:spPr>
      </p:sp>
      <p:sp>
        <p:nvSpPr>
          <p:cNvPr id="11" name="Text 9"/>
          <p:cNvSpPr/>
          <p:nvPr/>
        </p:nvSpPr>
        <p:spPr>
          <a:xfrm>
            <a:off x="457200" y="6446520"/>
            <a:ext cx="7315200" cy="228600"/>
          </a:xfrm>
          <a:prstGeom prst="rect">
            <a:avLst/>
          </a:prstGeom>
          <a:noFill/>
          <a:ln/>
        </p:spPr>
        <p:txBody>
          <a:bodyPr wrap="square"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WE RUN ON EOS® NORTH TEXAS  ·  SEPTEMBER 14, 2026</a:t>
            </a:r>
            <a:endParaRPr lang="en-US" sz="900" dirty="0"/>
          </a:p>
        </p:txBody>
      </p:sp>
      <p:sp>
        <p:nvSpPr>
          <p:cNvPr id="12" name="Text 10"/>
          <p:cNvSpPr/>
          <p:nvPr/>
        </p:nvSpPr>
        <p:spPr>
          <a:xfrm>
            <a:off x="5029200" y="6446520"/>
            <a:ext cx="667512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#WRoENorthTexas2026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457200" y="1097280"/>
            <a:ext cx="11277295" cy="457200"/>
          </a:xfrm>
          <a:prstGeom prst="rect">
            <a:avLst/>
          </a:prstGeom>
          <a:noFill/>
          <a:ln/>
        </p:spPr>
        <p:txBody>
          <a:bodyPr wrap="square" rtlCol="0" anchor="ctr"/>
          <a:lstStyle/>
          <a:p>
            <a:pPr algn="ctr" indent="0" marL="0">
              <a:buNone/>
            </a:pPr>
            <a:r>
              <a:rPr lang="en-US" sz="1800" b="1" spc="1200" kern="0" dirty="0">
                <a:solidFill>
                  <a:srgbClr val="E87722"/>
                </a:solidFill>
                <a:latin typeface="Calibri" pitchFamily="34" charset="0"/>
                <a:ea typeface="Calibri" pitchFamily="34" charset="-122"/>
                <a:cs typeface="Calibri" pitchFamily="34" charset="-120"/>
              </a:rPr>
              <a:t>THE ESSENTIALS</a:t>
            </a:r>
            <a:endParaRPr lang="en-US" sz="1800" dirty="0"/>
          </a:p>
        </p:txBody>
      </p:sp>
      <p:sp>
        <p:nvSpPr>
          <p:cNvPr id="3" name="Shape 1"/>
          <p:cNvSpPr/>
          <p:nvPr/>
        </p:nvSpPr>
        <p:spPr>
          <a:xfrm>
            <a:off x="1371600" y="2286000"/>
            <a:ext cx="4419295" cy="2926080"/>
          </a:xfrm>
          <a:prstGeom prst="roundRect">
            <a:avLst>
              <a:gd name="adj" fmla="val 4688"/>
            </a:avLst>
          </a:prstGeom>
          <a:solidFill>
            <a:srgbClr val="1A2E4A"/>
          </a:solidFill>
          <a:ln w="12700">
            <a:solidFill>
              <a:srgbClr val="E87722"/>
            </a:solidFill>
            <a:prstDash val="solid"/>
          </a:ln>
        </p:spPr>
      </p:sp>
      <p:sp>
        <p:nvSpPr>
          <p:cNvPr id="4" name="Text 2"/>
          <p:cNvSpPr/>
          <p:nvPr/>
        </p:nvSpPr>
        <p:spPr>
          <a:xfrm>
            <a:off x="1645920" y="2651760"/>
            <a:ext cx="3870655" cy="457200"/>
          </a:xfrm>
          <a:prstGeom prst="rect">
            <a:avLst/>
          </a:prstGeom>
          <a:noFill/>
          <a:ln/>
        </p:spPr>
        <p:txBody>
          <a:bodyPr wrap="square" rtlCol="0" anchor="ctr"/>
          <a:lstStyle/>
          <a:p>
            <a:pPr indent="0" marL="0">
              <a:buNone/>
            </a:pPr>
            <a:r>
              <a:rPr lang="en-US" sz="1400" b="1" spc="800" kern="0" dirty="0">
                <a:solidFill>
                  <a:srgbClr val="E87722"/>
                </a:solidFill>
                <a:latin typeface="Calibri" pitchFamily="34" charset="0"/>
                <a:ea typeface="Calibri" pitchFamily="34" charset="-122"/>
                <a:cs typeface="Calibri" pitchFamily="34" charset="-120"/>
              </a:rPr>
              <a:t>RESTROOMS</a:t>
            </a:r>
            <a:endParaRPr lang="en-US" sz="1400" dirty="0"/>
          </a:p>
        </p:txBody>
      </p:sp>
      <p:sp>
        <p:nvSpPr>
          <p:cNvPr id="5" name="Text 3"/>
          <p:cNvSpPr/>
          <p:nvPr/>
        </p:nvSpPr>
        <p:spPr>
          <a:xfrm>
            <a:off x="1645920" y="3291840"/>
            <a:ext cx="3870655" cy="1737360"/>
          </a:xfrm>
          <a:prstGeom prst="rect">
            <a:avLst/>
          </a:prstGeom>
          <a:noFill/>
          <a:ln/>
        </p:spPr>
        <p:txBody>
          <a:bodyPr wrap="square" rtlCol="0" anchor="ctr"/>
          <a:lstStyle/>
          <a:p>
            <a:pPr algn="l" indent="0" marL="0">
              <a:buNone/>
            </a:pPr>
            <a:r>
              <a:rPr lang="en-US" sz="2200" dirty="0">
                <a:solidFill>
                  <a:srgbClr val="FFFFFF"/>
                </a:solidFill>
                <a:latin typeface="Calibri" pitchFamily="34" charset="0"/>
                <a:ea typeface="Calibri" pitchFamily="34" charset="-122"/>
                <a:cs typeface="Calibri" pitchFamily="34" charset="-120"/>
              </a:rPr>
              <a:t>Down the main hallway,</a:t>
            </a:r>
            <a:endParaRPr lang="en-US" sz="2200" dirty="0"/>
          </a:p>
          <a:p>
            <a:pPr algn="l" indent="0" marL="0">
              <a:buNone/>
            </a:pPr>
            <a:r>
              <a:rPr lang="en-US" sz="2200" dirty="0">
                <a:solidFill>
                  <a:srgbClr val="FFFFFF"/>
                </a:solidFill>
                <a:latin typeface="Calibri" pitchFamily="34" charset="0"/>
                <a:ea typeface="Calibri" pitchFamily="34" charset="-122"/>
                <a:cs typeface="Calibri" pitchFamily="34" charset="-120"/>
              </a:rPr>
              <a:t>past the registration desk,</a:t>
            </a:r>
            <a:endParaRPr lang="en-US" sz="2200" dirty="0"/>
          </a:p>
          <a:p>
            <a:pPr algn="l" indent="0" marL="0">
              <a:buNone/>
            </a:pPr>
            <a:r>
              <a:rPr lang="en-US" sz="2200" dirty="0">
                <a:solidFill>
                  <a:srgbClr val="FFFFFF"/>
                </a:solidFill>
                <a:latin typeface="Calibri" pitchFamily="34" charset="0"/>
                <a:ea typeface="Calibri" pitchFamily="34" charset="-122"/>
                <a:cs typeface="Calibri" pitchFamily="34" charset="-120"/>
              </a:rPr>
              <a:t>on your right.</a:t>
            </a:r>
            <a:endParaRPr lang="en-US" sz="2200" dirty="0"/>
          </a:p>
        </p:txBody>
      </p:sp>
      <p:sp>
        <p:nvSpPr>
          <p:cNvPr id="6" name="Shape 4"/>
          <p:cNvSpPr/>
          <p:nvPr/>
        </p:nvSpPr>
        <p:spPr>
          <a:xfrm>
            <a:off x="6400800" y="2286000"/>
            <a:ext cx="4419295" cy="2926080"/>
          </a:xfrm>
          <a:prstGeom prst="roundRect">
            <a:avLst>
              <a:gd name="adj" fmla="val 4688"/>
            </a:avLst>
          </a:prstGeom>
          <a:solidFill>
            <a:srgbClr val="1A2E4A"/>
          </a:solidFill>
          <a:ln w="12700">
            <a:solidFill>
              <a:srgbClr val="E87722"/>
            </a:solidFill>
            <a:prstDash val="solid"/>
          </a:ln>
        </p:spPr>
      </p:sp>
      <p:sp>
        <p:nvSpPr>
          <p:cNvPr id="7" name="Text 5"/>
          <p:cNvSpPr/>
          <p:nvPr/>
        </p:nvSpPr>
        <p:spPr>
          <a:xfrm>
            <a:off x="6675120" y="2651760"/>
            <a:ext cx="3870655" cy="457200"/>
          </a:xfrm>
          <a:prstGeom prst="rect">
            <a:avLst/>
          </a:prstGeom>
          <a:noFill/>
          <a:ln/>
        </p:spPr>
        <p:txBody>
          <a:bodyPr wrap="square" rtlCol="0" anchor="ctr"/>
          <a:lstStyle/>
          <a:p>
            <a:pPr indent="0" marL="0">
              <a:buNone/>
            </a:pPr>
            <a:r>
              <a:rPr lang="en-US" sz="1400" b="1" spc="800" kern="0" dirty="0">
                <a:solidFill>
                  <a:srgbClr val="E87722"/>
                </a:solidFill>
                <a:latin typeface="Calibri" pitchFamily="34" charset="0"/>
                <a:ea typeface="Calibri" pitchFamily="34" charset="-122"/>
                <a:cs typeface="Calibri" pitchFamily="34" charset="-120"/>
              </a:rPr>
              <a:t>COFFEE &amp; PASTRIES</a:t>
            </a:r>
            <a:endParaRPr lang="en-US" sz="1400" dirty="0"/>
          </a:p>
        </p:txBody>
      </p:sp>
      <p:sp>
        <p:nvSpPr>
          <p:cNvPr id="8" name="Text 6"/>
          <p:cNvSpPr/>
          <p:nvPr/>
        </p:nvSpPr>
        <p:spPr>
          <a:xfrm>
            <a:off x="6675120" y="3291840"/>
            <a:ext cx="3870655" cy="1737360"/>
          </a:xfrm>
          <a:prstGeom prst="rect">
            <a:avLst/>
          </a:prstGeom>
          <a:noFill/>
          <a:ln/>
        </p:spPr>
        <p:txBody>
          <a:bodyPr wrap="square" rtlCol="0" anchor="ctr"/>
          <a:lstStyle/>
          <a:p>
            <a:pPr algn="l" indent="0" marL="0">
              <a:buNone/>
            </a:pPr>
            <a:r>
              <a:rPr lang="en-US" sz="2200" dirty="0">
                <a:solidFill>
                  <a:srgbClr val="FFFFFF"/>
                </a:solidFill>
                <a:latin typeface="Calibri" pitchFamily="34" charset="0"/>
                <a:ea typeface="Calibri" pitchFamily="34" charset="-122"/>
                <a:cs typeface="Calibri" pitchFamily="34" charset="-120"/>
              </a:rPr>
              <a:t>Just outside the ballroom,</a:t>
            </a:r>
            <a:endParaRPr lang="en-US" sz="2200" dirty="0"/>
          </a:p>
          <a:p>
            <a:pPr algn="l" indent="0" marL="0">
              <a:buNone/>
            </a:pPr>
            <a:r>
              <a:rPr lang="en-US" sz="2200" dirty="0">
                <a:solidFill>
                  <a:srgbClr val="FFFFFF"/>
                </a:solidFill>
                <a:latin typeface="Calibri" pitchFamily="34" charset="0"/>
                <a:ea typeface="Calibri" pitchFamily="34" charset="-122"/>
                <a:cs typeface="Calibri" pitchFamily="34" charset="-120"/>
              </a:rPr>
              <a:t>near the sponsor lounge.</a:t>
            </a:r>
            <a:endParaRPr lang="en-US" sz="2200" dirty="0"/>
          </a:p>
          <a:p>
            <a:pPr algn="l" indent="0" marL="0">
              <a:buNone/>
            </a:pPr>
            <a:r>
              <a:rPr lang="en-US" sz="2200" dirty="0">
                <a:solidFill>
                  <a:srgbClr val="FFFFFF"/>
                </a:solidFill>
                <a:latin typeface="Calibri" pitchFamily="34" charset="0"/>
                <a:ea typeface="Calibri" pitchFamily="34" charset="-122"/>
                <a:cs typeface="Calibri" pitchFamily="34" charset="-120"/>
              </a:rPr>
              <a:t>Refreshed at every break.</a:t>
            </a:r>
            <a:endParaRPr lang="en-US" sz="2200" dirty="0"/>
          </a:p>
        </p:txBody>
      </p:sp>
      <p:sp>
        <p:nvSpPr>
          <p:cNvPr id="9" name="Shape 7"/>
          <p:cNvSpPr/>
          <p:nvPr/>
        </p:nvSpPr>
        <p:spPr>
          <a:xfrm>
            <a:off x="0" y="6675120"/>
            <a:ext cx="12191695" cy="182880"/>
          </a:xfrm>
          <a:prstGeom prst="rect">
            <a:avLst/>
          </a:prstGeom>
          <a:solidFill>
            <a:srgbClr val="E87722"/>
          </a:solidFill>
          <a:ln w="12700">
            <a:solidFill>
              <a:srgbClr val="E87722"/>
            </a:solidFill>
            <a:prstDash val="solid"/>
          </a:ln>
        </p:spPr>
      </p:sp>
      <p:sp>
        <p:nvSpPr>
          <p:cNvPr id="10" name="Text 8"/>
          <p:cNvSpPr/>
          <p:nvPr/>
        </p:nvSpPr>
        <p:spPr>
          <a:xfrm>
            <a:off x="457200" y="6446520"/>
            <a:ext cx="7315200" cy="228600"/>
          </a:xfrm>
          <a:prstGeom prst="rect">
            <a:avLst/>
          </a:prstGeom>
          <a:noFill/>
          <a:ln/>
        </p:spPr>
        <p:txBody>
          <a:bodyPr wrap="square"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WE RUN ON EOS® NORTH TEXAS  ·  SEPTEMBER 14, 2026</a:t>
            </a:r>
            <a:endParaRPr lang="en-US" sz="900" dirty="0"/>
          </a:p>
        </p:txBody>
      </p:sp>
      <p:sp>
        <p:nvSpPr>
          <p:cNvPr id="11" name="Text 9"/>
          <p:cNvSpPr/>
          <p:nvPr/>
        </p:nvSpPr>
        <p:spPr>
          <a:xfrm>
            <a:off x="5029200" y="6446520"/>
            <a:ext cx="667512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#WRoENorthTexas2026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457200" y="1097280"/>
            <a:ext cx="11277295" cy="457200"/>
          </a:xfrm>
          <a:prstGeom prst="rect">
            <a:avLst/>
          </a:prstGeom>
          <a:noFill/>
          <a:ln/>
        </p:spPr>
        <p:txBody>
          <a:bodyPr wrap="square" rtlCol="0" anchor="ctr"/>
          <a:lstStyle/>
          <a:p>
            <a:pPr algn="ctr" indent="0" marL="0">
              <a:buNone/>
            </a:pPr>
            <a:r>
              <a:rPr lang="en-US" sz="1800" b="1" spc="1200" kern="0" dirty="0">
                <a:solidFill>
                  <a:srgbClr val="E87722"/>
                </a:solidFill>
                <a:latin typeface="Calibri" pitchFamily="34" charset="0"/>
                <a:ea typeface="Calibri" pitchFamily="34" charset="-122"/>
                <a:cs typeface="Calibri" pitchFamily="34" charset="-120"/>
              </a:rPr>
              <a:t>SHARE THE DAY</a:t>
            </a:r>
            <a:endParaRPr lang="en-US" sz="1800" dirty="0"/>
          </a:p>
        </p:txBody>
      </p:sp>
      <p:sp>
        <p:nvSpPr>
          <p:cNvPr id="3" name="Text 1"/>
          <p:cNvSpPr/>
          <p:nvPr/>
        </p:nvSpPr>
        <p:spPr>
          <a:xfrm>
            <a:off x="457200" y="2194560"/>
            <a:ext cx="11277295" cy="1280160"/>
          </a:xfrm>
          <a:prstGeom prst="rect">
            <a:avLst/>
          </a:prstGeom>
          <a:noFill/>
          <a:ln/>
        </p:spPr>
        <p:txBody>
          <a:bodyPr wrap="square" rtlCol="0" anchor="ctr"/>
          <a:lstStyle/>
          <a:p>
            <a:pPr algn="ctr" indent="0" marL="0">
              <a:buNone/>
            </a:pPr>
            <a:r>
              <a:rPr lang="en-US" sz="6400" b="1" dirty="0">
                <a:solidFill>
                  <a:srgbClr val="FFFFFF"/>
                </a:solidFill>
                <a:latin typeface="Calibri" pitchFamily="34" charset="0"/>
                <a:ea typeface="Calibri" pitchFamily="34" charset="-122"/>
                <a:cs typeface="Calibri" pitchFamily="34" charset="-120"/>
              </a:rPr>
              <a:t>#WRoENorthTexas2026</a:t>
            </a:r>
            <a:endParaRPr lang="en-US" sz="6400" dirty="0"/>
          </a:p>
        </p:txBody>
      </p:sp>
      <p:sp>
        <p:nvSpPr>
          <p:cNvPr id="4" name="Text 2"/>
          <p:cNvSpPr/>
          <p:nvPr/>
        </p:nvSpPr>
        <p:spPr>
          <a:xfrm>
            <a:off x="457200" y="3931920"/>
            <a:ext cx="11277295" cy="548640"/>
          </a:xfrm>
          <a:prstGeom prst="rect">
            <a:avLst/>
          </a:prstGeom>
          <a:noFill/>
          <a:ln/>
        </p:spPr>
        <p:txBody>
          <a:bodyPr wrap="square" rtlCol="0" anchor="ctr"/>
          <a:lstStyle/>
          <a:p>
            <a:pPr algn="ctr" indent="0" marL="0">
              <a:buNone/>
            </a:pPr>
            <a:r>
              <a:rPr lang="en-US" sz="2000" i="1" dirty="0">
                <a:solidFill>
                  <a:srgbClr val="E87722"/>
                </a:solidFill>
                <a:latin typeface="Calibri" pitchFamily="34" charset="0"/>
                <a:ea typeface="Calibri" pitchFamily="34" charset="-122"/>
                <a:cs typeface="Calibri" pitchFamily="34" charset="-120"/>
              </a:rPr>
              <a:t>Post a photo. Tag your favorite session. Tell someone what you learned.</a:t>
            </a:r>
            <a:endParaRPr lang="en-US" sz="2000" dirty="0"/>
          </a:p>
        </p:txBody>
      </p:sp>
      <p:sp>
        <p:nvSpPr>
          <p:cNvPr id="5" name="Shape 3"/>
          <p:cNvSpPr/>
          <p:nvPr/>
        </p:nvSpPr>
        <p:spPr>
          <a:xfrm>
            <a:off x="0" y="6675120"/>
            <a:ext cx="12191695" cy="182880"/>
          </a:xfrm>
          <a:prstGeom prst="rect">
            <a:avLst/>
          </a:prstGeom>
          <a:solidFill>
            <a:srgbClr val="E87722"/>
          </a:solidFill>
          <a:ln w="12700">
            <a:solidFill>
              <a:srgbClr val="E87722"/>
            </a:solidFill>
            <a:prstDash val="solid"/>
          </a:ln>
        </p:spPr>
      </p:sp>
      <p:sp>
        <p:nvSpPr>
          <p:cNvPr id="6" name="Text 4"/>
          <p:cNvSpPr/>
          <p:nvPr/>
        </p:nvSpPr>
        <p:spPr>
          <a:xfrm>
            <a:off x="457200" y="6446520"/>
            <a:ext cx="7315200" cy="228600"/>
          </a:xfrm>
          <a:prstGeom prst="rect">
            <a:avLst/>
          </a:prstGeom>
          <a:noFill/>
          <a:ln/>
        </p:spPr>
        <p:txBody>
          <a:bodyPr wrap="square"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WE RUN ON EOS® NORTH TEXAS  ·  SEPTEMBER 14, 2026</a:t>
            </a:r>
            <a:endParaRPr lang="en-US" sz="900" dirty="0"/>
          </a:p>
        </p:txBody>
      </p:sp>
      <p:sp>
        <p:nvSpPr>
          <p:cNvPr id="7" name="Text 5"/>
          <p:cNvSpPr/>
          <p:nvPr/>
        </p:nvSpPr>
        <p:spPr>
          <a:xfrm>
            <a:off x="5029200" y="6446520"/>
            <a:ext cx="667512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#WRoENorthTexas2026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457200" y="1645920"/>
            <a:ext cx="11277295" cy="548640"/>
          </a:xfrm>
          <a:prstGeom prst="rect">
            <a:avLst/>
          </a:prstGeom>
          <a:noFill/>
          <a:ln/>
        </p:spPr>
        <p:txBody>
          <a:bodyPr wrap="square" rtlCol="0" anchor="ctr"/>
          <a:lstStyle/>
          <a:p>
            <a:pPr algn="ctr" indent="0" marL="0">
              <a:buNone/>
            </a:pPr>
            <a:r>
              <a:rPr lang="en-US" sz="2000" b="1" spc="1200" kern="0" dirty="0">
                <a:solidFill>
                  <a:srgbClr val="E87722"/>
                </a:solidFill>
                <a:latin typeface="Calibri" pitchFamily="34" charset="0"/>
                <a:ea typeface="Calibri" pitchFamily="34" charset="-122"/>
                <a:cs typeface="Calibri" pitchFamily="34" charset="-120"/>
              </a:rPr>
              <a:t>WE START AT</a:t>
            </a:r>
            <a:endParaRPr lang="en-US" sz="2000" dirty="0"/>
          </a:p>
        </p:txBody>
      </p:sp>
      <p:sp>
        <p:nvSpPr>
          <p:cNvPr id="3" name="Text 1"/>
          <p:cNvSpPr/>
          <p:nvPr/>
        </p:nvSpPr>
        <p:spPr>
          <a:xfrm>
            <a:off x="457200" y="2286000"/>
            <a:ext cx="11277295" cy="2194560"/>
          </a:xfrm>
          <a:prstGeom prst="rect">
            <a:avLst/>
          </a:prstGeom>
          <a:noFill/>
          <a:ln/>
        </p:spPr>
        <p:txBody>
          <a:bodyPr wrap="square" rtlCol="0" anchor="ctr"/>
          <a:lstStyle/>
          <a:p>
            <a:pPr algn="ctr" indent="0" marL="0">
              <a:buNone/>
            </a:pPr>
            <a:r>
              <a:rPr lang="en-US" sz="22000" b="1" dirty="0">
                <a:solidFill>
                  <a:srgbClr val="FFFFFF"/>
                </a:solidFill>
                <a:latin typeface="Calibri" pitchFamily="34" charset="0"/>
                <a:ea typeface="Calibri" pitchFamily="34" charset="-122"/>
                <a:cs typeface="Calibri" pitchFamily="34" charset="-120"/>
              </a:rPr>
              <a:t>1:10</a:t>
            </a:r>
            <a:endParaRPr lang="en-US" sz="22000" dirty="0"/>
          </a:p>
        </p:txBody>
      </p:sp>
      <p:sp>
        <p:nvSpPr>
          <p:cNvPr id="4" name="Text 2"/>
          <p:cNvSpPr/>
          <p:nvPr/>
        </p:nvSpPr>
        <p:spPr>
          <a:xfrm>
            <a:off x="457200" y="4754880"/>
            <a:ext cx="11277295" cy="457200"/>
          </a:xfrm>
          <a:prstGeom prst="rect">
            <a:avLst/>
          </a:prstGeom>
          <a:noFill/>
          <a:ln/>
        </p:spPr>
        <p:txBody>
          <a:bodyPr wrap="square" rtlCol="0" anchor="ctr"/>
          <a:lstStyle/>
          <a:p>
            <a:pPr algn="ctr" indent="0" marL="0">
              <a:buNone/>
            </a:pPr>
            <a:r>
              <a:rPr lang="en-US" sz="2200" i="1" dirty="0">
                <a:solidFill>
                  <a:srgbClr val="FFFFFF"/>
                </a:solidFill>
                <a:latin typeface="Calibri" pitchFamily="34" charset="0"/>
                <a:ea typeface="Calibri" pitchFamily="34" charset="-122"/>
                <a:cs typeface="Calibri" pitchFamily="34" charset="-120"/>
              </a:rPr>
              <a:t>Please find your seat.</a:t>
            </a:r>
            <a:endParaRPr lang="en-US" sz="2200" dirty="0"/>
          </a:p>
        </p:txBody>
      </p:sp>
      <p:sp>
        <p:nvSpPr>
          <p:cNvPr id="5" name="Shape 3"/>
          <p:cNvSpPr/>
          <p:nvPr/>
        </p:nvSpPr>
        <p:spPr>
          <a:xfrm>
            <a:off x="0" y="6675120"/>
            <a:ext cx="12191695" cy="182880"/>
          </a:xfrm>
          <a:prstGeom prst="rect">
            <a:avLst/>
          </a:prstGeom>
          <a:solidFill>
            <a:srgbClr val="E87722"/>
          </a:solidFill>
          <a:ln w="12700">
            <a:solidFill>
              <a:srgbClr val="E87722"/>
            </a:solidFill>
            <a:prstDash val="solid"/>
          </a:ln>
        </p:spPr>
      </p:sp>
      <p:sp>
        <p:nvSpPr>
          <p:cNvPr id="6" name="Text 4"/>
          <p:cNvSpPr/>
          <p:nvPr/>
        </p:nvSpPr>
        <p:spPr>
          <a:xfrm>
            <a:off x="457200" y="6446520"/>
            <a:ext cx="7315200" cy="228600"/>
          </a:xfrm>
          <a:prstGeom prst="rect">
            <a:avLst/>
          </a:prstGeom>
          <a:noFill/>
          <a:ln/>
        </p:spPr>
        <p:txBody>
          <a:bodyPr wrap="square" rtlCol="0" anchor="ctr"/>
          <a:lstStyle/>
          <a:p>
            <a:pPr indent="0" marL="0">
              <a:buNone/>
            </a:pPr>
            <a:r>
              <a:rPr lang="en-US" sz="900" b="1" spc="400" kern="0" dirty="0">
                <a:solidFill>
                  <a:srgbClr val="FFFFFF"/>
                </a:solidFill>
                <a:latin typeface="Calibri" pitchFamily="34" charset="0"/>
                <a:ea typeface="Calibri" pitchFamily="34" charset="-122"/>
                <a:cs typeface="Calibri" pitchFamily="34" charset="-120"/>
              </a:rPr>
              <a:t>WE RUN ON EOS® NORTH TEXAS  ·  SEPTEMBER 14, 2026</a:t>
            </a:r>
            <a:endParaRPr lang="en-US" sz="900" dirty="0"/>
          </a:p>
        </p:txBody>
      </p:sp>
      <p:sp>
        <p:nvSpPr>
          <p:cNvPr id="7" name="Text 5"/>
          <p:cNvSpPr/>
          <p:nvPr/>
        </p:nvSpPr>
        <p:spPr>
          <a:xfrm>
            <a:off x="5029200" y="6446520"/>
            <a:ext cx="6675120" cy="228600"/>
          </a:xfrm>
          <a:prstGeom prst="rect">
            <a:avLst/>
          </a:prstGeom>
          <a:noFill/>
          <a:ln/>
        </p:spPr>
        <p:txBody>
          <a:bodyPr wrap="square"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#WRoENorthTexas2026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E87722"/>
          </a:solidFill>
          <a:ln w="12700">
            <a:solidFill>
              <a:srgbClr val="E87722"/>
            </a:solidFill>
            <a:prstDash val="solid"/>
          </a:ln>
        </p:spPr>
      </p:sp>
      <p:sp>
        <p:nvSpPr>
          <p:cNvPr id="3" name="Text 1"/>
          <p:cNvSpPr/>
          <p:nvPr/>
        </p:nvSpPr>
        <p:spPr>
          <a:xfrm>
            <a:off x="685800" y="1188720"/>
            <a:ext cx="10972800" cy="457200"/>
          </a:xfrm>
          <a:prstGeom prst="rect">
            <a:avLst/>
          </a:prstGeom>
          <a:noFill/>
          <a:ln/>
        </p:spPr>
        <p:txBody>
          <a:bodyPr wrap="square" rtlCol="0" anchor="ctr"/>
          <a:lstStyle/>
          <a:p>
            <a:pPr indent="0" marL="0">
              <a:buNone/>
            </a:pPr>
            <a:r>
              <a:rPr lang="en-US" sz="2000" b="1" spc="1000" kern="0" dirty="0">
                <a:solidFill>
                  <a:srgbClr val="E87722"/>
                </a:solidFill>
                <a:latin typeface="Calibri" pitchFamily="34" charset="0"/>
                <a:ea typeface="Calibri" pitchFamily="34" charset="-122"/>
                <a:cs typeface="Calibri" pitchFamily="34" charset="-120"/>
              </a:rPr>
              <a:t>FIFTH ANNUAL</a:t>
            </a:r>
            <a:endParaRPr lang="en-US" sz="2000" dirty="0"/>
          </a:p>
        </p:txBody>
      </p:sp>
      <p:sp>
        <p:nvSpPr>
          <p:cNvPr id="4" name="Text 2"/>
          <p:cNvSpPr/>
          <p:nvPr/>
        </p:nvSpPr>
        <p:spPr>
          <a:xfrm>
            <a:off x="685800" y="1691640"/>
            <a:ext cx="10972800" cy="1188720"/>
          </a:xfrm>
          <a:prstGeom prst="rect">
            <a:avLst/>
          </a:prstGeom>
          <a:noFill/>
          <a:ln/>
        </p:spPr>
        <p:txBody>
          <a:bodyPr wrap="square" rtlCol="0" anchor="ctr"/>
          <a:lstStyle/>
          <a:p>
            <a:pPr indent="0" marL="0">
              <a:buNone/>
            </a:pPr>
            <a:r>
              <a:rPr lang="en-US" sz="7600" b="1" dirty="0">
                <a:solidFill>
                  <a:srgbClr val="0B1F3A"/>
                </a:solidFill>
                <a:latin typeface="Calibri" pitchFamily="34" charset="0"/>
                <a:ea typeface="Calibri" pitchFamily="34" charset="-122"/>
                <a:cs typeface="Calibri" pitchFamily="34" charset="-120"/>
              </a:rPr>
              <a:t>We Run on EOS®</a:t>
            </a:r>
            <a:endParaRPr lang="en-US" sz="7600" dirty="0"/>
          </a:p>
        </p:txBody>
      </p:sp>
      <p:sp>
        <p:nvSpPr>
          <p:cNvPr id="5" name="Text 3"/>
          <p:cNvSpPr/>
          <p:nvPr/>
        </p:nvSpPr>
        <p:spPr>
          <a:xfrm>
            <a:off x="685800" y="2880360"/>
            <a:ext cx="10972800" cy="822960"/>
          </a:xfrm>
          <a:prstGeom prst="rect">
            <a:avLst/>
          </a:prstGeom>
          <a:noFill/>
          <a:ln/>
        </p:spPr>
        <p:txBody>
          <a:bodyPr wrap="square" rtlCol="0" anchor="ctr"/>
          <a:lstStyle/>
          <a:p>
            <a:pPr indent="0" marL="0">
              <a:buNone/>
            </a:pPr>
            <a:r>
              <a:rPr lang="en-US" sz="4600" dirty="0">
                <a:solidFill>
                  <a:srgbClr val="0B1F3A"/>
                </a:solidFill>
                <a:latin typeface="Calibri" pitchFamily="34" charset="0"/>
                <a:ea typeface="Calibri" pitchFamily="34" charset="-122"/>
                <a:cs typeface="Calibri" pitchFamily="34" charset="-120"/>
              </a:rPr>
              <a:t>North Texas 2026</a:t>
            </a:r>
            <a:endParaRPr lang="en-US" sz="4600" dirty="0"/>
          </a:p>
        </p:txBody>
      </p:sp>
      <p:sp>
        <p:nvSpPr>
          <p:cNvPr id="6" name="Text 4"/>
          <p:cNvSpPr/>
          <p:nvPr/>
        </p:nvSpPr>
        <p:spPr>
          <a:xfrm>
            <a:off x="685800" y="4206240"/>
            <a:ext cx="10972800" cy="548640"/>
          </a:xfrm>
          <a:prstGeom prst="rect">
            <a:avLst/>
          </a:prstGeom>
          <a:noFill/>
          <a:ln/>
        </p:spPr>
        <p:txBody>
          <a:bodyPr wrap="square" rtlCol="0" anchor="ctr"/>
          <a:lstStyle/>
          <a:p>
            <a:pPr indent="0" marL="0">
              <a:buNone/>
            </a:pPr>
            <a:r>
              <a:rPr lang="en-US" sz="2200" i="1" dirty="0">
                <a:solidFill>
                  <a:srgbClr val="2A3441"/>
                </a:solidFill>
                <a:latin typeface="Calibri" pitchFamily="34" charset="0"/>
                <a:ea typeface="Calibri" pitchFamily="34" charset="-122"/>
                <a:cs typeface="Calibri" pitchFamily="34" charset="-120"/>
              </a:rPr>
              <a:t>Welcome back — let’s bring it home.</a:t>
            </a:r>
            <a:endParaRPr lang="en-US" sz="2200" dirty="0"/>
          </a:p>
        </p:txBody>
      </p:sp>
      <p:sp>
        <p:nvSpPr>
          <p:cNvPr id="7" name="Shape 5"/>
          <p:cNvSpPr/>
          <p:nvPr/>
        </p:nvSpPr>
        <p:spPr>
          <a:xfrm>
            <a:off x="0" y="6675120"/>
            <a:ext cx="12191695" cy="182880"/>
          </a:xfrm>
          <a:prstGeom prst="rect">
            <a:avLst/>
          </a:prstGeom>
          <a:solidFill>
            <a:srgbClr val="E87722"/>
          </a:solidFill>
          <a:ln w="12700">
            <a:solidFill>
              <a:srgbClr val="E87722"/>
            </a:solidFill>
            <a:prstDash val="solid"/>
          </a:ln>
        </p:spPr>
      </p:sp>
      <p:sp>
        <p:nvSpPr>
          <p:cNvPr id="8" name="Text 6"/>
          <p:cNvSpPr/>
          <p:nvPr/>
        </p:nvSpPr>
        <p:spPr>
          <a:xfrm>
            <a:off x="457200" y="6446520"/>
            <a:ext cx="7315200" cy="228600"/>
          </a:xfrm>
          <a:prstGeom prst="rect">
            <a:avLst/>
          </a:prstGeom>
          <a:noFill/>
          <a:ln/>
        </p:spPr>
        <p:txBody>
          <a:bodyPr wrap="square" rtlCol="0" anchor="ctr"/>
          <a:lstStyle/>
          <a:p>
            <a:pPr indent="0" marL="0">
              <a:buNone/>
            </a:pPr>
            <a:r>
              <a:rPr lang="en-US" sz="900" b="1" spc="400" kern="0" dirty="0">
                <a:solidFill>
                  <a:srgbClr val="2A3441"/>
                </a:solidFill>
                <a:latin typeface="Calibri" pitchFamily="34" charset="0"/>
                <a:ea typeface="Calibri" pitchFamily="34" charset="-122"/>
                <a:cs typeface="Calibri" pitchFamily="34" charset="-120"/>
              </a:rPr>
              <a:t>WE RUN ON EOS® NORTH TEXAS  ·  SEPTEMBER 14, 2026</a:t>
            </a:r>
            <a:endParaRPr lang="en-US" sz="900" dirty="0"/>
          </a:p>
        </p:txBody>
      </p:sp>
      <p:sp>
        <p:nvSpPr>
          <p:cNvPr id="9" name="Text 7"/>
          <p:cNvSpPr/>
          <p:nvPr/>
        </p:nvSpPr>
        <p:spPr>
          <a:xfrm>
            <a:off x="5029200" y="6446520"/>
            <a:ext cx="6675120" cy="228600"/>
          </a:xfrm>
          <a:prstGeom prst="rect">
            <a:avLst/>
          </a:prstGeom>
          <a:noFill/>
          <a:ln/>
        </p:spPr>
        <p:txBody>
          <a:bodyPr wrap="square" rtlCol="0" anchor="ctr"/>
          <a:lstStyle/>
          <a:p>
            <a:pPr algn="r" indent="0" marL="0">
              <a:buNone/>
            </a:pPr>
            <a:r>
              <a:rPr lang="en-US" sz="900" dirty="0">
                <a:solidFill>
                  <a:srgbClr val="2A3441"/>
                </a:solidFill>
                <a:latin typeface="Calibri" pitchFamily="34" charset="0"/>
                <a:ea typeface="Calibri" pitchFamily="34" charset="-122"/>
                <a:cs typeface="Calibri" pitchFamily="34" charset="-120"/>
              </a:rPr>
              <a:t>#WRoENorthTexas2026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85800" y="548640"/>
            <a:ext cx="1371600" cy="54864"/>
          </a:xfrm>
          <a:prstGeom prst="rect">
            <a:avLst/>
          </a:prstGeom>
          <a:solidFill>
            <a:srgbClr val="E87722"/>
          </a:solidFill>
          <a:ln w="12700">
            <a:solidFill>
              <a:srgbClr val="E87722"/>
            </a:solidFill>
            <a:prstDash val="solid"/>
          </a:ln>
        </p:spPr>
      </p:sp>
      <p:sp>
        <p:nvSpPr>
          <p:cNvPr id="3" name="Text 1"/>
          <p:cNvSpPr/>
          <p:nvPr/>
        </p:nvSpPr>
        <p:spPr>
          <a:xfrm>
            <a:off x="685800" y="777240"/>
            <a:ext cx="10972800" cy="365760"/>
          </a:xfrm>
          <a:prstGeom prst="rect">
            <a:avLst/>
          </a:prstGeom>
          <a:noFill/>
          <a:ln/>
        </p:spPr>
        <p:txBody>
          <a:bodyPr wrap="square" rtlCol="0" anchor="ctr"/>
          <a:lstStyle/>
          <a:p>
            <a:pPr indent="0" marL="0">
              <a:buNone/>
            </a:pPr>
            <a:r>
              <a:rPr lang="en-US" sz="1600" b="1" spc="800" kern="0" dirty="0">
                <a:solidFill>
                  <a:srgbClr val="E87722"/>
                </a:solidFill>
                <a:latin typeface="Calibri" pitchFamily="34" charset="0"/>
                <a:ea typeface="Calibri" pitchFamily="34" charset="-122"/>
                <a:cs typeface="Calibri" pitchFamily="34" charset="-120"/>
              </a:rPr>
              <a:t>SESSION 1  ·  1:10 – 2:40 PM</a:t>
            </a:r>
            <a:endParaRPr lang="en-US" sz="1600" dirty="0"/>
          </a:p>
        </p:txBody>
      </p:sp>
      <p:sp>
        <p:nvSpPr>
          <p:cNvPr id="4" name="Text 2"/>
          <p:cNvSpPr/>
          <p:nvPr/>
        </p:nvSpPr>
        <p:spPr>
          <a:xfrm>
            <a:off x="685800" y="1463040"/>
            <a:ext cx="10972800" cy="2194560"/>
          </a:xfrm>
          <a:prstGeom prst="rect">
            <a:avLst/>
          </a:prstGeom>
          <a:noFill/>
          <a:ln/>
        </p:spPr>
        <p:txBody>
          <a:bodyPr wrap="square" rtlCol="0" anchor="t">
            <a:spAutoFit/>
          </a:bodyPr>
          <a:lstStyle/>
          <a:p>
            <a:pPr indent="0" marL="0">
              <a:buNone/>
            </a:pPr>
            <a:r>
              <a:rPr lang="en-US" sz="5400" b="1" dirty="0">
                <a:solidFill>
                  <a:srgbClr val="FFFFFF"/>
                </a:solidFill>
                <a:latin typeface="Calibri" pitchFamily="34" charset="0"/>
                <a:ea typeface="Calibri" pitchFamily="34" charset="-122"/>
                <a:cs typeface="Calibri" pitchFamily="34" charset="-120"/>
              </a:rPr>
              <a:t>Profit Power: Stronger — or Just Bigger?</a:t>
            </a:r>
            <a:endParaRPr lang="en-US" sz="5400" dirty="0"/>
          </a:p>
        </p:txBody>
      </p:sp>
      <p:sp>
        <p:nvSpPr>
          <p:cNvPr id="5" name="Text 3"/>
          <p:cNvSpPr/>
          <p:nvPr/>
        </p:nvSpPr>
        <p:spPr>
          <a:xfrm>
            <a:off x="685800" y="4937760"/>
            <a:ext cx="10972800" cy="274320"/>
          </a:xfrm>
          <a:prstGeom prst="rect">
            <a:avLst/>
          </a:prstGeom>
          <a:noFill/>
          <a:ln/>
        </p:spPr>
        <p:txBody>
          <a:bodyPr wrap="square" rtlCol="0" anchor="ctr"/>
          <a:lstStyle/>
          <a:p>
            <a:pPr indent="0" marL="0">
              <a:buNone/>
            </a:pPr>
            <a:r>
              <a:rPr lang="en-US" sz="1200" b="1" spc="800" kern="0" dirty="0">
                <a:solidFill>
                  <a:srgbClr val="E87722"/>
                </a:solidFill>
                <a:latin typeface="Calibri" pitchFamily="34" charset="0"/>
                <a:ea typeface="Calibri" pitchFamily="34" charset="-122"/>
                <a:cs typeface="Calibri" pitchFamily="34" charset="-120"/>
              </a:rPr>
              <a:t>PRESENTED BY</a:t>
            </a:r>
            <a:endParaRPr lang="en-US" sz="1200" dirty="0"/>
          </a:p>
        </p:txBody>
      </p:sp>
      <p:sp>
        <p:nvSpPr>
          <p:cNvPr id="6" name="Text 4"/>
          <p:cNvSpPr/>
          <p:nvPr/>
        </p:nvSpPr>
        <p:spPr>
          <a:xfrm>
            <a:off x="685800" y="5212080"/>
            <a:ext cx="10972800" cy="64008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Mark Stanley</a:t>
            </a:r>
            <a:endParaRPr lang="en-US" sz="4000" dirty="0"/>
          </a:p>
        </p:txBody>
      </p:sp>
      <p:sp>
        <p:nvSpPr>
          <p:cNvPr id="7" name="Text 5"/>
          <p:cNvSpPr/>
          <p:nvPr/>
        </p:nvSpPr>
        <p:spPr>
          <a:xfrm>
            <a:off x="685800" y="5852160"/>
            <a:ext cx="10972800" cy="365760"/>
          </a:xfrm>
          <a:prstGeom prst="rect">
            <a:avLst/>
          </a:prstGeom>
          <a:noFill/>
          <a:ln/>
        </p:spPr>
        <p:txBody>
          <a:bodyPr wrap="square" rtlCol="0" anchor="ctr"/>
          <a:lstStyle/>
          <a:p>
            <a:pPr indent="0" marL="0">
              <a:buNone/>
            </a:pPr>
            <a:r>
              <a:rPr lang="en-US" sz="1800" i="1" dirty="0">
                <a:solidFill>
                  <a:srgbClr val="D4DFEA"/>
                </a:solidFill>
                <a:latin typeface="Calibri" pitchFamily="34" charset="0"/>
                <a:ea typeface="Calibri" pitchFamily="34" charset="-122"/>
                <a:cs typeface="Calibri" pitchFamily="34" charset="-120"/>
              </a:rPr>
              <a:t>Expert EOS Implementer®</a:t>
            </a:r>
            <a:endParaRPr lang="en-US" sz="1800" dirty="0"/>
          </a:p>
        </p:txBody>
      </p:sp>
      <p:sp>
        <p:nvSpPr>
          <p:cNvPr id="8" name="Shape 6"/>
          <p:cNvSpPr/>
          <p:nvPr/>
        </p:nvSpPr>
        <p:spPr>
          <a:xfrm>
            <a:off x="0" y="6675120"/>
            <a:ext cx="12191695" cy="182880"/>
          </a:xfrm>
          <a:prstGeom prst="rect">
            <a:avLst/>
          </a:prstGeom>
          <a:solidFill>
            <a:srgbClr val="E87722"/>
          </a:solidFill>
          <a:ln w="12700">
            <a:solidFill>
              <a:srgbClr val="E87722"/>
            </a:solidFill>
            <a:prstDash val="solid"/>
          </a:ln>
        </p:spPr>
      </p:sp>
      <p:sp>
        <p:nvSpPr>
          <p:cNvPr id="9" name="Text 7"/>
          <p:cNvSpPr/>
          <p:nvPr/>
        </p:nvSpPr>
        <p:spPr>
          <a:xfrm>
            <a:off x="457200" y="6446520"/>
            <a:ext cx="7315200" cy="228600"/>
          </a:xfrm>
          <a:prstGeom prst="rect">
            <a:avLst/>
          </a:prstGeom>
          <a:noFill/>
          <a:ln/>
        </p:spPr>
        <p:txBody>
          <a:bodyPr wrap="square" rtlCol="0" anchor="ctr"/>
          <a:lstStyle/>
          <a:p>
            <a:pPr indent="0" marL="0">
              <a:buNone/>
            </a:pPr>
            <a:r>
              <a:rPr lang="en-US" sz="900" b="1" spc="400" kern="0" dirty="0">
                <a:solidFill>
                  <a:srgbClr val="D4DFEA"/>
                </a:solidFill>
                <a:latin typeface="Calibri" pitchFamily="34" charset="0"/>
                <a:ea typeface="Calibri" pitchFamily="34" charset="-122"/>
                <a:cs typeface="Calibri" pitchFamily="34" charset="-120"/>
              </a:rPr>
              <a:t>WE RUN ON EOS® NORTH TEXAS  ·  SEPTEMBER 14, 2026</a:t>
            </a:r>
            <a:endParaRPr lang="en-US" sz="900" dirty="0"/>
          </a:p>
        </p:txBody>
      </p:sp>
      <p:sp>
        <p:nvSpPr>
          <p:cNvPr id="10" name="Text 8"/>
          <p:cNvSpPr/>
          <p:nvPr/>
        </p:nvSpPr>
        <p:spPr>
          <a:xfrm>
            <a:off x="5029200" y="6446520"/>
            <a:ext cx="6675120" cy="228600"/>
          </a:xfrm>
          <a:prstGeom prst="rect">
            <a:avLst/>
          </a:prstGeom>
          <a:noFill/>
          <a:ln/>
        </p:spPr>
        <p:txBody>
          <a:bodyPr wrap="square" rtlCol="0" anchor="ctr"/>
          <a:lstStyle/>
          <a:p>
            <a:pPr algn="r" indent="0" marL="0">
              <a:buNone/>
            </a:pPr>
            <a:r>
              <a:rPr lang="en-US" sz="900" dirty="0">
                <a:solidFill>
                  <a:srgbClr val="D4DFEA"/>
                </a:solidFill>
                <a:latin typeface="Calibri" pitchFamily="34" charset="0"/>
                <a:ea typeface="Calibri" pitchFamily="34" charset="-122"/>
                <a:cs typeface="Calibri" pitchFamily="34" charset="-120"/>
              </a:rPr>
              <a:t>#WRoENorthTexas2026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10972800" cy="502920"/>
          </a:xfrm>
          <a:prstGeom prst="rect">
            <a:avLst/>
          </a:prstGeom>
          <a:noFill/>
          <a:ln/>
        </p:spPr>
        <p:txBody>
          <a:bodyPr wrap="square"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Profit Power: Stronger — or Just Bigger?</a:t>
            </a:r>
            <a:endParaRPr lang="en-US" sz="2000" dirty="0"/>
          </a:p>
        </p:txBody>
      </p:sp>
      <p:sp>
        <p:nvSpPr>
          <p:cNvPr id="3" name="Text 1"/>
          <p:cNvSpPr/>
          <p:nvPr/>
        </p:nvSpPr>
        <p:spPr>
          <a:xfrm>
            <a:off x="685800" y="960120"/>
            <a:ext cx="10972800" cy="274320"/>
          </a:xfrm>
          <a:prstGeom prst="rect">
            <a:avLst/>
          </a:prstGeom>
          <a:noFill/>
          <a:ln/>
        </p:spPr>
        <p:txBody>
          <a:bodyPr wrap="square" rtlCol="0" anchor="ctr"/>
          <a:lstStyle/>
          <a:p>
            <a:pPr indent="0" marL="0">
              <a:buNone/>
            </a:pPr>
            <a:r>
              <a:rPr lang="en-US" sz="1100" b="1" spc="400" kern="0" dirty="0">
                <a:solidFill>
                  <a:srgbClr val="E87722"/>
                </a:solidFill>
                <a:latin typeface="Calibri" pitchFamily="34" charset="0"/>
                <a:ea typeface="Calibri" pitchFamily="34" charset="-122"/>
                <a:cs typeface="Calibri" pitchFamily="34" charset="-120"/>
              </a:rPr>
              <a:t>Mark Stanley  ·  1:10 – 2:40 PM</a:t>
            </a:r>
            <a:endParaRPr lang="en-US" sz="1100" dirty="0"/>
          </a:p>
        </p:txBody>
      </p:sp>
      <p:sp>
        <p:nvSpPr>
          <p:cNvPr id="4" name="Shape 2"/>
          <p:cNvSpPr/>
          <p:nvPr/>
        </p:nvSpPr>
        <p:spPr>
          <a:xfrm>
            <a:off x="685800" y="1325880"/>
            <a:ext cx="1097280" cy="36576"/>
          </a:xfrm>
          <a:prstGeom prst="rect">
            <a:avLst/>
          </a:prstGeom>
          <a:solidFill>
            <a:srgbClr val="E87722"/>
          </a:solidFill>
          <a:ln w="12700">
            <a:solidFill>
              <a:srgbClr val="E87722"/>
            </a:solidFill>
            <a:prstDash val="solid"/>
          </a:ln>
        </p:spPr>
      </p:sp>
      <p:sp>
        <p:nvSpPr>
          <p:cNvPr id="5" name="Shape 3"/>
          <p:cNvSpPr/>
          <p:nvPr/>
        </p:nvSpPr>
        <p:spPr>
          <a:xfrm>
            <a:off x="685800" y="1600200"/>
            <a:ext cx="10789920" cy="4663440"/>
          </a:xfrm>
          <a:prstGeom prst="roundRect">
            <a:avLst>
              <a:gd name="adj" fmla="val 1569"/>
            </a:avLst>
          </a:prstGeom>
          <a:solidFill>
            <a:srgbClr val="0B1F3A"/>
          </a:solidFill>
          <a:ln w="12700">
            <a:solidFill>
              <a:srgbClr val="0B1F3A"/>
            </a:solidFill>
            <a:prstDash val="solid"/>
          </a:ln>
        </p:spPr>
      </p:sp>
      <p:sp>
        <p:nvSpPr>
          <p:cNvPr id="6" name="Text 4"/>
          <p:cNvSpPr/>
          <p:nvPr/>
        </p:nvSpPr>
        <p:spPr>
          <a:xfrm>
            <a:off x="685800" y="2194560"/>
            <a:ext cx="10789920" cy="365760"/>
          </a:xfrm>
          <a:prstGeom prst="rect">
            <a:avLst/>
          </a:prstGeom>
          <a:noFill/>
          <a:ln/>
        </p:spPr>
        <p:txBody>
          <a:bodyPr wrap="square" rtlCol="0" anchor="ctr"/>
          <a:lstStyle/>
          <a:p>
            <a:pPr algn="ctr" indent="0" marL="0">
              <a:buNone/>
            </a:pPr>
            <a:r>
              <a:rPr lang="en-US" sz="1200" b="1" spc="1000" kern="0" dirty="0">
                <a:solidFill>
                  <a:srgbClr val="E87722"/>
                </a:solidFill>
                <a:latin typeface="Calibri" pitchFamily="34" charset="0"/>
                <a:ea typeface="Calibri" pitchFamily="34" charset="-122"/>
                <a:cs typeface="Calibri" pitchFamily="34" charset="-120"/>
              </a:rPr>
              <a:t>OPEN PRESENTER DECK</a:t>
            </a:r>
            <a:endParaRPr lang="en-US" sz="1200" dirty="0"/>
          </a:p>
        </p:txBody>
      </p:sp>
      <p:sp>
        <p:nvSpPr>
          <p:cNvPr id="7" name="Text 5"/>
          <p:cNvSpPr/>
          <p:nvPr/>
        </p:nvSpPr>
        <p:spPr>
          <a:xfrm>
            <a:off x="685800" y="2697480"/>
            <a:ext cx="10789920" cy="82296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Profit-Power-Deck.pptx</a:t>
            </a:r>
            <a:endParaRPr lang="en-US" sz="3600" dirty="0"/>
          </a:p>
        </p:txBody>
      </p:sp>
      <p:sp>
        <p:nvSpPr>
          <p:cNvPr id="8" name="Text 6"/>
          <p:cNvSpPr/>
          <p:nvPr/>
        </p:nvSpPr>
        <p:spPr>
          <a:xfrm>
            <a:off x="685800" y="3703320"/>
            <a:ext cx="10789920" cy="365760"/>
          </a:xfrm>
          <a:prstGeom prst="rect">
            <a:avLst/>
          </a:prstGeom>
          <a:noFill/>
          <a:ln/>
        </p:spPr>
        <p:txBody>
          <a:bodyPr wrap="square" rtlCol="0" anchor="ctr"/>
          <a:lstStyle/>
          <a:p>
            <a:pPr algn="ctr" indent="0" marL="0">
              <a:buNone/>
            </a:pPr>
            <a:r>
              <a:rPr lang="en-US" sz="1400" i="1" dirty="0">
                <a:solidFill>
                  <a:srgbClr val="D4DFEA"/>
                </a:solidFill>
                <a:latin typeface="Calibri" pitchFamily="34" charset="0"/>
                <a:ea typeface="Calibri" pitchFamily="34" charset="-122"/>
                <a:cs typeface="Calibri" pitchFamily="34" charset="-120"/>
              </a:rPr>
              <a:t>located in \speaker-decks\  ·  presenter drives from here</a:t>
            </a:r>
            <a:endParaRPr lang="en-US" sz="1400" dirty="0"/>
          </a:p>
        </p:txBody>
      </p:sp>
      <p:sp>
        <p:nvSpPr>
          <p:cNvPr id="9" name="Text 7"/>
          <p:cNvSpPr/>
          <p:nvPr/>
        </p:nvSpPr>
        <p:spPr>
          <a:xfrm>
            <a:off x="685800" y="5120640"/>
            <a:ext cx="10789920" cy="365760"/>
          </a:xfrm>
          <a:prstGeom prst="rect">
            <a:avLst/>
          </a:prstGeom>
          <a:noFill/>
          <a:ln/>
        </p:spPr>
        <p:txBody>
          <a:bodyPr wrap="square" rtlCol="0" anchor="ctr"/>
          <a:lstStyle/>
          <a:p>
            <a:pPr algn="ctr" indent="0" marL="0">
              <a:buNone/>
            </a:pPr>
            <a:r>
              <a:rPr lang="en-US" sz="1200" dirty="0">
                <a:solidFill>
                  <a:srgbClr val="A9B4C4"/>
                </a:solidFill>
                <a:latin typeface="Calibri" pitchFamily="34" charset="0"/>
                <a:ea typeface="Calibri" pitchFamily="34" charset="-122"/>
                <a:cs typeface="Calibri" pitchFamily="34" charset="-120"/>
              </a:rPr>
              <a:t>When session ends, press Esc and return to this master deck to continue.</a:t>
            </a:r>
            <a:endParaRPr lang="en-US" sz="1200" dirty="0"/>
          </a:p>
        </p:txBody>
      </p:sp>
      <p:sp>
        <p:nvSpPr>
          <p:cNvPr id="10" name="Shape 8"/>
          <p:cNvSpPr/>
          <p:nvPr/>
        </p:nvSpPr>
        <p:spPr>
          <a:xfrm>
            <a:off x="0" y="6675120"/>
            <a:ext cx="12191695" cy="182880"/>
          </a:xfrm>
          <a:prstGeom prst="rect">
            <a:avLst/>
          </a:prstGeom>
          <a:solidFill>
            <a:srgbClr val="E87722"/>
          </a:solidFill>
          <a:ln w="12700">
            <a:solidFill>
              <a:srgbClr val="E87722"/>
            </a:solidFill>
            <a:prstDash val="solid"/>
          </a:ln>
        </p:spPr>
      </p:sp>
      <p:sp>
        <p:nvSpPr>
          <p:cNvPr id="11" name="Text 9"/>
          <p:cNvSpPr/>
          <p:nvPr/>
        </p:nvSpPr>
        <p:spPr>
          <a:xfrm>
            <a:off x="457200" y="6446520"/>
            <a:ext cx="7315200" cy="228600"/>
          </a:xfrm>
          <a:prstGeom prst="rect">
            <a:avLst/>
          </a:prstGeom>
          <a:noFill/>
          <a:ln/>
        </p:spPr>
        <p:txBody>
          <a:bodyPr wrap="square" rtlCol="0" anchor="ctr"/>
          <a:lstStyle/>
          <a:p>
            <a:pPr indent="0" marL="0">
              <a:buNone/>
            </a:pPr>
            <a:r>
              <a:rPr lang="en-US" sz="900" b="1" spc="400" kern="0" dirty="0">
                <a:solidFill>
                  <a:srgbClr val="D4DFEA"/>
                </a:solidFill>
                <a:latin typeface="Calibri" pitchFamily="34" charset="0"/>
                <a:ea typeface="Calibri" pitchFamily="34" charset="-122"/>
                <a:cs typeface="Calibri" pitchFamily="34" charset="-120"/>
              </a:rPr>
              <a:t>WE RUN ON EOS® NORTH TEXAS  ·  SEPTEMBER 14, 2026</a:t>
            </a:r>
            <a:endParaRPr lang="en-US" sz="900" dirty="0"/>
          </a:p>
        </p:txBody>
      </p:sp>
      <p:sp>
        <p:nvSpPr>
          <p:cNvPr id="12" name="Text 10"/>
          <p:cNvSpPr/>
          <p:nvPr/>
        </p:nvSpPr>
        <p:spPr>
          <a:xfrm>
            <a:off x="5029200" y="6446520"/>
            <a:ext cx="6675120" cy="228600"/>
          </a:xfrm>
          <a:prstGeom prst="rect">
            <a:avLst/>
          </a:prstGeom>
          <a:noFill/>
          <a:ln/>
        </p:spPr>
        <p:txBody>
          <a:bodyPr wrap="square" rtlCol="0" anchor="ctr"/>
          <a:lstStyle/>
          <a:p>
            <a:pPr algn="r" indent="0" marL="0">
              <a:buNone/>
            </a:pPr>
            <a:r>
              <a:rPr lang="en-US" sz="900" dirty="0">
                <a:solidFill>
                  <a:srgbClr val="D4DFEA"/>
                </a:solidFill>
                <a:latin typeface="Calibri" pitchFamily="34" charset="0"/>
                <a:ea typeface="Calibri" pitchFamily="34" charset="-122"/>
                <a:cs typeface="Calibri" pitchFamily="34" charset="-120"/>
              </a:rPr>
              <a:t>#WRoENorthTexas2026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457200" y="548640"/>
            <a:ext cx="11277295" cy="457200"/>
          </a:xfrm>
          <a:prstGeom prst="rect">
            <a:avLst/>
          </a:prstGeom>
          <a:noFill/>
          <a:ln/>
        </p:spPr>
        <p:txBody>
          <a:bodyPr wrap="square" rtlCol="0" anchor="ctr"/>
          <a:lstStyle/>
          <a:p>
            <a:pPr algn="ctr" indent="0" marL="0">
              <a:buNone/>
            </a:pPr>
            <a:r>
              <a:rPr lang="en-US" sz="1800" b="1" spc="1200" kern="0" dirty="0">
                <a:solidFill>
                  <a:srgbClr val="E87722"/>
                </a:solidFill>
                <a:latin typeface="Calibri" pitchFamily="34" charset="0"/>
                <a:ea typeface="Calibri" pitchFamily="34" charset="-122"/>
                <a:cs typeface="Calibri" pitchFamily="34" charset="-120"/>
              </a:rPr>
              <a:t>AFTERNOON BREAK</a:t>
            </a:r>
            <a:endParaRPr lang="en-US" sz="1800" dirty="0"/>
          </a:p>
        </p:txBody>
      </p:sp>
      <p:sp>
        <p:nvSpPr>
          <p:cNvPr id="3" name="CountdownTimer_15"/>
          <p:cNvSpPr/>
          <p:nvPr/>
        </p:nvSpPr>
        <p:spPr>
          <a:xfrm>
            <a:off x="457200" y="1051560"/>
            <a:ext cx="11277295" cy="2286000"/>
          </a:xfrm>
          <a:prstGeom prst="rect">
            <a:avLst/>
          </a:prstGeom>
          <a:noFill/>
          <a:ln/>
        </p:spPr>
        <p:txBody>
          <a:bodyPr wrap="square" rtlCol="0" anchor="ctr"/>
          <a:lstStyle/>
          <a:p>
            <a:pPr algn="ctr" indent="0" marL="0">
              <a:buNone/>
            </a:pPr>
            <a:r>
              <a:rPr lang="en-US" sz="18000" b="1" dirty="0">
                <a:solidFill>
                  <a:srgbClr val="FFFFFF"/>
                </a:solidFill>
                <a:latin typeface="Calibri" pitchFamily="34" charset="0"/>
                <a:ea typeface="Calibri" pitchFamily="34" charset="-122"/>
                <a:cs typeface="Calibri" pitchFamily="34" charset="-120"/>
              </a:rPr>
              <a:t>15:00</a:t>
            </a:r>
            <a:endParaRPr lang="en-US" sz="18000" dirty="0"/>
          </a:p>
        </p:txBody>
      </p:sp>
      <p:sp>
        <p:nvSpPr>
          <p:cNvPr id="4" name="Text 2"/>
          <p:cNvSpPr/>
          <p:nvPr/>
        </p:nvSpPr>
        <p:spPr>
          <a:xfrm>
            <a:off x="457200" y="3429000"/>
            <a:ext cx="11277295" cy="365760"/>
          </a:xfrm>
          <a:prstGeom prst="rect">
            <a:avLst/>
          </a:prstGeom>
          <a:noFill/>
          <a:ln/>
        </p:spPr>
        <p:txBody>
          <a:bodyPr wrap="square" rtlCol="0" anchor="ctr"/>
          <a:lstStyle/>
          <a:p>
            <a:pPr algn="ctr" indent="0" marL="0">
              <a:buNone/>
            </a:pPr>
            <a:r>
              <a:rPr lang="en-US" sz="1800" i="1" dirty="0">
                <a:solidFill>
                  <a:srgbClr val="D4DFEA"/>
                </a:solidFill>
                <a:latin typeface="Calibri" pitchFamily="34" charset="0"/>
                <a:ea typeface="Calibri" pitchFamily="34" charset="-122"/>
                <a:cs typeface="Calibri" pitchFamily="34" charset="-120"/>
              </a:rPr>
              <a:t>minutes remaining</a:t>
            </a:r>
            <a:endParaRPr lang="en-US" sz="1800" dirty="0"/>
          </a:p>
        </p:txBody>
      </p:sp>
      <p:sp>
        <p:nvSpPr>
          <p:cNvPr id="5" name="Text 3"/>
          <p:cNvSpPr/>
          <p:nvPr/>
        </p:nvSpPr>
        <p:spPr>
          <a:xfrm>
            <a:off x="457200" y="3840480"/>
            <a:ext cx="11277295" cy="365760"/>
          </a:xfrm>
          <a:prstGeom prst="rect">
            <a:avLst/>
          </a:prstGeom>
          <a:noFill/>
          <a:ln/>
        </p:spPr>
        <p:txBody>
          <a:bodyPr wrap="square" rtlCol="0" anchor="ctr"/>
          <a:lstStyle/>
          <a:p>
            <a:pPr algn="ctr" indent="0" marL="0">
              <a:buNone/>
            </a:pPr>
            <a:r>
              <a:rPr lang="en-US" sz="1800" b="1" dirty="0">
                <a:solidFill>
                  <a:srgbClr val="E87722"/>
                </a:solidFill>
                <a:latin typeface="Calibri" pitchFamily="34" charset="0"/>
                <a:ea typeface="Calibri" pitchFamily="34" charset="-122"/>
                <a:cs typeface="Calibri" pitchFamily="34" charset="-120"/>
              </a:rPr>
              <a:t>We resume at 2:55 PM</a:t>
            </a:r>
            <a:endParaRPr lang="en-US" sz="1800" dirty="0"/>
          </a:p>
        </p:txBody>
      </p:sp>
      <p:sp>
        <p:nvSpPr>
          <p:cNvPr id="6" name="Shape 4"/>
          <p:cNvSpPr/>
          <p:nvPr/>
        </p:nvSpPr>
        <p:spPr>
          <a:xfrm>
            <a:off x="457200" y="4480560"/>
            <a:ext cx="11277295" cy="2194560"/>
          </a:xfrm>
          <a:prstGeom prst="rect">
            <a:avLst/>
          </a:prstGeom>
          <a:solidFill>
            <a:srgbClr val="FFFFFF"/>
          </a:solidFill>
          <a:ln w="6350">
            <a:solidFill>
              <a:srgbClr val="C9D2DE"/>
            </a:solidFill>
            <a:prstDash val="solid"/>
          </a:ln>
        </p:spPr>
      </p:sp>
      <p:sp>
        <p:nvSpPr>
          <p:cNvPr id="7" name="Text 5"/>
          <p:cNvSpPr/>
          <p:nvPr/>
        </p:nvSpPr>
        <p:spPr>
          <a:xfrm>
            <a:off x="457200" y="4553712"/>
            <a:ext cx="11277295" cy="256032"/>
          </a:xfrm>
          <a:prstGeom prst="rect">
            <a:avLst/>
          </a:prstGeom>
          <a:noFill/>
          <a:ln/>
        </p:spPr>
        <p:txBody>
          <a:bodyPr wrap="square" rtlCol="0" anchor="ctr"/>
          <a:lstStyle/>
          <a:p>
            <a:pPr algn="ctr" indent="0" marL="0">
              <a:buNone/>
            </a:pPr>
            <a:r>
              <a:rPr lang="en-US" sz="1000" b="1" spc="600" kern="0" dirty="0">
                <a:solidFill>
                  <a:srgbClr val="E87722"/>
                </a:solidFill>
                <a:latin typeface="Calibri" pitchFamily="34" charset="0"/>
                <a:ea typeface="Calibri" pitchFamily="34" charset="-122"/>
                <a:cs typeface="Calibri" pitchFamily="34" charset="-120"/>
              </a:rPr>
              <a:t>THANK YOU TO OUR SPONSORS</a:t>
            </a:r>
            <a:endParaRPr lang="en-US" sz="1000" dirty="0"/>
          </a:p>
        </p:txBody>
      </p:sp>
      <p:pic>
        <p:nvPicPr>
          <p:cNvPr id="8" name="Image 0" descr="/home/user/workspace/wroe-dallas-2026/deliverables/workbook/assets/sponsors/strety.png">    </p:cNvPr>
          <p:cNvPicPr>
            <a:picLocks noChangeAspect="1"/>
          </p:cNvPicPr>
          <p:nvPr/>
        </p:nvPicPr>
        <p:blipFill>
          <a:blip r:embed="rId1"/>
          <a:stretch>
            <a:fillRect/>
          </a:stretch>
        </p:blipFill>
        <p:spPr>
          <a:xfrm>
            <a:off x="929945" y="4950570"/>
            <a:ext cx="1569720" cy="568739"/>
          </a:xfrm>
          <a:prstGeom prst="rect">
            <a:avLst/>
          </a:prstGeom>
        </p:spPr>
      </p:pic>
      <p:pic>
        <p:nvPicPr>
          <p:cNvPr id="9" name="Image 1" descr="/home/user/workspace/wroe-dallas-2026/deliverables/workbook/assets/sponsors/tsos.png">    </p:cNvPr>
          <p:cNvPicPr>
            <a:picLocks noChangeAspect="1"/>
          </p:cNvPicPr>
          <p:nvPr/>
        </p:nvPicPr>
        <p:blipFill>
          <a:blip r:embed="rId2"/>
          <a:stretch>
            <a:fillRect/>
          </a:stretch>
        </p:blipFill>
        <p:spPr>
          <a:xfrm>
            <a:off x="2682545" y="4984186"/>
            <a:ext cx="1569720" cy="501508"/>
          </a:xfrm>
          <a:prstGeom prst="rect">
            <a:avLst/>
          </a:prstGeom>
        </p:spPr>
      </p:pic>
      <p:pic>
        <p:nvPicPr>
          <p:cNvPr id="10" name="Image 2" descr="/home/user/workspace/wroe-dallas-2026/deliverables/workbook/assets/sponsors/procfopartners.png">    </p:cNvPr>
          <p:cNvPicPr>
            <a:picLocks noChangeAspect="1"/>
          </p:cNvPicPr>
          <p:nvPr/>
        </p:nvPicPr>
        <p:blipFill>
          <a:blip r:embed="rId3"/>
          <a:stretch>
            <a:fillRect/>
          </a:stretch>
        </p:blipFill>
        <p:spPr>
          <a:xfrm>
            <a:off x="4435145" y="5005368"/>
            <a:ext cx="1569720" cy="459143"/>
          </a:xfrm>
          <a:prstGeom prst="rect">
            <a:avLst/>
          </a:prstGeom>
        </p:spPr>
      </p:pic>
      <p:pic>
        <p:nvPicPr>
          <p:cNvPr id="11" name="Image 3" descr="/home/user/workspace/wroe-dallas-2026/deliverables/workbook/assets/sponsors/titustalent.png">    </p:cNvPr>
          <p:cNvPicPr>
            <a:picLocks noChangeAspect="1"/>
          </p:cNvPicPr>
          <p:nvPr/>
        </p:nvPicPr>
        <p:blipFill>
          <a:blip r:embed="rId4"/>
          <a:stretch>
            <a:fillRect/>
          </a:stretch>
        </p:blipFill>
        <p:spPr>
          <a:xfrm>
            <a:off x="6187745" y="4949796"/>
            <a:ext cx="1569720" cy="570289"/>
          </a:xfrm>
          <a:prstGeom prst="rect">
            <a:avLst/>
          </a:prstGeom>
        </p:spPr>
      </p:pic>
      <p:pic>
        <p:nvPicPr>
          <p:cNvPr id="12" name="Image 4" descr="/home/user/workspace/wroe-dallas-2026/deliverables/workbook/assets/sponsors/ninety.png">    </p:cNvPr>
          <p:cNvPicPr>
            <a:picLocks noChangeAspect="1"/>
          </p:cNvPicPr>
          <p:nvPr/>
        </p:nvPicPr>
        <p:blipFill>
          <a:blip r:embed="rId5"/>
          <a:stretch>
            <a:fillRect/>
          </a:stretch>
        </p:blipFill>
        <p:spPr>
          <a:xfrm>
            <a:off x="8040262" y="4892040"/>
            <a:ext cx="1369886" cy="685800"/>
          </a:xfrm>
          <a:prstGeom prst="rect">
            <a:avLst/>
          </a:prstGeom>
        </p:spPr>
      </p:pic>
      <p:pic>
        <p:nvPicPr>
          <p:cNvPr id="13" name="Image 5" descr="/home/user/workspace/wroe-dallas-2026/deliverables/workbook/assets/sponsors/vsimple.png">    </p:cNvPr>
          <p:cNvPicPr>
            <a:picLocks noChangeAspect="1"/>
          </p:cNvPicPr>
          <p:nvPr/>
        </p:nvPicPr>
        <p:blipFill>
          <a:blip r:embed="rId6"/>
          <a:stretch>
            <a:fillRect/>
          </a:stretch>
        </p:blipFill>
        <p:spPr>
          <a:xfrm>
            <a:off x="9692945" y="5039580"/>
            <a:ext cx="1569720" cy="390721"/>
          </a:xfrm>
          <a:prstGeom prst="rect">
            <a:avLst/>
          </a:prstGeom>
        </p:spPr>
      </p:pic>
      <p:pic>
        <p:nvPicPr>
          <p:cNvPr id="14" name="Image 6" descr="/home/user/workspace/wroe-dallas-2026/deliverables/workbook/assets/sponsors/strata.png">    </p:cNvPr>
          <p:cNvPicPr>
            <a:picLocks noChangeAspect="1"/>
          </p:cNvPicPr>
          <p:nvPr/>
        </p:nvPicPr>
        <p:blipFill>
          <a:blip r:embed="rId7"/>
          <a:stretch>
            <a:fillRect/>
          </a:stretch>
        </p:blipFill>
        <p:spPr>
          <a:xfrm>
            <a:off x="747065" y="5892811"/>
            <a:ext cx="806335" cy="238737"/>
          </a:xfrm>
          <a:prstGeom prst="rect">
            <a:avLst/>
          </a:prstGeom>
        </p:spPr>
      </p:pic>
      <p:pic>
        <p:nvPicPr>
          <p:cNvPr id="15" name="Image 7" descr="/home/user/workspace/wroe-dallas-2026/deliverables/workbook/assets/sponsors/successco.png">    </p:cNvPr>
          <p:cNvPicPr>
            <a:picLocks noChangeAspect="1"/>
          </p:cNvPicPr>
          <p:nvPr/>
        </p:nvPicPr>
        <p:blipFill>
          <a:blip r:embed="rId8"/>
          <a:stretch>
            <a:fillRect/>
          </a:stretch>
        </p:blipFill>
        <p:spPr>
          <a:xfrm>
            <a:off x="1736279" y="5916812"/>
            <a:ext cx="806335" cy="190736"/>
          </a:xfrm>
          <a:prstGeom prst="rect">
            <a:avLst/>
          </a:prstGeom>
        </p:spPr>
      </p:pic>
      <p:pic>
        <p:nvPicPr>
          <p:cNvPr id="16" name="Image 8" descr="/home/user/workspace/wroe-dallas-2026/deliverables/workbook/assets/sponsors/360consultingdfw.png">    </p:cNvPr>
          <p:cNvPicPr>
            <a:picLocks noChangeAspect="1"/>
          </p:cNvPicPr>
          <p:nvPr/>
        </p:nvPicPr>
        <p:blipFill>
          <a:blip r:embed="rId9"/>
          <a:stretch>
            <a:fillRect/>
          </a:stretch>
        </p:blipFill>
        <p:spPr>
          <a:xfrm>
            <a:off x="2725494" y="5858884"/>
            <a:ext cx="806335" cy="306591"/>
          </a:xfrm>
          <a:prstGeom prst="rect">
            <a:avLst/>
          </a:prstGeom>
        </p:spPr>
      </p:pic>
      <p:pic>
        <p:nvPicPr>
          <p:cNvPr id="17" name="Image 9" descr="/home/user/workspace/wroe-dallas-2026/deliverables/workbook/assets/sponsors/allinoneaccounting.png">    </p:cNvPr>
          <p:cNvPicPr>
            <a:picLocks noChangeAspect="1"/>
          </p:cNvPicPr>
          <p:nvPr/>
        </p:nvPicPr>
        <p:blipFill>
          <a:blip r:embed="rId10"/>
          <a:stretch>
            <a:fillRect/>
          </a:stretch>
        </p:blipFill>
        <p:spPr>
          <a:xfrm>
            <a:off x="3714708" y="5768206"/>
            <a:ext cx="806335" cy="487948"/>
          </a:xfrm>
          <a:prstGeom prst="rect">
            <a:avLst/>
          </a:prstGeom>
        </p:spPr>
      </p:pic>
      <p:pic>
        <p:nvPicPr>
          <p:cNvPr id="18" name="Image 10" descr="/home/user/workspace/wroe-dallas-2026/deliverables/workbook/assets/sponsors/chiefaiofficer.png">    </p:cNvPr>
          <p:cNvPicPr>
            <a:picLocks noChangeAspect="1"/>
          </p:cNvPicPr>
          <p:nvPr/>
        </p:nvPicPr>
        <p:blipFill>
          <a:blip r:embed="rId11"/>
          <a:stretch>
            <a:fillRect/>
          </a:stretch>
        </p:blipFill>
        <p:spPr>
          <a:xfrm>
            <a:off x="4703923" y="5950226"/>
            <a:ext cx="806335" cy="123908"/>
          </a:xfrm>
          <a:prstGeom prst="rect">
            <a:avLst/>
          </a:prstGeom>
        </p:spPr>
      </p:pic>
      <p:pic>
        <p:nvPicPr>
          <p:cNvPr id="19" name="Image 11" descr="/home/user/workspace/wroe-dallas-2026/deliverables/workbook/assets/sponsors/hoopshr.png">    </p:cNvPr>
          <p:cNvPicPr>
            <a:picLocks noChangeAspect="1"/>
          </p:cNvPicPr>
          <p:nvPr/>
        </p:nvPicPr>
        <p:blipFill>
          <a:blip r:embed="rId12"/>
          <a:stretch>
            <a:fillRect/>
          </a:stretch>
        </p:blipFill>
        <p:spPr>
          <a:xfrm>
            <a:off x="5693138" y="5821782"/>
            <a:ext cx="806335" cy="380796"/>
          </a:xfrm>
          <a:prstGeom prst="rect">
            <a:avLst/>
          </a:prstGeom>
        </p:spPr>
      </p:pic>
      <p:pic>
        <p:nvPicPr>
          <p:cNvPr id="20" name="Image 12" descr="/home/user/workspace/wroe-dallas-2026/deliverables/workbook/assets/sponsors/readyforthenextlevel.png">    </p:cNvPr>
          <p:cNvPicPr>
            <a:picLocks noChangeAspect="1"/>
          </p:cNvPicPr>
          <p:nvPr/>
        </p:nvPicPr>
        <p:blipFill>
          <a:blip r:embed="rId13"/>
          <a:stretch>
            <a:fillRect/>
          </a:stretch>
        </p:blipFill>
        <p:spPr>
          <a:xfrm>
            <a:off x="6682352" y="5943321"/>
            <a:ext cx="806335" cy="137717"/>
          </a:xfrm>
          <a:prstGeom prst="rect">
            <a:avLst/>
          </a:prstGeom>
        </p:spPr>
      </p:pic>
      <p:pic>
        <p:nvPicPr>
          <p:cNvPr id="21" name="Image 13" descr="/home/user/workspace/wroe-dallas-2026/deliverables/workbook/assets/sponsors/profitworks.png">    </p:cNvPr>
          <p:cNvPicPr>
            <a:picLocks noChangeAspect="1"/>
          </p:cNvPicPr>
          <p:nvPr/>
        </p:nvPicPr>
        <p:blipFill>
          <a:blip r:embed="rId14"/>
          <a:stretch>
            <a:fillRect/>
          </a:stretch>
        </p:blipFill>
        <p:spPr>
          <a:xfrm>
            <a:off x="7671567" y="5930814"/>
            <a:ext cx="806335" cy="162731"/>
          </a:xfrm>
          <a:prstGeom prst="rect">
            <a:avLst/>
          </a:prstGeom>
        </p:spPr>
      </p:pic>
      <p:pic>
        <p:nvPicPr>
          <p:cNvPr id="22" name="Image 14" descr="/home/user/workspace/wroe-dallas-2026/deliverables/workbook/assets/sponsors/talentharbor.png">    </p:cNvPr>
          <p:cNvPicPr>
            <a:picLocks noChangeAspect="1"/>
          </p:cNvPicPr>
          <p:nvPr/>
        </p:nvPicPr>
        <p:blipFill>
          <a:blip r:embed="rId15"/>
          <a:stretch>
            <a:fillRect/>
          </a:stretch>
        </p:blipFill>
        <p:spPr>
          <a:xfrm>
            <a:off x="8660781" y="5971415"/>
            <a:ext cx="806335" cy="81530"/>
          </a:xfrm>
          <a:prstGeom prst="rect">
            <a:avLst/>
          </a:prstGeom>
        </p:spPr>
      </p:pic>
      <p:pic>
        <p:nvPicPr>
          <p:cNvPr id="23" name="Image 15" descr="/home/user/workspace/wroe-dallas-2026/deliverables/workbook/assets/sponsors/vcfo.png">    </p:cNvPr>
          <p:cNvPicPr>
            <a:picLocks noChangeAspect="1"/>
          </p:cNvPicPr>
          <p:nvPr/>
        </p:nvPicPr>
        <p:blipFill>
          <a:blip r:embed="rId16"/>
          <a:stretch>
            <a:fillRect/>
          </a:stretch>
        </p:blipFill>
        <p:spPr>
          <a:xfrm>
            <a:off x="9649996" y="5920459"/>
            <a:ext cx="806335" cy="183441"/>
          </a:xfrm>
          <a:prstGeom prst="rect">
            <a:avLst/>
          </a:prstGeom>
        </p:spPr>
      </p:pic>
      <p:pic>
        <p:nvPicPr>
          <p:cNvPr id="24" name="Image 16" descr="/home/user/workspace/wroe-dallas-2026/deliverables/workbook/assets/sponsors/wolfsedgeintegrators.png">    </p:cNvPr>
          <p:cNvPicPr>
            <a:picLocks noChangeAspect="1"/>
          </p:cNvPicPr>
          <p:nvPr/>
        </p:nvPicPr>
        <p:blipFill>
          <a:blip r:embed="rId17"/>
          <a:stretch>
            <a:fillRect/>
          </a:stretch>
        </p:blipFill>
        <p:spPr>
          <a:xfrm>
            <a:off x="10639210" y="5900111"/>
            <a:ext cx="806335" cy="224137"/>
          </a:xfrm>
          <a:prstGeom prst="rect">
            <a:avLst/>
          </a:prstGeom>
        </p:spPr>
      </p:pic>
      <p:sp>
        <p:nvSpPr>
          <p:cNvPr id="25" name="Shape 6"/>
          <p:cNvSpPr/>
          <p:nvPr/>
        </p:nvSpPr>
        <p:spPr>
          <a:xfrm>
            <a:off x="0" y="6675120"/>
            <a:ext cx="12191695" cy="182880"/>
          </a:xfrm>
          <a:prstGeom prst="rect">
            <a:avLst/>
          </a:prstGeom>
          <a:solidFill>
            <a:srgbClr val="E87722"/>
          </a:solidFill>
          <a:ln w="12700">
            <a:solidFill>
              <a:srgbClr val="E87722"/>
            </a:solidFill>
            <a:prstDash val="solid"/>
          </a:ln>
        </p:spPr>
      </p:sp>
      <p:sp>
        <p:nvSpPr>
          <p:cNvPr id="26" name="Text 7"/>
          <p:cNvSpPr/>
          <p:nvPr/>
        </p:nvSpPr>
        <p:spPr>
          <a:xfrm>
            <a:off x="457200" y="6446520"/>
            <a:ext cx="7315200" cy="228600"/>
          </a:xfrm>
          <a:prstGeom prst="rect">
            <a:avLst/>
          </a:prstGeom>
          <a:noFill/>
          <a:ln/>
        </p:spPr>
        <p:txBody>
          <a:bodyPr wrap="square" rtlCol="0" anchor="ctr"/>
          <a:lstStyle/>
          <a:p>
            <a:pPr indent="0" marL="0">
              <a:buNone/>
            </a:pPr>
            <a:r>
              <a:rPr lang="en-US" sz="900" b="1" spc="400" kern="0" dirty="0">
                <a:solidFill>
                  <a:srgbClr val="D4DFEA"/>
                </a:solidFill>
                <a:latin typeface="Calibri" pitchFamily="34" charset="0"/>
                <a:ea typeface="Calibri" pitchFamily="34" charset="-122"/>
                <a:cs typeface="Calibri" pitchFamily="34" charset="-120"/>
              </a:rPr>
              <a:t>WE RUN ON EOS® NORTH TEXAS  ·  SEPTEMBER 14, 2026</a:t>
            </a:r>
            <a:endParaRPr lang="en-US" sz="900" dirty="0"/>
          </a:p>
        </p:txBody>
      </p:sp>
      <p:sp>
        <p:nvSpPr>
          <p:cNvPr id="27" name="Text 8"/>
          <p:cNvSpPr/>
          <p:nvPr/>
        </p:nvSpPr>
        <p:spPr>
          <a:xfrm>
            <a:off x="5029200" y="6446520"/>
            <a:ext cx="6675120" cy="228600"/>
          </a:xfrm>
          <a:prstGeom prst="rect">
            <a:avLst/>
          </a:prstGeom>
          <a:noFill/>
          <a:ln/>
        </p:spPr>
        <p:txBody>
          <a:bodyPr wrap="square" rtlCol="0" anchor="ctr"/>
          <a:lstStyle/>
          <a:p>
            <a:pPr algn="r" indent="0" marL="0">
              <a:buNone/>
            </a:pPr>
            <a:r>
              <a:rPr lang="en-US" sz="900" dirty="0">
                <a:solidFill>
                  <a:srgbClr val="D4DFEA"/>
                </a:solidFill>
                <a:latin typeface="Calibri" pitchFamily="34" charset="0"/>
                <a:ea typeface="Calibri" pitchFamily="34" charset="-122"/>
                <a:cs typeface="Calibri" pitchFamily="34" charset="-120"/>
              </a:rPr>
              <a:t>#WRoENorthTexas2026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85800" y="548640"/>
            <a:ext cx="1371600" cy="54864"/>
          </a:xfrm>
          <a:prstGeom prst="rect">
            <a:avLst/>
          </a:prstGeom>
          <a:solidFill>
            <a:srgbClr val="E87722"/>
          </a:solidFill>
          <a:ln w="12700">
            <a:solidFill>
              <a:srgbClr val="E87722"/>
            </a:solidFill>
            <a:prstDash val="solid"/>
          </a:ln>
        </p:spPr>
      </p:sp>
      <p:sp>
        <p:nvSpPr>
          <p:cNvPr id="3" name="Text 1"/>
          <p:cNvSpPr/>
          <p:nvPr/>
        </p:nvSpPr>
        <p:spPr>
          <a:xfrm>
            <a:off x="685800" y="777240"/>
            <a:ext cx="10972800" cy="365760"/>
          </a:xfrm>
          <a:prstGeom prst="rect">
            <a:avLst/>
          </a:prstGeom>
          <a:noFill/>
          <a:ln/>
        </p:spPr>
        <p:txBody>
          <a:bodyPr wrap="square" rtlCol="0" anchor="ctr"/>
          <a:lstStyle/>
          <a:p>
            <a:pPr indent="0" marL="0">
              <a:buNone/>
            </a:pPr>
            <a:r>
              <a:rPr lang="en-US" sz="1600" b="1" spc="800" kern="0" dirty="0">
                <a:solidFill>
                  <a:srgbClr val="E87722"/>
                </a:solidFill>
                <a:latin typeface="Calibri" pitchFamily="34" charset="0"/>
                <a:ea typeface="Calibri" pitchFamily="34" charset="-122"/>
                <a:cs typeface="Calibri" pitchFamily="34" charset="-120"/>
              </a:rPr>
              <a:t>SESSION 2  ·  2:55 – 4:25 PM</a:t>
            </a:r>
            <a:endParaRPr lang="en-US" sz="1600" dirty="0"/>
          </a:p>
        </p:txBody>
      </p:sp>
      <p:sp>
        <p:nvSpPr>
          <p:cNvPr id="4" name="Text 2"/>
          <p:cNvSpPr/>
          <p:nvPr/>
        </p:nvSpPr>
        <p:spPr>
          <a:xfrm>
            <a:off x="685800" y="1463040"/>
            <a:ext cx="10972800" cy="2194560"/>
          </a:xfrm>
          <a:prstGeom prst="rect">
            <a:avLst/>
          </a:prstGeom>
          <a:noFill/>
          <a:ln/>
        </p:spPr>
        <p:txBody>
          <a:bodyPr wrap="square" rtlCol="0" anchor="t">
            <a:spAutoFit/>
          </a:bodyPr>
          <a:lstStyle/>
          <a:p>
            <a:pPr indent="0" marL="0">
              <a:buNone/>
            </a:pPr>
            <a:r>
              <a:rPr lang="en-US" sz="5400" b="1" dirty="0">
                <a:solidFill>
                  <a:srgbClr val="FFFFFF"/>
                </a:solidFill>
                <a:latin typeface="Calibri" pitchFamily="34" charset="0"/>
                <a:ea typeface="Calibri" pitchFamily="34" charset="-122"/>
                <a:cs typeface="Calibri" pitchFamily="34" charset="-120"/>
              </a:rPr>
              <a:t>Rollout, Reworked: Running EOS Company-Wide</a:t>
            </a:r>
            <a:endParaRPr lang="en-US" sz="5400" dirty="0"/>
          </a:p>
        </p:txBody>
      </p:sp>
      <p:sp>
        <p:nvSpPr>
          <p:cNvPr id="5" name="Text 3"/>
          <p:cNvSpPr/>
          <p:nvPr/>
        </p:nvSpPr>
        <p:spPr>
          <a:xfrm>
            <a:off x="685800" y="4937760"/>
            <a:ext cx="10972800" cy="274320"/>
          </a:xfrm>
          <a:prstGeom prst="rect">
            <a:avLst/>
          </a:prstGeom>
          <a:noFill/>
          <a:ln/>
        </p:spPr>
        <p:txBody>
          <a:bodyPr wrap="square" rtlCol="0" anchor="ctr"/>
          <a:lstStyle/>
          <a:p>
            <a:pPr indent="0" marL="0">
              <a:buNone/>
            </a:pPr>
            <a:r>
              <a:rPr lang="en-US" sz="1200" b="1" spc="800" kern="0" dirty="0">
                <a:solidFill>
                  <a:srgbClr val="E87722"/>
                </a:solidFill>
                <a:latin typeface="Calibri" pitchFamily="34" charset="0"/>
                <a:ea typeface="Calibri" pitchFamily="34" charset="-122"/>
                <a:cs typeface="Calibri" pitchFamily="34" charset="-120"/>
              </a:rPr>
              <a:t>PRESENTED BY</a:t>
            </a:r>
            <a:endParaRPr lang="en-US" sz="1200" dirty="0"/>
          </a:p>
        </p:txBody>
      </p:sp>
      <p:sp>
        <p:nvSpPr>
          <p:cNvPr id="6" name="Text 4"/>
          <p:cNvSpPr/>
          <p:nvPr/>
        </p:nvSpPr>
        <p:spPr>
          <a:xfrm>
            <a:off x="685800" y="5212080"/>
            <a:ext cx="10972800" cy="64008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Beth Fahey</a:t>
            </a:r>
            <a:endParaRPr lang="en-US" sz="4000" dirty="0"/>
          </a:p>
        </p:txBody>
      </p:sp>
      <p:sp>
        <p:nvSpPr>
          <p:cNvPr id="7" name="Text 5"/>
          <p:cNvSpPr/>
          <p:nvPr/>
        </p:nvSpPr>
        <p:spPr>
          <a:xfrm>
            <a:off x="685800" y="5852160"/>
            <a:ext cx="10972800" cy="365760"/>
          </a:xfrm>
          <a:prstGeom prst="rect">
            <a:avLst/>
          </a:prstGeom>
          <a:noFill/>
          <a:ln/>
        </p:spPr>
        <p:txBody>
          <a:bodyPr wrap="square" rtlCol="0" anchor="ctr"/>
          <a:lstStyle/>
          <a:p>
            <a:pPr indent="0" marL="0">
              <a:buNone/>
            </a:pPr>
            <a:r>
              <a:rPr lang="en-US" sz="1800" i="1" dirty="0">
                <a:solidFill>
                  <a:srgbClr val="D4DFEA"/>
                </a:solidFill>
                <a:latin typeface="Calibri" pitchFamily="34" charset="0"/>
                <a:ea typeface="Calibri" pitchFamily="34" charset="-122"/>
                <a:cs typeface="Calibri" pitchFamily="34" charset="-120"/>
              </a:rPr>
              <a:t>Expert EOS Implementer®</a:t>
            </a:r>
            <a:endParaRPr lang="en-US" sz="1800" dirty="0"/>
          </a:p>
        </p:txBody>
      </p:sp>
      <p:sp>
        <p:nvSpPr>
          <p:cNvPr id="8" name="Shape 6"/>
          <p:cNvSpPr/>
          <p:nvPr/>
        </p:nvSpPr>
        <p:spPr>
          <a:xfrm>
            <a:off x="0" y="6675120"/>
            <a:ext cx="12191695" cy="182880"/>
          </a:xfrm>
          <a:prstGeom prst="rect">
            <a:avLst/>
          </a:prstGeom>
          <a:solidFill>
            <a:srgbClr val="E87722"/>
          </a:solidFill>
          <a:ln w="12700">
            <a:solidFill>
              <a:srgbClr val="E87722"/>
            </a:solidFill>
            <a:prstDash val="solid"/>
          </a:ln>
        </p:spPr>
      </p:sp>
      <p:sp>
        <p:nvSpPr>
          <p:cNvPr id="9" name="Text 7"/>
          <p:cNvSpPr/>
          <p:nvPr/>
        </p:nvSpPr>
        <p:spPr>
          <a:xfrm>
            <a:off x="457200" y="6446520"/>
            <a:ext cx="7315200" cy="228600"/>
          </a:xfrm>
          <a:prstGeom prst="rect">
            <a:avLst/>
          </a:prstGeom>
          <a:noFill/>
          <a:ln/>
        </p:spPr>
        <p:txBody>
          <a:bodyPr wrap="square" rtlCol="0" anchor="ctr"/>
          <a:lstStyle/>
          <a:p>
            <a:pPr indent="0" marL="0">
              <a:buNone/>
            </a:pPr>
            <a:r>
              <a:rPr lang="en-US" sz="900" b="1" spc="400" kern="0" dirty="0">
                <a:solidFill>
                  <a:srgbClr val="D4DFEA"/>
                </a:solidFill>
                <a:latin typeface="Calibri" pitchFamily="34" charset="0"/>
                <a:ea typeface="Calibri" pitchFamily="34" charset="-122"/>
                <a:cs typeface="Calibri" pitchFamily="34" charset="-120"/>
              </a:rPr>
              <a:t>WE RUN ON EOS® NORTH TEXAS  ·  SEPTEMBER 14, 2026</a:t>
            </a:r>
            <a:endParaRPr lang="en-US" sz="900" dirty="0"/>
          </a:p>
        </p:txBody>
      </p:sp>
      <p:sp>
        <p:nvSpPr>
          <p:cNvPr id="10" name="Text 8"/>
          <p:cNvSpPr/>
          <p:nvPr/>
        </p:nvSpPr>
        <p:spPr>
          <a:xfrm>
            <a:off x="5029200" y="6446520"/>
            <a:ext cx="6675120" cy="228600"/>
          </a:xfrm>
          <a:prstGeom prst="rect">
            <a:avLst/>
          </a:prstGeom>
          <a:noFill/>
          <a:ln/>
        </p:spPr>
        <p:txBody>
          <a:bodyPr wrap="square" rtlCol="0" anchor="ctr"/>
          <a:lstStyle/>
          <a:p>
            <a:pPr algn="r" indent="0" marL="0">
              <a:buNone/>
            </a:pPr>
            <a:r>
              <a:rPr lang="en-US" sz="900" dirty="0">
                <a:solidFill>
                  <a:srgbClr val="D4DFEA"/>
                </a:solidFill>
                <a:latin typeface="Calibri" pitchFamily="34" charset="0"/>
                <a:ea typeface="Calibri" pitchFamily="34" charset="-122"/>
                <a:cs typeface="Calibri" pitchFamily="34" charset="-120"/>
              </a:rPr>
              <a:t>#WRoENorthTexas2026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10972800" cy="502920"/>
          </a:xfrm>
          <a:prstGeom prst="rect">
            <a:avLst/>
          </a:prstGeom>
          <a:noFill/>
          <a:ln/>
        </p:spPr>
        <p:txBody>
          <a:bodyPr wrap="square"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Rollout, Reworked: Running EOS Company-Wide</a:t>
            </a:r>
            <a:endParaRPr lang="en-US" sz="2000" dirty="0"/>
          </a:p>
        </p:txBody>
      </p:sp>
      <p:sp>
        <p:nvSpPr>
          <p:cNvPr id="3" name="Text 1"/>
          <p:cNvSpPr/>
          <p:nvPr/>
        </p:nvSpPr>
        <p:spPr>
          <a:xfrm>
            <a:off x="685800" y="960120"/>
            <a:ext cx="10972800" cy="274320"/>
          </a:xfrm>
          <a:prstGeom prst="rect">
            <a:avLst/>
          </a:prstGeom>
          <a:noFill/>
          <a:ln/>
        </p:spPr>
        <p:txBody>
          <a:bodyPr wrap="square" rtlCol="0" anchor="ctr"/>
          <a:lstStyle/>
          <a:p>
            <a:pPr indent="0" marL="0">
              <a:buNone/>
            </a:pPr>
            <a:r>
              <a:rPr lang="en-US" sz="1100" b="1" spc="400" kern="0" dirty="0">
                <a:solidFill>
                  <a:srgbClr val="E87722"/>
                </a:solidFill>
                <a:latin typeface="Calibri" pitchFamily="34" charset="0"/>
                <a:ea typeface="Calibri" pitchFamily="34" charset="-122"/>
                <a:cs typeface="Calibri" pitchFamily="34" charset="-120"/>
              </a:rPr>
              <a:t>Beth Fahey  ·  2:55 – 4:25 PM</a:t>
            </a:r>
            <a:endParaRPr lang="en-US" sz="1100" dirty="0"/>
          </a:p>
        </p:txBody>
      </p:sp>
      <p:sp>
        <p:nvSpPr>
          <p:cNvPr id="4" name="Shape 2"/>
          <p:cNvSpPr/>
          <p:nvPr/>
        </p:nvSpPr>
        <p:spPr>
          <a:xfrm>
            <a:off x="685800" y="1325880"/>
            <a:ext cx="1097280" cy="36576"/>
          </a:xfrm>
          <a:prstGeom prst="rect">
            <a:avLst/>
          </a:prstGeom>
          <a:solidFill>
            <a:srgbClr val="E87722"/>
          </a:solidFill>
          <a:ln w="12700">
            <a:solidFill>
              <a:srgbClr val="E87722"/>
            </a:solidFill>
            <a:prstDash val="solid"/>
          </a:ln>
        </p:spPr>
      </p:sp>
      <p:sp>
        <p:nvSpPr>
          <p:cNvPr id="5" name="Shape 3"/>
          <p:cNvSpPr/>
          <p:nvPr/>
        </p:nvSpPr>
        <p:spPr>
          <a:xfrm>
            <a:off x="685800" y="1600200"/>
            <a:ext cx="10789920" cy="4663440"/>
          </a:xfrm>
          <a:prstGeom prst="roundRect">
            <a:avLst>
              <a:gd name="adj" fmla="val 1569"/>
            </a:avLst>
          </a:prstGeom>
          <a:solidFill>
            <a:srgbClr val="F4F6F9"/>
          </a:solidFill>
          <a:ln w="9525">
            <a:solidFill>
              <a:srgbClr val="C9D2DE"/>
            </a:solidFill>
            <a:prstDash val="solid"/>
          </a:ln>
        </p:spPr>
      </p:sp>
      <p:sp>
        <p:nvSpPr>
          <p:cNvPr id="6" name="Text 4"/>
          <p:cNvSpPr/>
          <p:nvPr/>
        </p:nvSpPr>
        <p:spPr>
          <a:xfrm>
            <a:off x="685800" y="3703320"/>
            <a:ext cx="10789920" cy="274320"/>
          </a:xfrm>
          <a:prstGeom prst="rect">
            <a:avLst/>
          </a:prstGeom>
          <a:noFill/>
          <a:ln/>
        </p:spPr>
        <p:txBody>
          <a:bodyPr wrap="square" rtlCol="0" anchor="ctr"/>
          <a:lstStyle/>
          <a:p>
            <a:pPr algn="ctr" indent="0" marL="0">
              <a:buNone/>
            </a:pPr>
            <a:r>
              <a:rPr lang="en-US" sz="1100" b="1" spc="800" kern="0" dirty="0">
                <a:solidFill>
                  <a:srgbClr val="A9B4C4"/>
                </a:solidFill>
                <a:latin typeface="Calibri" pitchFamily="34" charset="0"/>
                <a:ea typeface="Calibri" pitchFamily="34" charset="-122"/>
                <a:cs typeface="Calibri" pitchFamily="34" charset="-120"/>
              </a:rPr>
              <a:t>SPEAKER CONTENT</a:t>
            </a:r>
            <a:endParaRPr lang="en-US" sz="1100" dirty="0"/>
          </a:p>
        </p:txBody>
      </p:sp>
      <p:sp>
        <p:nvSpPr>
          <p:cNvPr id="7" name="Text 5"/>
          <p:cNvSpPr/>
          <p:nvPr/>
        </p:nvSpPr>
        <p:spPr>
          <a:xfrm>
            <a:off x="685800" y="4023360"/>
            <a:ext cx="10789920" cy="365760"/>
          </a:xfrm>
          <a:prstGeom prst="rect">
            <a:avLst/>
          </a:prstGeom>
          <a:noFill/>
          <a:ln/>
        </p:spPr>
        <p:txBody>
          <a:bodyPr wrap="square" rtlCol="0" anchor="ctr"/>
          <a:lstStyle/>
          <a:p>
            <a:pPr algn="ctr" indent="0" marL="0">
              <a:buNone/>
            </a:pPr>
            <a:r>
              <a:rPr lang="en-US" sz="1300" i="1" dirty="0">
                <a:solidFill>
                  <a:srgbClr val="A9B4C4"/>
                </a:solidFill>
                <a:latin typeface="Calibri" pitchFamily="34" charset="0"/>
                <a:ea typeface="Calibri" pitchFamily="34" charset="-122"/>
                <a:cs typeface="Calibri" pitchFamily="34" charset="-120"/>
              </a:rPr>
              <a:t>Replace this slide with your presentation, or use it as a working canvas.</a:t>
            </a:r>
            <a:endParaRPr lang="en-US" sz="1300" dirty="0"/>
          </a:p>
        </p:txBody>
      </p:sp>
      <p:sp>
        <p:nvSpPr>
          <p:cNvPr id="8" name="Shape 6"/>
          <p:cNvSpPr/>
          <p:nvPr/>
        </p:nvSpPr>
        <p:spPr>
          <a:xfrm>
            <a:off x="0" y="6675120"/>
            <a:ext cx="12191695" cy="182880"/>
          </a:xfrm>
          <a:prstGeom prst="rect">
            <a:avLst/>
          </a:prstGeom>
          <a:solidFill>
            <a:srgbClr val="E87722"/>
          </a:solidFill>
          <a:ln w="12700">
            <a:solidFill>
              <a:srgbClr val="E87722"/>
            </a:solidFill>
            <a:prstDash val="solid"/>
          </a:ln>
        </p:spPr>
      </p:sp>
      <p:sp>
        <p:nvSpPr>
          <p:cNvPr id="9" name="Text 7"/>
          <p:cNvSpPr/>
          <p:nvPr/>
        </p:nvSpPr>
        <p:spPr>
          <a:xfrm>
            <a:off x="457200" y="6446520"/>
            <a:ext cx="7315200" cy="228600"/>
          </a:xfrm>
          <a:prstGeom prst="rect">
            <a:avLst/>
          </a:prstGeom>
          <a:noFill/>
          <a:ln/>
        </p:spPr>
        <p:txBody>
          <a:bodyPr wrap="square" rtlCol="0" anchor="ctr"/>
          <a:lstStyle/>
          <a:p>
            <a:pPr indent="0" marL="0">
              <a:buNone/>
            </a:pPr>
            <a:r>
              <a:rPr lang="en-US" sz="900" b="1" spc="400" kern="0" dirty="0">
                <a:solidFill>
                  <a:srgbClr val="2A3441"/>
                </a:solidFill>
                <a:latin typeface="Calibri" pitchFamily="34" charset="0"/>
                <a:ea typeface="Calibri" pitchFamily="34" charset="-122"/>
                <a:cs typeface="Calibri" pitchFamily="34" charset="-120"/>
              </a:rPr>
              <a:t>WE RUN ON EOS® NORTH TEXAS  ·  SEPTEMBER 14, 2026</a:t>
            </a:r>
            <a:endParaRPr lang="en-US" sz="900" dirty="0"/>
          </a:p>
        </p:txBody>
      </p:sp>
      <p:sp>
        <p:nvSpPr>
          <p:cNvPr id="10" name="Text 8"/>
          <p:cNvSpPr/>
          <p:nvPr/>
        </p:nvSpPr>
        <p:spPr>
          <a:xfrm>
            <a:off x="5029200" y="6446520"/>
            <a:ext cx="6675120" cy="228600"/>
          </a:xfrm>
          <a:prstGeom prst="rect">
            <a:avLst/>
          </a:prstGeom>
          <a:noFill/>
          <a:ln/>
        </p:spPr>
        <p:txBody>
          <a:bodyPr wrap="square" rtlCol="0" anchor="ctr"/>
          <a:lstStyle/>
          <a:p>
            <a:pPr algn="r" indent="0" marL="0">
              <a:buNone/>
            </a:pPr>
            <a:r>
              <a:rPr lang="en-US" sz="900" dirty="0">
                <a:solidFill>
                  <a:srgbClr val="2A3441"/>
                </a:solidFill>
                <a:latin typeface="Calibri" pitchFamily="34" charset="0"/>
                <a:ea typeface="Calibri" pitchFamily="34" charset="-122"/>
                <a:cs typeface="Calibri" pitchFamily="34" charset="-120"/>
              </a:rPr>
              <a:t>#WRoENorthTexas2026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457200" y="548640"/>
            <a:ext cx="11277295" cy="457200"/>
          </a:xfrm>
          <a:prstGeom prst="rect">
            <a:avLst/>
          </a:prstGeom>
          <a:noFill/>
          <a:ln/>
        </p:spPr>
        <p:txBody>
          <a:bodyPr wrap="square" rtlCol="0" anchor="ctr"/>
          <a:lstStyle/>
          <a:p>
            <a:pPr algn="ctr" indent="0" marL="0">
              <a:buNone/>
            </a:pPr>
            <a:r>
              <a:rPr lang="en-US" sz="1800" b="1" spc="1200" kern="0" dirty="0">
                <a:solidFill>
                  <a:srgbClr val="E87722"/>
                </a:solidFill>
                <a:latin typeface="Calibri" pitchFamily="34" charset="0"/>
                <a:ea typeface="Calibri" pitchFamily="34" charset="-122"/>
                <a:cs typeface="Calibri" pitchFamily="34" charset="-120"/>
              </a:rPr>
              <a:t>FINAL BREAK</a:t>
            </a:r>
            <a:endParaRPr lang="en-US" sz="1800" dirty="0"/>
          </a:p>
        </p:txBody>
      </p:sp>
      <p:sp>
        <p:nvSpPr>
          <p:cNvPr id="3" name="CountdownTimer_20"/>
          <p:cNvSpPr/>
          <p:nvPr/>
        </p:nvSpPr>
        <p:spPr>
          <a:xfrm>
            <a:off x="457200" y="1051560"/>
            <a:ext cx="11277295" cy="2286000"/>
          </a:xfrm>
          <a:prstGeom prst="rect">
            <a:avLst/>
          </a:prstGeom>
          <a:noFill/>
          <a:ln/>
        </p:spPr>
        <p:txBody>
          <a:bodyPr wrap="square" rtlCol="0" anchor="ctr"/>
          <a:lstStyle/>
          <a:p>
            <a:pPr algn="ctr" indent="0" marL="0">
              <a:buNone/>
            </a:pPr>
            <a:r>
              <a:rPr lang="en-US" sz="18000" b="1" dirty="0">
                <a:solidFill>
                  <a:srgbClr val="FFFFFF"/>
                </a:solidFill>
                <a:latin typeface="Calibri" pitchFamily="34" charset="0"/>
                <a:ea typeface="Calibri" pitchFamily="34" charset="-122"/>
                <a:cs typeface="Calibri" pitchFamily="34" charset="-120"/>
              </a:rPr>
              <a:t>20:00</a:t>
            </a:r>
            <a:endParaRPr lang="en-US" sz="18000" dirty="0"/>
          </a:p>
        </p:txBody>
      </p:sp>
      <p:sp>
        <p:nvSpPr>
          <p:cNvPr id="4" name="Text 2"/>
          <p:cNvSpPr/>
          <p:nvPr/>
        </p:nvSpPr>
        <p:spPr>
          <a:xfrm>
            <a:off x="457200" y="3429000"/>
            <a:ext cx="11277295" cy="365760"/>
          </a:xfrm>
          <a:prstGeom prst="rect">
            <a:avLst/>
          </a:prstGeom>
          <a:noFill/>
          <a:ln/>
        </p:spPr>
        <p:txBody>
          <a:bodyPr wrap="square" rtlCol="0" anchor="ctr"/>
          <a:lstStyle/>
          <a:p>
            <a:pPr algn="ctr" indent="0" marL="0">
              <a:buNone/>
            </a:pPr>
            <a:r>
              <a:rPr lang="en-US" sz="1800" i="1" dirty="0">
                <a:solidFill>
                  <a:srgbClr val="D4DFEA"/>
                </a:solidFill>
                <a:latin typeface="Calibri" pitchFamily="34" charset="0"/>
                <a:ea typeface="Calibri" pitchFamily="34" charset="-122"/>
                <a:cs typeface="Calibri" pitchFamily="34" charset="-120"/>
              </a:rPr>
              <a:t>minutes remaining</a:t>
            </a:r>
            <a:endParaRPr lang="en-US" sz="1800" dirty="0"/>
          </a:p>
        </p:txBody>
      </p:sp>
      <p:sp>
        <p:nvSpPr>
          <p:cNvPr id="5" name="Text 3"/>
          <p:cNvSpPr/>
          <p:nvPr/>
        </p:nvSpPr>
        <p:spPr>
          <a:xfrm>
            <a:off x="457200" y="3840480"/>
            <a:ext cx="11277295" cy="365760"/>
          </a:xfrm>
          <a:prstGeom prst="rect">
            <a:avLst/>
          </a:prstGeom>
          <a:noFill/>
          <a:ln/>
        </p:spPr>
        <p:txBody>
          <a:bodyPr wrap="square" rtlCol="0" anchor="ctr"/>
          <a:lstStyle/>
          <a:p>
            <a:pPr algn="ctr" indent="0" marL="0">
              <a:buNone/>
            </a:pPr>
            <a:r>
              <a:rPr lang="en-US" sz="1800" b="1" dirty="0">
                <a:solidFill>
                  <a:srgbClr val="E87722"/>
                </a:solidFill>
                <a:latin typeface="Calibri" pitchFamily="34" charset="0"/>
                <a:ea typeface="Calibri" pitchFamily="34" charset="-122"/>
                <a:cs typeface="Calibri" pitchFamily="34" charset="-120"/>
              </a:rPr>
              <a:t>We resume at 4:45 PM</a:t>
            </a:r>
            <a:endParaRPr lang="en-US" sz="1800" dirty="0"/>
          </a:p>
        </p:txBody>
      </p:sp>
      <p:sp>
        <p:nvSpPr>
          <p:cNvPr id="6" name="Shape 4"/>
          <p:cNvSpPr/>
          <p:nvPr/>
        </p:nvSpPr>
        <p:spPr>
          <a:xfrm>
            <a:off x="457200" y="4480560"/>
            <a:ext cx="11277295" cy="2194560"/>
          </a:xfrm>
          <a:prstGeom prst="rect">
            <a:avLst/>
          </a:prstGeom>
          <a:solidFill>
            <a:srgbClr val="FFFFFF"/>
          </a:solidFill>
          <a:ln w="6350">
            <a:solidFill>
              <a:srgbClr val="C9D2DE"/>
            </a:solidFill>
            <a:prstDash val="solid"/>
          </a:ln>
        </p:spPr>
      </p:sp>
      <p:sp>
        <p:nvSpPr>
          <p:cNvPr id="7" name="Text 5"/>
          <p:cNvSpPr/>
          <p:nvPr/>
        </p:nvSpPr>
        <p:spPr>
          <a:xfrm>
            <a:off x="457200" y="4553712"/>
            <a:ext cx="11277295" cy="256032"/>
          </a:xfrm>
          <a:prstGeom prst="rect">
            <a:avLst/>
          </a:prstGeom>
          <a:noFill/>
          <a:ln/>
        </p:spPr>
        <p:txBody>
          <a:bodyPr wrap="square" rtlCol="0" anchor="ctr"/>
          <a:lstStyle/>
          <a:p>
            <a:pPr algn="ctr" indent="0" marL="0">
              <a:buNone/>
            </a:pPr>
            <a:r>
              <a:rPr lang="en-US" sz="1000" b="1" spc="600" kern="0" dirty="0">
                <a:solidFill>
                  <a:srgbClr val="E87722"/>
                </a:solidFill>
                <a:latin typeface="Calibri" pitchFamily="34" charset="0"/>
                <a:ea typeface="Calibri" pitchFamily="34" charset="-122"/>
                <a:cs typeface="Calibri" pitchFamily="34" charset="-120"/>
              </a:rPr>
              <a:t>THANK YOU TO OUR SPONSORS</a:t>
            </a:r>
            <a:endParaRPr lang="en-US" sz="1000" dirty="0"/>
          </a:p>
        </p:txBody>
      </p:sp>
      <p:pic>
        <p:nvPicPr>
          <p:cNvPr id="8" name="Image 0" descr="/home/user/workspace/wroe-dallas-2026/deliverables/workbook/assets/sponsors/strety.png">    </p:cNvPr>
          <p:cNvPicPr>
            <a:picLocks noChangeAspect="1"/>
          </p:cNvPicPr>
          <p:nvPr/>
        </p:nvPicPr>
        <p:blipFill>
          <a:blip r:embed="rId1"/>
          <a:stretch>
            <a:fillRect/>
          </a:stretch>
        </p:blipFill>
        <p:spPr>
          <a:xfrm>
            <a:off x="929945" y="4950570"/>
            <a:ext cx="1569720" cy="568739"/>
          </a:xfrm>
          <a:prstGeom prst="rect">
            <a:avLst/>
          </a:prstGeom>
        </p:spPr>
      </p:pic>
      <p:pic>
        <p:nvPicPr>
          <p:cNvPr id="9" name="Image 1" descr="/home/user/workspace/wroe-dallas-2026/deliverables/workbook/assets/sponsors/tsos.png">    </p:cNvPr>
          <p:cNvPicPr>
            <a:picLocks noChangeAspect="1"/>
          </p:cNvPicPr>
          <p:nvPr/>
        </p:nvPicPr>
        <p:blipFill>
          <a:blip r:embed="rId2"/>
          <a:stretch>
            <a:fillRect/>
          </a:stretch>
        </p:blipFill>
        <p:spPr>
          <a:xfrm>
            <a:off x="2682545" y="4984186"/>
            <a:ext cx="1569720" cy="501508"/>
          </a:xfrm>
          <a:prstGeom prst="rect">
            <a:avLst/>
          </a:prstGeom>
        </p:spPr>
      </p:pic>
      <p:pic>
        <p:nvPicPr>
          <p:cNvPr id="10" name="Image 2" descr="/home/user/workspace/wroe-dallas-2026/deliverables/workbook/assets/sponsors/procfopartners.png">    </p:cNvPr>
          <p:cNvPicPr>
            <a:picLocks noChangeAspect="1"/>
          </p:cNvPicPr>
          <p:nvPr/>
        </p:nvPicPr>
        <p:blipFill>
          <a:blip r:embed="rId3"/>
          <a:stretch>
            <a:fillRect/>
          </a:stretch>
        </p:blipFill>
        <p:spPr>
          <a:xfrm>
            <a:off x="4435145" y="5005368"/>
            <a:ext cx="1569720" cy="459143"/>
          </a:xfrm>
          <a:prstGeom prst="rect">
            <a:avLst/>
          </a:prstGeom>
        </p:spPr>
      </p:pic>
      <p:pic>
        <p:nvPicPr>
          <p:cNvPr id="11" name="Image 3" descr="/home/user/workspace/wroe-dallas-2026/deliverables/workbook/assets/sponsors/titustalent.png">    </p:cNvPr>
          <p:cNvPicPr>
            <a:picLocks noChangeAspect="1"/>
          </p:cNvPicPr>
          <p:nvPr/>
        </p:nvPicPr>
        <p:blipFill>
          <a:blip r:embed="rId4"/>
          <a:stretch>
            <a:fillRect/>
          </a:stretch>
        </p:blipFill>
        <p:spPr>
          <a:xfrm>
            <a:off x="6187745" y="4949796"/>
            <a:ext cx="1569720" cy="570289"/>
          </a:xfrm>
          <a:prstGeom prst="rect">
            <a:avLst/>
          </a:prstGeom>
        </p:spPr>
      </p:pic>
      <p:pic>
        <p:nvPicPr>
          <p:cNvPr id="12" name="Image 4" descr="/home/user/workspace/wroe-dallas-2026/deliverables/workbook/assets/sponsors/ninety.png">    </p:cNvPr>
          <p:cNvPicPr>
            <a:picLocks noChangeAspect="1"/>
          </p:cNvPicPr>
          <p:nvPr/>
        </p:nvPicPr>
        <p:blipFill>
          <a:blip r:embed="rId5"/>
          <a:stretch>
            <a:fillRect/>
          </a:stretch>
        </p:blipFill>
        <p:spPr>
          <a:xfrm>
            <a:off x="8040262" y="4892040"/>
            <a:ext cx="1369886" cy="685800"/>
          </a:xfrm>
          <a:prstGeom prst="rect">
            <a:avLst/>
          </a:prstGeom>
        </p:spPr>
      </p:pic>
      <p:pic>
        <p:nvPicPr>
          <p:cNvPr id="13" name="Image 5" descr="/home/user/workspace/wroe-dallas-2026/deliverables/workbook/assets/sponsors/vsimple.png">    </p:cNvPr>
          <p:cNvPicPr>
            <a:picLocks noChangeAspect="1"/>
          </p:cNvPicPr>
          <p:nvPr/>
        </p:nvPicPr>
        <p:blipFill>
          <a:blip r:embed="rId6"/>
          <a:stretch>
            <a:fillRect/>
          </a:stretch>
        </p:blipFill>
        <p:spPr>
          <a:xfrm>
            <a:off x="9692945" y="5039580"/>
            <a:ext cx="1569720" cy="390721"/>
          </a:xfrm>
          <a:prstGeom prst="rect">
            <a:avLst/>
          </a:prstGeom>
        </p:spPr>
      </p:pic>
      <p:pic>
        <p:nvPicPr>
          <p:cNvPr id="14" name="Image 6" descr="/home/user/workspace/wroe-dallas-2026/deliverables/workbook/assets/sponsors/strata.png">    </p:cNvPr>
          <p:cNvPicPr>
            <a:picLocks noChangeAspect="1"/>
          </p:cNvPicPr>
          <p:nvPr/>
        </p:nvPicPr>
        <p:blipFill>
          <a:blip r:embed="rId7"/>
          <a:stretch>
            <a:fillRect/>
          </a:stretch>
        </p:blipFill>
        <p:spPr>
          <a:xfrm>
            <a:off x="747065" y="5892811"/>
            <a:ext cx="806335" cy="238737"/>
          </a:xfrm>
          <a:prstGeom prst="rect">
            <a:avLst/>
          </a:prstGeom>
        </p:spPr>
      </p:pic>
      <p:pic>
        <p:nvPicPr>
          <p:cNvPr id="15" name="Image 7" descr="/home/user/workspace/wroe-dallas-2026/deliverables/workbook/assets/sponsors/successco.png">    </p:cNvPr>
          <p:cNvPicPr>
            <a:picLocks noChangeAspect="1"/>
          </p:cNvPicPr>
          <p:nvPr/>
        </p:nvPicPr>
        <p:blipFill>
          <a:blip r:embed="rId8"/>
          <a:stretch>
            <a:fillRect/>
          </a:stretch>
        </p:blipFill>
        <p:spPr>
          <a:xfrm>
            <a:off x="1736279" y="5916812"/>
            <a:ext cx="806335" cy="190736"/>
          </a:xfrm>
          <a:prstGeom prst="rect">
            <a:avLst/>
          </a:prstGeom>
        </p:spPr>
      </p:pic>
      <p:pic>
        <p:nvPicPr>
          <p:cNvPr id="16" name="Image 8" descr="/home/user/workspace/wroe-dallas-2026/deliverables/workbook/assets/sponsors/360consultingdfw.png">    </p:cNvPr>
          <p:cNvPicPr>
            <a:picLocks noChangeAspect="1"/>
          </p:cNvPicPr>
          <p:nvPr/>
        </p:nvPicPr>
        <p:blipFill>
          <a:blip r:embed="rId9"/>
          <a:stretch>
            <a:fillRect/>
          </a:stretch>
        </p:blipFill>
        <p:spPr>
          <a:xfrm>
            <a:off x="2725494" y="5858884"/>
            <a:ext cx="806335" cy="306591"/>
          </a:xfrm>
          <a:prstGeom prst="rect">
            <a:avLst/>
          </a:prstGeom>
        </p:spPr>
      </p:pic>
      <p:pic>
        <p:nvPicPr>
          <p:cNvPr id="17" name="Image 9" descr="/home/user/workspace/wroe-dallas-2026/deliverables/workbook/assets/sponsors/allinoneaccounting.png">    </p:cNvPr>
          <p:cNvPicPr>
            <a:picLocks noChangeAspect="1"/>
          </p:cNvPicPr>
          <p:nvPr/>
        </p:nvPicPr>
        <p:blipFill>
          <a:blip r:embed="rId10"/>
          <a:stretch>
            <a:fillRect/>
          </a:stretch>
        </p:blipFill>
        <p:spPr>
          <a:xfrm>
            <a:off x="3714708" y="5768206"/>
            <a:ext cx="806335" cy="487948"/>
          </a:xfrm>
          <a:prstGeom prst="rect">
            <a:avLst/>
          </a:prstGeom>
        </p:spPr>
      </p:pic>
      <p:pic>
        <p:nvPicPr>
          <p:cNvPr id="18" name="Image 10" descr="/home/user/workspace/wroe-dallas-2026/deliverables/workbook/assets/sponsors/chiefaiofficer.png">    </p:cNvPr>
          <p:cNvPicPr>
            <a:picLocks noChangeAspect="1"/>
          </p:cNvPicPr>
          <p:nvPr/>
        </p:nvPicPr>
        <p:blipFill>
          <a:blip r:embed="rId11"/>
          <a:stretch>
            <a:fillRect/>
          </a:stretch>
        </p:blipFill>
        <p:spPr>
          <a:xfrm>
            <a:off x="4703923" y="5950226"/>
            <a:ext cx="806335" cy="123908"/>
          </a:xfrm>
          <a:prstGeom prst="rect">
            <a:avLst/>
          </a:prstGeom>
        </p:spPr>
      </p:pic>
      <p:pic>
        <p:nvPicPr>
          <p:cNvPr id="19" name="Image 11" descr="/home/user/workspace/wroe-dallas-2026/deliverables/workbook/assets/sponsors/hoopshr.png">    </p:cNvPr>
          <p:cNvPicPr>
            <a:picLocks noChangeAspect="1"/>
          </p:cNvPicPr>
          <p:nvPr/>
        </p:nvPicPr>
        <p:blipFill>
          <a:blip r:embed="rId12"/>
          <a:stretch>
            <a:fillRect/>
          </a:stretch>
        </p:blipFill>
        <p:spPr>
          <a:xfrm>
            <a:off x="5693138" y="5821782"/>
            <a:ext cx="806335" cy="380796"/>
          </a:xfrm>
          <a:prstGeom prst="rect">
            <a:avLst/>
          </a:prstGeom>
        </p:spPr>
      </p:pic>
      <p:pic>
        <p:nvPicPr>
          <p:cNvPr id="20" name="Image 12" descr="/home/user/workspace/wroe-dallas-2026/deliverables/workbook/assets/sponsors/readyforthenextlevel.png">    </p:cNvPr>
          <p:cNvPicPr>
            <a:picLocks noChangeAspect="1"/>
          </p:cNvPicPr>
          <p:nvPr/>
        </p:nvPicPr>
        <p:blipFill>
          <a:blip r:embed="rId13"/>
          <a:stretch>
            <a:fillRect/>
          </a:stretch>
        </p:blipFill>
        <p:spPr>
          <a:xfrm>
            <a:off x="6682352" y="5943321"/>
            <a:ext cx="806335" cy="137717"/>
          </a:xfrm>
          <a:prstGeom prst="rect">
            <a:avLst/>
          </a:prstGeom>
        </p:spPr>
      </p:pic>
      <p:pic>
        <p:nvPicPr>
          <p:cNvPr id="21" name="Image 13" descr="/home/user/workspace/wroe-dallas-2026/deliverables/workbook/assets/sponsors/profitworks.png">    </p:cNvPr>
          <p:cNvPicPr>
            <a:picLocks noChangeAspect="1"/>
          </p:cNvPicPr>
          <p:nvPr/>
        </p:nvPicPr>
        <p:blipFill>
          <a:blip r:embed="rId14"/>
          <a:stretch>
            <a:fillRect/>
          </a:stretch>
        </p:blipFill>
        <p:spPr>
          <a:xfrm>
            <a:off x="7671567" y="5930814"/>
            <a:ext cx="806335" cy="162731"/>
          </a:xfrm>
          <a:prstGeom prst="rect">
            <a:avLst/>
          </a:prstGeom>
        </p:spPr>
      </p:pic>
      <p:pic>
        <p:nvPicPr>
          <p:cNvPr id="22" name="Image 14" descr="/home/user/workspace/wroe-dallas-2026/deliverables/workbook/assets/sponsors/talentharbor.png">    </p:cNvPr>
          <p:cNvPicPr>
            <a:picLocks noChangeAspect="1"/>
          </p:cNvPicPr>
          <p:nvPr/>
        </p:nvPicPr>
        <p:blipFill>
          <a:blip r:embed="rId15"/>
          <a:stretch>
            <a:fillRect/>
          </a:stretch>
        </p:blipFill>
        <p:spPr>
          <a:xfrm>
            <a:off x="8660781" y="5971415"/>
            <a:ext cx="806335" cy="81530"/>
          </a:xfrm>
          <a:prstGeom prst="rect">
            <a:avLst/>
          </a:prstGeom>
        </p:spPr>
      </p:pic>
      <p:pic>
        <p:nvPicPr>
          <p:cNvPr id="23" name="Image 15" descr="/home/user/workspace/wroe-dallas-2026/deliverables/workbook/assets/sponsors/vcfo.png">    </p:cNvPr>
          <p:cNvPicPr>
            <a:picLocks noChangeAspect="1"/>
          </p:cNvPicPr>
          <p:nvPr/>
        </p:nvPicPr>
        <p:blipFill>
          <a:blip r:embed="rId16"/>
          <a:stretch>
            <a:fillRect/>
          </a:stretch>
        </p:blipFill>
        <p:spPr>
          <a:xfrm>
            <a:off x="9649996" y="5920459"/>
            <a:ext cx="806335" cy="183441"/>
          </a:xfrm>
          <a:prstGeom prst="rect">
            <a:avLst/>
          </a:prstGeom>
        </p:spPr>
      </p:pic>
      <p:pic>
        <p:nvPicPr>
          <p:cNvPr id="24" name="Image 16" descr="/home/user/workspace/wroe-dallas-2026/deliverables/workbook/assets/sponsors/wolfsedgeintegrators.png">    </p:cNvPr>
          <p:cNvPicPr>
            <a:picLocks noChangeAspect="1"/>
          </p:cNvPicPr>
          <p:nvPr/>
        </p:nvPicPr>
        <p:blipFill>
          <a:blip r:embed="rId17"/>
          <a:stretch>
            <a:fillRect/>
          </a:stretch>
        </p:blipFill>
        <p:spPr>
          <a:xfrm>
            <a:off x="10639210" y="5900111"/>
            <a:ext cx="806335" cy="224137"/>
          </a:xfrm>
          <a:prstGeom prst="rect">
            <a:avLst/>
          </a:prstGeom>
        </p:spPr>
      </p:pic>
      <p:sp>
        <p:nvSpPr>
          <p:cNvPr id="25" name="Shape 6"/>
          <p:cNvSpPr/>
          <p:nvPr/>
        </p:nvSpPr>
        <p:spPr>
          <a:xfrm>
            <a:off x="0" y="6675120"/>
            <a:ext cx="12191695" cy="182880"/>
          </a:xfrm>
          <a:prstGeom prst="rect">
            <a:avLst/>
          </a:prstGeom>
          <a:solidFill>
            <a:srgbClr val="E87722"/>
          </a:solidFill>
          <a:ln w="12700">
            <a:solidFill>
              <a:srgbClr val="E87722"/>
            </a:solidFill>
            <a:prstDash val="solid"/>
          </a:ln>
        </p:spPr>
      </p:sp>
      <p:sp>
        <p:nvSpPr>
          <p:cNvPr id="26" name="Text 7"/>
          <p:cNvSpPr/>
          <p:nvPr/>
        </p:nvSpPr>
        <p:spPr>
          <a:xfrm>
            <a:off x="457200" y="6446520"/>
            <a:ext cx="7315200" cy="228600"/>
          </a:xfrm>
          <a:prstGeom prst="rect">
            <a:avLst/>
          </a:prstGeom>
          <a:noFill/>
          <a:ln/>
        </p:spPr>
        <p:txBody>
          <a:bodyPr wrap="square" rtlCol="0" anchor="ctr"/>
          <a:lstStyle/>
          <a:p>
            <a:pPr indent="0" marL="0">
              <a:buNone/>
            </a:pPr>
            <a:r>
              <a:rPr lang="en-US" sz="900" b="1" spc="400" kern="0" dirty="0">
                <a:solidFill>
                  <a:srgbClr val="D4DFEA"/>
                </a:solidFill>
                <a:latin typeface="Calibri" pitchFamily="34" charset="0"/>
                <a:ea typeface="Calibri" pitchFamily="34" charset="-122"/>
                <a:cs typeface="Calibri" pitchFamily="34" charset="-120"/>
              </a:rPr>
              <a:t>WE RUN ON EOS® NORTH TEXAS  ·  SEPTEMBER 14, 2026</a:t>
            </a:r>
            <a:endParaRPr lang="en-US" sz="900" dirty="0"/>
          </a:p>
        </p:txBody>
      </p:sp>
      <p:sp>
        <p:nvSpPr>
          <p:cNvPr id="27" name="Text 8"/>
          <p:cNvSpPr/>
          <p:nvPr/>
        </p:nvSpPr>
        <p:spPr>
          <a:xfrm>
            <a:off x="5029200" y="6446520"/>
            <a:ext cx="6675120" cy="228600"/>
          </a:xfrm>
          <a:prstGeom prst="rect">
            <a:avLst/>
          </a:prstGeom>
          <a:noFill/>
          <a:ln/>
        </p:spPr>
        <p:txBody>
          <a:bodyPr wrap="square" rtlCol="0" anchor="ctr"/>
          <a:lstStyle/>
          <a:p>
            <a:pPr algn="r" indent="0" marL="0">
              <a:buNone/>
            </a:pPr>
            <a:r>
              <a:rPr lang="en-US" sz="900" dirty="0">
                <a:solidFill>
                  <a:srgbClr val="D4DFEA"/>
                </a:solidFill>
                <a:latin typeface="Calibri" pitchFamily="34" charset="0"/>
                <a:ea typeface="Calibri" pitchFamily="34" charset="-122"/>
                <a:cs typeface="Calibri" pitchFamily="34" charset="-120"/>
              </a:rPr>
              <a:t>#WRoENorthTexas2026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548640"/>
            <a:ext cx="11277295" cy="457200"/>
          </a:xfrm>
          <a:prstGeom prst="rect">
            <a:avLst/>
          </a:prstGeom>
          <a:noFill/>
          <a:ln/>
        </p:spPr>
        <p:txBody>
          <a:bodyPr wrap="square" rtlCol="0" anchor="ctr"/>
          <a:lstStyle/>
          <a:p>
            <a:pPr algn="ctr" indent="0" marL="0">
              <a:buNone/>
            </a:pPr>
            <a:r>
              <a:rPr lang="en-US" sz="2000" b="1" spc="1200" kern="0" dirty="0">
                <a:solidFill>
                  <a:srgbClr val="E87722"/>
                </a:solidFill>
                <a:latin typeface="Calibri" pitchFamily="34" charset="0"/>
                <a:ea typeface="Calibri" pitchFamily="34" charset="-122"/>
                <a:cs typeface="Calibri" pitchFamily="34" charset="-120"/>
              </a:rPr>
              <a:t>THANK YOU</a:t>
            </a:r>
            <a:endParaRPr lang="en-US" sz="2000" dirty="0"/>
          </a:p>
        </p:txBody>
      </p:sp>
      <p:sp>
        <p:nvSpPr>
          <p:cNvPr id="3" name="Text 1"/>
          <p:cNvSpPr/>
          <p:nvPr/>
        </p:nvSpPr>
        <p:spPr>
          <a:xfrm>
            <a:off x="457200" y="1051560"/>
            <a:ext cx="11277295" cy="640080"/>
          </a:xfrm>
          <a:prstGeom prst="rect">
            <a:avLst/>
          </a:prstGeom>
          <a:noFill/>
          <a:ln/>
        </p:spPr>
        <p:txBody>
          <a:bodyPr wrap="square" rtlCol="0" anchor="ctr"/>
          <a:lstStyle/>
          <a:p>
            <a:pPr algn="ctr" indent="0" marL="0">
              <a:buNone/>
            </a:pPr>
            <a:r>
              <a:rPr lang="en-US" sz="4000" b="1" dirty="0">
                <a:solidFill>
                  <a:srgbClr val="0B1F3A"/>
                </a:solidFill>
                <a:latin typeface="Calibri" pitchFamily="34" charset="0"/>
                <a:ea typeface="Calibri" pitchFamily="34" charset="-122"/>
                <a:cs typeface="Calibri" pitchFamily="34" charset="-120"/>
              </a:rPr>
              <a:t>to our sponsors</a:t>
            </a:r>
            <a:endParaRPr lang="en-US" sz="4000" dirty="0"/>
          </a:p>
        </p:txBody>
      </p:sp>
      <p:sp>
        <p:nvSpPr>
          <p:cNvPr id="4" name="Text 2"/>
          <p:cNvSpPr/>
          <p:nvPr/>
        </p:nvSpPr>
        <p:spPr>
          <a:xfrm>
            <a:off x="457200" y="2020824"/>
            <a:ext cx="11277295" cy="182880"/>
          </a:xfrm>
          <a:prstGeom prst="rect">
            <a:avLst/>
          </a:prstGeom>
          <a:noFill/>
          <a:ln/>
        </p:spPr>
        <p:txBody>
          <a:bodyPr wrap="square" rtlCol="0" anchor="ctr"/>
          <a:lstStyle/>
          <a:p>
            <a:pPr algn="ctr" indent="0" marL="0">
              <a:buNone/>
            </a:pPr>
            <a:r>
              <a:rPr lang="en-US" sz="1000" b="1" spc="600" kern="0" dirty="0">
                <a:solidFill>
                  <a:srgbClr val="2A3441"/>
                </a:solidFill>
                <a:latin typeface="Calibri" pitchFamily="34" charset="0"/>
                <a:ea typeface="Calibri" pitchFamily="34" charset="-122"/>
                <a:cs typeface="Calibri" pitchFamily="34" charset="-120"/>
              </a:rPr>
              <a:t>TITLE SPONSORS</a:t>
            </a:r>
            <a:endParaRPr lang="en-US" sz="1000" dirty="0"/>
          </a:p>
        </p:txBody>
      </p:sp>
      <p:pic>
        <p:nvPicPr>
          <p:cNvPr id="5" name="Image 0" descr="/home/user/workspace/wroe-dallas-2026/deliverables/workbook/assets/sponsors/strety.png">    </p:cNvPr>
          <p:cNvPicPr>
            <a:picLocks noChangeAspect="1"/>
          </p:cNvPicPr>
          <p:nvPr/>
        </p:nvPicPr>
        <p:blipFill>
          <a:blip r:embed="rId1"/>
          <a:stretch>
            <a:fillRect/>
          </a:stretch>
        </p:blipFill>
        <p:spPr>
          <a:xfrm>
            <a:off x="2382926" y="2240280"/>
            <a:ext cx="2397557" cy="868680"/>
          </a:xfrm>
          <a:prstGeom prst="rect">
            <a:avLst/>
          </a:prstGeom>
        </p:spPr>
      </p:pic>
      <p:pic>
        <p:nvPicPr>
          <p:cNvPr id="6" name="Image 1" descr="/home/user/workspace/wroe-dallas-2026/deliverables/workbook/assets/sponsors/tsos.png">    </p:cNvPr>
          <p:cNvPicPr>
            <a:picLocks noChangeAspect="1"/>
          </p:cNvPicPr>
          <p:nvPr/>
        </p:nvPicPr>
        <p:blipFill>
          <a:blip r:embed="rId2"/>
          <a:stretch>
            <a:fillRect/>
          </a:stretch>
        </p:blipFill>
        <p:spPr>
          <a:xfrm>
            <a:off x="7251421" y="2240280"/>
            <a:ext cx="2718968" cy="868680"/>
          </a:xfrm>
          <a:prstGeom prst="rect">
            <a:avLst/>
          </a:prstGeom>
        </p:spPr>
      </p:pic>
      <p:sp>
        <p:nvSpPr>
          <p:cNvPr id="7" name="Text 3"/>
          <p:cNvSpPr/>
          <p:nvPr/>
        </p:nvSpPr>
        <p:spPr>
          <a:xfrm>
            <a:off x="457200" y="3346704"/>
            <a:ext cx="11277295" cy="182880"/>
          </a:xfrm>
          <a:prstGeom prst="rect">
            <a:avLst/>
          </a:prstGeom>
          <a:noFill/>
          <a:ln/>
        </p:spPr>
        <p:txBody>
          <a:bodyPr wrap="square" rtlCol="0" anchor="ctr"/>
          <a:lstStyle/>
          <a:p>
            <a:pPr algn="ctr" indent="0" marL="0">
              <a:buNone/>
            </a:pPr>
            <a:r>
              <a:rPr lang="en-US" sz="1000" b="1" spc="600" kern="0" dirty="0">
                <a:solidFill>
                  <a:srgbClr val="2A3441"/>
                </a:solidFill>
                <a:latin typeface="Calibri" pitchFamily="34" charset="0"/>
                <a:ea typeface="Calibri" pitchFamily="34" charset="-122"/>
                <a:cs typeface="Calibri" pitchFamily="34" charset="-120"/>
              </a:rPr>
              <a:t>BOOK SPONSORS</a:t>
            </a:r>
            <a:endParaRPr lang="en-US" sz="1000" dirty="0"/>
          </a:p>
        </p:txBody>
      </p:sp>
      <p:pic>
        <p:nvPicPr>
          <p:cNvPr id="8" name="Image 2" descr="/home/user/workspace/wroe-dallas-2026/deliverables/workbook/assets/sponsors/procfopartners.png">    </p:cNvPr>
          <p:cNvPicPr>
            <a:picLocks noChangeAspect="1"/>
          </p:cNvPicPr>
          <p:nvPr/>
        </p:nvPicPr>
        <p:blipFill>
          <a:blip r:embed="rId3"/>
          <a:stretch>
            <a:fillRect/>
          </a:stretch>
        </p:blipFill>
        <p:spPr>
          <a:xfrm>
            <a:off x="2253089" y="3566160"/>
            <a:ext cx="2657231" cy="777240"/>
          </a:xfrm>
          <a:prstGeom prst="rect">
            <a:avLst/>
          </a:prstGeom>
        </p:spPr>
      </p:pic>
      <p:pic>
        <p:nvPicPr>
          <p:cNvPr id="9" name="Image 3" descr="/home/user/workspace/wroe-dallas-2026/deliverables/workbook/assets/sponsors/titustalent.png">    </p:cNvPr>
          <p:cNvPicPr>
            <a:picLocks noChangeAspect="1"/>
          </p:cNvPicPr>
          <p:nvPr/>
        </p:nvPicPr>
        <p:blipFill>
          <a:blip r:embed="rId4"/>
          <a:stretch>
            <a:fillRect/>
          </a:stretch>
        </p:blipFill>
        <p:spPr>
          <a:xfrm>
            <a:off x="7541228" y="3566160"/>
            <a:ext cx="2139353" cy="777240"/>
          </a:xfrm>
          <a:prstGeom prst="rect">
            <a:avLst/>
          </a:prstGeom>
        </p:spPr>
      </p:pic>
      <p:sp>
        <p:nvSpPr>
          <p:cNvPr id="10" name="Text 4"/>
          <p:cNvSpPr/>
          <p:nvPr/>
        </p:nvSpPr>
        <p:spPr>
          <a:xfrm>
            <a:off x="457200" y="4626864"/>
            <a:ext cx="11277295" cy="182880"/>
          </a:xfrm>
          <a:prstGeom prst="rect">
            <a:avLst/>
          </a:prstGeom>
          <a:noFill/>
          <a:ln/>
        </p:spPr>
        <p:txBody>
          <a:bodyPr wrap="square" rtlCol="0" anchor="ctr"/>
          <a:lstStyle/>
          <a:p>
            <a:pPr algn="ctr" indent="0" marL="0">
              <a:buNone/>
            </a:pPr>
            <a:r>
              <a:rPr lang="en-US" sz="1000" b="1" spc="600" kern="0" dirty="0">
                <a:solidFill>
                  <a:srgbClr val="2A3441"/>
                </a:solidFill>
                <a:latin typeface="Calibri" pitchFamily="34" charset="0"/>
                <a:ea typeface="Calibri" pitchFamily="34" charset="-122"/>
                <a:cs typeface="Calibri" pitchFamily="34" charset="-120"/>
              </a:rPr>
              <a:t>HAPPY HOUR SPONSOR</a:t>
            </a:r>
            <a:endParaRPr lang="en-US" sz="1000" dirty="0"/>
          </a:p>
        </p:txBody>
      </p:sp>
      <p:pic>
        <p:nvPicPr>
          <p:cNvPr id="11" name="Image 4" descr="/home/user/workspace/wroe-dallas-2026/deliverables/workbook/assets/sponsors/ninety.png">    </p:cNvPr>
          <p:cNvPicPr>
            <a:picLocks noChangeAspect="1"/>
          </p:cNvPicPr>
          <p:nvPr/>
        </p:nvPicPr>
        <p:blipFill>
          <a:blip r:embed="rId5"/>
          <a:stretch>
            <a:fillRect/>
          </a:stretch>
        </p:blipFill>
        <p:spPr>
          <a:xfrm>
            <a:off x="5457025" y="4846320"/>
            <a:ext cx="1278560" cy="640080"/>
          </a:xfrm>
          <a:prstGeom prst="rect">
            <a:avLst/>
          </a:prstGeom>
        </p:spPr>
      </p:pic>
      <p:sp>
        <p:nvSpPr>
          <p:cNvPr id="12" name="Text 5"/>
          <p:cNvSpPr/>
          <p:nvPr/>
        </p:nvSpPr>
        <p:spPr>
          <a:xfrm>
            <a:off x="457200" y="5632704"/>
            <a:ext cx="11277295" cy="182880"/>
          </a:xfrm>
          <a:prstGeom prst="rect">
            <a:avLst/>
          </a:prstGeom>
          <a:noFill/>
          <a:ln/>
        </p:spPr>
        <p:txBody>
          <a:bodyPr wrap="square" rtlCol="0" anchor="ctr"/>
          <a:lstStyle/>
          <a:p>
            <a:pPr algn="ctr" indent="0" marL="0">
              <a:buNone/>
            </a:pPr>
            <a:r>
              <a:rPr lang="en-US" sz="1000" b="1" spc="600" kern="0" dirty="0">
                <a:solidFill>
                  <a:srgbClr val="2A3441"/>
                </a:solidFill>
                <a:latin typeface="Calibri" pitchFamily="34" charset="0"/>
                <a:ea typeface="Calibri" pitchFamily="34" charset="-122"/>
                <a:cs typeface="Calibri" pitchFamily="34" charset="-120"/>
              </a:rPr>
              <a:t>LOUNGE SPONSOR</a:t>
            </a:r>
            <a:endParaRPr lang="en-US" sz="1000" dirty="0"/>
          </a:p>
        </p:txBody>
      </p:sp>
      <p:pic>
        <p:nvPicPr>
          <p:cNvPr id="13" name="Image 5" descr="/home/user/workspace/wroe-dallas-2026/deliverables/workbook/assets/sponsors/vsimple.png">    </p:cNvPr>
          <p:cNvPicPr>
            <a:picLocks noChangeAspect="1"/>
          </p:cNvPicPr>
          <p:nvPr/>
        </p:nvPicPr>
        <p:blipFill>
          <a:blip r:embed="rId6"/>
          <a:stretch>
            <a:fillRect/>
          </a:stretch>
        </p:blipFill>
        <p:spPr>
          <a:xfrm>
            <a:off x="5086064" y="5852160"/>
            <a:ext cx="2020481" cy="502920"/>
          </a:xfrm>
          <a:prstGeom prst="rect">
            <a:avLst/>
          </a:prstGeom>
        </p:spPr>
      </p:pic>
      <p:sp>
        <p:nvSpPr>
          <p:cNvPr id="14" name="Shape 6"/>
          <p:cNvSpPr/>
          <p:nvPr/>
        </p:nvSpPr>
        <p:spPr>
          <a:xfrm>
            <a:off x="0" y="6675120"/>
            <a:ext cx="12191695" cy="182880"/>
          </a:xfrm>
          <a:prstGeom prst="rect">
            <a:avLst/>
          </a:prstGeom>
          <a:solidFill>
            <a:srgbClr val="E87722"/>
          </a:solidFill>
          <a:ln w="12700">
            <a:solidFill>
              <a:srgbClr val="E87722"/>
            </a:solidFill>
            <a:prstDash val="solid"/>
          </a:ln>
        </p:spPr>
      </p:sp>
      <p:sp>
        <p:nvSpPr>
          <p:cNvPr id="15" name="Text 7"/>
          <p:cNvSpPr/>
          <p:nvPr/>
        </p:nvSpPr>
        <p:spPr>
          <a:xfrm>
            <a:off x="457200" y="6446520"/>
            <a:ext cx="7315200" cy="228600"/>
          </a:xfrm>
          <a:prstGeom prst="rect">
            <a:avLst/>
          </a:prstGeom>
          <a:noFill/>
          <a:ln/>
        </p:spPr>
        <p:txBody>
          <a:bodyPr wrap="square" rtlCol="0" anchor="ctr"/>
          <a:lstStyle/>
          <a:p>
            <a:pPr indent="0" marL="0">
              <a:buNone/>
            </a:pPr>
            <a:r>
              <a:rPr lang="en-US" sz="900" b="1" spc="400" kern="0" dirty="0">
                <a:solidFill>
                  <a:srgbClr val="2A3441"/>
                </a:solidFill>
                <a:latin typeface="Calibri" pitchFamily="34" charset="0"/>
                <a:ea typeface="Calibri" pitchFamily="34" charset="-122"/>
                <a:cs typeface="Calibri" pitchFamily="34" charset="-120"/>
              </a:rPr>
              <a:t>WE RUN ON EOS® NORTH TEXAS  ·  SEPTEMBER 14, 2026</a:t>
            </a:r>
            <a:endParaRPr lang="en-US" sz="900" dirty="0"/>
          </a:p>
        </p:txBody>
      </p:sp>
      <p:sp>
        <p:nvSpPr>
          <p:cNvPr id="16" name="Text 8"/>
          <p:cNvSpPr/>
          <p:nvPr/>
        </p:nvSpPr>
        <p:spPr>
          <a:xfrm>
            <a:off x="5029200" y="6446520"/>
            <a:ext cx="6675120" cy="228600"/>
          </a:xfrm>
          <a:prstGeom prst="rect">
            <a:avLst/>
          </a:prstGeom>
          <a:noFill/>
          <a:ln/>
        </p:spPr>
        <p:txBody>
          <a:bodyPr wrap="square" rtlCol="0" anchor="ctr"/>
          <a:lstStyle/>
          <a:p>
            <a:pPr algn="r" indent="0" marL="0">
              <a:buNone/>
            </a:pPr>
            <a:r>
              <a:rPr lang="en-US" sz="900" dirty="0">
                <a:solidFill>
                  <a:srgbClr val="2A3441"/>
                </a:solidFill>
                <a:latin typeface="Calibri" pitchFamily="34" charset="0"/>
                <a:ea typeface="Calibri" pitchFamily="34" charset="-122"/>
                <a:cs typeface="Calibri" pitchFamily="34" charset="-120"/>
              </a:rPr>
              <a:t>#WRoENorthTexas2026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548640"/>
            <a:ext cx="11277295" cy="457200"/>
          </a:xfrm>
          <a:prstGeom prst="rect">
            <a:avLst/>
          </a:prstGeom>
          <a:noFill/>
          <a:ln/>
        </p:spPr>
        <p:txBody>
          <a:bodyPr wrap="square" rtlCol="0" anchor="ctr"/>
          <a:lstStyle/>
          <a:p>
            <a:pPr algn="ctr" indent="0" marL="0">
              <a:buNone/>
            </a:pPr>
            <a:r>
              <a:rPr lang="en-US" sz="2000" b="1" spc="1200" kern="0" dirty="0">
                <a:solidFill>
                  <a:srgbClr val="E87722"/>
                </a:solidFill>
                <a:latin typeface="Calibri" pitchFamily="34" charset="0"/>
                <a:ea typeface="Calibri" pitchFamily="34" charset="-122"/>
                <a:cs typeface="Calibri" pitchFamily="34" charset="-120"/>
              </a:rPr>
              <a:t>OUR COMMUNITY SPONSORS</a:t>
            </a:r>
            <a:endParaRPr lang="en-US" sz="2000" dirty="0"/>
          </a:p>
        </p:txBody>
      </p:sp>
      <p:sp>
        <p:nvSpPr>
          <p:cNvPr id="3" name="Text 1"/>
          <p:cNvSpPr/>
          <p:nvPr/>
        </p:nvSpPr>
        <p:spPr>
          <a:xfrm>
            <a:off x="457200" y="1051560"/>
            <a:ext cx="11277295" cy="548640"/>
          </a:xfrm>
          <a:prstGeom prst="rect">
            <a:avLst/>
          </a:prstGeom>
          <a:noFill/>
          <a:ln/>
        </p:spPr>
        <p:txBody>
          <a:bodyPr wrap="square" rtlCol="0" anchor="ctr"/>
          <a:lstStyle/>
          <a:p>
            <a:pPr algn="ctr" indent="0" marL="0">
              <a:buNone/>
            </a:pPr>
            <a:r>
              <a:rPr lang="en-US" sz="2600" i="1" dirty="0">
                <a:solidFill>
                  <a:srgbClr val="0B1F3A"/>
                </a:solidFill>
                <a:latin typeface="Calibri" pitchFamily="34" charset="0"/>
                <a:ea typeface="Calibri" pitchFamily="34" charset="-122"/>
                <a:cs typeface="Calibri" pitchFamily="34" charset="-120"/>
              </a:rPr>
              <a:t>Say hello at their tables</a:t>
            </a:r>
            <a:endParaRPr lang="en-US" sz="2600" dirty="0"/>
          </a:p>
        </p:txBody>
      </p:sp>
      <p:sp>
        <p:nvSpPr>
          <p:cNvPr id="4" name="Text 2"/>
          <p:cNvSpPr/>
          <p:nvPr/>
        </p:nvSpPr>
        <p:spPr>
          <a:xfrm>
            <a:off x="457200" y="2148840"/>
            <a:ext cx="11277295" cy="201168"/>
          </a:xfrm>
          <a:prstGeom prst="rect">
            <a:avLst/>
          </a:prstGeom>
          <a:noFill/>
          <a:ln/>
        </p:spPr>
        <p:txBody>
          <a:bodyPr wrap="square" rtlCol="0" anchor="ctr"/>
          <a:lstStyle/>
          <a:p>
            <a:pPr algn="ctr" indent="0" marL="0">
              <a:buNone/>
            </a:pPr>
            <a:r>
              <a:rPr lang="en-US" sz="1000" b="1" spc="600" kern="0" dirty="0">
                <a:solidFill>
                  <a:srgbClr val="2A3441"/>
                </a:solidFill>
                <a:latin typeface="Calibri" pitchFamily="34" charset="0"/>
                <a:ea typeface="Calibri" pitchFamily="34" charset="-122"/>
                <a:cs typeface="Calibri" pitchFamily="34" charset="-120"/>
              </a:rPr>
              <a:t>SWAG BAG SPONSORS</a:t>
            </a:r>
            <a:endParaRPr lang="en-US" sz="1000" dirty="0"/>
          </a:p>
        </p:txBody>
      </p:sp>
      <p:pic>
        <p:nvPicPr>
          <p:cNvPr id="5" name="Image 0" descr="/home/user/workspace/wroe-dallas-2026/deliverables/workbook/assets/sponsors/strata.png">    </p:cNvPr>
          <p:cNvPicPr>
            <a:picLocks noChangeAspect="1"/>
          </p:cNvPicPr>
          <p:nvPr/>
        </p:nvPicPr>
        <p:blipFill>
          <a:blip r:embed="rId1"/>
          <a:stretch>
            <a:fillRect/>
          </a:stretch>
        </p:blipFill>
        <p:spPr>
          <a:xfrm>
            <a:off x="2266112" y="2423160"/>
            <a:ext cx="3088386" cy="914400"/>
          </a:xfrm>
          <a:prstGeom prst="rect">
            <a:avLst/>
          </a:prstGeom>
        </p:spPr>
      </p:pic>
      <p:pic>
        <p:nvPicPr>
          <p:cNvPr id="6" name="Image 1" descr="/home/user/workspace/wroe-dallas-2026/deliverables/workbook/assets/sponsors/successco.png">    </p:cNvPr>
          <p:cNvPicPr>
            <a:picLocks noChangeAspect="1"/>
          </p:cNvPicPr>
          <p:nvPr/>
        </p:nvPicPr>
        <p:blipFill>
          <a:blip r:embed="rId2"/>
          <a:stretch>
            <a:fillRect/>
          </a:stretch>
        </p:blipFill>
        <p:spPr>
          <a:xfrm>
            <a:off x="6449492" y="2423160"/>
            <a:ext cx="3865626" cy="914400"/>
          </a:xfrm>
          <a:prstGeom prst="rect">
            <a:avLst/>
          </a:prstGeom>
        </p:spPr>
      </p:pic>
      <p:sp>
        <p:nvSpPr>
          <p:cNvPr id="7" name="Text 3"/>
          <p:cNvSpPr/>
          <p:nvPr/>
        </p:nvSpPr>
        <p:spPr>
          <a:xfrm>
            <a:off x="457200" y="3703320"/>
            <a:ext cx="11277295" cy="201168"/>
          </a:xfrm>
          <a:prstGeom prst="rect">
            <a:avLst/>
          </a:prstGeom>
          <a:noFill/>
          <a:ln/>
        </p:spPr>
        <p:txBody>
          <a:bodyPr wrap="square" rtlCol="0" anchor="ctr"/>
          <a:lstStyle/>
          <a:p>
            <a:pPr algn="ctr" indent="0" marL="0">
              <a:buNone/>
            </a:pPr>
            <a:r>
              <a:rPr lang="en-US" sz="1000" b="1" spc="600" kern="0" dirty="0">
                <a:solidFill>
                  <a:srgbClr val="2A3441"/>
                </a:solidFill>
                <a:latin typeface="Calibri" pitchFamily="34" charset="0"/>
                <a:ea typeface="Calibri" pitchFamily="34" charset="-122"/>
                <a:cs typeface="Calibri" pitchFamily="34" charset="-120"/>
              </a:rPr>
              <a:t>BOOTH SPONSORS</a:t>
            </a:r>
            <a:endParaRPr lang="en-US" sz="1000" dirty="0"/>
          </a:p>
        </p:txBody>
      </p:sp>
      <p:pic>
        <p:nvPicPr>
          <p:cNvPr id="8" name="Image 2" descr="/home/user/workspace/wroe-dallas-2026/deliverables/workbook/assets/sponsors/360consultingdfw.png">    </p:cNvPr>
          <p:cNvPicPr>
            <a:picLocks noChangeAspect="1"/>
          </p:cNvPicPr>
          <p:nvPr/>
        </p:nvPicPr>
        <p:blipFill>
          <a:blip r:embed="rId3"/>
          <a:stretch>
            <a:fillRect/>
          </a:stretch>
        </p:blipFill>
        <p:spPr>
          <a:xfrm>
            <a:off x="701345" y="4029531"/>
            <a:ext cx="2011680" cy="764897"/>
          </a:xfrm>
          <a:prstGeom prst="rect">
            <a:avLst/>
          </a:prstGeom>
        </p:spPr>
      </p:pic>
      <p:pic>
        <p:nvPicPr>
          <p:cNvPr id="9" name="Image 3" descr="/home/user/workspace/wroe-dallas-2026/deliverables/workbook/assets/sponsors/allinoneaccounting.png">    </p:cNvPr>
          <p:cNvPicPr>
            <a:picLocks noChangeAspect="1"/>
          </p:cNvPicPr>
          <p:nvPr/>
        </p:nvPicPr>
        <p:blipFill>
          <a:blip r:embed="rId4"/>
          <a:stretch>
            <a:fillRect/>
          </a:stretch>
        </p:blipFill>
        <p:spPr>
          <a:xfrm>
            <a:off x="3259550" y="4023360"/>
            <a:ext cx="1284389" cy="777240"/>
          </a:xfrm>
          <a:prstGeom prst="rect">
            <a:avLst/>
          </a:prstGeom>
        </p:spPr>
      </p:pic>
      <p:pic>
        <p:nvPicPr>
          <p:cNvPr id="10" name="Image 4" descr="/home/user/workspace/wroe-dallas-2026/deliverables/workbook/assets/sponsors/chiefaiofficer.png">    </p:cNvPr>
          <p:cNvPicPr>
            <a:picLocks noChangeAspect="1"/>
          </p:cNvPicPr>
          <p:nvPr/>
        </p:nvPicPr>
        <p:blipFill>
          <a:blip r:embed="rId5"/>
          <a:stretch>
            <a:fillRect/>
          </a:stretch>
        </p:blipFill>
        <p:spPr>
          <a:xfrm>
            <a:off x="5090465" y="4257414"/>
            <a:ext cx="2011680" cy="309133"/>
          </a:xfrm>
          <a:prstGeom prst="rect">
            <a:avLst/>
          </a:prstGeom>
        </p:spPr>
      </p:pic>
      <p:pic>
        <p:nvPicPr>
          <p:cNvPr id="11" name="Image 5" descr="/home/user/workspace/wroe-dallas-2026/deliverables/workbook/assets/sponsors/hoopshr.png">    </p:cNvPr>
          <p:cNvPicPr>
            <a:picLocks noChangeAspect="1"/>
          </p:cNvPicPr>
          <p:nvPr/>
        </p:nvPicPr>
        <p:blipFill>
          <a:blip r:embed="rId6"/>
          <a:stretch>
            <a:fillRect/>
          </a:stretch>
        </p:blipFill>
        <p:spPr>
          <a:xfrm>
            <a:off x="7467962" y="4023360"/>
            <a:ext cx="1645806" cy="777240"/>
          </a:xfrm>
          <a:prstGeom prst="rect">
            <a:avLst/>
          </a:prstGeom>
        </p:spPr>
      </p:pic>
      <p:pic>
        <p:nvPicPr>
          <p:cNvPr id="12" name="Image 6" descr="/home/user/workspace/wroe-dallas-2026/deliverables/workbook/assets/sponsors/readyforthenextlevel.png">    </p:cNvPr>
          <p:cNvPicPr>
            <a:picLocks noChangeAspect="1"/>
          </p:cNvPicPr>
          <p:nvPr/>
        </p:nvPicPr>
        <p:blipFill>
          <a:blip r:embed="rId7"/>
          <a:stretch>
            <a:fillRect/>
          </a:stretch>
        </p:blipFill>
        <p:spPr>
          <a:xfrm>
            <a:off x="9479585" y="4240188"/>
            <a:ext cx="2011680" cy="343583"/>
          </a:xfrm>
          <a:prstGeom prst="rect">
            <a:avLst/>
          </a:prstGeom>
        </p:spPr>
      </p:pic>
      <p:pic>
        <p:nvPicPr>
          <p:cNvPr id="13" name="Image 7" descr="/home/user/workspace/wroe-dallas-2026/deliverables/workbook/assets/sponsors/profitworks.png">    </p:cNvPr>
          <p:cNvPicPr>
            <a:picLocks noChangeAspect="1"/>
          </p:cNvPicPr>
          <p:nvPr/>
        </p:nvPicPr>
        <p:blipFill>
          <a:blip r:embed="rId8"/>
          <a:stretch>
            <a:fillRect/>
          </a:stretch>
        </p:blipFill>
        <p:spPr>
          <a:xfrm>
            <a:off x="701345" y="5260545"/>
            <a:ext cx="2011680" cy="405990"/>
          </a:xfrm>
          <a:prstGeom prst="rect">
            <a:avLst/>
          </a:prstGeom>
        </p:spPr>
      </p:pic>
      <p:pic>
        <p:nvPicPr>
          <p:cNvPr id="14" name="Image 8" descr="/home/user/workspace/wroe-dallas-2026/deliverables/workbook/assets/sponsors/talentharbor.png">    </p:cNvPr>
          <p:cNvPicPr>
            <a:picLocks noChangeAspect="1"/>
          </p:cNvPicPr>
          <p:nvPr/>
        </p:nvPicPr>
        <p:blipFill>
          <a:blip r:embed="rId9"/>
          <a:stretch>
            <a:fillRect/>
          </a:stretch>
        </p:blipFill>
        <p:spPr>
          <a:xfrm>
            <a:off x="2895905" y="5361837"/>
            <a:ext cx="2011680" cy="203405"/>
          </a:xfrm>
          <a:prstGeom prst="rect">
            <a:avLst/>
          </a:prstGeom>
        </p:spPr>
      </p:pic>
      <p:pic>
        <p:nvPicPr>
          <p:cNvPr id="15" name="Image 9" descr="/home/user/workspace/wroe-dallas-2026/deliverables/workbook/assets/sponsors/vcfo.png">    </p:cNvPr>
          <p:cNvPicPr>
            <a:picLocks noChangeAspect="1"/>
          </p:cNvPicPr>
          <p:nvPr/>
        </p:nvPicPr>
        <p:blipFill>
          <a:blip r:embed="rId10"/>
          <a:stretch>
            <a:fillRect/>
          </a:stretch>
        </p:blipFill>
        <p:spPr>
          <a:xfrm>
            <a:off x="5090465" y="5234711"/>
            <a:ext cx="2011680" cy="457657"/>
          </a:xfrm>
          <a:prstGeom prst="rect">
            <a:avLst/>
          </a:prstGeom>
        </p:spPr>
      </p:pic>
      <p:pic>
        <p:nvPicPr>
          <p:cNvPr id="16" name="Image 10" descr="/home/user/workspace/wroe-dallas-2026/deliverables/workbook/assets/sponsors/wolfsedgeintegrators.png">    </p:cNvPr>
          <p:cNvPicPr>
            <a:picLocks noChangeAspect="1"/>
          </p:cNvPicPr>
          <p:nvPr/>
        </p:nvPicPr>
        <p:blipFill>
          <a:blip r:embed="rId11"/>
          <a:stretch>
            <a:fillRect/>
          </a:stretch>
        </p:blipFill>
        <p:spPr>
          <a:xfrm>
            <a:off x="7285025" y="5183946"/>
            <a:ext cx="2011680" cy="559188"/>
          </a:xfrm>
          <a:prstGeom prst="rect">
            <a:avLst/>
          </a:prstGeom>
        </p:spPr>
      </p:pic>
      <p:sp>
        <p:nvSpPr>
          <p:cNvPr id="17" name="Shape 4"/>
          <p:cNvSpPr/>
          <p:nvPr/>
        </p:nvSpPr>
        <p:spPr>
          <a:xfrm>
            <a:off x="0" y="6675120"/>
            <a:ext cx="12191695" cy="182880"/>
          </a:xfrm>
          <a:prstGeom prst="rect">
            <a:avLst/>
          </a:prstGeom>
          <a:solidFill>
            <a:srgbClr val="E87722"/>
          </a:solidFill>
          <a:ln w="12700">
            <a:solidFill>
              <a:srgbClr val="E87722"/>
            </a:solidFill>
            <a:prstDash val="solid"/>
          </a:ln>
        </p:spPr>
      </p:sp>
      <p:sp>
        <p:nvSpPr>
          <p:cNvPr id="18" name="Text 5"/>
          <p:cNvSpPr/>
          <p:nvPr/>
        </p:nvSpPr>
        <p:spPr>
          <a:xfrm>
            <a:off x="457200" y="6446520"/>
            <a:ext cx="7315200" cy="228600"/>
          </a:xfrm>
          <a:prstGeom prst="rect">
            <a:avLst/>
          </a:prstGeom>
          <a:noFill/>
          <a:ln/>
        </p:spPr>
        <p:txBody>
          <a:bodyPr wrap="square" rtlCol="0" anchor="ctr"/>
          <a:lstStyle/>
          <a:p>
            <a:pPr indent="0" marL="0">
              <a:buNone/>
            </a:pPr>
            <a:r>
              <a:rPr lang="en-US" sz="900" b="1" spc="400" kern="0" dirty="0">
                <a:solidFill>
                  <a:srgbClr val="2A3441"/>
                </a:solidFill>
                <a:latin typeface="Calibri" pitchFamily="34" charset="0"/>
                <a:ea typeface="Calibri" pitchFamily="34" charset="-122"/>
                <a:cs typeface="Calibri" pitchFamily="34" charset="-120"/>
              </a:rPr>
              <a:t>WE RUN ON EOS® NORTH TEXAS  ·  SEPTEMBER 14, 2026</a:t>
            </a:r>
            <a:endParaRPr lang="en-US" sz="900" dirty="0"/>
          </a:p>
        </p:txBody>
      </p:sp>
      <p:sp>
        <p:nvSpPr>
          <p:cNvPr id="19" name="Text 6"/>
          <p:cNvSpPr/>
          <p:nvPr/>
        </p:nvSpPr>
        <p:spPr>
          <a:xfrm>
            <a:off x="5029200" y="6446520"/>
            <a:ext cx="6675120" cy="228600"/>
          </a:xfrm>
          <a:prstGeom prst="rect">
            <a:avLst/>
          </a:prstGeom>
          <a:noFill/>
          <a:ln/>
        </p:spPr>
        <p:txBody>
          <a:bodyPr wrap="square" rtlCol="0" anchor="ctr"/>
          <a:lstStyle/>
          <a:p>
            <a:pPr algn="r" indent="0" marL="0">
              <a:buNone/>
            </a:pPr>
            <a:r>
              <a:rPr lang="en-US" sz="900" dirty="0">
                <a:solidFill>
                  <a:srgbClr val="2A3441"/>
                </a:solidFill>
                <a:latin typeface="Calibri" pitchFamily="34" charset="0"/>
                <a:ea typeface="Calibri" pitchFamily="34" charset="-122"/>
                <a:cs typeface="Calibri" pitchFamily="34" charset="-120"/>
              </a:rPr>
              <a:t>#WRoENorthTexas2026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85800" y="548640"/>
            <a:ext cx="1371600" cy="54864"/>
          </a:xfrm>
          <a:prstGeom prst="rect">
            <a:avLst/>
          </a:prstGeom>
          <a:solidFill>
            <a:srgbClr val="E87722"/>
          </a:solidFill>
          <a:ln w="12700">
            <a:solidFill>
              <a:srgbClr val="E87722"/>
            </a:solidFill>
            <a:prstDash val="solid"/>
          </a:ln>
        </p:spPr>
      </p:sp>
      <p:sp>
        <p:nvSpPr>
          <p:cNvPr id="3" name="Text 1"/>
          <p:cNvSpPr/>
          <p:nvPr/>
        </p:nvSpPr>
        <p:spPr>
          <a:xfrm>
            <a:off x="685800" y="777240"/>
            <a:ext cx="10972800" cy="365760"/>
          </a:xfrm>
          <a:prstGeom prst="rect">
            <a:avLst/>
          </a:prstGeom>
          <a:noFill/>
          <a:ln/>
        </p:spPr>
        <p:txBody>
          <a:bodyPr wrap="square" rtlCol="0" anchor="ctr"/>
          <a:lstStyle/>
          <a:p>
            <a:pPr indent="0" marL="0">
              <a:buNone/>
            </a:pPr>
            <a:r>
              <a:rPr lang="en-US" sz="1600" b="1" spc="800" kern="0" dirty="0">
                <a:solidFill>
                  <a:srgbClr val="E87722"/>
                </a:solidFill>
                <a:latin typeface="Calibri" pitchFamily="34" charset="0"/>
                <a:ea typeface="Calibri" pitchFamily="34" charset="-122"/>
                <a:cs typeface="Calibri" pitchFamily="34" charset="-120"/>
              </a:rPr>
              <a:t>SESSION 3  ·  4:45 – 6:15 PM</a:t>
            </a:r>
            <a:endParaRPr lang="en-US" sz="1600" dirty="0"/>
          </a:p>
        </p:txBody>
      </p:sp>
      <p:sp>
        <p:nvSpPr>
          <p:cNvPr id="4" name="Text 2"/>
          <p:cNvSpPr/>
          <p:nvPr/>
        </p:nvSpPr>
        <p:spPr>
          <a:xfrm>
            <a:off x="685800" y="1463040"/>
            <a:ext cx="10972800" cy="2194560"/>
          </a:xfrm>
          <a:prstGeom prst="rect">
            <a:avLst/>
          </a:prstGeom>
          <a:noFill/>
          <a:ln/>
        </p:spPr>
        <p:txBody>
          <a:bodyPr wrap="square" rtlCol="0" anchor="t">
            <a:spAutoFit/>
          </a:bodyPr>
          <a:lstStyle/>
          <a:p>
            <a:pPr indent="0" marL="0">
              <a:buNone/>
            </a:pPr>
            <a:r>
              <a:rPr lang="en-US" sz="5400" b="1" dirty="0">
                <a:solidFill>
                  <a:srgbClr val="FFFFFF"/>
                </a:solidFill>
                <a:latin typeface="Calibri" pitchFamily="34" charset="0"/>
                <a:ea typeface="Calibri" pitchFamily="34" charset="-122"/>
                <a:cs typeface="Calibri" pitchFamily="34" charset="-120"/>
              </a:rPr>
              <a:t>The 10 Pillars of Visionary Greatness</a:t>
            </a:r>
            <a:endParaRPr lang="en-US" sz="5400" dirty="0"/>
          </a:p>
        </p:txBody>
      </p:sp>
      <p:sp>
        <p:nvSpPr>
          <p:cNvPr id="5" name="Text 3"/>
          <p:cNvSpPr/>
          <p:nvPr/>
        </p:nvSpPr>
        <p:spPr>
          <a:xfrm>
            <a:off x="685800" y="4937760"/>
            <a:ext cx="10972800" cy="274320"/>
          </a:xfrm>
          <a:prstGeom prst="rect">
            <a:avLst/>
          </a:prstGeom>
          <a:noFill/>
          <a:ln/>
        </p:spPr>
        <p:txBody>
          <a:bodyPr wrap="square" rtlCol="0" anchor="ctr"/>
          <a:lstStyle/>
          <a:p>
            <a:pPr indent="0" marL="0">
              <a:buNone/>
            </a:pPr>
            <a:r>
              <a:rPr lang="en-US" sz="1200" b="1" spc="800" kern="0" dirty="0">
                <a:solidFill>
                  <a:srgbClr val="E87722"/>
                </a:solidFill>
                <a:latin typeface="Calibri" pitchFamily="34" charset="0"/>
                <a:ea typeface="Calibri" pitchFamily="34" charset="-122"/>
                <a:cs typeface="Calibri" pitchFamily="34" charset="-120"/>
              </a:rPr>
              <a:t>PRESENTED BY</a:t>
            </a:r>
            <a:endParaRPr lang="en-US" sz="1200" dirty="0"/>
          </a:p>
        </p:txBody>
      </p:sp>
      <p:sp>
        <p:nvSpPr>
          <p:cNvPr id="6" name="Text 4"/>
          <p:cNvSpPr/>
          <p:nvPr/>
        </p:nvSpPr>
        <p:spPr>
          <a:xfrm>
            <a:off x="685800" y="5212080"/>
            <a:ext cx="10972800" cy="64008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Mark C. Winters</a:t>
            </a:r>
            <a:endParaRPr lang="en-US" sz="4000" dirty="0"/>
          </a:p>
        </p:txBody>
      </p:sp>
      <p:sp>
        <p:nvSpPr>
          <p:cNvPr id="7" name="Text 5"/>
          <p:cNvSpPr/>
          <p:nvPr/>
        </p:nvSpPr>
        <p:spPr>
          <a:xfrm>
            <a:off x="685800" y="5852160"/>
            <a:ext cx="10972800" cy="365760"/>
          </a:xfrm>
          <a:prstGeom prst="rect">
            <a:avLst/>
          </a:prstGeom>
          <a:noFill/>
          <a:ln/>
        </p:spPr>
        <p:txBody>
          <a:bodyPr wrap="square" rtlCol="0" anchor="ctr"/>
          <a:lstStyle/>
          <a:p>
            <a:pPr indent="0" marL="0">
              <a:buNone/>
            </a:pPr>
            <a:r>
              <a:rPr lang="en-US" sz="1800" i="1" dirty="0">
                <a:solidFill>
                  <a:srgbClr val="D4DFEA"/>
                </a:solidFill>
                <a:latin typeface="Calibri" pitchFamily="34" charset="0"/>
                <a:ea typeface="Calibri" pitchFamily="34" charset="-122"/>
                <a:cs typeface="Calibri" pitchFamily="34" charset="-120"/>
              </a:rPr>
              <a:t>Expert EOS Implementer®</a:t>
            </a:r>
            <a:endParaRPr lang="en-US" sz="1800" dirty="0"/>
          </a:p>
        </p:txBody>
      </p:sp>
      <p:sp>
        <p:nvSpPr>
          <p:cNvPr id="8" name="Shape 6"/>
          <p:cNvSpPr/>
          <p:nvPr/>
        </p:nvSpPr>
        <p:spPr>
          <a:xfrm>
            <a:off x="0" y="6675120"/>
            <a:ext cx="12191695" cy="182880"/>
          </a:xfrm>
          <a:prstGeom prst="rect">
            <a:avLst/>
          </a:prstGeom>
          <a:solidFill>
            <a:srgbClr val="E87722"/>
          </a:solidFill>
          <a:ln w="12700">
            <a:solidFill>
              <a:srgbClr val="E87722"/>
            </a:solidFill>
            <a:prstDash val="solid"/>
          </a:ln>
        </p:spPr>
      </p:sp>
      <p:sp>
        <p:nvSpPr>
          <p:cNvPr id="9" name="Text 7"/>
          <p:cNvSpPr/>
          <p:nvPr/>
        </p:nvSpPr>
        <p:spPr>
          <a:xfrm>
            <a:off x="457200" y="6446520"/>
            <a:ext cx="7315200" cy="228600"/>
          </a:xfrm>
          <a:prstGeom prst="rect">
            <a:avLst/>
          </a:prstGeom>
          <a:noFill/>
          <a:ln/>
        </p:spPr>
        <p:txBody>
          <a:bodyPr wrap="square" rtlCol="0" anchor="ctr"/>
          <a:lstStyle/>
          <a:p>
            <a:pPr indent="0" marL="0">
              <a:buNone/>
            </a:pPr>
            <a:r>
              <a:rPr lang="en-US" sz="900" b="1" spc="400" kern="0" dirty="0">
                <a:solidFill>
                  <a:srgbClr val="D4DFEA"/>
                </a:solidFill>
                <a:latin typeface="Calibri" pitchFamily="34" charset="0"/>
                <a:ea typeface="Calibri" pitchFamily="34" charset="-122"/>
                <a:cs typeface="Calibri" pitchFamily="34" charset="-120"/>
              </a:rPr>
              <a:t>WE RUN ON EOS® NORTH TEXAS  ·  SEPTEMBER 14, 2026</a:t>
            </a:r>
            <a:endParaRPr lang="en-US" sz="900" dirty="0"/>
          </a:p>
        </p:txBody>
      </p:sp>
      <p:sp>
        <p:nvSpPr>
          <p:cNvPr id="10" name="Text 8"/>
          <p:cNvSpPr/>
          <p:nvPr/>
        </p:nvSpPr>
        <p:spPr>
          <a:xfrm>
            <a:off x="5029200" y="6446520"/>
            <a:ext cx="6675120" cy="228600"/>
          </a:xfrm>
          <a:prstGeom prst="rect">
            <a:avLst/>
          </a:prstGeom>
          <a:noFill/>
          <a:ln/>
        </p:spPr>
        <p:txBody>
          <a:bodyPr wrap="square" rtlCol="0" anchor="ctr"/>
          <a:lstStyle/>
          <a:p>
            <a:pPr algn="r" indent="0" marL="0">
              <a:buNone/>
            </a:pPr>
            <a:r>
              <a:rPr lang="en-US" sz="900" dirty="0">
                <a:solidFill>
                  <a:srgbClr val="D4DFEA"/>
                </a:solidFill>
                <a:latin typeface="Calibri" pitchFamily="34" charset="0"/>
                <a:ea typeface="Calibri" pitchFamily="34" charset="-122"/>
                <a:cs typeface="Calibri" pitchFamily="34" charset="-120"/>
              </a:rPr>
              <a:t>#WRoENorthTexas2026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10972800" cy="502920"/>
          </a:xfrm>
          <a:prstGeom prst="rect">
            <a:avLst/>
          </a:prstGeom>
          <a:noFill/>
          <a:ln/>
        </p:spPr>
        <p:txBody>
          <a:bodyPr wrap="square"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The 10 Pillars of Visionary Greatness</a:t>
            </a:r>
            <a:endParaRPr lang="en-US" sz="2000" dirty="0"/>
          </a:p>
        </p:txBody>
      </p:sp>
      <p:sp>
        <p:nvSpPr>
          <p:cNvPr id="3" name="Text 1"/>
          <p:cNvSpPr/>
          <p:nvPr/>
        </p:nvSpPr>
        <p:spPr>
          <a:xfrm>
            <a:off x="685800" y="960120"/>
            <a:ext cx="10972800" cy="274320"/>
          </a:xfrm>
          <a:prstGeom prst="rect">
            <a:avLst/>
          </a:prstGeom>
          <a:noFill/>
          <a:ln/>
        </p:spPr>
        <p:txBody>
          <a:bodyPr wrap="square" rtlCol="0" anchor="ctr"/>
          <a:lstStyle/>
          <a:p>
            <a:pPr indent="0" marL="0">
              <a:buNone/>
            </a:pPr>
            <a:r>
              <a:rPr lang="en-US" sz="1100" b="1" spc="400" kern="0" dirty="0">
                <a:solidFill>
                  <a:srgbClr val="E87722"/>
                </a:solidFill>
                <a:latin typeface="Calibri" pitchFamily="34" charset="0"/>
                <a:ea typeface="Calibri" pitchFamily="34" charset="-122"/>
                <a:cs typeface="Calibri" pitchFamily="34" charset="-120"/>
              </a:rPr>
              <a:t>Mark C. Winters  ·  4:45 – 6:15 PM</a:t>
            </a:r>
            <a:endParaRPr lang="en-US" sz="1100" dirty="0"/>
          </a:p>
        </p:txBody>
      </p:sp>
      <p:sp>
        <p:nvSpPr>
          <p:cNvPr id="4" name="Shape 2"/>
          <p:cNvSpPr/>
          <p:nvPr/>
        </p:nvSpPr>
        <p:spPr>
          <a:xfrm>
            <a:off x="685800" y="1325880"/>
            <a:ext cx="1097280" cy="36576"/>
          </a:xfrm>
          <a:prstGeom prst="rect">
            <a:avLst/>
          </a:prstGeom>
          <a:solidFill>
            <a:srgbClr val="E87722"/>
          </a:solidFill>
          <a:ln w="12700">
            <a:solidFill>
              <a:srgbClr val="E87722"/>
            </a:solidFill>
            <a:prstDash val="solid"/>
          </a:ln>
        </p:spPr>
      </p:sp>
      <p:sp>
        <p:nvSpPr>
          <p:cNvPr id="5" name="Shape 3"/>
          <p:cNvSpPr/>
          <p:nvPr/>
        </p:nvSpPr>
        <p:spPr>
          <a:xfrm>
            <a:off x="685800" y="1600200"/>
            <a:ext cx="10789920" cy="4663440"/>
          </a:xfrm>
          <a:prstGeom prst="roundRect">
            <a:avLst>
              <a:gd name="adj" fmla="val 1569"/>
            </a:avLst>
          </a:prstGeom>
          <a:solidFill>
            <a:srgbClr val="0B1F3A"/>
          </a:solidFill>
          <a:ln w="12700">
            <a:solidFill>
              <a:srgbClr val="0B1F3A"/>
            </a:solidFill>
            <a:prstDash val="solid"/>
          </a:ln>
        </p:spPr>
      </p:sp>
      <p:sp>
        <p:nvSpPr>
          <p:cNvPr id="6" name="Text 4"/>
          <p:cNvSpPr/>
          <p:nvPr/>
        </p:nvSpPr>
        <p:spPr>
          <a:xfrm>
            <a:off x="685800" y="2194560"/>
            <a:ext cx="10789920" cy="365760"/>
          </a:xfrm>
          <a:prstGeom prst="rect">
            <a:avLst/>
          </a:prstGeom>
          <a:noFill/>
          <a:ln/>
        </p:spPr>
        <p:txBody>
          <a:bodyPr wrap="square" rtlCol="0" anchor="ctr"/>
          <a:lstStyle/>
          <a:p>
            <a:pPr algn="ctr" indent="0" marL="0">
              <a:buNone/>
            </a:pPr>
            <a:r>
              <a:rPr lang="en-US" sz="1200" b="1" spc="1000" kern="0" dirty="0">
                <a:solidFill>
                  <a:srgbClr val="E87722"/>
                </a:solidFill>
                <a:latin typeface="Calibri" pitchFamily="34" charset="0"/>
                <a:ea typeface="Calibri" pitchFamily="34" charset="-122"/>
                <a:cs typeface="Calibri" pitchFamily="34" charset="-120"/>
              </a:rPr>
              <a:t>OPEN PRESENTER DECK</a:t>
            </a:r>
            <a:endParaRPr lang="en-US" sz="1200" dirty="0"/>
          </a:p>
        </p:txBody>
      </p:sp>
      <p:sp>
        <p:nvSpPr>
          <p:cNvPr id="7" name="Text 5"/>
          <p:cNvSpPr/>
          <p:nvPr/>
        </p:nvSpPr>
        <p:spPr>
          <a:xfrm>
            <a:off x="685800" y="2697480"/>
            <a:ext cx="10789920" cy="82296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10-Pillars-of-Visionary-Greatness.pptx</a:t>
            </a:r>
            <a:endParaRPr lang="en-US" sz="3600" dirty="0"/>
          </a:p>
        </p:txBody>
      </p:sp>
      <p:sp>
        <p:nvSpPr>
          <p:cNvPr id="8" name="Text 6"/>
          <p:cNvSpPr/>
          <p:nvPr/>
        </p:nvSpPr>
        <p:spPr>
          <a:xfrm>
            <a:off x="685800" y="3703320"/>
            <a:ext cx="10789920" cy="365760"/>
          </a:xfrm>
          <a:prstGeom prst="rect">
            <a:avLst/>
          </a:prstGeom>
          <a:noFill/>
          <a:ln/>
        </p:spPr>
        <p:txBody>
          <a:bodyPr wrap="square" rtlCol="0" anchor="ctr"/>
          <a:lstStyle/>
          <a:p>
            <a:pPr algn="ctr" indent="0" marL="0">
              <a:buNone/>
            </a:pPr>
            <a:r>
              <a:rPr lang="en-US" sz="1400" i="1" dirty="0">
                <a:solidFill>
                  <a:srgbClr val="D4DFEA"/>
                </a:solidFill>
                <a:latin typeface="Calibri" pitchFamily="34" charset="0"/>
                <a:ea typeface="Calibri" pitchFamily="34" charset="-122"/>
                <a:cs typeface="Calibri" pitchFamily="34" charset="-120"/>
              </a:rPr>
              <a:t>located in \speaker-decks\  ·  presenter drives from here</a:t>
            </a:r>
            <a:endParaRPr lang="en-US" sz="1400" dirty="0"/>
          </a:p>
        </p:txBody>
      </p:sp>
      <p:sp>
        <p:nvSpPr>
          <p:cNvPr id="9" name="Text 7"/>
          <p:cNvSpPr/>
          <p:nvPr/>
        </p:nvSpPr>
        <p:spPr>
          <a:xfrm>
            <a:off x="685800" y="5120640"/>
            <a:ext cx="10789920" cy="365760"/>
          </a:xfrm>
          <a:prstGeom prst="rect">
            <a:avLst/>
          </a:prstGeom>
          <a:noFill/>
          <a:ln/>
        </p:spPr>
        <p:txBody>
          <a:bodyPr wrap="square" rtlCol="0" anchor="ctr"/>
          <a:lstStyle/>
          <a:p>
            <a:pPr algn="ctr" indent="0" marL="0">
              <a:buNone/>
            </a:pPr>
            <a:r>
              <a:rPr lang="en-US" sz="1200" dirty="0">
                <a:solidFill>
                  <a:srgbClr val="A9B4C4"/>
                </a:solidFill>
                <a:latin typeface="Calibri" pitchFamily="34" charset="0"/>
                <a:ea typeface="Calibri" pitchFamily="34" charset="-122"/>
                <a:cs typeface="Calibri" pitchFamily="34" charset="-120"/>
              </a:rPr>
              <a:t>When session ends, press Esc and return to this master deck to continue.</a:t>
            </a:r>
            <a:endParaRPr lang="en-US" sz="1200" dirty="0"/>
          </a:p>
        </p:txBody>
      </p:sp>
      <p:sp>
        <p:nvSpPr>
          <p:cNvPr id="10" name="Shape 8"/>
          <p:cNvSpPr/>
          <p:nvPr/>
        </p:nvSpPr>
        <p:spPr>
          <a:xfrm>
            <a:off x="0" y="6675120"/>
            <a:ext cx="12191695" cy="182880"/>
          </a:xfrm>
          <a:prstGeom prst="rect">
            <a:avLst/>
          </a:prstGeom>
          <a:solidFill>
            <a:srgbClr val="E87722"/>
          </a:solidFill>
          <a:ln w="12700">
            <a:solidFill>
              <a:srgbClr val="E87722"/>
            </a:solidFill>
            <a:prstDash val="solid"/>
          </a:ln>
        </p:spPr>
      </p:sp>
      <p:sp>
        <p:nvSpPr>
          <p:cNvPr id="11" name="Text 9"/>
          <p:cNvSpPr/>
          <p:nvPr/>
        </p:nvSpPr>
        <p:spPr>
          <a:xfrm>
            <a:off x="457200" y="6446520"/>
            <a:ext cx="7315200" cy="228600"/>
          </a:xfrm>
          <a:prstGeom prst="rect">
            <a:avLst/>
          </a:prstGeom>
          <a:noFill/>
          <a:ln/>
        </p:spPr>
        <p:txBody>
          <a:bodyPr wrap="square" rtlCol="0" anchor="ctr"/>
          <a:lstStyle/>
          <a:p>
            <a:pPr indent="0" marL="0">
              <a:buNone/>
            </a:pPr>
            <a:r>
              <a:rPr lang="en-US" sz="900" b="1" spc="400" kern="0" dirty="0">
                <a:solidFill>
                  <a:srgbClr val="D4DFEA"/>
                </a:solidFill>
                <a:latin typeface="Calibri" pitchFamily="34" charset="0"/>
                <a:ea typeface="Calibri" pitchFamily="34" charset="-122"/>
                <a:cs typeface="Calibri" pitchFamily="34" charset="-120"/>
              </a:rPr>
              <a:t>WE RUN ON EOS® NORTH TEXAS  ·  SEPTEMBER 14, 2026</a:t>
            </a:r>
            <a:endParaRPr lang="en-US" sz="900" dirty="0"/>
          </a:p>
        </p:txBody>
      </p:sp>
      <p:sp>
        <p:nvSpPr>
          <p:cNvPr id="12" name="Text 10"/>
          <p:cNvSpPr/>
          <p:nvPr/>
        </p:nvSpPr>
        <p:spPr>
          <a:xfrm>
            <a:off x="5029200" y="6446520"/>
            <a:ext cx="6675120" cy="228600"/>
          </a:xfrm>
          <a:prstGeom prst="rect">
            <a:avLst/>
          </a:prstGeom>
          <a:noFill/>
          <a:ln/>
        </p:spPr>
        <p:txBody>
          <a:bodyPr wrap="square" rtlCol="0" anchor="ctr"/>
          <a:lstStyle/>
          <a:p>
            <a:pPr algn="r" indent="0" marL="0">
              <a:buNone/>
            </a:pPr>
            <a:r>
              <a:rPr lang="en-US" sz="900" dirty="0">
                <a:solidFill>
                  <a:srgbClr val="D4DFEA"/>
                </a:solidFill>
                <a:latin typeface="Calibri" pitchFamily="34" charset="0"/>
                <a:ea typeface="Calibri" pitchFamily="34" charset="-122"/>
                <a:cs typeface="Calibri" pitchFamily="34" charset="-120"/>
              </a:rPr>
              <a:t>#WRoENorthTexas2026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457200" y="822960"/>
            <a:ext cx="11277295" cy="457200"/>
          </a:xfrm>
          <a:prstGeom prst="rect">
            <a:avLst/>
          </a:prstGeom>
          <a:noFill/>
          <a:ln/>
        </p:spPr>
        <p:txBody>
          <a:bodyPr wrap="square" rtlCol="0" anchor="ctr"/>
          <a:lstStyle/>
          <a:p>
            <a:pPr algn="ctr" indent="0" marL="0">
              <a:buNone/>
            </a:pPr>
            <a:r>
              <a:rPr lang="en-US" sz="2200" b="1" spc="1200" kern="0" dirty="0">
                <a:solidFill>
                  <a:srgbClr val="E87722"/>
                </a:solidFill>
                <a:latin typeface="Calibri" pitchFamily="34" charset="0"/>
                <a:ea typeface="Calibri" pitchFamily="34" charset="-122"/>
                <a:cs typeface="Calibri" pitchFamily="34" charset="-120"/>
              </a:rPr>
              <a:t>HAPPY HOUR</a:t>
            </a:r>
            <a:endParaRPr lang="en-US" sz="2200" dirty="0"/>
          </a:p>
        </p:txBody>
      </p:sp>
      <p:sp>
        <p:nvSpPr>
          <p:cNvPr id="3" name="Text 1"/>
          <p:cNvSpPr/>
          <p:nvPr/>
        </p:nvSpPr>
        <p:spPr>
          <a:xfrm>
            <a:off x="457200" y="1417320"/>
            <a:ext cx="11277295" cy="1463040"/>
          </a:xfrm>
          <a:prstGeom prst="rect">
            <a:avLst/>
          </a:prstGeom>
          <a:noFill/>
          <a:ln/>
        </p:spPr>
        <p:txBody>
          <a:bodyPr wrap="square" rtlCol="0" anchor="ctr"/>
          <a:lstStyle/>
          <a:p>
            <a:pPr algn="ctr" indent="0" marL="0">
              <a:buNone/>
            </a:pPr>
            <a:r>
              <a:rPr lang="en-US" sz="13000" b="1" dirty="0">
                <a:solidFill>
                  <a:srgbClr val="FFFFFF"/>
                </a:solidFill>
                <a:latin typeface="Calibri" pitchFamily="34" charset="0"/>
                <a:ea typeface="Calibri" pitchFamily="34" charset="-122"/>
                <a:cs typeface="Calibri" pitchFamily="34" charset="-120"/>
              </a:rPr>
              <a:t>6:15 PM</a:t>
            </a:r>
            <a:endParaRPr lang="en-US" sz="13000" dirty="0"/>
          </a:p>
        </p:txBody>
      </p:sp>
      <p:sp>
        <p:nvSpPr>
          <p:cNvPr id="4" name="Shape 2"/>
          <p:cNvSpPr/>
          <p:nvPr/>
        </p:nvSpPr>
        <p:spPr>
          <a:xfrm>
            <a:off x="3901288" y="3246120"/>
            <a:ext cx="4389120" cy="1371600"/>
          </a:xfrm>
          <a:prstGeom prst="roundRect">
            <a:avLst>
              <a:gd name="adj" fmla="val 6667"/>
            </a:avLst>
          </a:prstGeom>
          <a:solidFill>
            <a:srgbClr val="FFFFFF"/>
          </a:solidFill>
          <a:ln w="12700">
            <a:solidFill>
              <a:srgbClr val="FFFFFF"/>
            </a:solidFill>
            <a:prstDash val="solid"/>
          </a:ln>
        </p:spPr>
      </p:sp>
      <p:sp>
        <p:nvSpPr>
          <p:cNvPr id="5" name="Text 3"/>
          <p:cNvSpPr/>
          <p:nvPr/>
        </p:nvSpPr>
        <p:spPr>
          <a:xfrm>
            <a:off x="3901288" y="3355848"/>
            <a:ext cx="4389120" cy="228600"/>
          </a:xfrm>
          <a:prstGeom prst="rect">
            <a:avLst/>
          </a:prstGeom>
          <a:noFill/>
          <a:ln/>
        </p:spPr>
        <p:txBody>
          <a:bodyPr wrap="square" rtlCol="0" anchor="ctr"/>
          <a:lstStyle/>
          <a:p>
            <a:pPr algn="ctr" indent="0" marL="0">
              <a:buNone/>
            </a:pPr>
            <a:r>
              <a:rPr lang="en-US" sz="1000" b="1" spc="600" kern="0" dirty="0">
                <a:solidFill>
                  <a:srgbClr val="2A3441"/>
                </a:solidFill>
                <a:latin typeface="Calibri" pitchFamily="34" charset="0"/>
                <a:ea typeface="Calibri" pitchFamily="34" charset="-122"/>
                <a:cs typeface="Calibri" pitchFamily="34" charset="-120"/>
              </a:rPr>
              <a:t>SPONSORED BY</a:t>
            </a:r>
            <a:endParaRPr lang="en-US" sz="1000" dirty="0"/>
          </a:p>
        </p:txBody>
      </p:sp>
      <p:pic>
        <p:nvPicPr>
          <p:cNvPr id="6" name="Image 0" descr="/home/user/workspace/wroe-dallas-2026/deliverables/workbook/assets/sponsors/ninety.png">    </p:cNvPr>
          <p:cNvPicPr>
            <a:picLocks noChangeAspect="1"/>
          </p:cNvPicPr>
          <p:nvPr/>
        </p:nvPicPr>
        <p:blipFill>
          <a:blip r:embed="rId1"/>
          <a:stretch>
            <a:fillRect/>
          </a:stretch>
        </p:blipFill>
        <p:spPr>
          <a:xfrm>
            <a:off x="5228253" y="3634740"/>
            <a:ext cx="1735188" cy="868680"/>
          </a:xfrm>
          <a:prstGeom prst="rect">
            <a:avLst/>
          </a:prstGeom>
        </p:spPr>
      </p:pic>
      <p:sp>
        <p:nvSpPr>
          <p:cNvPr id="7" name="Text 4"/>
          <p:cNvSpPr/>
          <p:nvPr/>
        </p:nvSpPr>
        <p:spPr>
          <a:xfrm>
            <a:off x="457200" y="4892040"/>
            <a:ext cx="11277295" cy="548640"/>
          </a:xfrm>
          <a:prstGeom prst="rect">
            <a:avLst/>
          </a:prstGeom>
          <a:noFill/>
          <a:ln/>
        </p:spPr>
        <p:txBody>
          <a:bodyPr wrap="square" rtlCol="0" anchor="ctr"/>
          <a:lstStyle/>
          <a:p>
            <a:pPr algn="ctr" indent="0" marL="0">
              <a:buNone/>
            </a:pPr>
            <a:r>
              <a:rPr lang="en-US" sz="2200" i="1" dirty="0">
                <a:solidFill>
                  <a:srgbClr val="FFFFFF"/>
                </a:solidFill>
                <a:latin typeface="Calibri" pitchFamily="34" charset="0"/>
                <a:ea typeface="Calibri" pitchFamily="34" charset="-122"/>
                <a:cs typeface="Calibri" pitchFamily="34" charset="-120"/>
              </a:rPr>
              <a:t>Stay. Meet someone new. Celebrate what you learned today.</a:t>
            </a:r>
            <a:endParaRPr lang="en-US" sz="2200" dirty="0"/>
          </a:p>
        </p:txBody>
      </p:sp>
      <p:sp>
        <p:nvSpPr>
          <p:cNvPr id="8" name="Text 5"/>
          <p:cNvSpPr/>
          <p:nvPr/>
        </p:nvSpPr>
        <p:spPr>
          <a:xfrm>
            <a:off x="457200" y="5532120"/>
            <a:ext cx="11277295" cy="457200"/>
          </a:xfrm>
          <a:prstGeom prst="rect">
            <a:avLst/>
          </a:prstGeom>
          <a:noFill/>
          <a:ln/>
        </p:spPr>
        <p:txBody>
          <a:bodyPr wrap="square" rtlCol="0" anchor="ctr"/>
          <a:lstStyle/>
          <a:p>
            <a:pPr algn="ctr" indent="0" marL="0">
              <a:buNone/>
            </a:pPr>
            <a:r>
              <a:rPr lang="en-US" sz="1800" dirty="0">
                <a:solidFill>
                  <a:srgbClr val="D4DFEA"/>
                </a:solidFill>
                <a:latin typeface="Calibri" pitchFamily="34" charset="0"/>
                <a:ea typeface="Calibri" pitchFamily="34" charset="-122"/>
                <a:cs typeface="Calibri" pitchFamily="34" charset="-120"/>
              </a:rPr>
              <a:t>See you next year.</a:t>
            </a:r>
            <a:endParaRPr lang="en-US" sz="1800" dirty="0"/>
          </a:p>
        </p:txBody>
      </p:sp>
      <p:sp>
        <p:nvSpPr>
          <p:cNvPr id="9" name="Shape 6"/>
          <p:cNvSpPr/>
          <p:nvPr/>
        </p:nvSpPr>
        <p:spPr>
          <a:xfrm>
            <a:off x="0" y="6675120"/>
            <a:ext cx="12191695" cy="182880"/>
          </a:xfrm>
          <a:prstGeom prst="rect">
            <a:avLst/>
          </a:prstGeom>
          <a:solidFill>
            <a:srgbClr val="E87722"/>
          </a:solidFill>
          <a:ln w="12700">
            <a:solidFill>
              <a:srgbClr val="E87722"/>
            </a:solidFill>
            <a:prstDash val="solid"/>
          </a:ln>
        </p:spPr>
      </p:sp>
      <p:sp>
        <p:nvSpPr>
          <p:cNvPr id="10" name="Text 7"/>
          <p:cNvSpPr/>
          <p:nvPr/>
        </p:nvSpPr>
        <p:spPr>
          <a:xfrm>
            <a:off x="457200" y="6446520"/>
            <a:ext cx="7315200" cy="228600"/>
          </a:xfrm>
          <a:prstGeom prst="rect">
            <a:avLst/>
          </a:prstGeom>
          <a:noFill/>
          <a:ln/>
        </p:spPr>
        <p:txBody>
          <a:bodyPr wrap="square" rtlCol="0" anchor="ctr"/>
          <a:lstStyle/>
          <a:p>
            <a:pPr indent="0" marL="0">
              <a:buNone/>
            </a:pPr>
            <a:r>
              <a:rPr lang="en-US" sz="900" b="1" spc="400" kern="0" dirty="0">
                <a:solidFill>
                  <a:srgbClr val="D4DFEA"/>
                </a:solidFill>
                <a:latin typeface="Calibri" pitchFamily="34" charset="0"/>
                <a:ea typeface="Calibri" pitchFamily="34" charset="-122"/>
                <a:cs typeface="Calibri" pitchFamily="34" charset="-120"/>
              </a:rPr>
              <a:t>WE RUN ON EOS® NORTH TEXAS  ·  SEPTEMBER 14, 2026</a:t>
            </a:r>
            <a:endParaRPr lang="en-US" sz="900" dirty="0"/>
          </a:p>
        </p:txBody>
      </p:sp>
      <p:sp>
        <p:nvSpPr>
          <p:cNvPr id="11" name="Text 8"/>
          <p:cNvSpPr/>
          <p:nvPr/>
        </p:nvSpPr>
        <p:spPr>
          <a:xfrm>
            <a:off x="5029200" y="6446520"/>
            <a:ext cx="6675120" cy="228600"/>
          </a:xfrm>
          <a:prstGeom prst="rect">
            <a:avLst/>
          </a:prstGeom>
          <a:noFill/>
          <a:ln/>
        </p:spPr>
        <p:txBody>
          <a:bodyPr wrap="square" rtlCol="0" anchor="ctr"/>
          <a:lstStyle/>
          <a:p>
            <a:pPr algn="r" indent="0" marL="0">
              <a:buNone/>
            </a:pPr>
            <a:r>
              <a:rPr lang="en-US" sz="900" dirty="0">
                <a:solidFill>
                  <a:srgbClr val="D4DFEA"/>
                </a:solidFill>
                <a:latin typeface="Calibri" pitchFamily="34" charset="0"/>
                <a:ea typeface="Calibri" pitchFamily="34" charset="-122"/>
                <a:cs typeface="Calibri" pitchFamily="34" charset="-120"/>
              </a:rPr>
              <a:t>#WRoENorthTexas2026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North Texas EOS Community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WRoEOS North Texas 2026 — Event Deck</dc:title>
  <dc:subject>Event day presentation deck for emcees, break loops, and session intros</dc:subject>
  <dc:creator>WRoEOS North Texas</dc:creator>
  <cp:lastModifiedBy>WRoEOS North Texas</cp:lastModifiedBy>
  <cp:revision>1</cp:revision>
  <dcterms:created xsi:type="dcterms:W3CDTF">2026-09-13T18:26:21Z</dcterms:created>
  <dcterms:modified xsi:type="dcterms:W3CDTF">2026-09-13T18:26:21Z</dcterms:modified>
</cp:coreProperties>
</file>