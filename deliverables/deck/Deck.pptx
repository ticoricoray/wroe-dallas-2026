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plays 12:45–1:10 PM as guests return from Walt Brown’s lunch and take a 10-minute break.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Confirmed venue Wi-Fi credentials. QR encodes WIFI:T:WPA;S:Hilton Honors Meeting;P:Traction;; — works on iOS and Android camera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1:10 PM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 Paid-Day Return from Lunch:
Welcome back, North Texas. Hope you enjoyed lunch and the conversation with Walt Brown — the 7 Critical Needs is going to stick with you.
Quick reminders as we get into the paid workshops. Restrooms are down the main hallway on your right. Wi-Fi info is on the pre-event slides if you missed it. Please silence your phones — not off, silence — because we want you posting from every session this afternoon. Hashtag is #WRoENorthTexas2026.
This afternoon: three of the best Expert EOS Implementers in the country, three hardcover books in your bag, and a Happy Hour at 6:15 that you will not want to miss.
Let’s kick this off. Please welcome to the stage — Expert EOS Implementer and author of Data,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Stanley:
1. Press Esc to exit this master deck.
2. Open speaker-decks\Profit-Power-Deck.pptx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"Fifteen minute break. Sponsor lounge is open — say hi. Back at 2:55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C. Winters:
1. Press Esc to exit this master deck.
2. Open speaker-decks\10-Pillars-of-Visionary-Greatness.pptx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1.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slideLayout" Target="../slideLayouts/slideLayout1.xml"/><Relationship Id="rId1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Afternoon Program  ·  Resumes at 1:10 PM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1280160" y="2926080"/>
            <a:ext cx="6035040"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1463040" y="3017520"/>
            <a:ext cx="566928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1463040" y="3337560"/>
            <a:ext cx="5669280" cy="50292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Hilton Honors Meeting</a:t>
            </a:r>
            <a:endParaRPr lang="en-US" sz="2800" dirty="0"/>
          </a:p>
        </p:txBody>
      </p:sp>
      <p:sp>
        <p:nvSpPr>
          <p:cNvPr id="7" name="Shape 5"/>
          <p:cNvSpPr/>
          <p:nvPr/>
        </p:nvSpPr>
        <p:spPr>
          <a:xfrm>
            <a:off x="1280160" y="4114800"/>
            <a:ext cx="6035040"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1463040" y="4206240"/>
            <a:ext cx="566928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1463040" y="4526280"/>
            <a:ext cx="5669280" cy="50292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Traction</a:t>
            </a:r>
            <a:endParaRPr lang="en-US" sz="2800" dirty="0"/>
          </a:p>
        </p:txBody>
      </p:sp>
      <p:sp>
        <p:nvSpPr>
          <p:cNvPr id="10" name="Shape 8"/>
          <p:cNvSpPr/>
          <p:nvPr/>
        </p:nvSpPr>
        <p:spPr>
          <a:xfrm>
            <a:off x="7909560" y="2926080"/>
            <a:ext cx="2468880" cy="2468880"/>
          </a:xfrm>
          <a:prstGeom prst="roundRect">
            <a:avLst>
              <a:gd name="adj" fmla="val 3704"/>
            </a:avLst>
          </a:prstGeom>
          <a:solidFill>
            <a:srgbClr val="FFFFFF"/>
          </a:solidFill>
          <a:ln w="12700">
            <a:solidFill>
              <a:srgbClr val="E87722"/>
            </a:solidFill>
            <a:prstDash val="solid"/>
          </a:ln>
        </p:spPr>
      </p:sp>
      <p:pic>
        <p:nvPicPr>
          <p:cNvPr id="11" name="Image 0" descr="wifi_qr.png">    </p:cNvPr>
          <p:cNvPicPr>
            <a:picLocks noChangeAspect="1"/>
          </p:cNvPicPr>
          <p:nvPr/>
        </p:nvPicPr>
        <p:blipFill>
          <a:blip r:embed="rId1"/>
          <a:stretch>
            <a:fillRect/>
          </a:stretch>
        </p:blipFill>
        <p:spPr>
          <a:xfrm>
            <a:off x="8092440" y="3108960"/>
            <a:ext cx="2103120" cy="2103120"/>
          </a:xfrm>
          <a:prstGeom prst="rect">
            <a:avLst/>
          </a:prstGeom>
        </p:spPr>
      </p:pic>
      <p:sp>
        <p:nvSpPr>
          <p:cNvPr id="12" name="Text 9"/>
          <p:cNvSpPr/>
          <p:nvPr/>
        </p:nvSpPr>
        <p:spPr>
          <a:xfrm>
            <a:off x="7909560" y="5486400"/>
            <a:ext cx="2468880" cy="274320"/>
          </a:xfrm>
          <a:prstGeom prst="rect">
            <a:avLst/>
          </a:prstGeom>
          <a:noFill/>
          <a:ln/>
        </p:spPr>
        <p:txBody>
          <a:bodyPr wrap="square" rtlCol="0" anchor="ctr"/>
          <a:lstStyle/>
          <a:p>
            <a:pPr algn="ctr" indent="0" marL="0">
              <a:buNone/>
            </a:pPr>
            <a:r>
              <a:rPr lang="en-US" sz="1100" b="1" spc="600" kern="0" dirty="0">
                <a:solidFill>
                  <a:srgbClr val="E87722"/>
                </a:solidFill>
                <a:latin typeface="Calibri" pitchFamily="34" charset="0"/>
                <a:ea typeface="Calibri" pitchFamily="34" charset="-122"/>
                <a:cs typeface="Calibri" pitchFamily="34" charset="-120"/>
              </a:rPr>
              <a:t>SCAN TO JOIN</a:t>
            </a:r>
            <a:endParaRPr lang="en-US" sz="1100" dirty="0"/>
          </a:p>
        </p:txBody>
      </p:sp>
      <p:sp>
        <p:nvSpPr>
          <p:cNvPr id="13" name="Shape 10"/>
          <p:cNvSpPr/>
          <p:nvPr/>
        </p:nvSpPr>
        <p:spPr>
          <a:xfrm>
            <a:off x="0" y="6675120"/>
            <a:ext cx="12191695" cy="182880"/>
          </a:xfrm>
          <a:prstGeom prst="rect">
            <a:avLst/>
          </a:prstGeom>
          <a:solidFill>
            <a:srgbClr val="E87722"/>
          </a:solidFill>
          <a:ln w="12700">
            <a:solidFill>
              <a:srgbClr val="E87722"/>
            </a:solidFill>
            <a:prstDash val="solid"/>
          </a:ln>
        </p:spPr>
      </p:sp>
      <p:sp>
        <p:nvSpPr>
          <p:cNvPr id="14" name="Text 11"/>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5" name="Text 12"/>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1:10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back — let’s bring it home.</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1:10 – 2:40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1:10 – 2:40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Profit-Power-Deck.pptx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92811"/>
            <a:ext cx="806335" cy="238737"/>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736279" y="5916812"/>
            <a:ext cx="806335" cy="190736"/>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725494" y="5858884"/>
            <a:ext cx="806335" cy="306591"/>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3714708" y="5768206"/>
            <a:ext cx="806335" cy="487948"/>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4703923" y="5950226"/>
            <a:ext cx="806335" cy="123908"/>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5693138" y="5821782"/>
            <a:ext cx="806335" cy="380796"/>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6682352" y="5943321"/>
            <a:ext cx="806335" cy="137717"/>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7671567" y="5930814"/>
            <a:ext cx="806335" cy="162731"/>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8660781" y="5971415"/>
            <a:ext cx="806335" cy="81530"/>
          </a:xfrm>
          <a:prstGeom prst="rect">
            <a:avLst/>
          </a:prstGeom>
        </p:spPr>
      </p:pic>
      <p:pic>
        <p:nvPicPr>
          <p:cNvPr id="23" name="Image 15" descr="/home/user/workspace/wroe-dallas-2026/deliverables/workbook/assets/sponsors/vcfo.png">    </p:cNvPr>
          <p:cNvPicPr>
            <a:picLocks noChangeAspect="1"/>
          </p:cNvPicPr>
          <p:nvPr/>
        </p:nvPicPr>
        <p:blipFill>
          <a:blip r:embed="rId16"/>
          <a:stretch>
            <a:fillRect/>
          </a:stretch>
        </p:blipFill>
        <p:spPr>
          <a:xfrm>
            <a:off x="9649996" y="5920459"/>
            <a:ext cx="806335" cy="183441"/>
          </a:xfrm>
          <a:prstGeom prst="rect">
            <a:avLst/>
          </a:prstGeom>
        </p:spPr>
      </p:pic>
      <p:pic>
        <p:nvPicPr>
          <p:cNvPr id="24" name="Image 16" descr="/home/user/workspace/wroe-dallas-2026/deliverables/workbook/assets/sponsors/wolfsedgeintegrators.png">    </p:cNvPr>
          <p:cNvPicPr>
            <a:picLocks noChangeAspect="1"/>
          </p:cNvPicPr>
          <p:nvPr/>
        </p:nvPicPr>
        <p:blipFill>
          <a:blip r:embed="rId17"/>
          <a:stretch>
            <a:fillRect/>
          </a:stretch>
        </p:blipFill>
        <p:spPr>
          <a:xfrm>
            <a:off x="10639210" y="5900111"/>
            <a:ext cx="806335" cy="224137"/>
          </a:xfrm>
          <a:prstGeom prst="rect">
            <a:avLst/>
          </a:prstGeom>
        </p:spPr>
      </p:pic>
      <p:sp>
        <p:nvSpPr>
          <p:cNvPr id="25"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6"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7"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2:55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2:55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92811"/>
            <a:ext cx="806335" cy="238737"/>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736279" y="5916812"/>
            <a:ext cx="806335" cy="190736"/>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725494" y="5858884"/>
            <a:ext cx="806335" cy="306591"/>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3714708" y="5768206"/>
            <a:ext cx="806335" cy="487948"/>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4703923" y="5950226"/>
            <a:ext cx="806335" cy="123908"/>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5693138" y="5821782"/>
            <a:ext cx="806335" cy="380796"/>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6682352" y="5943321"/>
            <a:ext cx="806335" cy="137717"/>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7671567" y="5930814"/>
            <a:ext cx="806335" cy="162731"/>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8660781" y="5971415"/>
            <a:ext cx="806335" cy="81530"/>
          </a:xfrm>
          <a:prstGeom prst="rect">
            <a:avLst/>
          </a:prstGeom>
        </p:spPr>
      </p:pic>
      <p:pic>
        <p:nvPicPr>
          <p:cNvPr id="23" name="Image 15" descr="/home/user/workspace/wroe-dallas-2026/deliverables/workbook/assets/sponsors/vcfo.png">    </p:cNvPr>
          <p:cNvPicPr>
            <a:picLocks noChangeAspect="1"/>
          </p:cNvPicPr>
          <p:nvPr/>
        </p:nvPicPr>
        <p:blipFill>
          <a:blip r:embed="rId16"/>
          <a:stretch>
            <a:fillRect/>
          </a:stretch>
        </p:blipFill>
        <p:spPr>
          <a:xfrm>
            <a:off x="9649996" y="5920459"/>
            <a:ext cx="806335" cy="183441"/>
          </a:xfrm>
          <a:prstGeom prst="rect">
            <a:avLst/>
          </a:prstGeom>
        </p:spPr>
      </p:pic>
      <p:pic>
        <p:nvPicPr>
          <p:cNvPr id="24" name="Image 16" descr="/home/user/workspace/wroe-dallas-2026/deliverables/workbook/assets/sponsors/wolfsedgeintegrators.png">    </p:cNvPr>
          <p:cNvPicPr>
            <a:picLocks noChangeAspect="1"/>
          </p:cNvPicPr>
          <p:nvPr/>
        </p:nvPicPr>
        <p:blipFill>
          <a:blip r:embed="rId17"/>
          <a:stretch>
            <a:fillRect/>
          </a:stretch>
        </p:blipFill>
        <p:spPr>
          <a:xfrm>
            <a:off x="10639210" y="5900111"/>
            <a:ext cx="806335" cy="224137"/>
          </a:xfrm>
          <a:prstGeom prst="rect">
            <a:avLst/>
          </a:prstGeom>
        </p:spPr>
      </p:pic>
      <p:sp>
        <p:nvSpPr>
          <p:cNvPr id="25"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6"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7"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253089" y="3566160"/>
            <a:ext cx="2657231"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701345" y="4029531"/>
            <a:ext cx="2011680" cy="764897"/>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325955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5090465" y="4257414"/>
            <a:ext cx="2011680" cy="309133"/>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746796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9479585" y="4240188"/>
            <a:ext cx="2011680" cy="343583"/>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701345" y="5260545"/>
            <a:ext cx="2011680" cy="405990"/>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2895905" y="5361837"/>
            <a:ext cx="2011680" cy="203405"/>
          </a:xfrm>
          <a:prstGeom prst="rect">
            <a:avLst/>
          </a:prstGeom>
        </p:spPr>
      </p:pic>
      <p:pic>
        <p:nvPicPr>
          <p:cNvPr id="15" name="Image 9" descr="/home/user/workspace/wroe-dallas-2026/deliverables/workbook/assets/sponsors/vcfo.png">    </p:cNvPr>
          <p:cNvPicPr>
            <a:picLocks noChangeAspect="1"/>
          </p:cNvPicPr>
          <p:nvPr/>
        </p:nvPicPr>
        <p:blipFill>
          <a:blip r:embed="rId10"/>
          <a:stretch>
            <a:fillRect/>
          </a:stretch>
        </p:blipFill>
        <p:spPr>
          <a:xfrm>
            <a:off x="5090465" y="5234711"/>
            <a:ext cx="2011680" cy="457657"/>
          </a:xfrm>
          <a:prstGeom prst="rect">
            <a:avLst/>
          </a:prstGeom>
        </p:spPr>
      </p:pic>
      <p:pic>
        <p:nvPicPr>
          <p:cNvPr id="16" name="Image 10" descr="/home/user/workspace/wroe-dallas-2026/deliverables/workbook/assets/sponsors/wolfsedgeintegrators.png">    </p:cNvPr>
          <p:cNvPicPr>
            <a:picLocks noChangeAspect="1"/>
          </p:cNvPicPr>
          <p:nvPr/>
        </p:nvPicPr>
        <p:blipFill>
          <a:blip r:embed="rId11"/>
          <a:stretch>
            <a:fillRect/>
          </a:stretch>
        </p:blipFill>
        <p:spPr>
          <a:xfrm>
            <a:off x="7285025" y="5183946"/>
            <a:ext cx="2011680" cy="559188"/>
          </a:xfrm>
          <a:prstGeom prst="rect">
            <a:avLst/>
          </a:prstGeom>
        </p:spPr>
      </p:pic>
      <p:sp>
        <p:nvSpPr>
          <p:cNvPr id="17"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8"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9"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10-Pillars-of-Visionary-Greatness.pptx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2026-09-13T18:51:55Z</dcterms:created>
  <dcterms:modified xsi:type="dcterms:W3CDTF">2026-09-13T18:51:55Z</dcterms:modified>
</cp:coreProperties>
</file>