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Slide auto-advances every 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Placeholder Wi-Fi credentials — replace with actual venue values before event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Replace directional details with actual venue layout.]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Displays 5 minutes before 8:00 to prompt seating.]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OPEN (60-90 seconds):
Good morning, North Texas! Welcome to the fifth annual We Run on EOS North Texas. My name is [emcee name] and I'm going to be your host today.
Real quick, a few housekeeping items. Restrooms are down the main hallway on your right. Wi-Fi is up on the screens if you need it. Please silence your phones — not turn them off, silence them — because we want you posting from every session today. The hashtag is #WRoENorthTexas2026.
Today is going to be a full day of world-class content. Seven speakers. Three hardcover books included with your ticket. Fifteen sponsors who believe in this community. And a Happy Hour at the end that you will not want to miss.
Let's kick this off. Please welcome to the stage our opening keynote — Certified EOS Implementer Ann Sheu.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Our opening session is designed to give you the foundation of the Entire Entrepreneurial Operating System. Whether this is your first exposure to EOS or your fifth year running on it, Ann Sheu is going to help you get a grip on your business. Please welcome Certified EOS Implementer Ann Sheu.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(20 seconds): "Twenty minute break — visit our sponsors in the lobby, refill your coffee, and be back in your seats by 9:55. We come back with our title sponsor Strety."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This next session comes from our title sponsor, Strety. They're going to walk us through the real-world journey of running EOS with the right tools — the ups, the downs, and the breakthroughs. Please welcome Strety.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(15 seconds): "Quick fifteen-minute stretch. Grab water. We come back with The System of 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If you've ever wondered why your sales team is missing quota — this session is going to reframe the entire conversation. Our title sponsor, The System of Selling, is going to show you why the problem is almost never the people. Please welcome The System of 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Grab your lunch and settle in — this isn't a break, it's a treat. Walt Brown, EOS Worldwide Head Coach and author, is going to unpack the power of Healthy and introduce the latest EOS Trust Builder — the 7 Critical Needs. Please welcome Walt Brown.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In this session we're going to challenge one of the most common assumptions in business — that growth equals health. Mark Stanley, Expert EOS Implementer and author of Data, is going to help you decide whether you're really getting stronger or just getting bigger. Please welcome Mark Stanley.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(20 seconds): "Twenty minute break. Sponsor lounge is open — say hi. Back at 2:50 with Beth Fahey."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Getting EOS to the leadership team is one thing. Getting it all the way through the organization is another. Beth Fahey, Expert EOS Implementer and author of Rollout, is going to give you the field-tested playbook. Please welcome Beth Fahey.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"Last break of the day, twenty minutes. Stretch, refuel, then we bring it home with Mark C. Winters."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(20-30 seconds):
Take a look at the screen — these are the companies that made today possible. Please visit their tables at the break, follow them on LinkedIn, and if any of them can serve your business — reach out. This day exists because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(15 seconds):
One more round of thanks — our community sponsors put swag in your bag and staffed booths in the lounge all day. Stop by, grab a card, and thank them personally.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We save the very best for last. Mark C. Winters — Expert EOS Implementer and co-author of Rocket Fuel and Visionary — is going to walk us through the ten pillars of Visionary greatness. Please welcome Mark C. Winters.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CLOSE (60-90 seconds):
That's a wrap on the formal program — but don't leave yet. Happy Hour starts right now, right here, sponsored by our friends at Ninety.io.
A few thank-yous. Thank you to every one of our speakers — you gave us your very best today. Thank you to our fifteen sponsors — this doesn't happen without you. Thank you to the venue and the staff for taking care of us all day.
And most of all — thank YOU for showing up. Your business is better today than it was this morning. Now go find someone you don't know, buy them a drink, and swap notes. See you at We Run on EOS North Texas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slideLayout" Target="../slideLayouts/slideLayout1.xml"/><Relationship Id="rId1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WELCOME</a:t>
            </a:r>
            <a:endParaRPr lang="en-US" sz="1800" dirty="0"/>
          </a:p>
        </p:txBody>
      </p:sp>
      <p:sp>
        <p:nvSpPr>
          <p:cNvPr id="3" name="Text 1"/>
          <p:cNvSpPr/>
          <p:nvPr/>
        </p:nvSpPr>
        <p:spPr>
          <a:xfrm>
            <a:off x="457200" y="1737360"/>
            <a:ext cx="11277295" cy="1097280"/>
          </a:xfrm>
          <a:prstGeom prst="rect">
            <a:avLst/>
          </a:prstGeom>
          <a:noFill/>
          <a:ln/>
        </p:spPr>
        <p:txBody>
          <a:bodyPr wrap="square" rtlCol="0" anchor="ctr"/>
          <a:lstStyle/>
          <a:p>
            <a:pPr algn="ctr" indent="0" marL="0">
              <a:buNone/>
            </a:pPr>
            <a:r>
              <a:rPr lang="en-US" sz="7200" b="1" dirty="0">
                <a:solidFill>
                  <a:srgbClr val="FFFFFF"/>
                </a:solidFill>
                <a:latin typeface="Calibri" pitchFamily="34" charset="0"/>
                <a:ea typeface="Calibri" pitchFamily="34" charset="-122"/>
                <a:cs typeface="Calibri" pitchFamily="34" charset="-120"/>
              </a:rPr>
              <a:t>We Run on EOS®</a:t>
            </a:r>
            <a:endParaRPr lang="en-US" sz="7200" dirty="0"/>
          </a:p>
        </p:txBody>
      </p:sp>
      <p:sp>
        <p:nvSpPr>
          <p:cNvPr id="4" name="Text 2"/>
          <p:cNvSpPr/>
          <p:nvPr/>
        </p:nvSpPr>
        <p:spPr>
          <a:xfrm>
            <a:off x="457200" y="2834640"/>
            <a:ext cx="11277295" cy="731520"/>
          </a:xfrm>
          <a:prstGeom prst="rect">
            <a:avLst/>
          </a:prstGeom>
          <a:noFill/>
          <a:ln/>
        </p:spPr>
        <p:txBody>
          <a:bodyPr wrap="square" rtlCol="0" anchor="ctr"/>
          <a:lstStyle/>
          <a:p>
            <a:pPr algn="ctr" indent="0" marL="0">
              <a:buNone/>
            </a:pPr>
            <a:r>
              <a:rPr lang="en-US" sz="4400" dirty="0">
                <a:solidFill>
                  <a:srgbClr val="FFFFFF"/>
                </a:solidFill>
                <a:latin typeface="Calibri" pitchFamily="34" charset="0"/>
                <a:ea typeface="Calibri" pitchFamily="34" charset="-122"/>
                <a:cs typeface="Calibri" pitchFamily="34" charset="-120"/>
              </a:rPr>
              <a:t>North Texas 2026</a:t>
            </a:r>
            <a:endParaRPr lang="en-US" sz="4400" dirty="0"/>
          </a:p>
        </p:txBody>
      </p:sp>
      <p:sp>
        <p:nvSpPr>
          <p:cNvPr id="5" name="Text 3"/>
          <p:cNvSpPr/>
          <p:nvPr/>
        </p:nvSpPr>
        <p:spPr>
          <a:xfrm>
            <a:off x="457200" y="4114800"/>
            <a:ext cx="11277295" cy="457200"/>
          </a:xfrm>
          <a:prstGeom prst="rect">
            <a:avLst/>
          </a:prstGeom>
          <a:noFill/>
          <a:ln/>
        </p:spPr>
        <p:txBody>
          <a:bodyPr wrap="square" rtlCol="0" anchor="ctr"/>
          <a:lstStyle/>
          <a:p>
            <a:pPr algn="ctr" indent="0" marL="0">
              <a:buNone/>
            </a:pPr>
            <a:r>
              <a:rPr lang="en-US" sz="2200" i="1" dirty="0">
                <a:solidFill>
                  <a:srgbClr val="E87722"/>
                </a:solidFill>
                <a:latin typeface="Calibri" pitchFamily="34" charset="0"/>
                <a:ea typeface="Calibri" pitchFamily="34" charset="-122"/>
                <a:cs typeface="Calibri" pitchFamily="34" charset="-120"/>
              </a:rPr>
              <a:t>Doors open at 7:30 AM  ·  Program begins at 8:00 AM</a:t>
            </a:r>
            <a:endParaRPr lang="en-US" sz="2200" dirty="0"/>
          </a:p>
        </p:txBody>
      </p:sp>
      <p:sp>
        <p:nvSpPr>
          <p:cNvPr id="6" name="Text 4"/>
          <p:cNvSpPr/>
          <p:nvPr/>
        </p:nvSpPr>
        <p:spPr>
          <a:xfrm>
            <a:off x="457200" y="4663440"/>
            <a:ext cx="11277295" cy="36576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Grab coffee. Say hello. Take a seat near the front.</a:t>
            </a:r>
            <a:endParaRPr lang="en-US" sz="1600" dirty="0"/>
          </a:p>
        </p:txBody>
      </p:sp>
      <p:sp>
        <p:nvSpPr>
          <p:cNvPr id="7" name="Shape 5"/>
          <p:cNvSpPr/>
          <p:nvPr/>
        </p:nvSpPr>
        <p:spPr>
          <a:xfrm>
            <a:off x="0" y="6675120"/>
            <a:ext cx="12191695" cy="182880"/>
          </a:xfrm>
          <a:prstGeom prst="rect">
            <a:avLst/>
          </a:prstGeom>
          <a:solidFill>
            <a:srgbClr val="E87722"/>
          </a:solidFill>
          <a:ln w="12700">
            <a:solidFill>
              <a:srgbClr val="E87722"/>
            </a:solidFill>
            <a:prstDash val="solid"/>
          </a:ln>
        </p:spPr>
      </p:sp>
      <p:sp>
        <p:nvSpPr>
          <p:cNvPr id="8" name="Text 6"/>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MAY 2026</a:t>
            </a:r>
            <a:endParaRPr lang="en-US" sz="900" dirty="0"/>
          </a:p>
        </p:txBody>
      </p:sp>
      <p:sp>
        <p:nvSpPr>
          <p:cNvPr id="9" name="Text 7"/>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WI-FI</a:t>
            </a:r>
            <a:endParaRPr lang="en-US" sz="1800" dirty="0"/>
          </a:p>
        </p:txBody>
      </p:sp>
      <p:sp>
        <p:nvSpPr>
          <p:cNvPr id="3" name="Text 1"/>
          <p:cNvSpPr/>
          <p:nvPr/>
        </p:nvSpPr>
        <p:spPr>
          <a:xfrm>
            <a:off x="457200" y="1737360"/>
            <a:ext cx="11277295" cy="640080"/>
          </a:xfrm>
          <a:prstGeom prst="rect">
            <a:avLst/>
          </a:prstGeom>
          <a:noFill/>
          <a:ln/>
        </p:spPr>
        <p:txBody>
          <a:bodyPr wrap="square" rtlCol="0" anchor="ctr"/>
          <a:lstStyle/>
          <a:p>
            <a:pPr algn="ctr" indent="0" marL="0">
              <a:buNone/>
            </a:pPr>
            <a:r>
              <a:rPr lang="en-US" sz="3200" b="1" dirty="0">
                <a:solidFill>
                  <a:srgbClr val="FFFFFF"/>
                </a:solidFill>
                <a:latin typeface="Calibri" pitchFamily="34" charset="0"/>
                <a:ea typeface="Calibri" pitchFamily="34" charset="-122"/>
                <a:cs typeface="Calibri" pitchFamily="34" charset="-120"/>
              </a:rPr>
              <a:t>Connect while you settle in</a:t>
            </a:r>
            <a:endParaRPr lang="en-US" sz="3200" dirty="0"/>
          </a:p>
        </p:txBody>
      </p:sp>
      <p:sp>
        <p:nvSpPr>
          <p:cNvPr id="4" name="Shape 2"/>
          <p:cNvSpPr/>
          <p:nvPr/>
        </p:nvSpPr>
        <p:spPr>
          <a:xfrm>
            <a:off x="3200400" y="2926080"/>
            <a:ext cx="5790895" cy="1005840"/>
          </a:xfrm>
          <a:prstGeom prst="roundRect">
            <a:avLst>
              <a:gd name="adj" fmla="val 9091"/>
            </a:avLst>
          </a:prstGeom>
          <a:solidFill>
            <a:srgbClr val="1A2E4A"/>
          </a:solidFill>
          <a:ln w="12700">
            <a:solidFill>
              <a:srgbClr val="E87722"/>
            </a:solidFill>
            <a:prstDash val="solid"/>
          </a:ln>
        </p:spPr>
      </p:sp>
      <p:sp>
        <p:nvSpPr>
          <p:cNvPr id="5" name="Text 3"/>
          <p:cNvSpPr/>
          <p:nvPr/>
        </p:nvSpPr>
        <p:spPr>
          <a:xfrm>
            <a:off x="3383280" y="3017520"/>
            <a:ext cx="54864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NETWORK</a:t>
            </a:r>
            <a:endParaRPr lang="en-US" sz="1200" dirty="0"/>
          </a:p>
        </p:txBody>
      </p:sp>
      <p:sp>
        <p:nvSpPr>
          <p:cNvPr id="6" name="Text 4"/>
          <p:cNvSpPr/>
          <p:nvPr/>
        </p:nvSpPr>
        <p:spPr>
          <a:xfrm>
            <a:off x="3383280" y="3337560"/>
            <a:ext cx="5486400" cy="502920"/>
          </a:xfrm>
          <a:prstGeom prst="rect">
            <a:avLst/>
          </a:prstGeom>
          <a:noFill/>
          <a:ln/>
        </p:spPr>
        <p:txBody>
          <a:bodyPr wrap="square"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WRoEOS-Guest</a:t>
            </a:r>
            <a:endParaRPr lang="en-US" sz="3200" dirty="0"/>
          </a:p>
        </p:txBody>
      </p:sp>
      <p:sp>
        <p:nvSpPr>
          <p:cNvPr id="7" name="Shape 5"/>
          <p:cNvSpPr/>
          <p:nvPr/>
        </p:nvSpPr>
        <p:spPr>
          <a:xfrm>
            <a:off x="3200400" y="4114800"/>
            <a:ext cx="5790895" cy="1005840"/>
          </a:xfrm>
          <a:prstGeom prst="roundRect">
            <a:avLst>
              <a:gd name="adj" fmla="val 9091"/>
            </a:avLst>
          </a:prstGeom>
          <a:solidFill>
            <a:srgbClr val="1A2E4A"/>
          </a:solidFill>
          <a:ln w="12700">
            <a:solidFill>
              <a:srgbClr val="E87722"/>
            </a:solidFill>
            <a:prstDash val="solid"/>
          </a:ln>
        </p:spPr>
      </p:sp>
      <p:sp>
        <p:nvSpPr>
          <p:cNvPr id="8" name="Text 6"/>
          <p:cNvSpPr/>
          <p:nvPr/>
        </p:nvSpPr>
        <p:spPr>
          <a:xfrm>
            <a:off x="3383280" y="4206240"/>
            <a:ext cx="54864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PASSWORD</a:t>
            </a:r>
            <a:endParaRPr lang="en-US" sz="1200" dirty="0"/>
          </a:p>
        </p:txBody>
      </p:sp>
      <p:sp>
        <p:nvSpPr>
          <p:cNvPr id="9" name="Text 7"/>
          <p:cNvSpPr/>
          <p:nvPr/>
        </p:nvSpPr>
        <p:spPr>
          <a:xfrm>
            <a:off x="3383280" y="4526280"/>
            <a:ext cx="5486400" cy="502920"/>
          </a:xfrm>
          <a:prstGeom prst="rect">
            <a:avLst/>
          </a:prstGeom>
          <a:noFill/>
          <a:ln/>
        </p:spPr>
        <p:txBody>
          <a:bodyPr wrap="square"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RunOnEOS2026</a:t>
            </a:r>
            <a:endParaRPr lang="en-US" sz="3200" dirty="0"/>
          </a:p>
        </p:txBody>
      </p:sp>
      <p:sp>
        <p:nvSpPr>
          <p:cNvPr id="10" name="Shape 8"/>
          <p:cNvSpPr/>
          <p:nvPr/>
        </p:nvSpPr>
        <p:spPr>
          <a:xfrm>
            <a:off x="0" y="6675120"/>
            <a:ext cx="12191695" cy="182880"/>
          </a:xfrm>
          <a:prstGeom prst="rect">
            <a:avLst/>
          </a:prstGeom>
          <a:solidFill>
            <a:srgbClr val="E87722"/>
          </a:solidFill>
          <a:ln w="12700">
            <a:solidFill>
              <a:srgbClr val="E87722"/>
            </a:solidFill>
            <a:prstDash val="solid"/>
          </a:ln>
        </p:spPr>
      </p:sp>
      <p:sp>
        <p:nvSpPr>
          <p:cNvPr id="11" name="Text 9"/>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MAY 2026</a:t>
            </a:r>
            <a:endParaRPr lang="en-US" sz="900" dirty="0"/>
          </a:p>
        </p:txBody>
      </p:sp>
      <p:sp>
        <p:nvSpPr>
          <p:cNvPr id="12" name="Text 10"/>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THE ESSENTIALS</a:t>
            </a:r>
            <a:endParaRPr lang="en-US" sz="1800" dirty="0"/>
          </a:p>
        </p:txBody>
      </p:sp>
      <p:sp>
        <p:nvSpPr>
          <p:cNvPr id="3" name="Shape 1"/>
          <p:cNvSpPr/>
          <p:nvPr/>
        </p:nvSpPr>
        <p:spPr>
          <a:xfrm>
            <a:off x="1371600" y="2286000"/>
            <a:ext cx="4419295" cy="2926080"/>
          </a:xfrm>
          <a:prstGeom prst="roundRect">
            <a:avLst>
              <a:gd name="adj" fmla="val 4688"/>
            </a:avLst>
          </a:prstGeom>
          <a:solidFill>
            <a:srgbClr val="1A2E4A"/>
          </a:solidFill>
          <a:ln w="12700">
            <a:solidFill>
              <a:srgbClr val="E87722"/>
            </a:solidFill>
            <a:prstDash val="solid"/>
          </a:ln>
        </p:spPr>
      </p:sp>
      <p:sp>
        <p:nvSpPr>
          <p:cNvPr id="4" name="Text 2"/>
          <p:cNvSpPr/>
          <p:nvPr/>
        </p:nvSpPr>
        <p:spPr>
          <a:xfrm>
            <a:off x="1645920" y="2651760"/>
            <a:ext cx="3870655" cy="457200"/>
          </a:xfrm>
          <a:prstGeom prst="rect">
            <a:avLst/>
          </a:prstGeom>
          <a:noFill/>
          <a:ln/>
        </p:spPr>
        <p:txBody>
          <a:bodyPr wrap="square" rtlCol="0" anchor="ctr"/>
          <a:lstStyle/>
          <a:p>
            <a:pPr indent="0" marL="0">
              <a:buNone/>
            </a:pPr>
            <a:r>
              <a:rPr lang="en-US" sz="1400" b="1" spc="800" kern="0" dirty="0">
                <a:solidFill>
                  <a:srgbClr val="E87722"/>
                </a:solidFill>
                <a:latin typeface="Calibri" pitchFamily="34" charset="0"/>
                <a:ea typeface="Calibri" pitchFamily="34" charset="-122"/>
                <a:cs typeface="Calibri" pitchFamily="34" charset="-120"/>
              </a:rPr>
              <a:t>RESTROOMS</a:t>
            </a:r>
            <a:endParaRPr lang="en-US" sz="1400" dirty="0"/>
          </a:p>
        </p:txBody>
      </p:sp>
      <p:sp>
        <p:nvSpPr>
          <p:cNvPr id="5" name="Text 3"/>
          <p:cNvSpPr/>
          <p:nvPr/>
        </p:nvSpPr>
        <p:spPr>
          <a:xfrm>
            <a:off x="1645920" y="3291840"/>
            <a:ext cx="3870655" cy="1737360"/>
          </a:xfrm>
          <a:prstGeom prst="rect">
            <a:avLst/>
          </a:prstGeom>
          <a:noFill/>
          <a:ln/>
        </p:spPr>
        <p:txBody>
          <a:bodyPr wrap="square" rtlCol="0" anchor="ctr"/>
          <a:lstStyle/>
          <a:p>
            <a:pPr algn="l" indent="0" marL="0">
              <a:buNone/>
            </a:pPr>
            <a:r>
              <a:rPr lang="en-US" sz="2200" dirty="0">
                <a:solidFill>
                  <a:srgbClr val="FFFFFF"/>
                </a:solidFill>
                <a:latin typeface="Calibri" pitchFamily="34" charset="0"/>
                <a:ea typeface="Calibri" pitchFamily="34" charset="-122"/>
                <a:cs typeface="Calibri" pitchFamily="34" charset="-120"/>
              </a:rPr>
              <a:t>Down the main hallway,</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past the registration desk,</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on your right.</a:t>
            </a:r>
            <a:endParaRPr lang="en-US" sz="2200" dirty="0"/>
          </a:p>
        </p:txBody>
      </p:sp>
      <p:sp>
        <p:nvSpPr>
          <p:cNvPr id="6" name="Shape 4"/>
          <p:cNvSpPr/>
          <p:nvPr/>
        </p:nvSpPr>
        <p:spPr>
          <a:xfrm>
            <a:off x="6400800" y="2286000"/>
            <a:ext cx="4419295" cy="2926080"/>
          </a:xfrm>
          <a:prstGeom prst="roundRect">
            <a:avLst>
              <a:gd name="adj" fmla="val 4688"/>
            </a:avLst>
          </a:prstGeom>
          <a:solidFill>
            <a:srgbClr val="1A2E4A"/>
          </a:solidFill>
          <a:ln w="12700">
            <a:solidFill>
              <a:srgbClr val="E87722"/>
            </a:solidFill>
            <a:prstDash val="solid"/>
          </a:ln>
        </p:spPr>
      </p:sp>
      <p:sp>
        <p:nvSpPr>
          <p:cNvPr id="7" name="Text 5"/>
          <p:cNvSpPr/>
          <p:nvPr/>
        </p:nvSpPr>
        <p:spPr>
          <a:xfrm>
            <a:off x="6675120" y="2651760"/>
            <a:ext cx="3870655" cy="457200"/>
          </a:xfrm>
          <a:prstGeom prst="rect">
            <a:avLst/>
          </a:prstGeom>
          <a:noFill/>
          <a:ln/>
        </p:spPr>
        <p:txBody>
          <a:bodyPr wrap="square" rtlCol="0" anchor="ctr"/>
          <a:lstStyle/>
          <a:p>
            <a:pPr indent="0" marL="0">
              <a:buNone/>
            </a:pPr>
            <a:r>
              <a:rPr lang="en-US" sz="1400" b="1" spc="800" kern="0" dirty="0">
                <a:solidFill>
                  <a:srgbClr val="E87722"/>
                </a:solidFill>
                <a:latin typeface="Calibri" pitchFamily="34" charset="0"/>
                <a:ea typeface="Calibri" pitchFamily="34" charset="-122"/>
                <a:cs typeface="Calibri" pitchFamily="34" charset="-120"/>
              </a:rPr>
              <a:t>COFFEE &amp; PASTRIES</a:t>
            </a:r>
            <a:endParaRPr lang="en-US" sz="1400" dirty="0"/>
          </a:p>
        </p:txBody>
      </p:sp>
      <p:sp>
        <p:nvSpPr>
          <p:cNvPr id="8" name="Text 6"/>
          <p:cNvSpPr/>
          <p:nvPr/>
        </p:nvSpPr>
        <p:spPr>
          <a:xfrm>
            <a:off x="6675120" y="3291840"/>
            <a:ext cx="3870655" cy="1737360"/>
          </a:xfrm>
          <a:prstGeom prst="rect">
            <a:avLst/>
          </a:prstGeom>
          <a:noFill/>
          <a:ln/>
        </p:spPr>
        <p:txBody>
          <a:bodyPr wrap="square" rtlCol="0" anchor="ctr"/>
          <a:lstStyle/>
          <a:p>
            <a:pPr algn="l" indent="0" marL="0">
              <a:buNone/>
            </a:pPr>
            <a:r>
              <a:rPr lang="en-US" sz="2200" dirty="0">
                <a:solidFill>
                  <a:srgbClr val="FFFFFF"/>
                </a:solidFill>
                <a:latin typeface="Calibri" pitchFamily="34" charset="0"/>
                <a:ea typeface="Calibri" pitchFamily="34" charset="-122"/>
                <a:cs typeface="Calibri" pitchFamily="34" charset="-120"/>
              </a:rPr>
              <a:t>Just outside the ballroom,</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near the sponsor lounge.</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Refreshed at every break.</a:t>
            </a:r>
            <a:endParaRPr lang="en-US" sz="2200" dirty="0"/>
          </a:p>
        </p:txBody>
      </p:sp>
      <p:sp>
        <p:nvSpPr>
          <p:cNvPr id="9" name="Shape 7"/>
          <p:cNvSpPr/>
          <p:nvPr/>
        </p:nvSpPr>
        <p:spPr>
          <a:xfrm>
            <a:off x="0" y="6675120"/>
            <a:ext cx="12191695" cy="182880"/>
          </a:xfrm>
          <a:prstGeom prst="rect">
            <a:avLst/>
          </a:prstGeom>
          <a:solidFill>
            <a:srgbClr val="E87722"/>
          </a:solidFill>
          <a:ln w="12700">
            <a:solidFill>
              <a:srgbClr val="E87722"/>
            </a:solidFill>
            <a:prstDash val="solid"/>
          </a:ln>
        </p:spPr>
      </p:sp>
      <p:sp>
        <p:nvSpPr>
          <p:cNvPr id="10" name="Text 8"/>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MAY 2026</a:t>
            </a:r>
            <a:endParaRPr lang="en-US" sz="900" dirty="0"/>
          </a:p>
        </p:txBody>
      </p:sp>
      <p:sp>
        <p:nvSpPr>
          <p:cNvPr id="11" name="Text 9"/>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SHARE THE DAY</a:t>
            </a:r>
            <a:endParaRPr lang="en-US" sz="1800" dirty="0"/>
          </a:p>
        </p:txBody>
      </p:sp>
      <p:sp>
        <p:nvSpPr>
          <p:cNvPr id="3" name="Text 1"/>
          <p:cNvSpPr/>
          <p:nvPr/>
        </p:nvSpPr>
        <p:spPr>
          <a:xfrm>
            <a:off x="457200" y="2194560"/>
            <a:ext cx="11277295" cy="1280160"/>
          </a:xfrm>
          <a:prstGeom prst="rect">
            <a:avLst/>
          </a:prstGeom>
          <a:noFill/>
          <a:ln/>
        </p:spPr>
        <p:txBody>
          <a:bodyPr wrap="square" rtlCol="0" anchor="ctr"/>
          <a:lstStyle/>
          <a:p>
            <a:pPr algn="ctr" indent="0" marL="0">
              <a:buNone/>
            </a:pPr>
            <a:r>
              <a:rPr lang="en-US" sz="6400" b="1" dirty="0">
                <a:solidFill>
                  <a:srgbClr val="FFFFFF"/>
                </a:solidFill>
                <a:latin typeface="Calibri" pitchFamily="34" charset="0"/>
                <a:ea typeface="Calibri" pitchFamily="34" charset="-122"/>
                <a:cs typeface="Calibri" pitchFamily="34" charset="-120"/>
              </a:rPr>
              <a:t>#WRoENorthTexas2026</a:t>
            </a:r>
            <a:endParaRPr lang="en-US" sz="6400" dirty="0"/>
          </a:p>
        </p:txBody>
      </p:sp>
      <p:sp>
        <p:nvSpPr>
          <p:cNvPr id="4" name="Text 2"/>
          <p:cNvSpPr/>
          <p:nvPr/>
        </p:nvSpPr>
        <p:spPr>
          <a:xfrm>
            <a:off x="457200" y="3931920"/>
            <a:ext cx="11277295" cy="548640"/>
          </a:xfrm>
          <a:prstGeom prst="rect">
            <a:avLst/>
          </a:prstGeom>
          <a:noFill/>
          <a:ln/>
        </p:spPr>
        <p:txBody>
          <a:bodyPr wrap="square" rtlCol="0" anchor="ctr"/>
          <a:lstStyle/>
          <a:p>
            <a:pPr algn="ctr" indent="0" marL="0">
              <a:buNone/>
            </a:pPr>
            <a:r>
              <a:rPr lang="en-US" sz="2000" i="1" dirty="0">
                <a:solidFill>
                  <a:srgbClr val="E87722"/>
                </a:solidFill>
                <a:latin typeface="Calibri" pitchFamily="34" charset="0"/>
                <a:ea typeface="Calibri" pitchFamily="34" charset="-122"/>
                <a:cs typeface="Calibri" pitchFamily="34" charset="-120"/>
              </a:rPr>
              <a:t>Post a photo. Tag your favorite session. Tell someone what you learned.</a:t>
            </a:r>
            <a:endParaRPr lang="en-US" sz="2000" dirty="0"/>
          </a:p>
        </p:txBody>
      </p:sp>
      <p:sp>
        <p:nvSpPr>
          <p:cNvPr id="5" name="Shape 3"/>
          <p:cNvSpPr/>
          <p:nvPr/>
        </p:nvSpPr>
        <p:spPr>
          <a:xfrm>
            <a:off x="0" y="6675120"/>
            <a:ext cx="12191695" cy="182880"/>
          </a:xfrm>
          <a:prstGeom prst="rect">
            <a:avLst/>
          </a:prstGeom>
          <a:solidFill>
            <a:srgbClr val="E87722"/>
          </a:solidFill>
          <a:ln w="12700">
            <a:solidFill>
              <a:srgbClr val="E87722"/>
            </a:solidFill>
            <a:prstDash val="solid"/>
          </a:ln>
        </p:spPr>
      </p:sp>
      <p:sp>
        <p:nvSpPr>
          <p:cNvPr id="6" name="Text 4"/>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MAY 2026</a:t>
            </a:r>
            <a:endParaRPr lang="en-US" sz="900" dirty="0"/>
          </a:p>
        </p:txBody>
      </p:sp>
      <p:sp>
        <p:nvSpPr>
          <p:cNvPr id="7" name="Text 5"/>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645920"/>
            <a:ext cx="11277295" cy="54864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WE START AT</a:t>
            </a:r>
            <a:endParaRPr lang="en-US" sz="2000" dirty="0"/>
          </a:p>
        </p:txBody>
      </p:sp>
      <p:sp>
        <p:nvSpPr>
          <p:cNvPr id="3" name="Text 1"/>
          <p:cNvSpPr/>
          <p:nvPr/>
        </p:nvSpPr>
        <p:spPr>
          <a:xfrm>
            <a:off x="457200" y="2286000"/>
            <a:ext cx="11277295" cy="2194560"/>
          </a:xfrm>
          <a:prstGeom prst="rect">
            <a:avLst/>
          </a:prstGeom>
          <a:noFill/>
          <a:ln/>
        </p:spPr>
        <p:txBody>
          <a:bodyPr wrap="square" rtlCol="0" anchor="ctr"/>
          <a:lstStyle/>
          <a:p>
            <a:pPr algn="ctr" indent="0" marL="0">
              <a:buNone/>
            </a:pPr>
            <a:r>
              <a:rPr lang="en-US" sz="22000" b="1" dirty="0">
                <a:solidFill>
                  <a:srgbClr val="FFFFFF"/>
                </a:solidFill>
                <a:latin typeface="Calibri" pitchFamily="34" charset="0"/>
                <a:ea typeface="Calibri" pitchFamily="34" charset="-122"/>
                <a:cs typeface="Calibri" pitchFamily="34" charset="-120"/>
              </a:rPr>
              <a:t>8:00</a:t>
            </a:r>
            <a:endParaRPr lang="en-US" sz="22000" dirty="0"/>
          </a:p>
        </p:txBody>
      </p:sp>
      <p:sp>
        <p:nvSpPr>
          <p:cNvPr id="4" name="Text 2"/>
          <p:cNvSpPr/>
          <p:nvPr/>
        </p:nvSpPr>
        <p:spPr>
          <a:xfrm>
            <a:off x="457200" y="4754880"/>
            <a:ext cx="11277295" cy="457200"/>
          </a:xfrm>
          <a:prstGeom prst="rect">
            <a:avLst/>
          </a:prstGeom>
          <a:noFill/>
          <a:ln/>
        </p:spPr>
        <p:txBody>
          <a:bodyPr wrap="square" rtlCol="0" anchor="ctr"/>
          <a:lstStyle/>
          <a:p>
            <a:pPr algn="ctr" indent="0" marL="0">
              <a:buNone/>
            </a:pPr>
            <a:r>
              <a:rPr lang="en-US" sz="2200" i="1" dirty="0">
                <a:solidFill>
                  <a:srgbClr val="FFFFFF"/>
                </a:solidFill>
                <a:latin typeface="Calibri" pitchFamily="34" charset="0"/>
                <a:ea typeface="Calibri" pitchFamily="34" charset="-122"/>
                <a:cs typeface="Calibri" pitchFamily="34" charset="-120"/>
              </a:rPr>
              <a:t>Please find your seat.</a:t>
            </a:r>
            <a:endParaRPr lang="en-US" sz="2200" dirty="0"/>
          </a:p>
        </p:txBody>
      </p:sp>
      <p:sp>
        <p:nvSpPr>
          <p:cNvPr id="5" name="Shape 3"/>
          <p:cNvSpPr/>
          <p:nvPr/>
        </p:nvSpPr>
        <p:spPr>
          <a:xfrm>
            <a:off x="0" y="6675120"/>
            <a:ext cx="12191695" cy="182880"/>
          </a:xfrm>
          <a:prstGeom prst="rect">
            <a:avLst/>
          </a:prstGeom>
          <a:solidFill>
            <a:srgbClr val="E87722"/>
          </a:solidFill>
          <a:ln w="12700">
            <a:solidFill>
              <a:srgbClr val="E87722"/>
            </a:solidFill>
            <a:prstDash val="solid"/>
          </a:ln>
        </p:spPr>
      </p:sp>
      <p:sp>
        <p:nvSpPr>
          <p:cNvPr id="6" name="Text 4"/>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MAY 2026</a:t>
            </a:r>
            <a:endParaRPr lang="en-US" sz="900" dirty="0"/>
          </a:p>
        </p:txBody>
      </p:sp>
      <p:sp>
        <p:nvSpPr>
          <p:cNvPr id="7" name="Text 5"/>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365760"/>
          </a:xfrm>
          <a:prstGeom prst="rect">
            <a:avLst/>
          </a:prstGeom>
          <a:solidFill>
            <a:srgbClr val="E87722"/>
          </a:solidFill>
          <a:ln w="12700">
            <a:solidFill>
              <a:srgbClr val="E87722"/>
            </a:solidFill>
            <a:prstDash val="solid"/>
          </a:ln>
        </p:spPr>
      </p:sp>
      <p:sp>
        <p:nvSpPr>
          <p:cNvPr id="3" name="Text 1"/>
          <p:cNvSpPr/>
          <p:nvPr/>
        </p:nvSpPr>
        <p:spPr>
          <a:xfrm>
            <a:off x="685800" y="1188720"/>
            <a:ext cx="10972800" cy="457200"/>
          </a:xfrm>
          <a:prstGeom prst="rect">
            <a:avLst/>
          </a:prstGeom>
          <a:noFill/>
          <a:ln/>
        </p:spPr>
        <p:txBody>
          <a:bodyPr wrap="square" rtlCol="0" anchor="ctr"/>
          <a:lstStyle/>
          <a:p>
            <a:pPr indent="0" marL="0">
              <a:buNone/>
            </a:pPr>
            <a:r>
              <a:rPr lang="en-US" sz="2000" b="1" spc="1000" kern="0" dirty="0">
                <a:solidFill>
                  <a:srgbClr val="E87722"/>
                </a:solidFill>
                <a:latin typeface="Calibri" pitchFamily="34" charset="0"/>
                <a:ea typeface="Calibri" pitchFamily="34" charset="-122"/>
                <a:cs typeface="Calibri" pitchFamily="34" charset="-120"/>
              </a:rPr>
              <a:t>FIFTH ANNUAL</a:t>
            </a:r>
            <a:endParaRPr lang="en-US" sz="2000" dirty="0"/>
          </a:p>
        </p:txBody>
      </p:sp>
      <p:sp>
        <p:nvSpPr>
          <p:cNvPr id="4" name="Text 2"/>
          <p:cNvSpPr/>
          <p:nvPr/>
        </p:nvSpPr>
        <p:spPr>
          <a:xfrm>
            <a:off x="685800" y="1691640"/>
            <a:ext cx="10972800" cy="1188720"/>
          </a:xfrm>
          <a:prstGeom prst="rect">
            <a:avLst/>
          </a:prstGeom>
          <a:noFill/>
          <a:ln/>
        </p:spPr>
        <p:txBody>
          <a:bodyPr wrap="square" rtlCol="0" anchor="ctr"/>
          <a:lstStyle/>
          <a:p>
            <a:pPr indent="0" marL="0">
              <a:buNone/>
            </a:pPr>
            <a:r>
              <a:rPr lang="en-US" sz="7600" b="1" dirty="0">
                <a:solidFill>
                  <a:srgbClr val="0B1F3A"/>
                </a:solidFill>
                <a:latin typeface="Calibri" pitchFamily="34" charset="0"/>
                <a:ea typeface="Calibri" pitchFamily="34" charset="-122"/>
                <a:cs typeface="Calibri" pitchFamily="34" charset="-120"/>
              </a:rPr>
              <a:t>We Run on EOS®</a:t>
            </a:r>
            <a:endParaRPr lang="en-US" sz="7600" dirty="0"/>
          </a:p>
        </p:txBody>
      </p:sp>
      <p:sp>
        <p:nvSpPr>
          <p:cNvPr id="5" name="Text 3"/>
          <p:cNvSpPr/>
          <p:nvPr/>
        </p:nvSpPr>
        <p:spPr>
          <a:xfrm>
            <a:off x="685800" y="2880360"/>
            <a:ext cx="10972800" cy="822960"/>
          </a:xfrm>
          <a:prstGeom prst="rect">
            <a:avLst/>
          </a:prstGeom>
          <a:noFill/>
          <a:ln/>
        </p:spPr>
        <p:txBody>
          <a:bodyPr wrap="square" rtlCol="0" anchor="ctr"/>
          <a:lstStyle/>
          <a:p>
            <a:pPr indent="0" marL="0">
              <a:buNone/>
            </a:pPr>
            <a:r>
              <a:rPr lang="en-US" sz="4600" dirty="0">
                <a:solidFill>
                  <a:srgbClr val="0B1F3A"/>
                </a:solidFill>
                <a:latin typeface="Calibri" pitchFamily="34" charset="0"/>
                <a:ea typeface="Calibri" pitchFamily="34" charset="-122"/>
                <a:cs typeface="Calibri" pitchFamily="34" charset="-120"/>
              </a:rPr>
              <a:t>North Texas 2026</a:t>
            </a:r>
            <a:endParaRPr lang="en-US" sz="4600" dirty="0"/>
          </a:p>
        </p:txBody>
      </p:sp>
      <p:sp>
        <p:nvSpPr>
          <p:cNvPr id="6" name="Text 4"/>
          <p:cNvSpPr/>
          <p:nvPr/>
        </p:nvSpPr>
        <p:spPr>
          <a:xfrm>
            <a:off x="685800" y="4206240"/>
            <a:ext cx="10972800" cy="548640"/>
          </a:xfrm>
          <a:prstGeom prst="rect">
            <a:avLst/>
          </a:prstGeom>
          <a:noFill/>
          <a:ln/>
        </p:spPr>
        <p:txBody>
          <a:bodyPr wrap="square" rtlCol="0" anchor="ctr"/>
          <a:lstStyle/>
          <a:p>
            <a:pPr indent="0" marL="0">
              <a:buNone/>
            </a:pPr>
            <a:r>
              <a:rPr lang="en-US" sz="2200" i="1" dirty="0">
                <a:solidFill>
                  <a:srgbClr val="2A3441"/>
                </a:solidFill>
                <a:latin typeface="Calibri" pitchFamily="34" charset="0"/>
                <a:ea typeface="Calibri" pitchFamily="34" charset="-122"/>
                <a:cs typeface="Calibri" pitchFamily="34" charset="-120"/>
              </a:rPr>
              <a:t>Welcome — let’s get started.</a:t>
            </a:r>
            <a:endParaRPr lang="en-US" sz="2200" dirty="0"/>
          </a:p>
        </p:txBody>
      </p:sp>
      <p:sp>
        <p:nvSpPr>
          <p:cNvPr id="7" name="Shape 5"/>
          <p:cNvSpPr/>
          <p:nvPr/>
        </p:nvSpPr>
        <p:spPr>
          <a:xfrm>
            <a:off x="0" y="6675120"/>
            <a:ext cx="12191695" cy="182880"/>
          </a:xfrm>
          <a:prstGeom prst="rect">
            <a:avLst/>
          </a:prstGeom>
          <a:solidFill>
            <a:srgbClr val="E87722"/>
          </a:solidFill>
          <a:ln w="12700">
            <a:solidFill>
              <a:srgbClr val="E87722"/>
            </a:solidFill>
            <a:prstDash val="solid"/>
          </a:ln>
        </p:spPr>
      </p:sp>
      <p:sp>
        <p:nvSpPr>
          <p:cNvPr id="8" name="Text 6"/>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MAY 2026</a:t>
            </a:r>
            <a:endParaRPr lang="en-US" sz="900" dirty="0"/>
          </a:p>
        </p:txBody>
      </p:sp>
      <p:sp>
        <p:nvSpPr>
          <p:cNvPr id="9" name="Text 7"/>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1  ·  8:00 – 9:35 AM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Get a Grip on your Business with EOS</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Ann Sheu</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Certified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MAY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MORNING BREAK</a:t>
            </a:r>
            <a:endParaRPr lang="en-US" sz="1800" dirty="0"/>
          </a:p>
        </p:txBody>
      </p:sp>
      <p:sp>
        <p:nvSpPr>
          <p:cNvPr id="3" name="Text 1"/>
          <p:cNvSpPr/>
          <p:nvPr/>
        </p:nvSpPr>
        <p:spPr>
          <a:xfrm>
            <a:off x="457200" y="1188720"/>
            <a:ext cx="11277295" cy="2194560"/>
          </a:xfrm>
          <a:prstGeom prst="rect">
            <a:avLst/>
          </a:prstGeom>
          <a:noFill/>
          <a:ln/>
        </p:spPr>
        <p:txBody>
          <a:bodyPr wrap="square" rtlCol="0" anchor="ctr"/>
          <a:lstStyle/>
          <a:p>
            <a:pPr algn="ctr" indent="0" marL="0">
              <a:buNone/>
            </a:pPr>
            <a:r>
              <a:rPr lang="en-US" sz="20000" b="1" dirty="0">
                <a:solidFill>
                  <a:srgbClr val="FFFFFF"/>
                </a:solidFill>
                <a:latin typeface="Calibri" pitchFamily="34" charset="0"/>
                <a:ea typeface="Calibri" pitchFamily="34" charset="-122"/>
                <a:cs typeface="Calibri" pitchFamily="34" charset="-120"/>
              </a:rPr>
              <a:t>20</a:t>
            </a:r>
            <a:endParaRPr lang="en-US" sz="20000" dirty="0"/>
          </a:p>
        </p:txBody>
      </p:sp>
      <p:sp>
        <p:nvSpPr>
          <p:cNvPr id="4" name="Text 2"/>
          <p:cNvSpPr/>
          <p:nvPr/>
        </p:nvSpPr>
        <p:spPr>
          <a:xfrm>
            <a:off x="457200" y="3383280"/>
            <a:ext cx="11277295" cy="457200"/>
          </a:xfrm>
          <a:prstGeom prst="rect">
            <a:avLst/>
          </a:prstGeom>
          <a:noFill/>
          <a:ln/>
        </p:spPr>
        <p:txBody>
          <a:bodyPr wrap="square" rtlCol="0" anchor="ctr"/>
          <a:lstStyle/>
          <a:p>
            <a:pPr algn="ctr" indent="0" marL="0">
              <a:buNone/>
            </a:pPr>
            <a:r>
              <a:rPr lang="en-US" sz="2200" i="1" dirty="0">
                <a:solidFill>
                  <a:srgbClr val="D4DFEA"/>
                </a:solidFill>
                <a:latin typeface="Calibri" pitchFamily="34" charset="0"/>
                <a:ea typeface="Calibri" pitchFamily="34" charset="-122"/>
                <a:cs typeface="Calibri" pitchFamily="34" charset="-120"/>
              </a:rPr>
              <a:t>minute break</a:t>
            </a:r>
            <a:endParaRPr lang="en-US" sz="2200" dirty="0"/>
          </a:p>
        </p:txBody>
      </p:sp>
      <p:sp>
        <p:nvSpPr>
          <p:cNvPr id="5" name="Text 3"/>
          <p:cNvSpPr/>
          <p:nvPr/>
        </p:nvSpPr>
        <p:spPr>
          <a:xfrm>
            <a:off x="457200" y="3840480"/>
            <a:ext cx="11277295" cy="457200"/>
          </a:xfrm>
          <a:prstGeom prst="rect">
            <a:avLst/>
          </a:prstGeom>
          <a:noFill/>
          <a:ln/>
        </p:spPr>
        <p:txBody>
          <a:bodyPr wrap="square" rtlCol="0" anchor="ctr"/>
          <a:lstStyle/>
          <a:p>
            <a:pPr algn="ctr" indent="0" marL="0">
              <a:buNone/>
            </a:pPr>
            <a:r>
              <a:rPr lang="en-US" sz="2200" b="1" dirty="0">
                <a:solidFill>
                  <a:srgbClr val="E87722"/>
                </a:solidFill>
                <a:latin typeface="Calibri" pitchFamily="34" charset="0"/>
                <a:ea typeface="Calibri" pitchFamily="34" charset="-122"/>
                <a:cs typeface="Calibri" pitchFamily="34" charset="-120"/>
              </a:rPr>
              <a:t>We resume at 9:55 AM</a:t>
            </a:r>
            <a:endParaRPr lang="en-US" sz="2200" dirty="0"/>
          </a:p>
        </p:txBody>
      </p:sp>
      <p:sp>
        <p:nvSpPr>
          <p:cNvPr id="6" name="Shape 4"/>
          <p:cNvSpPr/>
          <p:nvPr/>
        </p:nvSpPr>
        <p:spPr>
          <a:xfrm>
            <a:off x="457200" y="4754880"/>
            <a:ext cx="11277295" cy="1463040"/>
          </a:xfrm>
          <a:prstGeom prst="rect">
            <a:avLst/>
          </a:prstGeom>
          <a:solidFill>
            <a:srgbClr val="FFFFFF"/>
          </a:solidFill>
          <a:ln w="6350">
            <a:solidFill>
              <a:srgbClr val="C9D2DE"/>
            </a:solidFill>
            <a:prstDash val="solid"/>
          </a:ln>
        </p:spPr>
      </p:sp>
      <p:sp>
        <p:nvSpPr>
          <p:cNvPr id="7" name="Text 5"/>
          <p:cNvSpPr/>
          <p:nvPr/>
        </p:nvSpPr>
        <p:spPr>
          <a:xfrm>
            <a:off x="457200" y="4800600"/>
            <a:ext cx="11277295" cy="274320"/>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1097280" y="5257883"/>
            <a:ext cx="1513789" cy="548474"/>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793949" y="5290301"/>
            <a:ext cx="1513789" cy="483639"/>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90618" y="5343603"/>
            <a:ext cx="1513789" cy="377033"/>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288" y="5257136"/>
            <a:ext cx="1513789" cy="54996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7883957" y="5153199"/>
            <a:ext cx="1513789" cy="757842"/>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580626" y="5343721"/>
            <a:ext cx="1513789" cy="376799"/>
          </a:xfrm>
          <a:prstGeom prst="rect">
            <a:avLst/>
          </a:prstGeom>
        </p:spPr>
      </p:pic>
      <p:sp>
        <p:nvSpPr>
          <p:cNvPr id="1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1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MAY 2026</a:t>
            </a:r>
            <a:endParaRPr lang="en-US" sz="900" dirty="0"/>
          </a:p>
        </p:txBody>
      </p:sp>
      <p:sp>
        <p:nvSpPr>
          <p:cNvPr id="1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2  ·  9:55 – 10:45 AM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Journey with an EOS Implementer</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Strety</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Title Sponsor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MAY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TRANSITION</a:t>
            </a:r>
            <a:endParaRPr lang="en-US" sz="1800" dirty="0"/>
          </a:p>
        </p:txBody>
      </p:sp>
      <p:sp>
        <p:nvSpPr>
          <p:cNvPr id="3" name="Text 1"/>
          <p:cNvSpPr/>
          <p:nvPr/>
        </p:nvSpPr>
        <p:spPr>
          <a:xfrm>
            <a:off x="457200" y="1188720"/>
            <a:ext cx="11277295" cy="2194560"/>
          </a:xfrm>
          <a:prstGeom prst="rect">
            <a:avLst/>
          </a:prstGeom>
          <a:noFill/>
          <a:ln/>
        </p:spPr>
        <p:txBody>
          <a:bodyPr wrap="square" rtlCol="0" anchor="ctr"/>
          <a:lstStyle/>
          <a:p>
            <a:pPr algn="ctr" indent="0" marL="0">
              <a:buNone/>
            </a:pPr>
            <a:r>
              <a:rPr lang="en-US" sz="20000" b="1" dirty="0">
                <a:solidFill>
                  <a:srgbClr val="FFFFFF"/>
                </a:solidFill>
                <a:latin typeface="Calibri" pitchFamily="34" charset="0"/>
                <a:ea typeface="Calibri" pitchFamily="34" charset="-122"/>
                <a:cs typeface="Calibri" pitchFamily="34" charset="-120"/>
              </a:rPr>
              <a:t>15</a:t>
            </a:r>
            <a:endParaRPr lang="en-US" sz="20000" dirty="0"/>
          </a:p>
        </p:txBody>
      </p:sp>
      <p:sp>
        <p:nvSpPr>
          <p:cNvPr id="4" name="Text 2"/>
          <p:cNvSpPr/>
          <p:nvPr/>
        </p:nvSpPr>
        <p:spPr>
          <a:xfrm>
            <a:off x="457200" y="3383280"/>
            <a:ext cx="11277295" cy="457200"/>
          </a:xfrm>
          <a:prstGeom prst="rect">
            <a:avLst/>
          </a:prstGeom>
          <a:noFill/>
          <a:ln/>
        </p:spPr>
        <p:txBody>
          <a:bodyPr wrap="square" rtlCol="0" anchor="ctr"/>
          <a:lstStyle/>
          <a:p>
            <a:pPr algn="ctr" indent="0" marL="0">
              <a:buNone/>
            </a:pPr>
            <a:r>
              <a:rPr lang="en-US" sz="2200" i="1" dirty="0">
                <a:solidFill>
                  <a:srgbClr val="D4DFEA"/>
                </a:solidFill>
                <a:latin typeface="Calibri" pitchFamily="34" charset="0"/>
                <a:ea typeface="Calibri" pitchFamily="34" charset="-122"/>
                <a:cs typeface="Calibri" pitchFamily="34" charset="-120"/>
              </a:rPr>
              <a:t>minute break</a:t>
            </a:r>
            <a:endParaRPr lang="en-US" sz="2200" dirty="0"/>
          </a:p>
        </p:txBody>
      </p:sp>
      <p:sp>
        <p:nvSpPr>
          <p:cNvPr id="5" name="Text 3"/>
          <p:cNvSpPr/>
          <p:nvPr/>
        </p:nvSpPr>
        <p:spPr>
          <a:xfrm>
            <a:off x="457200" y="3840480"/>
            <a:ext cx="11277295" cy="457200"/>
          </a:xfrm>
          <a:prstGeom prst="rect">
            <a:avLst/>
          </a:prstGeom>
          <a:noFill/>
          <a:ln/>
        </p:spPr>
        <p:txBody>
          <a:bodyPr wrap="square" rtlCol="0" anchor="ctr"/>
          <a:lstStyle/>
          <a:p>
            <a:pPr algn="ctr" indent="0" marL="0">
              <a:buNone/>
            </a:pPr>
            <a:r>
              <a:rPr lang="en-US" sz="2200" b="1" dirty="0">
                <a:solidFill>
                  <a:srgbClr val="E87722"/>
                </a:solidFill>
                <a:latin typeface="Calibri" pitchFamily="34" charset="0"/>
                <a:ea typeface="Calibri" pitchFamily="34" charset="-122"/>
                <a:cs typeface="Calibri" pitchFamily="34" charset="-120"/>
              </a:rPr>
              <a:t>We resume at 11:00 AM</a:t>
            </a:r>
            <a:endParaRPr lang="en-US" sz="2200" dirty="0"/>
          </a:p>
        </p:txBody>
      </p:sp>
      <p:sp>
        <p:nvSpPr>
          <p:cNvPr id="6" name="Shape 4"/>
          <p:cNvSpPr/>
          <p:nvPr/>
        </p:nvSpPr>
        <p:spPr>
          <a:xfrm>
            <a:off x="457200" y="4754880"/>
            <a:ext cx="11277295" cy="1463040"/>
          </a:xfrm>
          <a:prstGeom prst="rect">
            <a:avLst/>
          </a:prstGeom>
          <a:solidFill>
            <a:srgbClr val="FFFFFF"/>
          </a:solidFill>
          <a:ln w="6350">
            <a:solidFill>
              <a:srgbClr val="C9D2DE"/>
            </a:solidFill>
            <a:prstDash val="solid"/>
          </a:ln>
        </p:spPr>
      </p:sp>
      <p:sp>
        <p:nvSpPr>
          <p:cNvPr id="7" name="Text 5"/>
          <p:cNvSpPr/>
          <p:nvPr/>
        </p:nvSpPr>
        <p:spPr>
          <a:xfrm>
            <a:off x="457200" y="4800600"/>
            <a:ext cx="11277295" cy="274320"/>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1097280" y="5257883"/>
            <a:ext cx="1513789" cy="548474"/>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793949" y="5290301"/>
            <a:ext cx="1513789" cy="483639"/>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90618" y="5343603"/>
            <a:ext cx="1513789" cy="377033"/>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288" y="5257136"/>
            <a:ext cx="1513789" cy="54996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7883957" y="5153199"/>
            <a:ext cx="1513789" cy="757842"/>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580626" y="5343721"/>
            <a:ext cx="1513789" cy="376799"/>
          </a:xfrm>
          <a:prstGeom prst="rect">
            <a:avLst/>
          </a:prstGeom>
        </p:spPr>
      </p:pic>
      <p:sp>
        <p:nvSpPr>
          <p:cNvPr id="1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1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MAY 2026</a:t>
            </a:r>
            <a:endParaRPr lang="en-US" sz="900" dirty="0"/>
          </a:p>
        </p:txBody>
      </p:sp>
      <p:sp>
        <p:nvSpPr>
          <p:cNvPr id="1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3  ·  11:00 AM – 12:00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Your Sales Team Isn't the Problem. Your System Is.</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The System of Selling</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Title Sponsor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MAY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4  ·  12:00 – 1:00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Lunch with Walt Brown: Healthy Matters</a:t>
            </a:r>
            <a:endParaRPr lang="en-US" sz="5400" dirty="0"/>
          </a:p>
        </p:txBody>
      </p:sp>
      <p:sp>
        <p:nvSpPr>
          <p:cNvPr id="5" name="Text 3"/>
          <p:cNvSpPr/>
          <p:nvPr/>
        </p:nvSpPr>
        <p:spPr>
          <a:xfrm>
            <a:off x="685800" y="3749040"/>
            <a:ext cx="10972800" cy="640080"/>
          </a:xfrm>
          <a:prstGeom prst="rect">
            <a:avLst/>
          </a:prstGeom>
          <a:noFill/>
          <a:ln/>
        </p:spPr>
        <p:txBody>
          <a:bodyPr wrap="square" rtlCol="0" anchor="ctr"/>
          <a:lstStyle/>
          <a:p>
            <a:pPr indent="0" marL="0">
              <a:buNone/>
            </a:pPr>
            <a:r>
              <a:rPr lang="en-US" sz="2200" i="1" dirty="0">
                <a:solidFill>
                  <a:srgbClr val="D4DFEA"/>
                </a:solidFill>
                <a:latin typeface="Calibri" pitchFamily="34" charset="0"/>
                <a:ea typeface="Calibri" pitchFamily="34" charset="-122"/>
                <a:cs typeface="Calibri" pitchFamily="34" charset="-120"/>
              </a:rPr>
              <a:t>Unlocking the power of Healthy. Introduction to the latest EOS Trust Builder → 7 Critical Needs.</a:t>
            </a:r>
            <a:endParaRPr lang="en-US" sz="2200" dirty="0"/>
          </a:p>
        </p:txBody>
      </p:sp>
      <p:sp>
        <p:nvSpPr>
          <p:cNvPr id="6" name="Text 4"/>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7" name="Text 5"/>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Walt Brown</a:t>
            </a:r>
            <a:endParaRPr lang="en-US" sz="4000" dirty="0"/>
          </a:p>
        </p:txBody>
      </p:sp>
      <p:sp>
        <p:nvSpPr>
          <p:cNvPr id="8" name="Text 6"/>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EOS Worldwide Head Coach</a:t>
            </a:r>
            <a:endParaRPr lang="en-US" sz="1800" dirty="0"/>
          </a:p>
        </p:txBody>
      </p:sp>
      <p:sp>
        <p:nvSpPr>
          <p:cNvPr id="9" name="Shape 7"/>
          <p:cNvSpPr/>
          <p:nvPr/>
        </p:nvSpPr>
        <p:spPr>
          <a:xfrm>
            <a:off x="0" y="6675120"/>
            <a:ext cx="12191695" cy="182880"/>
          </a:xfrm>
          <a:prstGeom prst="rect">
            <a:avLst/>
          </a:prstGeom>
          <a:solidFill>
            <a:srgbClr val="E87722"/>
          </a:solidFill>
          <a:ln w="12700">
            <a:solidFill>
              <a:srgbClr val="E87722"/>
            </a:solidFill>
            <a:prstDash val="solid"/>
          </a:ln>
        </p:spPr>
      </p:sp>
      <p:sp>
        <p:nvSpPr>
          <p:cNvPr id="10" name="Text 8"/>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MAY 2026</a:t>
            </a:r>
            <a:endParaRPr lang="en-US" sz="900" dirty="0"/>
          </a:p>
        </p:txBody>
      </p:sp>
      <p:sp>
        <p:nvSpPr>
          <p:cNvPr id="11" name="Text 9"/>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5  ·  1:00 – 2:30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Profit Power: Stronger — or Just Bigger?</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Mark Stanley</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MAY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AFTERNOON BREAK</a:t>
            </a:r>
            <a:endParaRPr lang="en-US" sz="1800" dirty="0"/>
          </a:p>
        </p:txBody>
      </p:sp>
      <p:sp>
        <p:nvSpPr>
          <p:cNvPr id="3" name="Text 1"/>
          <p:cNvSpPr/>
          <p:nvPr/>
        </p:nvSpPr>
        <p:spPr>
          <a:xfrm>
            <a:off x="457200" y="1188720"/>
            <a:ext cx="11277295" cy="2194560"/>
          </a:xfrm>
          <a:prstGeom prst="rect">
            <a:avLst/>
          </a:prstGeom>
          <a:noFill/>
          <a:ln/>
        </p:spPr>
        <p:txBody>
          <a:bodyPr wrap="square" rtlCol="0" anchor="ctr"/>
          <a:lstStyle/>
          <a:p>
            <a:pPr algn="ctr" indent="0" marL="0">
              <a:buNone/>
            </a:pPr>
            <a:r>
              <a:rPr lang="en-US" sz="20000" b="1" dirty="0">
                <a:solidFill>
                  <a:srgbClr val="FFFFFF"/>
                </a:solidFill>
                <a:latin typeface="Calibri" pitchFamily="34" charset="0"/>
                <a:ea typeface="Calibri" pitchFamily="34" charset="-122"/>
                <a:cs typeface="Calibri" pitchFamily="34" charset="-120"/>
              </a:rPr>
              <a:t>20</a:t>
            </a:r>
            <a:endParaRPr lang="en-US" sz="20000" dirty="0"/>
          </a:p>
        </p:txBody>
      </p:sp>
      <p:sp>
        <p:nvSpPr>
          <p:cNvPr id="4" name="Text 2"/>
          <p:cNvSpPr/>
          <p:nvPr/>
        </p:nvSpPr>
        <p:spPr>
          <a:xfrm>
            <a:off x="457200" y="3383280"/>
            <a:ext cx="11277295" cy="457200"/>
          </a:xfrm>
          <a:prstGeom prst="rect">
            <a:avLst/>
          </a:prstGeom>
          <a:noFill/>
          <a:ln/>
        </p:spPr>
        <p:txBody>
          <a:bodyPr wrap="square" rtlCol="0" anchor="ctr"/>
          <a:lstStyle/>
          <a:p>
            <a:pPr algn="ctr" indent="0" marL="0">
              <a:buNone/>
            </a:pPr>
            <a:r>
              <a:rPr lang="en-US" sz="2200" i="1" dirty="0">
                <a:solidFill>
                  <a:srgbClr val="D4DFEA"/>
                </a:solidFill>
                <a:latin typeface="Calibri" pitchFamily="34" charset="0"/>
                <a:ea typeface="Calibri" pitchFamily="34" charset="-122"/>
                <a:cs typeface="Calibri" pitchFamily="34" charset="-120"/>
              </a:rPr>
              <a:t>minute break</a:t>
            </a:r>
            <a:endParaRPr lang="en-US" sz="2200" dirty="0"/>
          </a:p>
        </p:txBody>
      </p:sp>
      <p:sp>
        <p:nvSpPr>
          <p:cNvPr id="5" name="Text 3"/>
          <p:cNvSpPr/>
          <p:nvPr/>
        </p:nvSpPr>
        <p:spPr>
          <a:xfrm>
            <a:off x="457200" y="3840480"/>
            <a:ext cx="11277295" cy="457200"/>
          </a:xfrm>
          <a:prstGeom prst="rect">
            <a:avLst/>
          </a:prstGeom>
          <a:noFill/>
          <a:ln/>
        </p:spPr>
        <p:txBody>
          <a:bodyPr wrap="square" rtlCol="0" anchor="ctr"/>
          <a:lstStyle/>
          <a:p>
            <a:pPr algn="ctr" indent="0" marL="0">
              <a:buNone/>
            </a:pPr>
            <a:r>
              <a:rPr lang="en-US" sz="2200" b="1" dirty="0">
                <a:solidFill>
                  <a:srgbClr val="E87722"/>
                </a:solidFill>
                <a:latin typeface="Calibri" pitchFamily="34" charset="0"/>
                <a:ea typeface="Calibri" pitchFamily="34" charset="-122"/>
                <a:cs typeface="Calibri" pitchFamily="34" charset="-120"/>
              </a:rPr>
              <a:t>We resume at 2:50 PM</a:t>
            </a:r>
            <a:endParaRPr lang="en-US" sz="2200" dirty="0"/>
          </a:p>
        </p:txBody>
      </p:sp>
      <p:sp>
        <p:nvSpPr>
          <p:cNvPr id="6" name="Shape 4"/>
          <p:cNvSpPr/>
          <p:nvPr/>
        </p:nvSpPr>
        <p:spPr>
          <a:xfrm>
            <a:off x="457200" y="4754880"/>
            <a:ext cx="11277295" cy="1463040"/>
          </a:xfrm>
          <a:prstGeom prst="rect">
            <a:avLst/>
          </a:prstGeom>
          <a:solidFill>
            <a:srgbClr val="FFFFFF"/>
          </a:solidFill>
          <a:ln w="6350">
            <a:solidFill>
              <a:srgbClr val="C9D2DE"/>
            </a:solidFill>
            <a:prstDash val="solid"/>
          </a:ln>
        </p:spPr>
      </p:sp>
      <p:sp>
        <p:nvSpPr>
          <p:cNvPr id="7" name="Text 5"/>
          <p:cNvSpPr/>
          <p:nvPr/>
        </p:nvSpPr>
        <p:spPr>
          <a:xfrm>
            <a:off x="457200" y="4800600"/>
            <a:ext cx="11277295" cy="274320"/>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1097280" y="5257883"/>
            <a:ext cx="1513789" cy="548474"/>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793949" y="5290301"/>
            <a:ext cx="1513789" cy="483639"/>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90618" y="5343603"/>
            <a:ext cx="1513789" cy="377033"/>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288" y="5257136"/>
            <a:ext cx="1513789" cy="54996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7883957" y="5153199"/>
            <a:ext cx="1513789" cy="757842"/>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580626" y="5343721"/>
            <a:ext cx="1513789" cy="376799"/>
          </a:xfrm>
          <a:prstGeom prst="rect">
            <a:avLst/>
          </a:prstGeom>
        </p:spPr>
      </p:pic>
      <p:sp>
        <p:nvSpPr>
          <p:cNvPr id="1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1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MAY 2026</a:t>
            </a:r>
            <a:endParaRPr lang="en-US" sz="900" dirty="0"/>
          </a:p>
        </p:txBody>
      </p:sp>
      <p:sp>
        <p:nvSpPr>
          <p:cNvPr id="1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6  ·  2:50 – 4:25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Rollout, Reworked: Running EOS Company-Wide</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Beth Fahey</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MAY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FINAL BREAK</a:t>
            </a:r>
            <a:endParaRPr lang="en-US" sz="1800" dirty="0"/>
          </a:p>
        </p:txBody>
      </p:sp>
      <p:sp>
        <p:nvSpPr>
          <p:cNvPr id="3" name="Text 1"/>
          <p:cNvSpPr/>
          <p:nvPr/>
        </p:nvSpPr>
        <p:spPr>
          <a:xfrm>
            <a:off x="457200" y="1188720"/>
            <a:ext cx="11277295" cy="2194560"/>
          </a:xfrm>
          <a:prstGeom prst="rect">
            <a:avLst/>
          </a:prstGeom>
          <a:noFill/>
          <a:ln/>
        </p:spPr>
        <p:txBody>
          <a:bodyPr wrap="square" rtlCol="0" anchor="ctr"/>
          <a:lstStyle/>
          <a:p>
            <a:pPr algn="ctr" indent="0" marL="0">
              <a:buNone/>
            </a:pPr>
            <a:r>
              <a:rPr lang="en-US" sz="20000" b="1" dirty="0">
                <a:solidFill>
                  <a:srgbClr val="FFFFFF"/>
                </a:solidFill>
                <a:latin typeface="Calibri" pitchFamily="34" charset="0"/>
                <a:ea typeface="Calibri" pitchFamily="34" charset="-122"/>
                <a:cs typeface="Calibri" pitchFamily="34" charset="-120"/>
              </a:rPr>
              <a:t>20</a:t>
            </a:r>
            <a:endParaRPr lang="en-US" sz="20000" dirty="0"/>
          </a:p>
        </p:txBody>
      </p:sp>
      <p:sp>
        <p:nvSpPr>
          <p:cNvPr id="4" name="Text 2"/>
          <p:cNvSpPr/>
          <p:nvPr/>
        </p:nvSpPr>
        <p:spPr>
          <a:xfrm>
            <a:off x="457200" y="3383280"/>
            <a:ext cx="11277295" cy="457200"/>
          </a:xfrm>
          <a:prstGeom prst="rect">
            <a:avLst/>
          </a:prstGeom>
          <a:noFill/>
          <a:ln/>
        </p:spPr>
        <p:txBody>
          <a:bodyPr wrap="square" rtlCol="0" anchor="ctr"/>
          <a:lstStyle/>
          <a:p>
            <a:pPr algn="ctr" indent="0" marL="0">
              <a:buNone/>
            </a:pPr>
            <a:r>
              <a:rPr lang="en-US" sz="2200" i="1" dirty="0">
                <a:solidFill>
                  <a:srgbClr val="D4DFEA"/>
                </a:solidFill>
                <a:latin typeface="Calibri" pitchFamily="34" charset="0"/>
                <a:ea typeface="Calibri" pitchFamily="34" charset="-122"/>
                <a:cs typeface="Calibri" pitchFamily="34" charset="-120"/>
              </a:rPr>
              <a:t>minute break</a:t>
            </a:r>
            <a:endParaRPr lang="en-US" sz="2200" dirty="0"/>
          </a:p>
        </p:txBody>
      </p:sp>
      <p:sp>
        <p:nvSpPr>
          <p:cNvPr id="5" name="Text 3"/>
          <p:cNvSpPr/>
          <p:nvPr/>
        </p:nvSpPr>
        <p:spPr>
          <a:xfrm>
            <a:off x="457200" y="3840480"/>
            <a:ext cx="11277295" cy="457200"/>
          </a:xfrm>
          <a:prstGeom prst="rect">
            <a:avLst/>
          </a:prstGeom>
          <a:noFill/>
          <a:ln/>
        </p:spPr>
        <p:txBody>
          <a:bodyPr wrap="square" rtlCol="0" anchor="ctr"/>
          <a:lstStyle/>
          <a:p>
            <a:pPr algn="ctr" indent="0" marL="0">
              <a:buNone/>
            </a:pPr>
            <a:r>
              <a:rPr lang="en-US" sz="2200" b="1" dirty="0">
                <a:solidFill>
                  <a:srgbClr val="E87722"/>
                </a:solidFill>
                <a:latin typeface="Calibri" pitchFamily="34" charset="0"/>
                <a:ea typeface="Calibri" pitchFamily="34" charset="-122"/>
                <a:cs typeface="Calibri" pitchFamily="34" charset="-120"/>
              </a:rPr>
              <a:t>We resume at 4:45 PM</a:t>
            </a:r>
            <a:endParaRPr lang="en-US" sz="2200" dirty="0"/>
          </a:p>
        </p:txBody>
      </p:sp>
      <p:sp>
        <p:nvSpPr>
          <p:cNvPr id="6" name="Shape 4"/>
          <p:cNvSpPr/>
          <p:nvPr/>
        </p:nvSpPr>
        <p:spPr>
          <a:xfrm>
            <a:off x="457200" y="4754880"/>
            <a:ext cx="11277295" cy="1463040"/>
          </a:xfrm>
          <a:prstGeom prst="rect">
            <a:avLst/>
          </a:prstGeom>
          <a:solidFill>
            <a:srgbClr val="FFFFFF"/>
          </a:solidFill>
          <a:ln w="6350">
            <a:solidFill>
              <a:srgbClr val="C9D2DE"/>
            </a:solidFill>
            <a:prstDash val="solid"/>
          </a:ln>
        </p:spPr>
      </p:sp>
      <p:sp>
        <p:nvSpPr>
          <p:cNvPr id="7" name="Text 5"/>
          <p:cNvSpPr/>
          <p:nvPr/>
        </p:nvSpPr>
        <p:spPr>
          <a:xfrm>
            <a:off x="457200" y="4800600"/>
            <a:ext cx="11277295" cy="274320"/>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1097280" y="5257883"/>
            <a:ext cx="1513789" cy="548474"/>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793949" y="5290301"/>
            <a:ext cx="1513789" cy="483639"/>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90618" y="5343603"/>
            <a:ext cx="1513789" cy="377033"/>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288" y="5257136"/>
            <a:ext cx="1513789" cy="54996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7883957" y="5153199"/>
            <a:ext cx="1513789" cy="757842"/>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580626" y="5343721"/>
            <a:ext cx="1513789" cy="376799"/>
          </a:xfrm>
          <a:prstGeom prst="rect">
            <a:avLst/>
          </a:prstGeom>
        </p:spPr>
      </p:pic>
      <p:sp>
        <p:nvSpPr>
          <p:cNvPr id="1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1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MAY 2026</a:t>
            </a:r>
            <a:endParaRPr lang="en-US" sz="900" dirty="0"/>
          </a:p>
        </p:txBody>
      </p:sp>
      <p:sp>
        <p:nvSpPr>
          <p:cNvPr id="1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THANK YOU</a:t>
            </a:r>
            <a:endParaRPr lang="en-US" sz="2000" dirty="0"/>
          </a:p>
        </p:txBody>
      </p:sp>
      <p:sp>
        <p:nvSpPr>
          <p:cNvPr id="3" name="Text 1"/>
          <p:cNvSpPr/>
          <p:nvPr/>
        </p:nvSpPr>
        <p:spPr>
          <a:xfrm>
            <a:off x="457200" y="1051560"/>
            <a:ext cx="11277295" cy="640080"/>
          </a:xfrm>
          <a:prstGeom prst="rect">
            <a:avLst/>
          </a:prstGeom>
          <a:noFill/>
          <a:ln/>
        </p:spPr>
        <p:txBody>
          <a:bodyPr wrap="square" rtlCol="0" anchor="ctr"/>
          <a:lstStyle/>
          <a:p>
            <a:pPr algn="ctr" indent="0" marL="0">
              <a:buNone/>
            </a:pPr>
            <a:r>
              <a:rPr lang="en-US" sz="4000" b="1" dirty="0">
                <a:solidFill>
                  <a:srgbClr val="0B1F3A"/>
                </a:solidFill>
                <a:latin typeface="Calibri" pitchFamily="34" charset="0"/>
                <a:ea typeface="Calibri" pitchFamily="34" charset="-122"/>
                <a:cs typeface="Calibri" pitchFamily="34" charset="-120"/>
              </a:rPr>
              <a:t>to our sponsors</a:t>
            </a:r>
            <a:endParaRPr lang="en-US" sz="4000" dirty="0"/>
          </a:p>
        </p:txBody>
      </p:sp>
      <p:sp>
        <p:nvSpPr>
          <p:cNvPr id="4" name="Text 2"/>
          <p:cNvSpPr/>
          <p:nvPr/>
        </p:nvSpPr>
        <p:spPr>
          <a:xfrm>
            <a:off x="457200" y="202082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TITLE SPONSORS</a:t>
            </a:r>
            <a:endParaRPr lang="en-US" sz="1000" dirty="0"/>
          </a:p>
        </p:txBody>
      </p:sp>
      <p:pic>
        <p:nvPicPr>
          <p:cNvPr id="5" name="Image 0" descr="/home/user/workspace/wroe-dallas-2026/deliverables/workbook/assets/sponsors/strety.png">    </p:cNvPr>
          <p:cNvPicPr>
            <a:picLocks noChangeAspect="1"/>
          </p:cNvPicPr>
          <p:nvPr/>
        </p:nvPicPr>
        <p:blipFill>
          <a:blip r:embed="rId1"/>
          <a:stretch>
            <a:fillRect/>
          </a:stretch>
        </p:blipFill>
        <p:spPr>
          <a:xfrm>
            <a:off x="2382926" y="2240280"/>
            <a:ext cx="2397557" cy="868680"/>
          </a:xfrm>
          <a:prstGeom prst="rect">
            <a:avLst/>
          </a:prstGeom>
        </p:spPr>
      </p:pic>
      <p:pic>
        <p:nvPicPr>
          <p:cNvPr id="6" name="Image 1" descr="/home/user/workspace/wroe-dallas-2026/deliverables/workbook/assets/sponsors/tsos.png">    </p:cNvPr>
          <p:cNvPicPr>
            <a:picLocks noChangeAspect="1"/>
          </p:cNvPicPr>
          <p:nvPr/>
        </p:nvPicPr>
        <p:blipFill>
          <a:blip r:embed="rId2"/>
          <a:stretch>
            <a:fillRect/>
          </a:stretch>
        </p:blipFill>
        <p:spPr>
          <a:xfrm>
            <a:off x="7251421" y="2240280"/>
            <a:ext cx="2718968" cy="868680"/>
          </a:xfrm>
          <a:prstGeom prst="rect">
            <a:avLst/>
          </a:prstGeom>
        </p:spPr>
      </p:pic>
      <p:sp>
        <p:nvSpPr>
          <p:cNvPr id="7" name="Text 3"/>
          <p:cNvSpPr/>
          <p:nvPr/>
        </p:nvSpPr>
        <p:spPr>
          <a:xfrm>
            <a:off x="457200" y="334670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BOOK SPONSORS</a:t>
            </a:r>
            <a:endParaRPr lang="en-US" sz="1000" dirty="0"/>
          </a:p>
        </p:txBody>
      </p:sp>
      <p:pic>
        <p:nvPicPr>
          <p:cNvPr id="8" name="Image 2" descr="/home/user/workspace/wroe-dallas-2026/deliverables/workbook/assets/sponsors/procfopartners.png">    </p:cNvPr>
          <p:cNvPicPr>
            <a:picLocks noChangeAspect="1"/>
          </p:cNvPicPr>
          <p:nvPr/>
        </p:nvPicPr>
        <p:blipFill>
          <a:blip r:embed="rId3"/>
          <a:stretch>
            <a:fillRect/>
          </a:stretch>
        </p:blipFill>
        <p:spPr>
          <a:xfrm>
            <a:off x="2021396" y="3566160"/>
            <a:ext cx="3120619" cy="777240"/>
          </a:xfrm>
          <a:prstGeom prst="rect">
            <a:avLst/>
          </a:prstGeom>
        </p:spPr>
      </p:pic>
      <p:pic>
        <p:nvPicPr>
          <p:cNvPr id="9" name="Image 3" descr="/home/user/workspace/wroe-dallas-2026/deliverables/workbook/assets/sponsors/titustalent.png">    </p:cNvPr>
          <p:cNvPicPr>
            <a:picLocks noChangeAspect="1"/>
          </p:cNvPicPr>
          <p:nvPr/>
        </p:nvPicPr>
        <p:blipFill>
          <a:blip r:embed="rId4"/>
          <a:stretch>
            <a:fillRect/>
          </a:stretch>
        </p:blipFill>
        <p:spPr>
          <a:xfrm>
            <a:off x="7541228" y="3566160"/>
            <a:ext cx="2139353" cy="777240"/>
          </a:xfrm>
          <a:prstGeom prst="rect">
            <a:avLst/>
          </a:prstGeom>
        </p:spPr>
      </p:pic>
      <p:sp>
        <p:nvSpPr>
          <p:cNvPr id="10" name="Text 4"/>
          <p:cNvSpPr/>
          <p:nvPr/>
        </p:nvSpPr>
        <p:spPr>
          <a:xfrm>
            <a:off x="457200" y="462686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HAPPY HOUR SPONSOR</a:t>
            </a:r>
            <a:endParaRPr lang="en-US" sz="1000" dirty="0"/>
          </a:p>
        </p:txBody>
      </p:sp>
      <p:pic>
        <p:nvPicPr>
          <p:cNvPr id="11" name="Image 4" descr="/home/user/workspace/wroe-dallas-2026/deliverables/workbook/assets/sponsors/ninety.png">    </p:cNvPr>
          <p:cNvPicPr>
            <a:picLocks noChangeAspect="1"/>
          </p:cNvPicPr>
          <p:nvPr/>
        </p:nvPicPr>
        <p:blipFill>
          <a:blip r:embed="rId5"/>
          <a:stretch>
            <a:fillRect/>
          </a:stretch>
        </p:blipFill>
        <p:spPr>
          <a:xfrm>
            <a:off x="5457025" y="4846320"/>
            <a:ext cx="1278560" cy="640080"/>
          </a:xfrm>
          <a:prstGeom prst="rect">
            <a:avLst/>
          </a:prstGeom>
        </p:spPr>
      </p:pic>
      <p:sp>
        <p:nvSpPr>
          <p:cNvPr id="12" name="Text 5"/>
          <p:cNvSpPr/>
          <p:nvPr/>
        </p:nvSpPr>
        <p:spPr>
          <a:xfrm>
            <a:off x="457200" y="563270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LOUNGE SPONSOR</a:t>
            </a:r>
            <a:endParaRPr lang="en-US" sz="1000" dirty="0"/>
          </a:p>
        </p:txBody>
      </p:sp>
      <p:pic>
        <p:nvPicPr>
          <p:cNvPr id="13" name="Image 5" descr="/home/user/workspace/wroe-dallas-2026/deliverables/workbook/assets/sponsors/vsimple.png">    </p:cNvPr>
          <p:cNvPicPr>
            <a:picLocks noChangeAspect="1"/>
          </p:cNvPicPr>
          <p:nvPr/>
        </p:nvPicPr>
        <p:blipFill>
          <a:blip r:embed="rId6"/>
          <a:stretch>
            <a:fillRect/>
          </a:stretch>
        </p:blipFill>
        <p:spPr>
          <a:xfrm>
            <a:off x="5086064" y="5852160"/>
            <a:ext cx="2020481" cy="502920"/>
          </a:xfrm>
          <a:prstGeom prst="rect">
            <a:avLst/>
          </a:prstGeom>
        </p:spPr>
      </p:pic>
      <p:sp>
        <p:nvSpPr>
          <p:cNvPr id="1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1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MAY 2026</a:t>
            </a:r>
            <a:endParaRPr lang="en-US" sz="900" dirty="0"/>
          </a:p>
        </p:txBody>
      </p:sp>
      <p:sp>
        <p:nvSpPr>
          <p:cNvPr id="1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OUR COMMUNITY SPONSORS</a:t>
            </a:r>
            <a:endParaRPr lang="en-US" sz="2000" dirty="0"/>
          </a:p>
        </p:txBody>
      </p:sp>
      <p:sp>
        <p:nvSpPr>
          <p:cNvPr id="3" name="Text 1"/>
          <p:cNvSpPr/>
          <p:nvPr/>
        </p:nvSpPr>
        <p:spPr>
          <a:xfrm>
            <a:off x="457200" y="1051560"/>
            <a:ext cx="11277295" cy="548640"/>
          </a:xfrm>
          <a:prstGeom prst="rect">
            <a:avLst/>
          </a:prstGeom>
          <a:noFill/>
          <a:ln/>
        </p:spPr>
        <p:txBody>
          <a:bodyPr wrap="square" rtlCol="0" anchor="ctr"/>
          <a:lstStyle/>
          <a:p>
            <a:pPr algn="ctr" indent="0" marL="0">
              <a:buNone/>
            </a:pPr>
            <a:r>
              <a:rPr lang="en-US" sz="2600" i="1" dirty="0">
                <a:solidFill>
                  <a:srgbClr val="0B1F3A"/>
                </a:solidFill>
                <a:latin typeface="Calibri" pitchFamily="34" charset="0"/>
                <a:ea typeface="Calibri" pitchFamily="34" charset="-122"/>
                <a:cs typeface="Calibri" pitchFamily="34" charset="-120"/>
              </a:rPr>
              <a:t>Say hello at their tables</a:t>
            </a:r>
            <a:endParaRPr lang="en-US" sz="2600" dirty="0"/>
          </a:p>
        </p:txBody>
      </p:sp>
      <p:sp>
        <p:nvSpPr>
          <p:cNvPr id="4" name="Text 2"/>
          <p:cNvSpPr/>
          <p:nvPr/>
        </p:nvSpPr>
        <p:spPr>
          <a:xfrm>
            <a:off x="457200" y="2148840"/>
            <a:ext cx="11277295" cy="201168"/>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SWAG BAG SPONSORS</a:t>
            </a:r>
            <a:endParaRPr lang="en-US" sz="1000" dirty="0"/>
          </a:p>
        </p:txBody>
      </p:sp>
      <p:pic>
        <p:nvPicPr>
          <p:cNvPr id="5" name="Image 0" descr="/home/user/workspace/wroe-dallas-2026/deliverables/workbook/assets/sponsors/strata.png">    </p:cNvPr>
          <p:cNvPicPr>
            <a:picLocks noChangeAspect="1"/>
          </p:cNvPicPr>
          <p:nvPr/>
        </p:nvPicPr>
        <p:blipFill>
          <a:blip r:embed="rId1"/>
          <a:stretch>
            <a:fillRect/>
          </a:stretch>
        </p:blipFill>
        <p:spPr>
          <a:xfrm>
            <a:off x="2266112" y="2423160"/>
            <a:ext cx="3088386" cy="914400"/>
          </a:xfrm>
          <a:prstGeom prst="rect">
            <a:avLst/>
          </a:prstGeom>
        </p:spPr>
      </p:pic>
      <p:pic>
        <p:nvPicPr>
          <p:cNvPr id="6" name="Image 1" descr="/home/user/workspace/wroe-dallas-2026/deliverables/workbook/assets/sponsors/successco.png">    </p:cNvPr>
          <p:cNvPicPr>
            <a:picLocks noChangeAspect="1"/>
          </p:cNvPicPr>
          <p:nvPr/>
        </p:nvPicPr>
        <p:blipFill>
          <a:blip r:embed="rId2"/>
          <a:stretch>
            <a:fillRect/>
          </a:stretch>
        </p:blipFill>
        <p:spPr>
          <a:xfrm>
            <a:off x="6449492" y="2423160"/>
            <a:ext cx="3865626" cy="914400"/>
          </a:xfrm>
          <a:prstGeom prst="rect">
            <a:avLst/>
          </a:prstGeom>
        </p:spPr>
      </p:pic>
      <p:sp>
        <p:nvSpPr>
          <p:cNvPr id="7" name="Text 3"/>
          <p:cNvSpPr/>
          <p:nvPr/>
        </p:nvSpPr>
        <p:spPr>
          <a:xfrm>
            <a:off x="457200" y="3703320"/>
            <a:ext cx="11277295" cy="201168"/>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BOOTH SPONSORS</a:t>
            </a:r>
            <a:endParaRPr lang="en-US" sz="1000" dirty="0"/>
          </a:p>
        </p:txBody>
      </p:sp>
      <p:pic>
        <p:nvPicPr>
          <p:cNvPr id="8" name="Image 2" descr="/home/user/workspace/wroe-dallas-2026/deliverables/workbook/assets/sponsors/360consultingdfw.png">    </p:cNvPr>
          <p:cNvPicPr>
            <a:picLocks noChangeAspect="1"/>
          </p:cNvPicPr>
          <p:nvPr/>
        </p:nvPicPr>
        <p:blipFill>
          <a:blip r:embed="rId3"/>
          <a:stretch>
            <a:fillRect/>
          </a:stretch>
        </p:blipFill>
        <p:spPr>
          <a:xfrm>
            <a:off x="959434" y="4023360"/>
            <a:ext cx="2044141" cy="777240"/>
          </a:xfrm>
          <a:prstGeom prst="rect">
            <a:avLst/>
          </a:prstGeom>
        </p:spPr>
      </p:pic>
      <p:pic>
        <p:nvPicPr>
          <p:cNvPr id="9" name="Image 3" descr="/home/user/workspace/wroe-dallas-2026/deliverables/workbook/assets/sponsors/allinoneaccounting.png">    </p:cNvPr>
          <p:cNvPicPr>
            <a:picLocks noChangeAspect="1"/>
          </p:cNvPicPr>
          <p:nvPr/>
        </p:nvPicPr>
        <p:blipFill>
          <a:blip r:embed="rId4"/>
          <a:stretch>
            <a:fillRect/>
          </a:stretch>
        </p:blipFill>
        <p:spPr>
          <a:xfrm>
            <a:off x="4082510" y="4023360"/>
            <a:ext cx="1284389" cy="777240"/>
          </a:xfrm>
          <a:prstGeom prst="rect">
            <a:avLst/>
          </a:prstGeom>
        </p:spPr>
      </p:pic>
      <p:pic>
        <p:nvPicPr>
          <p:cNvPr id="10" name="Image 4" descr="/home/user/workspace/wroe-dallas-2026/deliverables/workbook/assets/sponsors/chiefaiofficer.png">    </p:cNvPr>
          <p:cNvPicPr>
            <a:picLocks noChangeAspect="1"/>
          </p:cNvPicPr>
          <p:nvPr/>
        </p:nvPicPr>
        <p:blipFill>
          <a:blip r:embed="rId5"/>
          <a:stretch>
            <a:fillRect/>
          </a:stretch>
        </p:blipFill>
        <p:spPr>
          <a:xfrm>
            <a:off x="6187745" y="4215259"/>
            <a:ext cx="2560320" cy="393441"/>
          </a:xfrm>
          <a:prstGeom prst="rect">
            <a:avLst/>
          </a:prstGeom>
        </p:spPr>
      </p:pic>
      <p:pic>
        <p:nvPicPr>
          <p:cNvPr id="11" name="Image 5" descr="/home/user/workspace/wroe-dallas-2026/deliverables/workbook/assets/sponsors/hoopshr.png">    </p:cNvPr>
          <p:cNvPicPr>
            <a:picLocks noChangeAspect="1"/>
          </p:cNvPicPr>
          <p:nvPr/>
        </p:nvPicPr>
        <p:blipFill>
          <a:blip r:embed="rId6"/>
          <a:stretch>
            <a:fillRect/>
          </a:stretch>
        </p:blipFill>
        <p:spPr>
          <a:xfrm>
            <a:off x="9388202" y="4023360"/>
            <a:ext cx="1645806" cy="777240"/>
          </a:xfrm>
          <a:prstGeom prst="rect">
            <a:avLst/>
          </a:prstGeom>
        </p:spPr>
      </p:pic>
      <p:pic>
        <p:nvPicPr>
          <p:cNvPr id="12" name="Image 6" descr="/home/user/workspace/wroe-dallas-2026/deliverables/workbook/assets/sponsors/readyforthenextlevel.png">    </p:cNvPr>
          <p:cNvPicPr>
            <a:picLocks noChangeAspect="1"/>
          </p:cNvPicPr>
          <p:nvPr/>
        </p:nvPicPr>
        <p:blipFill>
          <a:blip r:embed="rId7"/>
          <a:stretch>
            <a:fillRect/>
          </a:stretch>
        </p:blipFill>
        <p:spPr>
          <a:xfrm>
            <a:off x="701345" y="5244896"/>
            <a:ext cx="2560320" cy="437288"/>
          </a:xfrm>
          <a:prstGeom prst="rect">
            <a:avLst/>
          </a:prstGeom>
        </p:spPr>
      </p:pic>
      <p:pic>
        <p:nvPicPr>
          <p:cNvPr id="13" name="Image 7" descr="/home/user/workspace/wroe-dallas-2026/deliverables/workbook/assets/sponsors/profitworks.png">    </p:cNvPr>
          <p:cNvPicPr>
            <a:picLocks noChangeAspect="1"/>
          </p:cNvPicPr>
          <p:nvPr/>
        </p:nvPicPr>
        <p:blipFill>
          <a:blip r:embed="rId8"/>
          <a:stretch>
            <a:fillRect/>
          </a:stretch>
        </p:blipFill>
        <p:spPr>
          <a:xfrm>
            <a:off x="3444545" y="5205183"/>
            <a:ext cx="2560320" cy="516714"/>
          </a:xfrm>
          <a:prstGeom prst="rect">
            <a:avLst/>
          </a:prstGeom>
        </p:spPr>
      </p:pic>
      <p:pic>
        <p:nvPicPr>
          <p:cNvPr id="14" name="Image 8" descr="/home/user/workspace/wroe-dallas-2026/deliverables/workbook/assets/sponsors/talentharbor.png">    </p:cNvPr>
          <p:cNvPicPr>
            <a:picLocks noChangeAspect="1"/>
          </p:cNvPicPr>
          <p:nvPr/>
        </p:nvPicPr>
        <p:blipFill>
          <a:blip r:embed="rId9"/>
          <a:stretch>
            <a:fillRect/>
          </a:stretch>
        </p:blipFill>
        <p:spPr>
          <a:xfrm>
            <a:off x="6187745" y="5334100"/>
            <a:ext cx="2560320" cy="258880"/>
          </a:xfrm>
          <a:prstGeom prst="rect">
            <a:avLst/>
          </a:prstGeom>
        </p:spPr>
      </p:pic>
      <p:pic>
        <p:nvPicPr>
          <p:cNvPr id="15" name="Image 9" descr="/home/user/workspace/wroe-dallas-2026/deliverables/workbook/assets/sponsors/wolfsedgeintegrators.png">    </p:cNvPr>
          <p:cNvPicPr>
            <a:picLocks noChangeAspect="1"/>
          </p:cNvPicPr>
          <p:nvPr/>
        </p:nvPicPr>
        <p:blipFill>
          <a:blip r:embed="rId10"/>
          <a:stretch>
            <a:fillRect/>
          </a:stretch>
        </p:blipFill>
        <p:spPr>
          <a:xfrm>
            <a:off x="8930945" y="5107693"/>
            <a:ext cx="2560320" cy="711694"/>
          </a:xfrm>
          <a:prstGeom prst="rect">
            <a:avLst/>
          </a:prstGeom>
        </p:spPr>
      </p:pic>
      <p:sp>
        <p:nvSpPr>
          <p:cNvPr id="16" name="Shape 4"/>
          <p:cNvSpPr/>
          <p:nvPr/>
        </p:nvSpPr>
        <p:spPr>
          <a:xfrm>
            <a:off x="0" y="6675120"/>
            <a:ext cx="12191695" cy="182880"/>
          </a:xfrm>
          <a:prstGeom prst="rect">
            <a:avLst/>
          </a:prstGeom>
          <a:solidFill>
            <a:srgbClr val="E87722"/>
          </a:solidFill>
          <a:ln w="12700">
            <a:solidFill>
              <a:srgbClr val="E87722"/>
            </a:solidFill>
            <a:prstDash val="solid"/>
          </a:ln>
        </p:spPr>
      </p:sp>
      <p:sp>
        <p:nvSpPr>
          <p:cNvPr id="17" name="Text 5"/>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MAY 2026</a:t>
            </a:r>
            <a:endParaRPr lang="en-US" sz="900" dirty="0"/>
          </a:p>
        </p:txBody>
      </p:sp>
      <p:sp>
        <p:nvSpPr>
          <p:cNvPr id="18" name="Text 6"/>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7  ·  4:45 – 6:15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The 10 Pillars of Visionary Greatness</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Mark C. Winters</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MAY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371600"/>
            <a:ext cx="11277295" cy="548640"/>
          </a:xfrm>
          <a:prstGeom prst="rect">
            <a:avLst/>
          </a:prstGeom>
          <a:noFill/>
          <a:ln/>
        </p:spPr>
        <p:txBody>
          <a:bodyPr wrap="square" rtlCol="0" anchor="ctr"/>
          <a:lstStyle/>
          <a:p>
            <a:pPr algn="ctr" indent="0" marL="0">
              <a:buNone/>
            </a:pPr>
            <a:r>
              <a:rPr lang="en-US" sz="2200" b="1" spc="1200" kern="0" dirty="0">
                <a:solidFill>
                  <a:srgbClr val="E87722"/>
                </a:solidFill>
                <a:latin typeface="Calibri" pitchFamily="34" charset="0"/>
                <a:ea typeface="Calibri" pitchFamily="34" charset="-122"/>
                <a:cs typeface="Calibri" pitchFamily="34" charset="-120"/>
              </a:rPr>
              <a:t>HAPPY HOUR</a:t>
            </a:r>
            <a:endParaRPr lang="en-US" sz="2200" dirty="0"/>
          </a:p>
        </p:txBody>
      </p:sp>
      <p:sp>
        <p:nvSpPr>
          <p:cNvPr id="3" name="Text 1"/>
          <p:cNvSpPr/>
          <p:nvPr/>
        </p:nvSpPr>
        <p:spPr>
          <a:xfrm>
            <a:off x="457200" y="2011680"/>
            <a:ext cx="11277295" cy="1463040"/>
          </a:xfrm>
          <a:prstGeom prst="rect">
            <a:avLst/>
          </a:prstGeom>
          <a:noFill/>
          <a:ln/>
        </p:spPr>
        <p:txBody>
          <a:bodyPr wrap="square" rtlCol="0" anchor="ctr"/>
          <a:lstStyle/>
          <a:p>
            <a:pPr algn="ctr" indent="0" marL="0">
              <a:buNone/>
            </a:pPr>
            <a:r>
              <a:rPr lang="en-US" sz="14000" b="1" dirty="0">
                <a:solidFill>
                  <a:srgbClr val="FFFFFF"/>
                </a:solidFill>
                <a:latin typeface="Calibri" pitchFamily="34" charset="0"/>
                <a:ea typeface="Calibri" pitchFamily="34" charset="-122"/>
                <a:cs typeface="Calibri" pitchFamily="34" charset="-120"/>
              </a:rPr>
              <a:t>6:15 PM</a:t>
            </a:r>
            <a:endParaRPr lang="en-US" sz="14000" dirty="0"/>
          </a:p>
        </p:txBody>
      </p:sp>
      <p:sp>
        <p:nvSpPr>
          <p:cNvPr id="4" name="Text 2"/>
          <p:cNvSpPr/>
          <p:nvPr/>
        </p:nvSpPr>
        <p:spPr>
          <a:xfrm>
            <a:off x="457200" y="3749040"/>
            <a:ext cx="11277295" cy="457200"/>
          </a:xfrm>
          <a:prstGeom prst="rect">
            <a:avLst/>
          </a:prstGeom>
          <a:noFill/>
          <a:ln/>
        </p:spPr>
        <p:txBody>
          <a:bodyPr wrap="square" rtlCol="0" anchor="ctr"/>
          <a:lstStyle/>
          <a:p>
            <a:pPr algn="ctr" indent="0" marL="0">
              <a:buNone/>
            </a:pPr>
            <a:r>
              <a:rPr lang="en-US" sz="2200" i="1" dirty="0">
                <a:solidFill>
                  <a:srgbClr val="E87722"/>
                </a:solidFill>
                <a:latin typeface="Calibri" pitchFamily="34" charset="0"/>
                <a:ea typeface="Calibri" pitchFamily="34" charset="-122"/>
                <a:cs typeface="Calibri" pitchFamily="34" charset="-120"/>
              </a:rPr>
              <a:t>Sponsored by Ninety.io</a:t>
            </a:r>
            <a:endParaRPr lang="en-US" sz="2200" dirty="0"/>
          </a:p>
        </p:txBody>
      </p:sp>
      <p:sp>
        <p:nvSpPr>
          <p:cNvPr id="5" name="Text 3"/>
          <p:cNvSpPr/>
          <p:nvPr/>
        </p:nvSpPr>
        <p:spPr>
          <a:xfrm>
            <a:off x="457200" y="4663440"/>
            <a:ext cx="11277295" cy="548640"/>
          </a:xfrm>
          <a:prstGeom prst="rect">
            <a:avLst/>
          </a:prstGeom>
          <a:noFill/>
          <a:ln/>
        </p:spPr>
        <p:txBody>
          <a:bodyPr wrap="square" rtlCol="0" anchor="ctr"/>
          <a:lstStyle/>
          <a:p>
            <a:pPr algn="ctr" indent="0" marL="0">
              <a:buNone/>
            </a:pPr>
            <a:r>
              <a:rPr lang="en-US" sz="2200" i="1" dirty="0">
                <a:solidFill>
                  <a:srgbClr val="FFFFFF"/>
                </a:solidFill>
                <a:latin typeface="Calibri" pitchFamily="34" charset="0"/>
                <a:ea typeface="Calibri" pitchFamily="34" charset="-122"/>
                <a:cs typeface="Calibri" pitchFamily="34" charset="-120"/>
              </a:rPr>
              <a:t>Stay. Meet someone new. Celebrate what you learned today.</a:t>
            </a:r>
            <a:endParaRPr lang="en-US" sz="2200" dirty="0"/>
          </a:p>
        </p:txBody>
      </p:sp>
      <p:sp>
        <p:nvSpPr>
          <p:cNvPr id="6" name="Text 4"/>
          <p:cNvSpPr/>
          <p:nvPr/>
        </p:nvSpPr>
        <p:spPr>
          <a:xfrm>
            <a:off x="457200" y="5394960"/>
            <a:ext cx="11277295" cy="457200"/>
          </a:xfrm>
          <a:prstGeom prst="rect">
            <a:avLst/>
          </a:prstGeom>
          <a:noFill/>
          <a:ln/>
        </p:spPr>
        <p:txBody>
          <a:bodyPr wrap="square" rtlCol="0" anchor="ctr"/>
          <a:lstStyle/>
          <a:p>
            <a:pPr algn="ctr" indent="0" marL="0">
              <a:buNone/>
            </a:pPr>
            <a:r>
              <a:rPr lang="en-US" sz="2000" dirty="0">
                <a:solidFill>
                  <a:srgbClr val="D4DFEA"/>
                </a:solidFill>
                <a:latin typeface="Calibri" pitchFamily="34" charset="0"/>
                <a:ea typeface="Calibri" pitchFamily="34" charset="-122"/>
                <a:cs typeface="Calibri" pitchFamily="34" charset="-120"/>
              </a:rPr>
              <a:t>See you next year.</a:t>
            </a:r>
            <a:endParaRPr lang="en-US" sz="2000" dirty="0"/>
          </a:p>
        </p:txBody>
      </p:sp>
      <p:sp>
        <p:nvSpPr>
          <p:cNvPr id="7" name="Shape 5"/>
          <p:cNvSpPr/>
          <p:nvPr/>
        </p:nvSpPr>
        <p:spPr>
          <a:xfrm>
            <a:off x="0" y="6675120"/>
            <a:ext cx="12191695" cy="182880"/>
          </a:xfrm>
          <a:prstGeom prst="rect">
            <a:avLst/>
          </a:prstGeom>
          <a:solidFill>
            <a:srgbClr val="E87722"/>
          </a:solidFill>
          <a:ln w="12700">
            <a:solidFill>
              <a:srgbClr val="E87722"/>
            </a:solidFill>
            <a:prstDash val="solid"/>
          </a:ln>
        </p:spPr>
      </p:sp>
      <p:sp>
        <p:nvSpPr>
          <p:cNvPr id="8" name="Text 6"/>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MAY 2026</a:t>
            </a:r>
            <a:endParaRPr lang="en-US" sz="900" dirty="0"/>
          </a:p>
        </p:txBody>
      </p:sp>
      <p:sp>
        <p:nvSpPr>
          <p:cNvPr id="9" name="Text 7"/>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North Texas EOS Community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WRoEOS North Texas 2026 — Event Deck</dc:title>
  <dc:subject>Event day presentation deck for emcees, break loops, and session intros</dc:subject>
  <dc:creator>WRoEOS North Texas</dc:creator>
  <cp:lastModifiedBy>WRoEOS North Texas</cp:lastModifiedBy>
  <cp:revision>1</cp:revision>
  <dcterms:created xsi:type="dcterms:W3CDTF">2026-09-01T15:38:15Z</dcterms:created>
  <dcterms:modified xsi:type="dcterms:W3CDTF">2026-09-01T15:38:15Z</dcterms:modified>
</cp:coreProperties>
</file>