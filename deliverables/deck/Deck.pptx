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plays 12:45–1:10 PM as guests return from Walt Brown’s lunch and take a 10-minute break. No emcee needed. Slide auto-advances every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Placeholder Wi-Fi credentials — replace with actual venue values before event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Replace directional details with actual venue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Displays 5 minutes before 1:10 PM to prompt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OPEN (60-90 seconds) — Paid-Day Return from Lunch:
Welcome back, North Texas. Hope you enjoyed lunch and the conversation with Walt Brown — the 7 Critical Needs is going to stick with you.
Quick reminders as we get into the paid workshops. Restrooms are down the main hallway on your right. Wi-Fi info is on the pre-event slides if you missed it. Please silence your phones — not off, silence — because we want you posting from every session this afternoon. Hashtag is #WRoENorthTexas2026.
This afternoon: three of the best Expert EOS Implementers in the country, three hardcover books in your bag, and a Happy Hour at 6:15 that you will not want to miss.
Let’s kick this off. Please welcome to the stage — Expert EOS Implementer and author of Data,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In this session we're going to challenge one of the most common assumptions in business — that growth equals health. Mark Stanley, Expert EOS Implementer and author of Data, is going to help you decide whether you're really getting stronger or just getting bigger. Please welcome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Stanley:
1. Press Esc to exit this master deck.
2. Open speaker-decks\Profit-Power-Deck.pptx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"Fifteen minute break. Sponsor lounge is open — say hi. Back at 2:55 with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Getting EOS to the leadership team is one thing. Getting it all the way through the organization is another. Beth Fahey, Expert EOS Implementer and author of Rollout, is going to give you the field-tested playbook. Please welcome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Beth Fahey.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"Last break of the day, twenty minutes. Stretch, refuel, then we bring it home with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(20-30 seconds):
Take a look at the screen — these are the companies that made today possible. Please visit their tables at the break, follow them on LinkedIn, and if any of them can serve your business — reach out. This day exists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One more round of thanks — our community sponsors put swag in your bag and staffed booths in the lounge all day. Stop by, grab a card, and thank them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We save the very best for last. Mark C. Winters — Expert EOS Implementer and co-author of Rocket Fuel and Visionary — is going to walk us through the ten pillars of Visionary greatness. Please welcome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C. Winters:
1. Press Esc to exit this master deck.
2. Open speaker-decks\10-Pillars-of-Visionary-Greatness.pptx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CLOSE (60-90 seconds):
That's a wrap on the formal program — but don't leave yet. Happy Hour starts right now, right here, sponsored by our friends at Ninety.io.
A few thank-yous. Thank you to every one of our speakers — you gave us your very best today. Thank you to our fifteen sponsors — this doesn't happen without you. Thank you to the venue and the staff for taking care of us all day.
And most of all — thank YOU for showing up. Your business is better today than it was this morning. Now go find someone you don't know, buy them a drink, and swap notes. See you at We Run on EOS North Texas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slideLayout" Target="../slideLayouts/slideLayout1.xml"/><Relationship Id="rId1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slideLayout" Target="../slideLayouts/slideLayout1.xml"/><Relationship Id="rId1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WELCOME</a:t>
            </a:r>
            <a:endParaRPr lang="en-US" sz="1800" dirty="0"/>
          </a:p>
        </p:txBody>
      </p:sp>
      <p:sp>
        <p:nvSpPr>
          <p:cNvPr id="3" name="Text 1"/>
          <p:cNvSpPr/>
          <p:nvPr/>
        </p:nvSpPr>
        <p:spPr>
          <a:xfrm>
            <a:off x="457200" y="1737360"/>
            <a:ext cx="11277295" cy="109728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We Run on EOS®</a:t>
            </a:r>
            <a:endParaRPr lang="en-US" sz="7200" dirty="0"/>
          </a:p>
        </p:txBody>
      </p:sp>
      <p:sp>
        <p:nvSpPr>
          <p:cNvPr id="4" name="Text 2"/>
          <p:cNvSpPr/>
          <p:nvPr/>
        </p:nvSpPr>
        <p:spPr>
          <a:xfrm>
            <a:off x="457200" y="2834640"/>
            <a:ext cx="11277295" cy="731520"/>
          </a:xfrm>
          <a:prstGeom prst="rect">
            <a:avLst/>
          </a:prstGeom>
          <a:noFill/>
          <a:ln/>
        </p:spPr>
        <p:txBody>
          <a:bodyPr wrap="square" rtlCol="0" anchor="ctr"/>
          <a:lstStyle/>
          <a:p>
            <a:pPr algn="ctr" indent="0" marL="0">
              <a:buNone/>
            </a:pPr>
            <a:r>
              <a:rPr lang="en-US" sz="4400" dirty="0">
                <a:solidFill>
                  <a:srgbClr val="FFFFFF"/>
                </a:solidFill>
                <a:latin typeface="Calibri" pitchFamily="34" charset="0"/>
                <a:ea typeface="Calibri" pitchFamily="34" charset="-122"/>
                <a:cs typeface="Calibri" pitchFamily="34" charset="-120"/>
              </a:rPr>
              <a:t>North Texas 2026</a:t>
            </a:r>
            <a:endParaRPr lang="en-US" sz="4400" dirty="0"/>
          </a:p>
        </p:txBody>
      </p:sp>
      <p:sp>
        <p:nvSpPr>
          <p:cNvPr id="5" name="Text 3"/>
          <p:cNvSpPr/>
          <p:nvPr/>
        </p:nvSpPr>
        <p:spPr>
          <a:xfrm>
            <a:off x="457200" y="411480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Afternoon Program  ·  Resumes at 1:10 PM</a:t>
            </a:r>
            <a:endParaRPr lang="en-US" sz="2200" dirty="0"/>
          </a:p>
        </p:txBody>
      </p:sp>
      <p:sp>
        <p:nvSpPr>
          <p:cNvPr id="6" name="Text 4"/>
          <p:cNvSpPr/>
          <p:nvPr/>
        </p:nvSpPr>
        <p:spPr>
          <a:xfrm>
            <a:off x="457200" y="4663440"/>
            <a:ext cx="11277295" cy="36576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Grab coffee. Say hello. Take a seat near the front.</a:t>
            </a:r>
            <a:endParaRPr lang="en-US" sz="16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WI-FI</a:t>
            </a:r>
            <a:endParaRPr lang="en-US" sz="1800" dirty="0"/>
          </a:p>
        </p:txBody>
      </p:sp>
      <p:sp>
        <p:nvSpPr>
          <p:cNvPr id="3" name="Text 1"/>
          <p:cNvSpPr/>
          <p:nvPr/>
        </p:nvSpPr>
        <p:spPr>
          <a:xfrm>
            <a:off x="457200" y="1737360"/>
            <a:ext cx="11277295" cy="640080"/>
          </a:xfrm>
          <a:prstGeom prst="rect">
            <a:avLst/>
          </a:prstGeom>
          <a:noFill/>
          <a:ln/>
        </p:spPr>
        <p:txBody>
          <a:bodyPr wrap="square"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Connect while you settle in</a:t>
            </a:r>
            <a:endParaRPr lang="en-US" sz="3200" dirty="0"/>
          </a:p>
        </p:txBody>
      </p:sp>
      <p:sp>
        <p:nvSpPr>
          <p:cNvPr id="4" name="Shape 2"/>
          <p:cNvSpPr/>
          <p:nvPr/>
        </p:nvSpPr>
        <p:spPr>
          <a:xfrm>
            <a:off x="3200400" y="2926080"/>
            <a:ext cx="5790895" cy="1005840"/>
          </a:xfrm>
          <a:prstGeom prst="roundRect">
            <a:avLst>
              <a:gd name="adj" fmla="val 9091"/>
            </a:avLst>
          </a:prstGeom>
          <a:solidFill>
            <a:srgbClr val="1A2E4A"/>
          </a:solidFill>
          <a:ln w="12700">
            <a:solidFill>
              <a:srgbClr val="E87722"/>
            </a:solidFill>
            <a:prstDash val="solid"/>
          </a:ln>
        </p:spPr>
      </p:sp>
      <p:sp>
        <p:nvSpPr>
          <p:cNvPr id="5" name="Text 3"/>
          <p:cNvSpPr/>
          <p:nvPr/>
        </p:nvSpPr>
        <p:spPr>
          <a:xfrm>
            <a:off x="3383280" y="301752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NETWORK</a:t>
            </a:r>
            <a:endParaRPr lang="en-US" sz="1200" dirty="0"/>
          </a:p>
        </p:txBody>
      </p:sp>
      <p:sp>
        <p:nvSpPr>
          <p:cNvPr id="6" name="Text 4"/>
          <p:cNvSpPr/>
          <p:nvPr/>
        </p:nvSpPr>
        <p:spPr>
          <a:xfrm>
            <a:off x="3383280" y="333756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WRoEOS-Guest</a:t>
            </a:r>
            <a:endParaRPr lang="en-US" sz="3200" dirty="0"/>
          </a:p>
        </p:txBody>
      </p:sp>
      <p:sp>
        <p:nvSpPr>
          <p:cNvPr id="7" name="Shape 5"/>
          <p:cNvSpPr/>
          <p:nvPr/>
        </p:nvSpPr>
        <p:spPr>
          <a:xfrm>
            <a:off x="3200400" y="4114800"/>
            <a:ext cx="5790895" cy="1005840"/>
          </a:xfrm>
          <a:prstGeom prst="roundRect">
            <a:avLst>
              <a:gd name="adj" fmla="val 9091"/>
            </a:avLst>
          </a:prstGeom>
          <a:solidFill>
            <a:srgbClr val="1A2E4A"/>
          </a:solidFill>
          <a:ln w="12700">
            <a:solidFill>
              <a:srgbClr val="E87722"/>
            </a:solidFill>
            <a:prstDash val="solid"/>
          </a:ln>
        </p:spPr>
      </p:sp>
      <p:sp>
        <p:nvSpPr>
          <p:cNvPr id="8" name="Text 6"/>
          <p:cNvSpPr/>
          <p:nvPr/>
        </p:nvSpPr>
        <p:spPr>
          <a:xfrm>
            <a:off x="3383280" y="420624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PASSWORD</a:t>
            </a:r>
            <a:endParaRPr lang="en-US" sz="1200" dirty="0"/>
          </a:p>
        </p:txBody>
      </p:sp>
      <p:sp>
        <p:nvSpPr>
          <p:cNvPr id="9" name="Text 7"/>
          <p:cNvSpPr/>
          <p:nvPr/>
        </p:nvSpPr>
        <p:spPr>
          <a:xfrm>
            <a:off x="3383280" y="452628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RunOnEOS2026</a:t>
            </a:r>
            <a:endParaRPr lang="en-US" sz="3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THE ESSENTIALS</a:t>
            </a:r>
            <a:endParaRPr lang="en-US" sz="1800" dirty="0"/>
          </a:p>
        </p:txBody>
      </p:sp>
      <p:sp>
        <p:nvSpPr>
          <p:cNvPr id="3" name="Shape 1"/>
          <p:cNvSpPr/>
          <p:nvPr/>
        </p:nvSpPr>
        <p:spPr>
          <a:xfrm>
            <a:off x="1371600" y="2286000"/>
            <a:ext cx="4419295" cy="2926080"/>
          </a:xfrm>
          <a:prstGeom prst="roundRect">
            <a:avLst>
              <a:gd name="adj" fmla="val 4688"/>
            </a:avLst>
          </a:prstGeom>
          <a:solidFill>
            <a:srgbClr val="1A2E4A"/>
          </a:solidFill>
          <a:ln w="12700">
            <a:solidFill>
              <a:srgbClr val="E87722"/>
            </a:solidFill>
            <a:prstDash val="solid"/>
          </a:ln>
        </p:spPr>
      </p:sp>
      <p:sp>
        <p:nvSpPr>
          <p:cNvPr id="4" name="Text 2"/>
          <p:cNvSpPr/>
          <p:nvPr/>
        </p:nvSpPr>
        <p:spPr>
          <a:xfrm>
            <a:off x="16459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RESTROOMS</a:t>
            </a:r>
            <a:endParaRPr lang="en-US" sz="1400" dirty="0"/>
          </a:p>
        </p:txBody>
      </p:sp>
      <p:sp>
        <p:nvSpPr>
          <p:cNvPr id="5" name="Text 3"/>
          <p:cNvSpPr/>
          <p:nvPr/>
        </p:nvSpPr>
        <p:spPr>
          <a:xfrm>
            <a:off x="16459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Down the main hallway,</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past the registration desk,</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on your right.</a:t>
            </a:r>
            <a:endParaRPr lang="en-US" sz="2200" dirty="0"/>
          </a:p>
        </p:txBody>
      </p:sp>
      <p:sp>
        <p:nvSpPr>
          <p:cNvPr id="6" name="Shape 4"/>
          <p:cNvSpPr/>
          <p:nvPr/>
        </p:nvSpPr>
        <p:spPr>
          <a:xfrm>
            <a:off x="6400800" y="2286000"/>
            <a:ext cx="4419295" cy="2926080"/>
          </a:xfrm>
          <a:prstGeom prst="roundRect">
            <a:avLst>
              <a:gd name="adj" fmla="val 4688"/>
            </a:avLst>
          </a:prstGeom>
          <a:solidFill>
            <a:srgbClr val="1A2E4A"/>
          </a:solidFill>
          <a:ln w="12700">
            <a:solidFill>
              <a:srgbClr val="E87722"/>
            </a:solidFill>
            <a:prstDash val="solid"/>
          </a:ln>
        </p:spPr>
      </p:sp>
      <p:sp>
        <p:nvSpPr>
          <p:cNvPr id="7" name="Text 5"/>
          <p:cNvSpPr/>
          <p:nvPr/>
        </p:nvSpPr>
        <p:spPr>
          <a:xfrm>
            <a:off x="66751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COFFEE &amp; PASTRIES</a:t>
            </a:r>
            <a:endParaRPr lang="en-US" sz="1400" dirty="0"/>
          </a:p>
        </p:txBody>
      </p:sp>
      <p:sp>
        <p:nvSpPr>
          <p:cNvPr id="8" name="Text 6"/>
          <p:cNvSpPr/>
          <p:nvPr/>
        </p:nvSpPr>
        <p:spPr>
          <a:xfrm>
            <a:off x="66751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Just outside the ballroom,</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near the sponsor lounge.</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Refreshed at every break.</a:t>
            </a:r>
            <a:endParaRPr lang="en-US" sz="22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SHARE THE DAY</a:t>
            </a:r>
            <a:endParaRPr lang="en-US" sz="1800" dirty="0"/>
          </a:p>
        </p:txBody>
      </p:sp>
      <p:sp>
        <p:nvSpPr>
          <p:cNvPr id="3" name="Text 1"/>
          <p:cNvSpPr/>
          <p:nvPr/>
        </p:nvSpPr>
        <p:spPr>
          <a:xfrm>
            <a:off x="457200" y="2194560"/>
            <a:ext cx="11277295" cy="128016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#WRoENorthTexas2026</a:t>
            </a:r>
            <a:endParaRPr lang="en-US" sz="6400" dirty="0"/>
          </a:p>
        </p:txBody>
      </p:sp>
      <p:sp>
        <p:nvSpPr>
          <p:cNvPr id="4" name="Text 2"/>
          <p:cNvSpPr/>
          <p:nvPr/>
        </p:nvSpPr>
        <p:spPr>
          <a:xfrm>
            <a:off x="457200" y="3931920"/>
            <a:ext cx="11277295" cy="548640"/>
          </a:xfrm>
          <a:prstGeom prst="rect">
            <a:avLst/>
          </a:prstGeom>
          <a:noFill/>
          <a:ln/>
        </p:spPr>
        <p:txBody>
          <a:bodyPr wrap="square" rtlCol="0" anchor="ctr"/>
          <a:lstStyle/>
          <a:p>
            <a:pPr algn="ctr" indent="0" marL="0">
              <a:buNone/>
            </a:pPr>
            <a:r>
              <a:rPr lang="en-US" sz="2000" i="1" dirty="0">
                <a:solidFill>
                  <a:srgbClr val="E87722"/>
                </a:solidFill>
                <a:latin typeface="Calibri" pitchFamily="34" charset="0"/>
                <a:ea typeface="Calibri" pitchFamily="34" charset="-122"/>
                <a:cs typeface="Calibri" pitchFamily="34" charset="-120"/>
              </a:rPr>
              <a:t>Post a photo. Tag your favorite session. Tell someone what you learned.</a:t>
            </a:r>
            <a:endParaRPr lang="en-US" sz="20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645920"/>
            <a:ext cx="11277295" cy="54864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WE START AT</a:t>
            </a:r>
            <a:endParaRPr lang="en-US" sz="2000" dirty="0"/>
          </a:p>
        </p:txBody>
      </p:sp>
      <p:sp>
        <p:nvSpPr>
          <p:cNvPr id="3" name="Text 1"/>
          <p:cNvSpPr/>
          <p:nvPr/>
        </p:nvSpPr>
        <p:spPr>
          <a:xfrm>
            <a:off x="457200" y="2286000"/>
            <a:ext cx="11277295" cy="2194560"/>
          </a:xfrm>
          <a:prstGeom prst="rect">
            <a:avLst/>
          </a:prstGeom>
          <a:noFill/>
          <a:ln/>
        </p:spPr>
        <p:txBody>
          <a:bodyPr wrap="square" rtlCol="0" anchor="ctr"/>
          <a:lstStyle/>
          <a:p>
            <a:pPr algn="ctr" indent="0" marL="0">
              <a:buNone/>
            </a:pPr>
            <a:r>
              <a:rPr lang="en-US" sz="22000" b="1" dirty="0">
                <a:solidFill>
                  <a:srgbClr val="FFFFFF"/>
                </a:solidFill>
                <a:latin typeface="Calibri" pitchFamily="34" charset="0"/>
                <a:ea typeface="Calibri" pitchFamily="34" charset="-122"/>
                <a:cs typeface="Calibri" pitchFamily="34" charset="-120"/>
              </a:rPr>
              <a:t>1:10</a:t>
            </a:r>
            <a:endParaRPr lang="en-US" sz="22000" dirty="0"/>
          </a:p>
        </p:txBody>
      </p:sp>
      <p:sp>
        <p:nvSpPr>
          <p:cNvPr id="4" name="Text 2"/>
          <p:cNvSpPr/>
          <p:nvPr/>
        </p:nvSpPr>
        <p:spPr>
          <a:xfrm>
            <a:off x="457200" y="4754880"/>
            <a:ext cx="11277295" cy="45720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Please find your seat.</a:t>
            </a:r>
            <a:endParaRPr lang="en-US" sz="22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65760"/>
          </a:xfrm>
          <a:prstGeom prst="rect">
            <a:avLst/>
          </a:prstGeom>
          <a:solidFill>
            <a:srgbClr val="E87722"/>
          </a:solidFill>
          <a:ln w="12700">
            <a:solidFill>
              <a:srgbClr val="E87722"/>
            </a:solidFill>
            <a:prstDash val="solid"/>
          </a:ln>
        </p:spPr>
      </p:sp>
      <p:sp>
        <p:nvSpPr>
          <p:cNvPr id="3" name="Text 1"/>
          <p:cNvSpPr/>
          <p:nvPr/>
        </p:nvSpPr>
        <p:spPr>
          <a:xfrm>
            <a:off x="685800" y="1188720"/>
            <a:ext cx="10972800" cy="457200"/>
          </a:xfrm>
          <a:prstGeom prst="rect">
            <a:avLst/>
          </a:prstGeom>
          <a:noFill/>
          <a:ln/>
        </p:spPr>
        <p:txBody>
          <a:bodyPr wrap="square" rtlCol="0" anchor="ctr"/>
          <a:lstStyle/>
          <a:p>
            <a:pPr indent="0" marL="0">
              <a:buNone/>
            </a:pPr>
            <a:r>
              <a:rPr lang="en-US" sz="2000" b="1" spc="1000" kern="0" dirty="0">
                <a:solidFill>
                  <a:srgbClr val="E87722"/>
                </a:solidFill>
                <a:latin typeface="Calibri" pitchFamily="34" charset="0"/>
                <a:ea typeface="Calibri" pitchFamily="34" charset="-122"/>
                <a:cs typeface="Calibri" pitchFamily="34" charset="-120"/>
              </a:rPr>
              <a:t>FIFTH ANNUAL</a:t>
            </a:r>
            <a:endParaRPr lang="en-US" sz="2000" dirty="0"/>
          </a:p>
        </p:txBody>
      </p:sp>
      <p:sp>
        <p:nvSpPr>
          <p:cNvPr id="4" name="Text 2"/>
          <p:cNvSpPr/>
          <p:nvPr/>
        </p:nvSpPr>
        <p:spPr>
          <a:xfrm>
            <a:off x="685800" y="1691640"/>
            <a:ext cx="10972800" cy="1188720"/>
          </a:xfrm>
          <a:prstGeom prst="rect">
            <a:avLst/>
          </a:prstGeom>
          <a:noFill/>
          <a:ln/>
        </p:spPr>
        <p:txBody>
          <a:bodyPr wrap="square" rtlCol="0" anchor="ctr"/>
          <a:lstStyle/>
          <a:p>
            <a:pPr indent="0" marL="0">
              <a:buNone/>
            </a:pPr>
            <a:r>
              <a:rPr lang="en-US" sz="7600" b="1" dirty="0">
                <a:solidFill>
                  <a:srgbClr val="0B1F3A"/>
                </a:solidFill>
                <a:latin typeface="Calibri" pitchFamily="34" charset="0"/>
                <a:ea typeface="Calibri" pitchFamily="34" charset="-122"/>
                <a:cs typeface="Calibri" pitchFamily="34" charset="-120"/>
              </a:rPr>
              <a:t>We Run on EOS®</a:t>
            </a:r>
            <a:endParaRPr lang="en-US" sz="7600" dirty="0"/>
          </a:p>
        </p:txBody>
      </p:sp>
      <p:sp>
        <p:nvSpPr>
          <p:cNvPr id="5" name="Text 3"/>
          <p:cNvSpPr/>
          <p:nvPr/>
        </p:nvSpPr>
        <p:spPr>
          <a:xfrm>
            <a:off x="685800" y="2880360"/>
            <a:ext cx="10972800" cy="822960"/>
          </a:xfrm>
          <a:prstGeom prst="rect">
            <a:avLst/>
          </a:prstGeom>
          <a:noFill/>
          <a:ln/>
        </p:spPr>
        <p:txBody>
          <a:bodyPr wrap="square" rtlCol="0" anchor="ctr"/>
          <a:lstStyle/>
          <a:p>
            <a:pPr indent="0" marL="0">
              <a:buNone/>
            </a:pPr>
            <a:r>
              <a:rPr lang="en-US" sz="4600" dirty="0">
                <a:solidFill>
                  <a:srgbClr val="0B1F3A"/>
                </a:solidFill>
                <a:latin typeface="Calibri" pitchFamily="34" charset="0"/>
                <a:ea typeface="Calibri" pitchFamily="34" charset="-122"/>
                <a:cs typeface="Calibri" pitchFamily="34" charset="-120"/>
              </a:rPr>
              <a:t>North Texas 2026</a:t>
            </a:r>
            <a:endParaRPr lang="en-US" sz="4600" dirty="0"/>
          </a:p>
        </p:txBody>
      </p:sp>
      <p:sp>
        <p:nvSpPr>
          <p:cNvPr id="6" name="Text 4"/>
          <p:cNvSpPr/>
          <p:nvPr/>
        </p:nvSpPr>
        <p:spPr>
          <a:xfrm>
            <a:off x="685800" y="4206240"/>
            <a:ext cx="10972800" cy="548640"/>
          </a:xfrm>
          <a:prstGeom prst="rect">
            <a:avLst/>
          </a:prstGeom>
          <a:noFill/>
          <a:ln/>
        </p:spPr>
        <p:txBody>
          <a:bodyPr wrap="square" rtlCol="0" anchor="ctr"/>
          <a:lstStyle/>
          <a:p>
            <a:pPr indent="0" marL="0">
              <a:buNone/>
            </a:pPr>
            <a:r>
              <a:rPr lang="en-US" sz="2200" i="1" dirty="0">
                <a:solidFill>
                  <a:srgbClr val="2A3441"/>
                </a:solidFill>
                <a:latin typeface="Calibri" pitchFamily="34" charset="0"/>
                <a:ea typeface="Calibri" pitchFamily="34" charset="-122"/>
                <a:cs typeface="Calibri" pitchFamily="34" charset="-120"/>
              </a:rPr>
              <a:t>Welcome back — let’s bring it home.</a:t>
            </a:r>
            <a:endParaRPr lang="en-US" sz="22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1  ·  1:10 – 2:40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Profit Power: Stronger — or Just Bigger?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Stanley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Profit Power: Stronger — or Just Bigger?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Stanley  ·  1:10 – 2:40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Profit-Power-Deck.pptx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AFTERNOON BREAK</a:t>
            </a:r>
            <a:endParaRPr lang="en-US" sz="1800" dirty="0"/>
          </a:p>
        </p:txBody>
      </p:sp>
      <p:sp>
        <p:nvSpPr>
          <p:cNvPr id="3" name="CountdownTimer_15"/>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15:00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2:55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05368"/>
            <a:ext cx="1569720" cy="45914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92811"/>
            <a:ext cx="806335" cy="238737"/>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736279" y="5916812"/>
            <a:ext cx="806335" cy="190736"/>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725494" y="5858884"/>
            <a:ext cx="806335" cy="306591"/>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3714708" y="5768206"/>
            <a:ext cx="806335" cy="487948"/>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4703923" y="5950226"/>
            <a:ext cx="806335" cy="123908"/>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5693138" y="5821782"/>
            <a:ext cx="806335" cy="380796"/>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6682352" y="5943321"/>
            <a:ext cx="806335" cy="137717"/>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7671567" y="5930814"/>
            <a:ext cx="806335" cy="162731"/>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8660781" y="5971415"/>
            <a:ext cx="806335" cy="81530"/>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9649996" y="5900111"/>
            <a:ext cx="806335" cy="224137"/>
          </a:xfrm>
          <a:prstGeom prst="rect">
            <a:avLst/>
          </a:prstGeom>
        </p:spPr>
      </p:pic>
      <p:pic>
        <p:nvPicPr>
          <p:cNvPr id="24" name="Image 16" descr="/home/user/workspace/wroe-dallas-2026/deliverables/workbook/assets/sponsors/vcfo.png">    </p:cNvPr>
          <p:cNvPicPr>
            <a:picLocks noChangeAspect="1"/>
          </p:cNvPicPr>
          <p:nvPr/>
        </p:nvPicPr>
        <p:blipFill>
          <a:blip r:embed="rId17"/>
          <a:stretch>
            <a:fillRect/>
          </a:stretch>
        </p:blipFill>
        <p:spPr>
          <a:xfrm>
            <a:off x="10639210" y="5920459"/>
            <a:ext cx="806335" cy="183441"/>
          </a:xfrm>
          <a:prstGeom prst="rect">
            <a:avLst/>
          </a:prstGeom>
        </p:spPr>
      </p:pic>
      <p:sp>
        <p:nvSpPr>
          <p:cNvPr id="25"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6"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7"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2  ·  2:55 – 4:25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Rollout, Reworked: Running EOS Company-Wide</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Beth Fahey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Rollout, Reworked: Running EOS Company-Wide</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Beth Fahey  ·  2:55 – 4:25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FINAL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4:45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05368"/>
            <a:ext cx="1569720" cy="45914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92811"/>
            <a:ext cx="806335" cy="238737"/>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736279" y="5916812"/>
            <a:ext cx="806335" cy="190736"/>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725494" y="5858884"/>
            <a:ext cx="806335" cy="306591"/>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3714708" y="5768206"/>
            <a:ext cx="806335" cy="487948"/>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4703923" y="5950226"/>
            <a:ext cx="806335" cy="123908"/>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5693138" y="5821782"/>
            <a:ext cx="806335" cy="380796"/>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6682352" y="5943321"/>
            <a:ext cx="806335" cy="137717"/>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7671567" y="5930814"/>
            <a:ext cx="806335" cy="162731"/>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8660781" y="5971415"/>
            <a:ext cx="806335" cy="81530"/>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9649996" y="5900111"/>
            <a:ext cx="806335" cy="224137"/>
          </a:xfrm>
          <a:prstGeom prst="rect">
            <a:avLst/>
          </a:prstGeom>
        </p:spPr>
      </p:pic>
      <p:pic>
        <p:nvPicPr>
          <p:cNvPr id="24" name="Image 16" descr="/home/user/workspace/wroe-dallas-2026/deliverables/workbook/assets/sponsors/vcfo.png">    </p:cNvPr>
          <p:cNvPicPr>
            <a:picLocks noChangeAspect="1"/>
          </p:cNvPicPr>
          <p:nvPr/>
        </p:nvPicPr>
        <p:blipFill>
          <a:blip r:embed="rId17"/>
          <a:stretch>
            <a:fillRect/>
          </a:stretch>
        </p:blipFill>
        <p:spPr>
          <a:xfrm>
            <a:off x="10639210" y="5920459"/>
            <a:ext cx="806335" cy="183441"/>
          </a:xfrm>
          <a:prstGeom prst="rect">
            <a:avLst/>
          </a:prstGeom>
        </p:spPr>
      </p:pic>
      <p:sp>
        <p:nvSpPr>
          <p:cNvPr id="25"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6"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7"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THANK YOU</a:t>
            </a:r>
            <a:endParaRPr lang="en-US" sz="2000" dirty="0"/>
          </a:p>
        </p:txBody>
      </p:sp>
      <p:sp>
        <p:nvSpPr>
          <p:cNvPr id="3" name="Text 1"/>
          <p:cNvSpPr/>
          <p:nvPr/>
        </p:nvSpPr>
        <p:spPr>
          <a:xfrm>
            <a:off x="457200" y="1051560"/>
            <a:ext cx="11277295" cy="640080"/>
          </a:xfrm>
          <a:prstGeom prst="rect">
            <a:avLst/>
          </a:prstGeom>
          <a:noFill/>
          <a:ln/>
        </p:spPr>
        <p:txBody>
          <a:bodyPr wrap="square" rtlCol="0" anchor="ctr"/>
          <a:lstStyle/>
          <a:p>
            <a:pPr algn="ctr" indent="0" marL="0">
              <a:buNone/>
            </a:pPr>
            <a:r>
              <a:rPr lang="en-US" sz="4000" b="1" dirty="0">
                <a:solidFill>
                  <a:srgbClr val="0B1F3A"/>
                </a:solidFill>
                <a:latin typeface="Calibri" pitchFamily="34" charset="0"/>
                <a:ea typeface="Calibri" pitchFamily="34" charset="-122"/>
                <a:cs typeface="Calibri" pitchFamily="34" charset="-120"/>
              </a:rPr>
              <a:t>to our sponsors</a:t>
            </a:r>
            <a:endParaRPr lang="en-US" sz="4000" dirty="0"/>
          </a:p>
        </p:txBody>
      </p:sp>
      <p:sp>
        <p:nvSpPr>
          <p:cNvPr id="4" name="Text 2"/>
          <p:cNvSpPr/>
          <p:nvPr/>
        </p:nvSpPr>
        <p:spPr>
          <a:xfrm>
            <a:off x="457200" y="202082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TITLE SPONSORS</a:t>
            </a:r>
            <a:endParaRPr lang="en-US" sz="1000" dirty="0"/>
          </a:p>
        </p:txBody>
      </p:sp>
      <p:pic>
        <p:nvPicPr>
          <p:cNvPr id="5" name="Image 0" descr="/home/user/workspace/wroe-dallas-2026/deliverables/workbook/assets/sponsors/strety.png">    </p:cNvPr>
          <p:cNvPicPr>
            <a:picLocks noChangeAspect="1"/>
          </p:cNvPicPr>
          <p:nvPr/>
        </p:nvPicPr>
        <p:blipFill>
          <a:blip r:embed="rId1"/>
          <a:stretch>
            <a:fillRect/>
          </a:stretch>
        </p:blipFill>
        <p:spPr>
          <a:xfrm>
            <a:off x="2382926" y="2240280"/>
            <a:ext cx="2397557" cy="868680"/>
          </a:xfrm>
          <a:prstGeom prst="rect">
            <a:avLst/>
          </a:prstGeom>
        </p:spPr>
      </p:pic>
      <p:pic>
        <p:nvPicPr>
          <p:cNvPr id="6" name="Image 1" descr="/home/user/workspace/wroe-dallas-2026/deliverables/workbook/assets/sponsors/tsos.png">    </p:cNvPr>
          <p:cNvPicPr>
            <a:picLocks noChangeAspect="1"/>
          </p:cNvPicPr>
          <p:nvPr/>
        </p:nvPicPr>
        <p:blipFill>
          <a:blip r:embed="rId2"/>
          <a:stretch>
            <a:fillRect/>
          </a:stretch>
        </p:blipFill>
        <p:spPr>
          <a:xfrm>
            <a:off x="7251421" y="2240280"/>
            <a:ext cx="2718968" cy="868680"/>
          </a:xfrm>
          <a:prstGeom prst="rect">
            <a:avLst/>
          </a:prstGeom>
        </p:spPr>
      </p:pic>
      <p:sp>
        <p:nvSpPr>
          <p:cNvPr id="7" name="Text 3"/>
          <p:cNvSpPr/>
          <p:nvPr/>
        </p:nvSpPr>
        <p:spPr>
          <a:xfrm>
            <a:off x="457200" y="3346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BOOK SPONSORS</a:t>
            </a:r>
            <a:endParaRPr lang="en-US" sz="1000" dirty="0"/>
          </a:p>
        </p:txBody>
      </p:sp>
      <p:pic>
        <p:nvPicPr>
          <p:cNvPr id="8" name="Image 2" descr="/home/user/workspace/wroe-dallas-2026/deliverables/workbook/assets/sponsors/procfopartners.png">    </p:cNvPr>
          <p:cNvPicPr>
            <a:picLocks noChangeAspect="1"/>
          </p:cNvPicPr>
          <p:nvPr/>
        </p:nvPicPr>
        <p:blipFill>
          <a:blip r:embed="rId3"/>
          <a:stretch>
            <a:fillRect/>
          </a:stretch>
        </p:blipFill>
        <p:spPr>
          <a:xfrm>
            <a:off x="2253089" y="3566160"/>
            <a:ext cx="2657231" cy="777240"/>
          </a:xfrm>
          <a:prstGeom prst="rect">
            <a:avLst/>
          </a:prstGeom>
        </p:spPr>
      </p:pic>
      <p:pic>
        <p:nvPicPr>
          <p:cNvPr id="9" name="Image 3" descr="/home/user/workspace/wroe-dallas-2026/deliverables/workbook/assets/sponsors/titustalent.png">    </p:cNvPr>
          <p:cNvPicPr>
            <a:picLocks noChangeAspect="1"/>
          </p:cNvPicPr>
          <p:nvPr/>
        </p:nvPicPr>
        <p:blipFill>
          <a:blip r:embed="rId4"/>
          <a:stretch>
            <a:fillRect/>
          </a:stretch>
        </p:blipFill>
        <p:spPr>
          <a:xfrm>
            <a:off x="7541228" y="3566160"/>
            <a:ext cx="2139353" cy="777240"/>
          </a:xfrm>
          <a:prstGeom prst="rect">
            <a:avLst/>
          </a:prstGeom>
        </p:spPr>
      </p:pic>
      <p:sp>
        <p:nvSpPr>
          <p:cNvPr id="10" name="Text 4"/>
          <p:cNvSpPr/>
          <p:nvPr/>
        </p:nvSpPr>
        <p:spPr>
          <a:xfrm>
            <a:off x="457200" y="462686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HAPPY HOUR SPONSOR</a:t>
            </a:r>
            <a:endParaRPr lang="en-US" sz="1000" dirty="0"/>
          </a:p>
        </p:txBody>
      </p:sp>
      <p:pic>
        <p:nvPicPr>
          <p:cNvPr id="11" name="Image 4" descr="/home/user/workspace/wroe-dallas-2026/deliverables/workbook/assets/sponsors/ninety.png">    </p:cNvPr>
          <p:cNvPicPr>
            <a:picLocks noChangeAspect="1"/>
          </p:cNvPicPr>
          <p:nvPr/>
        </p:nvPicPr>
        <p:blipFill>
          <a:blip r:embed="rId5"/>
          <a:stretch>
            <a:fillRect/>
          </a:stretch>
        </p:blipFill>
        <p:spPr>
          <a:xfrm>
            <a:off x="5457025" y="4846320"/>
            <a:ext cx="1278560" cy="640080"/>
          </a:xfrm>
          <a:prstGeom prst="rect">
            <a:avLst/>
          </a:prstGeom>
        </p:spPr>
      </p:pic>
      <p:sp>
        <p:nvSpPr>
          <p:cNvPr id="12" name="Text 5"/>
          <p:cNvSpPr/>
          <p:nvPr/>
        </p:nvSpPr>
        <p:spPr>
          <a:xfrm>
            <a:off x="457200" y="5632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LOUNGE SPONSOR</a:t>
            </a:r>
            <a:endParaRPr lang="en-US" sz="1000" dirty="0"/>
          </a:p>
        </p:txBody>
      </p:sp>
      <p:pic>
        <p:nvPicPr>
          <p:cNvPr id="13" name="Image 5" descr="/home/user/workspace/wroe-dallas-2026/deliverables/workbook/assets/sponsors/vsimple.png">    </p:cNvPr>
          <p:cNvPicPr>
            <a:picLocks noChangeAspect="1"/>
          </p:cNvPicPr>
          <p:nvPr/>
        </p:nvPicPr>
        <p:blipFill>
          <a:blip r:embed="rId6"/>
          <a:stretch>
            <a:fillRect/>
          </a:stretch>
        </p:blipFill>
        <p:spPr>
          <a:xfrm>
            <a:off x="5086064" y="5852160"/>
            <a:ext cx="2020481" cy="502920"/>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OUR COMMUNITY SPONSORS</a:t>
            </a:r>
            <a:endParaRPr lang="en-US" sz="2000" dirty="0"/>
          </a:p>
        </p:txBody>
      </p:sp>
      <p:sp>
        <p:nvSpPr>
          <p:cNvPr id="3" name="Text 1"/>
          <p:cNvSpPr/>
          <p:nvPr/>
        </p:nvSpPr>
        <p:spPr>
          <a:xfrm>
            <a:off x="457200" y="1051560"/>
            <a:ext cx="11277295" cy="548640"/>
          </a:xfrm>
          <a:prstGeom prst="rect">
            <a:avLst/>
          </a:prstGeom>
          <a:noFill/>
          <a:ln/>
        </p:spPr>
        <p:txBody>
          <a:bodyPr wrap="square" rtlCol="0" anchor="ctr"/>
          <a:lstStyle/>
          <a:p>
            <a:pPr algn="ctr" indent="0" marL="0">
              <a:buNone/>
            </a:pPr>
            <a:r>
              <a:rPr lang="en-US" sz="2600" i="1" dirty="0">
                <a:solidFill>
                  <a:srgbClr val="0B1F3A"/>
                </a:solidFill>
                <a:latin typeface="Calibri" pitchFamily="34" charset="0"/>
                <a:ea typeface="Calibri" pitchFamily="34" charset="-122"/>
                <a:cs typeface="Calibri" pitchFamily="34" charset="-120"/>
              </a:rPr>
              <a:t>Say hello at their tables</a:t>
            </a:r>
            <a:endParaRPr lang="en-US" sz="2600" dirty="0"/>
          </a:p>
        </p:txBody>
      </p:sp>
      <p:sp>
        <p:nvSpPr>
          <p:cNvPr id="4" name="Text 2"/>
          <p:cNvSpPr/>
          <p:nvPr/>
        </p:nvSpPr>
        <p:spPr>
          <a:xfrm>
            <a:off x="457200" y="214884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SWAG BAG SPONSORS</a:t>
            </a:r>
            <a:endParaRPr lang="en-US" sz="1000" dirty="0"/>
          </a:p>
        </p:txBody>
      </p:sp>
      <p:pic>
        <p:nvPicPr>
          <p:cNvPr id="5" name="Image 0" descr="/home/user/workspace/wroe-dallas-2026/deliverables/workbook/assets/sponsors/strata.png">    </p:cNvPr>
          <p:cNvPicPr>
            <a:picLocks noChangeAspect="1"/>
          </p:cNvPicPr>
          <p:nvPr/>
        </p:nvPicPr>
        <p:blipFill>
          <a:blip r:embed="rId1"/>
          <a:stretch>
            <a:fillRect/>
          </a:stretch>
        </p:blipFill>
        <p:spPr>
          <a:xfrm>
            <a:off x="2266112" y="2423160"/>
            <a:ext cx="3088386" cy="914400"/>
          </a:xfrm>
          <a:prstGeom prst="rect">
            <a:avLst/>
          </a:prstGeom>
        </p:spPr>
      </p:pic>
      <p:pic>
        <p:nvPicPr>
          <p:cNvPr id="6" name="Image 1" descr="/home/user/workspace/wroe-dallas-2026/deliverables/workbook/assets/sponsors/successco.png">    </p:cNvPr>
          <p:cNvPicPr>
            <a:picLocks noChangeAspect="1"/>
          </p:cNvPicPr>
          <p:nvPr/>
        </p:nvPicPr>
        <p:blipFill>
          <a:blip r:embed="rId2"/>
          <a:stretch>
            <a:fillRect/>
          </a:stretch>
        </p:blipFill>
        <p:spPr>
          <a:xfrm>
            <a:off x="6449492" y="2423160"/>
            <a:ext cx="3865626" cy="914400"/>
          </a:xfrm>
          <a:prstGeom prst="rect">
            <a:avLst/>
          </a:prstGeom>
        </p:spPr>
      </p:pic>
      <p:sp>
        <p:nvSpPr>
          <p:cNvPr id="7" name="Text 3"/>
          <p:cNvSpPr/>
          <p:nvPr/>
        </p:nvSpPr>
        <p:spPr>
          <a:xfrm>
            <a:off x="457200" y="370332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BOOTH SPONSORS</a:t>
            </a:r>
            <a:endParaRPr lang="en-US" sz="1000" dirty="0"/>
          </a:p>
        </p:txBody>
      </p:sp>
      <p:pic>
        <p:nvPicPr>
          <p:cNvPr id="8" name="Image 2" descr="/home/user/workspace/wroe-dallas-2026/deliverables/workbook/assets/sponsors/360consultingdfw.png">    </p:cNvPr>
          <p:cNvPicPr>
            <a:picLocks noChangeAspect="1"/>
          </p:cNvPicPr>
          <p:nvPr/>
        </p:nvPicPr>
        <p:blipFill>
          <a:blip r:embed="rId3"/>
          <a:stretch>
            <a:fillRect/>
          </a:stretch>
        </p:blipFill>
        <p:spPr>
          <a:xfrm>
            <a:off x="701345" y="4029531"/>
            <a:ext cx="2011680" cy="764897"/>
          </a:xfrm>
          <a:prstGeom prst="rect">
            <a:avLst/>
          </a:prstGeom>
        </p:spPr>
      </p:pic>
      <p:pic>
        <p:nvPicPr>
          <p:cNvPr id="9" name="Image 3" descr="/home/user/workspace/wroe-dallas-2026/deliverables/workbook/assets/sponsors/allinoneaccounting.png">    </p:cNvPr>
          <p:cNvPicPr>
            <a:picLocks noChangeAspect="1"/>
          </p:cNvPicPr>
          <p:nvPr/>
        </p:nvPicPr>
        <p:blipFill>
          <a:blip r:embed="rId4"/>
          <a:stretch>
            <a:fillRect/>
          </a:stretch>
        </p:blipFill>
        <p:spPr>
          <a:xfrm>
            <a:off x="3259550" y="4023360"/>
            <a:ext cx="1284389" cy="777240"/>
          </a:xfrm>
          <a:prstGeom prst="rect">
            <a:avLst/>
          </a:prstGeom>
        </p:spPr>
      </p:pic>
      <p:pic>
        <p:nvPicPr>
          <p:cNvPr id="10" name="Image 4" descr="/home/user/workspace/wroe-dallas-2026/deliverables/workbook/assets/sponsors/chiefaiofficer.png">    </p:cNvPr>
          <p:cNvPicPr>
            <a:picLocks noChangeAspect="1"/>
          </p:cNvPicPr>
          <p:nvPr/>
        </p:nvPicPr>
        <p:blipFill>
          <a:blip r:embed="rId5"/>
          <a:stretch>
            <a:fillRect/>
          </a:stretch>
        </p:blipFill>
        <p:spPr>
          <a:xfrm>
            <a:off x="5090465" y="4257414"/>
            <a:ext cx="2011680" cy="309133"/>
          </a:xfrm>
          <a:prstGeom prst="rect">
            <a:avLst/>
          </a:prstGeom>
        </p:spPr>
      </p:pic>
      <p:pic>
        <p:nvPicPr>
          <p:cNvPr id="11" name="Image 5" descr="/home/user/workspace/wroe-dallas-2026/deliverables/workbook/assets/sponsors/hoopshr.png">    </p:cNvPr>
          <p:cNvPicPr>
            <a:picLocks noChangeAspect="1"/>
          </p:cNvPicPr>
          <p:nvPr/>
        </p:nvPicPr>
        <p:blipFill>
          <a:blip r:embed="rId6"/>
          <a:stretch>
            <a:fillRect/>
          </a:stretch>
        </p:blipFill>
        <p:spPr>
          <a:xfrm>
            <a:off x="7467962" y="4023360"/>
            <a:ext cx="1645806" cy="777240"/>
          </a:xfrm>
          <a:prstGeom prst="rect">
            <a:avLst/>
          </a:prstGeom>
        </p:spPr>
      </p:pic>
      <p:pic>
        <p:nvPicPr>
          <p:cNvPr id="12" name="Image 6" descr="/home/user/workspace/wroe-dallas-2026/deliverables/workbook/assets/sponsors/readyforthenextlevel.png">    </p:cNvPr>
          <p:cNvPicPr>
            <a:picLocks noChangeAspect="1"/>
          </p:cNvPicPr>
          <p:nvPr/>
        </p:nvPicPr>
        <p:blipFill>
          <a:blip r:embed="rId7"/>
          <a:stretch>
            <a:fillRect/>
          </a:stretch>
        </p:blipFill>
        <p:spPr>
          <a:xfrm>
            <a:off x="9479585" y="4240188"/>
            <a:ext cx="2011680" cy="343583"/>
          </a:xfrm>
          <a:prstGeom prst="rect">
            <a:avLst/>
          </a:prstGeom>
        </p:spPr>
      </p:pic>
      <p:pic>
        <p:nvPicPr>
          <p:cNvPr id="13" name="Image 7" descr="/home/user/workspace/wroe-dallas-2026/deliverables/workbook/assets/sponsors/profitworks.png">    </p:cNvPr>
          <p:cNvPicPr>
            <a:picLocks noChangeAspect="1"/>
          </p:cNvPicPr>
          <p:nvPr/>
        </p:nvPicPr>
        <p:blipFill>
          <a:blip r:embed="rId8"/>
          <a:stretch>
            <a:fillRect/>
          </a:stretch>
        </p:blipFill>
        <p:spPr>
          <a:xfrm>
            <a:off x="701345" y="5260545"/>
            <a:ext cx="2011680" cy="405990"/>
          </a:xfrm>
          <a:prstGeom prst="rect">
            <a:avLst/>
          </a:prstGeom>
        </p:spPr>
      </p:pic>
      <p:pic>
        <p:nvPicPr>
          <p:cNvPr id="14" name="Image 8" descr="/home/user/workspace/wroe-dallas-2026/deliverables/workbook/assets/sponsors/talentharbor.png">    </p:cNvPr>
          <p:cNvPicPr>
            <a:picLocks noChangeAspect="1"/>
          </p:cNvPicPr>
          <p:nvPr/>
        </p:nvPicPr>
        <p:blipFill>
          <a:blip r:embed="rId9"/>
          <a:stretch>
            <a:fillRect/>
          </a:stretch>
        </p:blipFill>
        <p:spPr>
          <a:xfrm>
            <a:off x="2895905" y="5361837"/>
            <a:ext cx="2011680" cy="203405"/>
          </a:xfrm>
          <a:prstGeom prst="rect">
            <a:avLst/>
          </a:prstGeom>
        </p:spPr>
      </p:pic>
      <p:pic>
        <p:nvPicPr>
          <p:cNvPr id="15" name="Image 9" descr="/home/user/workspace/wroe-dallas-2026/deliverables/workbook/assets/sponsors/wolfsedgeintegrators.png">    </p:cNvPr>
          <p:cNvPicPr>
            <a:picLocks noChangeAspect="1"/>
          </p:cNvPicPr>
          <p:nvPr/>
        </p:nvPicPr>
        <p:blipFill>
          <a:blip r:embed="rId10"/>
          <a:stretch>
            <a:fillRect/>
          </a:stretch>
        </p:blipFill>
        <p:spPr>
          <a:xfrm>
            <a:off x="5090465" y="5183946"/>
            <a:ext cx="2011680" cy="559188"/>
          </a:xfrm>
          <a:prstGeom prst="rect">
            <a:avLst/>
          </a:prstGeom>
        </p:spPr>
      </p:pic>
      <p:pic>
        <p:nvPicPr>
          <p:cNvPr id="16" name="Image 10" descr="/home/user/workspace/wroe-dallas-2026/deliverables/workbook/assets/sponsors/vcfo.png">    </p:cNvPr>
          <p:cNvPicPr>
            <a:picLocks noChangeAspect="1"/>
          </p:cNvPicPr>
          <p:nvPr/>
        </p:nvPicPr>
        <p:blipFill>
          <a:blip r:embed="rId11"/>
          <a:stretch>
            <a:fillRect/>
          </a:stretch>
        </p:blipFill>
        <p:spPr>
          <a:xfrm>
            <a:off x="7285025" y="5234711"/>
            <a:ext cx="2011680" cy="457657"/>
          </a:xfrm>
          <a:prstGeom prst="rect">
            <a:avLst/>
          </a:prstGeom>
        </p:spPr>
      </p:pic>
      <p:sp>
        <p:nvSpPr>
          <p:cNvPr id="17" name="Shape 4"/>
          <p:cNvSpPr/>
          <p:nvPr/>
        </p:nvSpPr>
        <p:spPr>
          <a:xfrm>
            <a:off x="0" y="6675120"/>
            <a:ext cx="12191695" cy="182880"/>
          </a:xfrm>
          <a:prstGeom prst="rect">
            <a:avLst/>
          </a:prstGeom>
          <a:solidFill>
            <a:srgbClr val="E87722"/>
          </a:solidFill>
          <a:ln w="12700">
            <a:solidFill>
              <a:srgbClr val="E87722"/>
            </a:solidFill>
            <a:prstDash val="solid"/>
          </a:ln>
        </p:spPr>
      </p:sp>
      <p:sp>
        <p:nvSpPr>
          <p:cNvPr id="18" name="Text 5"/>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9" name="Text 6"/>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3  ·  4:45 – 6:15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The 10 Pillars of Visionary Greatness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C. Winters</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The 10 Pillars of Visionary Greatness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C. Winters  ·  4:45 – 6:15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10-Pillars-of-Visionary-Greatness.pptx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822960"/>
            <a:ext cx="11277295" cy="457200"/>
          </a:xfrm>
          <a:prstGeom prst="rect">
            <a:avLst/>
          </a:prstGeom>
          <a:noFill/>
          <a:ln/>
        </p:spPr>
        <p:txBody>
          <a:bodyPr wrap="square" rtlCol="0" anchor="ctr"/>
          <a:lstStyle/>
          <a:p>
            <a:pPr algn="ctr" indent="0" marL="0">
              <a:buNone/>
            </a:pPr>
            <a:r>
              <a:rPr lang="en-US" sz="2200" b="1" spc="1200" kern="0" dirty="0">
                <a:solidFill>
                  <a:srgbClr val="E87722"/>
                </a:solidFill>
                <a:latin typeface="Calibri" pitchFamily="34" charset="0"/>
                <a:ea typeface="Calibri" pitchFamily="34" charset="-122"/>
                <a:cs typeface="Calibri" pitchFamily="34" charset="-120"/>
              </a:rPr>
              <a:t>HAPPY HOUR</a:t>
            </a:r>
            <a:endParaRPr lang="en-US" sz="2200" dirty="0"/>
          </a:p>
        </p:txBody>
      </p:sp>
      <p:sp>
        <p:nvSpPr>
          <p:cNvPr id="3" name="Text 1"/>
          <p:cNvSpPr/>
          <p:nvPr/>
        </p:nvSpPr>
        <p:spPr>
          <a:xfrm>
            <a:off x="457200" y="1417320"/>
            <a:ext cx="11277295" cy="1463040"/>
          </a:xfrm>
          <a:prstGeom prst="rect">
            <a:avLst/>
          </a:prstGeom>
          <a:noFill/>
          <a:ln/>
        </p:spPr>
        <p:txBody>
          <a:bodyPr wrap="square" rtlCol="0" anchor="ctr"/>
          <a:lstStyle/>
          <a:p>
            <a:pPr algn="ctr" indent="0" marL="0">
              <a:buNone/>
            </a:pPr>
            <a:r>
              <a:rPr lang="en-US" sz="13000" b="1" dirty="0">
                <a:solidFill>
                  <a:srgbClr val="FFFFFF"/>
                </a:solidFill>
                <a:latin typeface="Calibri" pitchFamily="34" charset="0"/>
                <a:ea typeface="Calibri" pitchFamily="34" charset="-122"/>
                <a:cs typeface="Calibri" pitchFamily="34" charset="-120"/>
              </a:rPr>
              <a:t>6:15 PM</a:t>
            </a:r>
            <a:endParaRPr lang="en-US" sz="13000" dirty="0"/>
          </a:p>
        </p:txBody>
      </p:sp>
      <p:sp>
        <p:nvSpPr>
          <p:cNvPr id="4" name="Shape 2"/>
          <p:cNvSpPr/>
          <p:nvPr/>
        </p:nvSpPr>
        <p:spPr>
          <a:xfrm>
            <a:off x="3901288" y="3246120"/>
            <a:ext cx="4389120" cy="137160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3901288" y="3355848"/>
            <a:ext cx="4389120" cy="22860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SPONSORED BY</a:t>
            </a:r>
            <a:endParaRPr lang="en-US" sz="1000" dirty="0"/>
          </a:p>
        </p:txBody>
      </p:sp>
      <p:pic>
        <p:nvPicPr>
          <p:cNvPr id="6" name="Image 0" descr="/home/user/workspace/wroe-dallas-2026/deliverables/workbook/assets/sponsors/ninety.png">    </p:cNvPr>
          <p:cNvPicPr>
            <a:picLocks noChangeAspect="1"/>
          </p:cNvPicPr>
          <p:nvPr/>
        </p:nvPicPr>
        <p:blipFill>
          <a:blip r:embed="rId1"/>
          <a:stretch>
            <a:fillRect/>
          </a:stretch>
        </p:blipFill>
        <p:spPr>
          <a:xfrm>
            <a:off x="5228253" y="3634740"/>
            <a:ext cx="1735188" cy="868680"/>
          </a:xfrm>
          <a:prstGeom prst="rect">
            <a:avLst/>
          </a:prstGeom>
        </p:spPr>
      </p:pic>
      <p:sp>
        <p:nvSpPr>
          <p:cNvPr id="7" name="Text 4"/>
          <p:cNvSpPr/>
          <p:nvPr/>
        </p:nvSpPr>
        <p:spPr>
          <a:xfrm>
            <a:off x="457200" y="4892040"/>
            <a:ext cx="11277295" cy="54864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Stay. Meet someone new. Celebrate what you learned today.</a:t>
            </a:r>
            <a:endParaRPr lang="en-US" sz="2200" dirty="0"/>
          </a:p>
        </p:txBody>
      </p:sp>
      <p:sp>
        <p:nvSpPr>
          <p:cNvPr id="8" name="Text 5"/>
          <p:cNvSpPr/>
          <p:nvPr/>
        </p:nvSpPr>
        <p:spPr>
          <a:xfrm>
            <a:off x="457200" y="5532120"/>
            <a:ext cx="11277295" cy="457200"/>
          </a:xfrm>
          <a:prstGeom prst="rect">
            <a:avLst/>
          </a:prstGeom>
          <a:noFill/>
          <a:ln/>
        </p:spPr>
        <p:txBody>
          <a:bodyPr wrap="square" rtlCol="0" anchor="ctr"/>
          <a:lstStyle/>
          <a:p>
            <a:pPr algn="ctr" indent="0" marL="0">
              <a:buNone/>
            </a:pPr>
            <a:r>
              <a:rPr lang="en-US" sz="1800" dirty="0">
                <a:solidFill>
                  <a:srgbClr val="D4DFEA"/>
                </a:solidFill>
                <a:latin typeface="Calibri" pitchFamily="34" charset="0"/>
                <a:ea typeface="Calibri" pitchFamily="34" charset="-122"/>
                <a:cs typeface="Calibri" pitchFamily="34" charset="-120"/>
              </a:rPr>
              <a:t>See you next year.</a:t>
            </a:r>
            <a:endParaRPr lang="en-US" sz="1800" dirty="0"/>
          </a:p>
        </p:txBody>
      </p:sp>
      <p:sp>
        <p:nvSpPr>
          <p:cNvPr id="9"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0"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North Texas EOS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Event Deck</dc:title>
  <dc:subject>Event day presentation deck for emcees, break loops, and session intros</dc:subject>
  <dc:creator>WRoEOS North Texas</dc:creator>
  <cp:lastModifiedBy>WRoEOS North Texas</cp:lastModifiedBy>
  <cp:revision>1</cp:revision>
  <dcterms:created xsi:type="dcterms:W3CDTF">2026-09-13T15:35:45Z</dcterms:created>
  <dcterms:modified xsi:type="dcterms:W3CDTF">2026-09-13T15:35:45Z</dcterms:modified>
</cp:coreProperties>
</file>