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jpe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media/image2.jpeg" ContentType="image/jpeg"/>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media/image3.jpeg" ContentType="image/jpeg"/>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media/image4.jpeg" ContentType="image/jpeg"/>
  <Override PartName="/ppt/notesSlides/notesSlide51.xml" ContentType="application/vnd.openxmlformats-officedocument.presentationml.notesSlide+xml"/>
  <Override PartName="/ppt/notesSlides/notesSlide52.xml" ContentType="application/vnd.openxmlformats-officedocument.presentationml.notesSlide+xml"/>
  <Override PartName="/ppt/media/image5.jpeg" ContentType="image/jpeg"/>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8.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49.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0.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1.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2.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3.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4.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5.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6.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7.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8.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59.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 name="Shape 29"/>
          <p:cNvSpPr/>
          <p:nvPr>
            <p:ph type="sldImg"/>
          </p:nvPr>
        </p:nvSpPr>
        <p:spPr>
          <a:prstGeom prst="rect">
            <a:avLst/>
          </a:prstGeom>
        </p:spPr>
        <p:txBody>
          <a:bodyPr/>
          <a:lstStyle/>
          <a:p>
            <a:pPr/>
          </a:p>
        </p:txBody>
      </p:sp>
      <p:sp>
        <p:nvSpPr>
          <p:cNvPr id="30" name="Shape 30"/>
          <p:cNvSpPr/>
          <p:nvPr>
            <p:ph type="body" sz="quarter" idx="1"/>
          </p:nvPr>
        </p:nvSpPr>
        <p:spPr>
          <a:prstGeom prst="rect">
            <a:avLst/>
          </a:prstGeom>
        </p:spPr>
        <p:txBody>
          <a:bodyPr/>
          <a:lstStyle/>
          <a:p>
            <a:pPr/>
            <a:r>
              <a:t>Title slide. Replace the title, your name, and handle. Leave the logo, event line, and footer as they are.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36"/>
          <p:cNvSpPr/>
          <p:nvPr>
            <p:ph type="sldImg"/>
          </p:nvPr>
        </p:nvSpPr>
        <p:spPr>
          <a:prstGeom prst="rect">
            <a:avLst/>
          </a:prstGeom>
        </p:spPr>
        <p:txBody>
          <a:bodyPr/>
          <a:lstStyle/>
          <a:p>
            <a:pPr/>
          </a:p>
        </p:txBody>
      </p:sp>
      <p:sp>
        <p:nvSpPr>
          <p:cNvPr id="37" name="Shape 37"/>
          <p:cNvSpPr/>
          <p:nvPr>
            <p:ph type="body" sz="quarter" idx="1"/>
          </p:nvPr>
        </p:nvSpPr>
        <p:spPr>
          <a:prstGeom prst="rect">
            <a:avLst/>
          </a:prstGeom>
        </p:spPr>
        <p:txBody>
          <a:bodyPr/>
          <a:lstStyle/>
          <a:p>
            <a:pPr/>
            <a:r>
              <a:t>Almost 15 months ago, June 29th 2025 I was laying on the ceramic tile floor of a condominium we rented in Amelia Island Florida for our extended family July 4th vacation.</a:t>
            </a:r>
          </a:p>
          <a:p>
            <a:pPr/>
            <a:r>
              <a:t>And on my chest was my youngest daughter Jane 3rd year medical student and she was in the process of administering 9 minutes of CPR and to her right on her knees was my oldest daughter Marion and Marion was singing the tune staying alive staying alive staying alive La La La La stay alive apparently that is the correct cpr rhythm, standing over them was my wife with one year old granddaughter Ashby </a:t>
            </a:r>
          </a:p>
          <a:p>
            <a:pPr/>
            <a:r>
              <a:t>and over the next 18 hours three different times groups of doctors sat down with my wife and daughters and told them these words do not hold out hope, do not hold out hope </a:t>
            </a:r>
          </a:p>
          <a:p>
            <a:pPr/>
            <a:r>
              <a:t>I had suffered from what's called an aortic dissection which is basically a big rupture in your aorta above your heart and your heart pumps all of your blood into your chest cavity </a:t>
            </a:r>
          </a:p>
          <a:p>
            <a:pPr/>
            <a:r>
              <a:t>it's a big deal they cut me open and went in and replaced my aortic arch with a man made version </a:t>
            </a:r>
          </a:p>
          <a:p>
            <a:pPr/>
            <a:r>
              <a:t>during the surgery, my Sister-in-law Dr. Marion and her husband doctor Kelly both surgeons out of Seattle show up and say this to my wife and daughters do not hold out hope and if he does survive, he will had a severe heart attack or a life crippling stroke and then probably will die from complications soon after</a:t>
            </a:r>
          </a:p>
          <a:p>
            <a:pPr/>
            <a:r>
              <a:t> Fast forward this past July and I'm sitting on the beach feet in the sand and water one of those low chairs under an umbrella Jane to my left Marion to my right and Jane says you know dad for the first 5 minutes of the 9 minutes you weren't breathing and Marion pipes up yeah dad you were grey  I know what a dead person looks like.</a:t>
            </a:r>
          </a:p>
          <a:p>
            <a:pPr/>
            <a:r>
              <a:t>Yes, this type of event that will make one reflect and think pretty deeply about why you were left on earth, why St. Peter threw you back… </a:t>
            </a:r>
          </a:p>
          <a:p>
            <a:pPr/>
            <a:r>
              <a:t>But I really didn't have to go that far, it was right in front of me, I was left on earth to finish my life’s work, I was left on earth to complete the mission to extend the mission to extend the mission of what I was doing on earth through EOS</a:t>
            </a:r>
          </a:p>
          <a:p>
            <a:pPr/>
            <a:r>
              <a:t>And what we do through EOS is we remove the confusion and dysfunction that exists in companies and organizations that holds people back from living in a life of hope and peace we destroy the confusion, and we destroy the dysfunction that creates the fear that creates more confusion and dysfunction that keeps them from living in peace, and hope.  4:26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 name="Shape 43"/>
          <p:cNvSpPr/>
          <p:nvPr>
            <p:ph type="sldImg"/>
          </p:nvPr>
        </p:nvSpPr>
        <p:spPr>
          <a:prstGeom prst="rect">
            <a:avLst/>
          </a:prstGeom>
        </p:spPr>
        <p:txBody>
          <a:bodyPr/>
          <a:lstStyle/>
          <a:p>
            <a:pPr/>
          </a:p>
        </p:txBody>
      </p:sp>
      <p:sp>
        <p:nvSpPr>
          <p:cNvPr id="44" name="Shape 44"/>
          <p:cNvSpPr/>
          <p:nvPr>
            <p:ph type="body" sz="quarter" idx="1"/>
          </p:nvPr>
        </p:nvSpPr>
        <p:spPr>
          <a:prstGeom prst="rect">
            <a:avLst/>
          </a:prstGeom>
        </p:spPr>
        <p:txBody>
          <a:bodyPr/>
          <a:lstStyle/>
          <a:p>
            <a:pPr>
              <a:defRPr sz="2000"/>
            </a:pPr>
            <a:r>
              <a:t>At EOS we call this Healthy. (Pause, then click to Healthy Matters and Pause)</a:t>
            </a:r>
          </a:p>
          <a:p>
            <a:pPr>
              <a:defRPr sz="2000"/>
            </a:pPr>
          </a:p>
          <a:p>
            <a:pPr>
              <a:defRPr sz="2000"/>
            </a:pPr>
            <a:r>
              <a:t>As in Patrick Lencioni’s Healthy and Smart (Video)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 name="Shape 56"/>
          <p:cNvSpPr/>
          <p:nvPr>
            <p:ph type="sldImg"/>
          </p:nvPr>
        </p:nvSpPr>
        <p:spPr>
          <a:prstGeom prst="rect">
            <a:avLst/>
          </a:prstGeom>
        </p:spPr>
        <p:txBody>
          <a:bodyPr/>
          <a:lstStyle/>
          <a:p>
            <a:pPr/>
          </a:p>
        </p:txBody>
      </p:sp>
      <p:sp>
        <p:nvSpPr>
          <p:cNvPr id="57" name="Shape 57"/>
          <p:cNvSpPr/>
          <p:nvPr>
            <p:ph type="body" sz="quarter" idx="1"/>
          </p:nvPr>
        </p:nvSpPr>
        <p:spPr>
          <a:prstGeom prst="rect">
            <a:avLst/>
          </a:prstGeom>
        </p:spPr>
        <p:txBody>
          <a:bodyPr/>
          <a:lstStyle/>
          <a:p>
            <a:pPr/>
            <a:r>
              <a:t>I’m going to invite in our special guest , Patrick lencioni to explain healthy better than I can.  3:12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 name="Shape 63"/>
          <p:cNvSpPr/>
          <p:nvPr>
            <p:ph type="sldImg"/>
          </p:nvPr>
        </p:nvSpPr>
        <p:spPr>
          <a:prstGeom prst="rect">
            <a:avLst/>
          </a:prstGeom>
        </p:spPr>
        <p:txBody>
          <a:bodyPr/>
          <a:lstStyle/>
          <a:p>
            <a:pPr/>
          </a:p>
        </p:txBody>
      </p:sp>
      <p:sp>
        <p:nvSpPr>
          <p:cNvPr id="64" name="Shape 64"/>
          <p:cNvSpPr/>
          <p:nvPr>
            <p:ph type="body" sz="quarter" idx="1"/>
          </p:nvPr>
        </p:nvSpPr>
        <p:spPr>
          <a:prstGeom prst="rect">
            <a:avLst/>
          </a:prstGeom>
        </p:spPr>
        <p:txBody>
          <a:bodyPr/>
          <a:lstStyle/>
          <a:p>
            <a:pPr>
              <a:defRPr sz="1500"/>
            </a:pPr>
            <a:r>
              <a:t>Vision Traction Healthy  The three EOS Core Promise these are our three core promises we make to our clients, our brand promises </a:t>
            </a:r>
          </a:p>
          <a:p>
            <a:pPr>
              <a:defRPr sz="1500"/>
            </a:pPr>
            <a:r>
              <a:t>And we say: </a:t>
            </a:r>
          </a:p>
          <a:p>
            <a:pPr>
              <a:defRPr sz="1500"/>
            </a:pPr>
          </a:p>
          <a:p>
            <a:pPr>
              <a:defRPr sz="1500"/>
            </a:pPr>
            <a:r>
              <a:t>We work with owners and </a:t>
            </a:r>
            <a:r>
              <a:rPr b="1"/>
              <a:t>leadership</a:t>
            </a:r>
            <a:r>
              <a:t> teams of privately held companies to help them get what they want from their business. </a:t>
            </a:r>
          </a:p>
          <a:p>
            <a:pPr>
              <a:defRPr sz="1500"/>
            </a:pPr>
            <a:r>
              <a:t>We do this by bringing a complete system with a simple set of tools that when properly installed allows you to permanently enjoy three things we call vision, traction, healthy.</a:t>
            </a:r>
          </a:p>
          <a:p>
            <a:pPr>
              <a:defRPr sz="1500"/>
            </a:pPr>
          </a:p>
          <a:p>
            <a:pPr>
              <a:defRPr sz="1500"/>
            </a:pPr>
            <a:r>
              <a:t>1. Vision, from the standpoint of first getting your </a:t>
            </a:r>
            <a:r>
              <a:rPr b="1"/>
              <a:t>leaders</a:t>
            </a:r>
            <a:r>
              <a:t> 100% on the same page with where your </a:t>
            </a:r>
          </a:p>
          <a:p>
            <a:pPr>
              <a:defRPr sz="1500"/>
            </a:pPr>
            <a:r>
              <a:t>organization is going and how it is going to get there. </a:t>
            </a:r>
          </a:p>
          <a:p>
            <a:pPr>
              <a:defRPr sz="1500"/>
            </a:pPr>
          </a:p>
          <a:p>
            <a:pPr>
              <a:defRPr sz="1500"/>
            </a:pPr>
            <a:r>
              <a:t>2. Traction, from the standpoint of helping your</a:t>
            </a:r>
            <a:r>
              <a:rPr b="1"/>
              <a:t> leaders</a:t>
            </a:r>
            <a:r>
              <a:t> become more accountable and disciplined,</a:t>
            </a:r>
          </a:p>
          <a:p>
            <a:pPr>
              <a:defRPr sz="1500"/>
            </a:pPr>
            <a:r>
              <a:t>executing really well to achieve every part of your vision. Your leaders Rowing together. </a:t>
            </a:r>
          </a:p>
          <a:p>
            <a:pPr>
              <a:defRPr sz="1500"/>
            </a:pPr>
          </a:p>
          <a:p>
            <a:pPr>
              <a:defRPr sz="1500"/>
            </a:pPr>
            <a:r>
              <a:t>3. Healthy, meaning helping your </a:t>
            </a:r>
            <a:r>
              <a:rPr b="1"/>
              <a:t>leaders</a:t>
            </a:r>
            <a:r>
              <a:t> to become a healthy, functional, cohesive leadership team, because unfortunately, leaders often don’t function well as a team.</a:t>
            </a:r>
          </a:p>
          <a:p>
            <a:pPr>
              <a:defRPr sz="1500"/>
            </a:pPr>
          </a:p>
          <a:p>
            <a:pPr>
              <a:defRPr sz="1500"/>
            </a:pPr>
            <a:r>
              <a:t>From there, </a:t>
            </a:r>
            <a:r>
              <a:rPr b="1" i="1"/>
              <a:t>as goes your leadership team, so goes the rest of your organization</a:t>
            </a:r>
            <a:r>
              <a:t>. You get to the point where your entire organization is crystal clear on your vision, all much more and accountable and disciplined, executing well, gaining consistent traction, </a:t>
            </a:r>
          </a:p>
          <a:p>
            <a:pPr>
              <a:defRPr sz="1500"/>
            </a:pPr>
          </a:p>
          <a:p>
            <a:pPr>
              <a:defRPr sz="1500"/>
            </a:pPr>
            <a:r>
              <a:t>And we are Advancing as a healthy, functional, cohesive team.</a:t>
            </a:r>
          </a:p>
          <a:p>
            <a:pPr>
              <a:defRPr sz="1500"/>
            </a:pPr>
          </a:p>
          <a:p>
            <a:pPr>
              <a:defRPr sz="1500"/>
            </a:pPr>
            <a:r>
              <a:t>That’s what I’m selling, would you like to buy some? 1:52</a:t>
            </a:r>
          </a:p>
          <a:p>
            <a:pPr>
              <a:defRPr sz="1800"/>
            </a:pPr>
          </a:p>
          <a:p>
            <a:pPr>
              <a:defRPr sz="1800"/>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Shape 72"/>
          <p:cNvSpPr/>
          <p:nvPr>
            <p:ph type="sldImg"/>
          </p:nvPr>
        </p:nvSpPr>
        <p:spPr>
          <a:prstGeom prst="rect">
            <a:avLst/>
          </a:prstGeom>
        </p:spPr>
        <p:txBody>
          <a:bodyPr/>
          <a:lstStyle/>
          <a:p>
            <a:pPr/>
          </a:p>
        </p:txBody>
      </p:sp>
      <p:sp>
        <p:nvSpPr>
          <p:cNvPr id="73" name="Shape 73"/>
          <p:cNvSpPr/>
          <p:nvPr>
            <p:ph type="body" sz="quarter" idx="1"/>
          </p:nvPr>
        </p:nvSpPr>
        <p:spPr>
          <a:prstGeom prst="rect">
            <a:avLst/>
          </a:prstGeom>
        </p:spPr>
        <p:txBody>
          <a:bodyPr/>
          <a:lstStyle/>
          <a:p>
            <a:pPr>
              <a:defRPr sz="2000"/>
            </a:pPr>
            <a:r>
              <a:t>But then,</a:t>
            </a:r>
          </a:p>
          <a:p>
            <a:pPr>
              <a:defRPr sz="2000"/>
            </a:pPr>
            <a:r>
              <a:t>EOS hits a ceiling.</a:t>
            </a:r>
          </a:p>
          <a:p>
            <a:pPr>
              <a:defRPr sz="2000"/>
            </a:pPr>
            <a:r>
              <a:t>EOS breaks down.</a:t>
            </a:r>
          </a:p>
          <a:p>
            <a:pPr>
              <a:defRPr sz="2000"/>
            </a:pPr>
            <a:r>
              <a:t>And it is our fault.</a:t>
            </a:r>
          </a:p>
          <a:p>
            <a:pPr>
              <a:defRPr sz="2000"/>
            </a:pPr>
          </a:p>
          <a:p>
            <a:pPr>
              <a:defRPr sz="2000"/>
            </a:pPr>
            <a:r>
              <a:t>And this is the problem</a:t>
            </a:r>
          </a:p>
          <a:p>
            <a:pPr>
              <a:defRPr sz="2000"/>
            </a:pPr>
            <a:r>
              <a:t>We are so focused on the Sr. Leadership team that we lose sight of everyone else.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Shape 80"/>
          <p:cNvSpPr/>
          <p:nvPr>
            <p:ph type="sldImg"/>
          </p:nvPr>
        </p:nvSpPr>
        <p:spPr>
          <a:prstGeom prst="rect">
            <a:avLst/>
          </a:prstGeom>
        </p:spPr>
        <p:txBody>
          <a:bodyPr/>
          <a:lstStyle/>
          <a:p>
            <a:pPr/>
          </a:p>
        </p:txBody>
      </p:sp>
      <p:sp>
        <p:nvSpPr>
          <p:cNvPr id="81" name="Shape 81"/>
          <p:cNvSpPr/>
          <p:nvPr>
            <p:ph type="body" sz="quarter" idx="1"/>
          </p:nvPr>
        </p:nvSpPr>
        <p:spPr>
          <a:prstGeom prst="rect">
            <a:avLst/>
          </a:prstGeom>
        </p:spPr>
        <p:txBody>
          <a:bodyPr/>
          <a:lstStyle/>
          <a:p>
            <a:pPr>
              <a:defRPr sz="1800"/>
            </a:pPr>
            <a:r>
              <a:t>We make a bold assumptive claim:</a:t>
            </a:r>
          </a:p>
          <a:p>
            <a:pPr>
              <a:defRPr sz="1800"/>
            </a:pPr>
          </a:p>
          <a:p>
            <a:pPr>
              <a:defRPr sz="1800"/>
            </a:pPr>
            <a:r>
              <a:rPr b="1"/>
              <a:t>“as goes the leadership team goes so goes the rest of the organization “</a:t>
            </a:r>
          </a:p>
          <a:p>
            <a:pPr>
              <a:defRPr sz="1800"/>
            </a:pPr>
          </a:p>
          <a:p>
            <a:pPr>
              <a:defRPr sz="1800"/>
            </a:pPr>
            <a:r>
              <a:t>And this is what I'm here to talk to you about today </a:t>
            </a:r>
          </a:p>
          <a:p>
            <a:pPr>
              <a:defRPr sz="1800"/>
            </a:pPr>
          </a:p>
          <a:p>
            <a:pPr>
              <a:defRPr sz="1800"/>
            </a:pPr>
            <a:r>
              <a:t>Yeah, EOS does an amazing job in creating clarity around vision at the </a:t>
            </a:r>
            <a:r>
              <a:rPr b="1"/>
              <a:t>Sr. Leadership Team</a:t>
            </a:r>
            <a:r>
              <a:t> Level, and it does a great job to create traction, individual accountability and discipline, at the </a:t>
            </a:r>
            <a:r>
              <a:rPr b="1"/>
              <a:t>Sr. Leadership Team</a:t>
            </a:r>
            <a:r>
              <a:t> Level.</a:t>
            </a:r>
          </a:p>
          <a:p>
            <a:pPr>
              <a:defRPr sz="1800"/>
            </a:pPr>
          </a:p>
          <a:p>
            <a:pPr>
              <a:defRPr sz="1800"/>
            </a:pPr>
            <a:r>
              <a:t>And it does a great job at creating healthy, functional cohesive </a:t>
            </a:r>
            <a:r>
              <a:rPr b="1"/>
              <a:t>Senior leadership Teams</a:t>
            </a:r>
          </a:p>
          <a:p>
            <a:pPr>
              <a:defRPr sz="1800"/>
            </a:pPr>
          </a:p>
          <a:p>
            <a:pPr>
              <a:defRPr sz="1800"/>
            </a:pPr>
            <a:r>
              <a:t>Nobody can match us here.</a:t>
            </a:r>
          </a:p>
          <a:p>
            <a:pPr>
              <a:defRPr sz="1800"/>
            </a:pPr>
          </a:p>
          <a:p>
            <a:pPr>
              <a:defRPr sz="1800"/>
            </a:pPr>
            <a:r>
              <a:t>And often times, for smaller companies, for the original core target of EOS, this is enough.</a:t>
            </a:r>
          </a:p>
          <a:p>
            <a:pPr>
              <a:defRPr sz="1800"/>
            </a:pPr>
          </a:p>
          <a:p>
            <a:pPr>
              <a:defRPr sz="1800"/>
            </a:pPr>
            <a:r>
              <a:t>But very, very often: EOS hits the ceiling, it breaks down as we try to get outside of the Sr. Leadership Team.</a:t>
            </a:r>
          </a:p>
          <a:p>
            <a:pPr>
              <a:defRPr sz="1800"/>
            </a:pPr>
          </a:p>
          <a:p>
            <a:pPr>
              <a:defRPr sz="1800"/>
            </a:pPr>
            <a:r>
              <a:rPr b="1"/>
              <a:t>“as goes the leadership team, so goes the rest of the organization.”</a:t>
            </a:r>
            <a:r>
              <a:t> </a:t>
            </a:r>
          </a:p>
          <a:p>
            <a:pPr>
              <a:defRPr sz="1800"/>
            </a:pPr>
            <a:r>
              <a:t>Is a little presumptive. A little open ended. I think it is a little naive.  And Frankly it is a bit lazy leaving things to chance.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lvl1pPr>
              <a:defRPr sz="2000"/>
            </a:lvl1pPr>
          </a:lstStyle>
          <a:p>
            <a:pPr/>
            <a:r>
              <a:t>Where it breaks down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defRPr sz="2000"/>
            </a:pPr>
            <a:r>
              <a:t>where it breaks down</a:t>
            </a:r>
          </a:p>
          <a:p>
            <a:pPr>
              <a:defRPr sz="2000"/>
            </a:pPr>
          </a:p>
          <a:p>
            <a:pPr>
              <a:defRPr sz="2000"/>
            </a:pPr>
            <a:r>
              <a:t> is it never gets out to or embraced by the front lines!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Shape 107"/>
          <p:cNvSpPr/>
          <p:nvPr>
            <p:ph type="sldImg"/>
          </p:nvPr>
        </p:nvSpPr>
        <p:spPr>
          <a:prstGeom prst="rect">
            <a:avLst/>
          </a:prstGeom>
        </p:spPr>
        <p:txBody>
          <a:bodyPr/>
          <a:lstStyle/>
          <a:p>
            <a:pPr/>
          </a:p>
        </p:txBody>
      </p:sp>
      <p:sp>
        <p:nvSpPr>
          <p:cNvPr id="108" name="Shape 108"/>
          <p:cNvSpPr/>
          <p:nvPr>
            <p:ph type="body" sz="quarter" idx="1"/>
          </p:nvPr>
        </p:nvSpPr>
        <p:spPr>
          <a:prstGeom prst="rect">
            <a:avLst/>
          </a:prstGeom>
        </p:spPr>
        <p:txBody>
          <a:bodyPr/>
          <a:lstStyle/>
          <a:p>
            <a:pPr>
              <a:defRPr sz="2000"/>
            </a:pPr>
            <a:r>
              <a:t>where it breaks down </a:t>
            </a:r>
          </a:p>
          <a:p>
            <a:pPr>
              <a:defRPr sz="2000"/>
            </a:pPr>
          </a:p>
          <a:p>
            <a:pPr>
              <a:defRPr sz="2000"/>
            </a:pPr>
            <a:r>
              <a:t>is in the buy in and belief in EOS beyond leadership and management.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defRPr sz="2000"/>
            </a:pPr>
            <a:r>
              <a:t>where it breaks down is in the rollout, </a:t>
            </a:r>
          </a:p>
          <a:p>
            <a:pPr>
              <a:defRPr sz="2000"/>
            </a:pPr>
          </a:p>
          <a:p>
            <a:pPr>
              <a:defRPr sz="2000"/>
            </a:pPr>
            <a:r>
              <a:t>because you don’t have a message</a:t>
            </a:r>
          </a:p>
          <a:p>
            <a:pPr>
              <a:defRPr sz="2000"/>
            </a:pPr>
          </a:p>
          <a:p>
            <a:pPr>
              <a:defRPr sz="2000"/>
            </a:pPr>
            <a:r>
              <a:t>(Maybe Beth will talk about this later today, maybe.)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lvl1pPr>
              <a:defRPr sz="2000"/>
            </a:lvl1pPr>
          </a:lstStyle>
          <a:p>
            <a:pPr/>
            <a:r>
              <a:t>We call this break down  Hitting the Ceiling in EOS Language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defRPr sz="2000"/>
            </a:pPr>
            <a:r>
              <a:t>This is the fact:</a:t>
            </a:r>
          </a:p>
          <a:p>
            <a:pPr>
              <a:defRPr sz="2000"/>
            </a:pPr>
            <a:r>
              <a:t>Your Employees see EOS as being done to them and not for them, </a:t>
            </a:r>
          </a:p>
          <a:p>
            <a:pPr>
              <a:defRPr sz="2000"/>
            </a:pPr>
            <a:r>
              <a:t>They do not understand the Why, </a:t>
            </a:r>
          </a:p>
          <a:p>
            <a:pPr>
              <a:defRPr sz="2000"/>
            </a:pPr>
            <a:r>
              <a:t>They cannot tune into their favorite radio station,  WIIFM, what’s in it for me, they do not understand what is in it for them.</a:t>
            </a:r>
          </a:p>
          <a:p>
            <a:pPr>
              <a:defRPr sz="2000"/>
            </a:pPr>
            <a:r>
              <a:t>We must flip the script – we must have them buy in to the fact that EOS is being done For them and not To them.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defRPr sz="2000"/>
            </a:pPr>
            <a:r>
              <a:t>This is the fact:</a:t>
            </a:r>
          </a:p>
          <a:p>
            <a:pPr>
              <a:defRPr sz="2000"/>
            </a:pPr>
            <a:r>
              <a:t>Your Employees see EOS as being done to them and not for them, </a:t>
            </a:r>
          </a:p>
          <a:p>
            <a:pPr>
              <a:defRPr sz="2000"/>
            </a:pPr>
            <a:r>
              <a:t>They do not understand the Why, </a:t>
            </a:r>
          </a:p>
          <a:p>
            <a:pPr>
              <a:defRPr sz="2000"/>
            </a:pPr>
            <a:r>
              <a:t>They cannot tune into their favorite radio station,  WIIFM, what’s in it for me, they do not understand what is in it for them.</a:t>
            </a:r>
          </a:p>
          <a:p>
            <a:pPr>
              <a:defRPr sz="2000"/>
            </a:pPr>
            <a:r>
              <a:t>We must flip the script – we must have them buy in to the fact that EOS is being done For them and not To them.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Shape 155"/>
          <p:cNvSpPr/>
          <p:nvPr>
            <p:ph type="sldImg"/>
          </p:nvPr>
        </p:nvSpPr>
        <p:spPr>
          <a:prstGeom prst="rect">
            <a:avLst/>
          </a:prstGeom>
        </p:spPr>
        <p:txBody>
          <a:bodyPr/>
          <a:lstStyle/>
          <a:p>
            <a:pPr/>
          </a:p>
        </p:txBody>
      </p:sp>
      <p:sp>
        <p:nvSpPr>
          <p:cNvPr id="156" name="Shape 156"/>
          <p:cNvSpPr/>
          <p:nvPr>
            <p:ph type="body" sz="quarter" idx="1"/>
          </p:nvPr>
        </p:nvSpPr>
        <p:spPr>
          <a:prstGeom prst="rect">
            <a:avLst/>
          </a:prstGeom>
        </p:spPr>
        <p:txBody>
          <a:bodyPr/>
          <a:lstStyle/>
          <a:p>
            <a:pPr>
              <a:defRPr sz="2000"/>
            </a:pPr>
            <a:r>
              <a:t>This is the fact:</a:t>
            </a:r>
          </a:p>
          <a:p>
            <a:pPr>
              <a:defRPr sz="2000"/>
            </a:pPr>
            <a:r>
              <a:t>Your Employees see EOS as being done to them and not for them, </a:t>
            </a:r>
          </a:p>
          <a:p>
            <a:pPr>
              <a:defRPr sz="2000"/>
            </a:pPr>
            <a:r>
              <a:t>They do not understand the Why, </a:t>
            </a:r>
          </a:p>
          <a:p>
            <a:pPr>
              <a:defRPr sz="2000"/>
            </a:pPr>
            <a:r>
              <a:t>They cannot tune into their favorite radio station,  WIIFM, what’s in it for me, they do not understand what is in it for them.</a:t>
            </a:r>
          </a:p>
          <a:p>
            <a:pPr>
              <a:defRPr sz="2000"/>
            </a:pPr>
            <a:r>
              <a:t>We must flip the script – we must have them buy in to the fact that EOS is being done For them and not To them.</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defRPr sz="2000"/>
            </a:pPr>
            <a:r>
              <a:t>We must break through this ceiling… 4:28</a:t>
            </a:r>
          </a:p>
          <a:p>
            <a:pPr>
              <a:defRPr sz="2000"/>
            </a:pPr>
          </a:p>
          <a:p>
            <a:pPr>
              <a:defRPr sz="2000"/>
            </a:pPr>
            <a:r>
              <a:t>So far 4:26, 3:12, 4:28.  11:30 so far.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hape 171"/>
          <p:cNvSpPr/>
          <p:nvPr>
            <p:ph type="sldImg"/>
          </p:nvPr>
        </p:nvSpPr>
        <p:spPr>
          <a:prstGeom prst="rect">
            <a:avLst/>
          </a:prstGeom>
        </p:spPr>
        <p:txBody>
          <a:bodyPr/>
          <a:lstStyle/>
          <a:p>
            <a:pPr/>
          </a:p>
        </p:txBody>
      </p:sp>
      <p:sp>
        <p:nvSpPr>
          <p:cNvPr id="172" name="Shape 172"/>
          <p:cNvSpPr/>
          <p:nvPr>
            <p:ph type="body" sz="quarter" idx="1"/>
          </p:nvPr>
        </p:nvSpPr>
        <p:spPr>
          <a:prstGeom prst="rect">
            <a:avLst/>
          </a:prstGeom>
        </p:spPr>
        <p:txBody>
          <a:bodyPr/>
          <a:lstStyle/>
          <a:p>
            <a:pPr>
              <a:defRPr sz="2000"/>
            </a:pPr>
            <a:r>
              <a:t>And this is where the 7 Critical Needs come in. </a:t>
            </a:r>
          </a:p>
          <a:p>
            <a:pPr>
              <a:defRPr sz="2000"/>
            </a:pPr>
          </a:p>
          <a:p>
            <a:pPr>
              <a:defRPr sz="2000"/>
            </a:pPr>
            <a:r>
              <a:t>The 7 Critical Needs is the easy how.</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p>
            <a:pPr>
              <a:defRPr sz="2000"/>
            </a:pPr>
            <a:r>
              <a:t>The 7 Critical Needs has been added as an official EOS Trust Builder.  </a:t>
            </a:r>
          </a:p>
          <a:p>
            <a:pPr>
              <a:defRPr sz="2000"/>
            </a:pPr>
            <a:r>
              <a:t>It is part of the EOS Cannon – can I get an Amen.</a:t>
            </a:r>
          </a:p>
          <a:p>
            <a:pPr>
              <a:defRPr sz="2000"/>
            </a:pPr>
            <a:r>
              <a:t>As Gino says: “This is proven, we are not practicing on you.”</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defRPr sz="2000"/>
            </a:pPr>
            <a:r>
              <a:t>Why this is significant.</a:t>
            </a:r>
          </a:p>
          <a:p>
            <a:pPr>
              <a:defRPr sz="2000"/>
            </a:pPr>
            <a:r>
              <a:t>The last time a tool was added to the trust builder toolbox was back in 2019 - Patrick Lencioni’s 6 working geniuses. </a:t>
            </a:r>
          </a:p>
          <a:p>
            <a:pPr>
              <a:defRPr sz="2000"/>
            </a:pPr>
            <a:r>
              <a:t>There were none before.</a:t>
            </a:r>
          </a:p>
          <a:p>
            <a:pPr>
              <a:defRPr sz="2000"/>
            </a:pPr>
          </a:p>
          <a:p>
            <a:pPr>
              <a:defRPr sz="2000"/>
            </a:pPr>
            <a:r>
              <a:t>Across the entire tool box, there have only been 1 or 2 other changes or additions. We took out the Assistance Track and added in the 5 Rule of the Game…</a:t>
            </a:r>
          </a:p>
          <a:p>
            <a:pPr>
              <a:defRPr sz="2000"/>
            </a:pPr>
          </a:p>
          <a:p>
            <a:pPr>
              <a:defRPr sz="2000"/>
            </a:pPr>
            <a:r>
              <a:t>This is significant.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defRPr sz="2000"/>
            </a:pPr>
            <a:r>
              <a:t>May I tell you a little discovery story its called the story around the Millennial Myth. </a:t>
            </a:r>
          </a:p>
          <a:p>
            <a:pPr>
              <a:defRPr sz="2000"/>
            </a:pPr>
            <a:r>
              <a:t>OK back in 2014, I was on EOS client number 72 or so, I’d been implementing EOS for 7 years. and was back when everyone was complaining about millennials </a:t>
            </a:r>
          </a:p>
          <a:p>
            <a:pPr>
              <a:defRPr sz="2000"/>
            </a:pPr>
            <a:r>
              <a:t>and when I sat back and looked at all the complaints about millennials about how they were skipping jobs and bought not bought in and not dependable same complaints about every new generation I scratched my head and said I I'm not seeing that with my client as a matter of fact my client’s millennials are completely blowing up the stereotype and tearing up the mold </a:t>
            </a:r>
          </a:p>
          <a:p>
            <a:pPr>
              <a:defRPr sz="2000"/>
            </a:pPr>
            <a:r>
              <a:t>My question was, what are we doing through EOS that's breaking the pattern and what I did was this.</a:t>
            </a:r>
          </a:p>
          <a:p>
            <a:pPr>
              <a:defRPr sz="2000"/>
            </a:pPr>
            <a:r>
              <a:t>What I did was I asked my clients for permission to engage with their millennials in focus groups and conversations to figure out what it was that we were doing that was breaking the mold and blowing up the stereotype, and after about nine months a very clear pattern emerged, and this was the pattern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hape 207"/>
          <p:cNvSpPr/>
          <p:nvPr>
            <p:ph type="sldImg"/>
          </p:nvPr>
        </p:nvSpPr>
        <p:spPr>
          <a:prstGeom prst="rect">
            <a:avLst/>
          </a:prstGeom>
        </p:spPr>
        <p:txBody>
          <a:bodyPr/>
          <a:lstStyle/>
          <a:p>
            <a:pPr/>
          </a:p>
        </p:txBody>
      </p:sp>
      <p:sp>
        <p:nvSpPr>
          <p:cNvPr id="208" name="Shape 208"/>
          <p:cNvSpPr/>
          <p:nvPr>
            <p:ph type="body" sz="quarter" idx="1"/>
          </p:nvPr>
        </p:nvSpPr>
        <p:spPr>
          <a:prstGeom prst="rect">
            <a:avLst/>
          </a:prstGeom>
        </p:spPr>
        <p:txBody>
          <a:bodyPr/>
          <a:lstStyle/>
          <a:p>
            <a:pPr>
              <a:defRPr sz="2000"/>
            </a:pPr>
            <a:r>
              <a:t>Millennials were asking themselves 7 questions about work, they were running a mental rubric, asking themselves questions about where they were working, </a:t>
            </a:r>
          </a:p>
          <a:p>
            <a:pPr>
              <a:defRPr sz="2000"/>
            </a:pPr>
            <a:r>
              <a:t>They were asking themselves do I belong here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lvl1pPr>
              <a:defRPr sz="2000"/>
            </a:lvl1pPr>
          </a:lstStyle>
          <a:p>
            <a:pPr/>
            <a:r>
              <a:t>they were asking themselves do I believe, and what this company is all about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Shape 225"/>
          <p:cNvSpPr/>
          <p:nvPr>
            <p:ph type="sldImg"/>
          </p:nvPr>
        </p:nvSpPr>
        <p:spPr>
          <a:prstGeom prst="rect">
            <a:avLst/>
          </a:prstGeom>
        </p:spPr>
        <p:txBody>
          <a:bodyPr/>
          <a:lstStyle/>
          <a:p>
            <a:pPr/>
          </a:p>
        </p:txBody>
      </p:sp>
      <p:sp>
        <p:nvSpPr>
          <p:cNvPr id="226" name="Shape 226"/>
          <p:cNvSpPr/>
          <p:nvPr>
            <p:ph type="body" sz="quarter" idx="1"/>
          </p:nvPr>
        </p:nvSpPr>
        <p:spPr>
          <a:prstGeom prst="rect">
            <a:avLst/>
          </a:prstGeom>
        </p:spPr>
        <p:txBody>
          <a:bodyPr/>
          <a:lstStyle>
            <a:lvl1pPr>
              <a:defRPr sz="2000"/>
            </a:lvl1pPr>
          </a:lstStyle>
          <a:p>
            <a:pPr/>
            <a:r>
              <a:t>they were asking themselves do i understand and embrace what I'm accountable for especially as it ties to what I'm being asked to believe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lvl1pPr>
              <a:defRPr sz="2000"/>
            </a:lvl1pPr>
          </a:lstStyle>
          <a:p>
            <a:pPr/>
            <a:r>
              <a:t>do I understand and embrace how I'm being measured is it fair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rPr sz="2000"/>
              <a:t>they were asking themselves to understand and embrace how this organization listens, asking am I being heard</a:t>
            </a:r>
            <a:r>
              <a:t>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rPr sz="2000"/>
              <a:t>and they were asking themselves to understand how can I, be involved in my own development and am I am I being developed am I developing?</a:t>
            </a:r>
            <a:r>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lvl1pPr>
              <a:defRPr sz="2000"/>
            </a:lvl1pPr>
          </a:lstStyle>
          <a:p>
            <a:pPr/>
            <a:r>
              <a:t>and finally, they were asking themselves about balance, is this a place where I can maintain balance both work life and how much the job pays – to make ends meet.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lvl1pPr>
              <a:defRPr sz="2000"/>
            </a:lvl1pPr>
          </a:lstStyle>
          <a:p>
            <a:pPr/>
            <a:r>
              <a:t>those were the seven questions and ultimately those seven questions turned into a mental stay or go rubric, and if they couldn't get to yes on any one of the seven, then it was a go decision for them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Shape 280"/>
          <p:cNvSpPr/>
          <p:nvPr>
            <p:ph type="sldImg"/>
          </p:nvPr>
        </p:nvSpPr>
        <p:spPr>
          <a:prstGeom prst="rect">
            <a:avLst/>
          </a:prstGeom>
        </p:spPr>
        <p:txBody>
          <a:bodyPr/>
          <a:lstStyle/>
          <a:p>
            <a:pPr/>
          </a:p>
        </p:txBody>
      </p:sp>
      <p:sp>
        <p:nvSpPr>
          <p:cNvPr id="281" name="Shape 281"/>
          <p:cNvSpPr/>
          <p:nvPr>
            <p:ph type="body" sz="quarter" idx="1"/>
          </p:nvPr>
        </p:nvSpPr>
        <p:spPr>
          <a:prstGeom prst="rect">
            <a:avLst/>
          </a:prstGeom>
        </p:spPr>
        <p:txBody>
          <a:bodyPr/>
          <a:lstStyle/>
          <a:p>
            <a:pPr>
              <a:defRPr sz="2000"/>
            </a:pPr>
            <a:r>
              <a:t>ultimately these seven questions turned into what we call the7 critical needs that every employee has at work </a:t>
            </a:r>
          </a:p>
          <a:p>
            <a:pPr>
              <a:defRPr sz="2000"/>
            </a:pPr>
          </a:p>
          <a:p>
            <a:pPr>
              <a:defRPr sz="2000"/>
            </a:pPr>
            <a:r>
              <a:t>the need to belong to group whose values align with our own.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lvl1pPr>
              <a:defRPr sz="2000"/>
            </a:lvl1pPr>
          </a:lstStyle>
          <a:p>
            <a:pPr/>
            <a:r>
              <a:t>the need to believe in the mission and the strategy for achieving it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lvl1pPr>
              <a:defRPr sz="2000"/>
            </a:lvl1pPr>
          </a:lstStyle>
          <a:p>
            <a:pPr/>
            <a:r>
              <a:t>the need to be accountable for something meaningful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lvl1pPr>
              <a:defRPr sz="2000"/>
            </a:lvl1pPr>
          </a:lstStyle>
          <a:p>
            <a:pPr/>
            <a:r>
              <a:t>the need to be measured fairly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Shape 316"/>
          <p:cNvSpPr/>
          <p:nvPr>
            <p:ph type="sldImg"/>
          </p:nvPr>
        </p:nvSpPr>
        <p:spPr>
          <a:prstGeom prst="rect">
            <a:avLst/>
          </a:prstGeom>
        </p:spPr>
        <p:txBody>
          <a:bodyPr/>
          <a:lstStyle/>
          <a:p>
            <a:pPr/>
          </a:p>
        </p:txBody>
      </p:sp>
      <p:sp>
        <p:nvSpPr>
          <p:cNvPr id="317" name="Shape 317"/>
          <p:cNvSpPr/>
          <p:nvPr>
            <p:ph type="body" sz="quarter" idx="1"/>
          </p:nvPr>
        </p:nvSpPr>
        <p:spPr>
          <a:prstGeom prst="rect">
            <a:avLst/>
          </a:prstGeom>
        </p:spPr>
        <p:txBody>
          <a:bodyPr/>
          <a:lstStyle>
            <a:lvl1pPr>
              <a:defRPr sz="2000"/>
            </a:lvl1pPr>
          </a:lstStyle>
          <a:p>
            <a:pPr/>
            <a:r>
              <a:t>the need to be heard honestly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hape 325"/>
          <p:cNvSpPr/>
          <p:nvPr>
            <p:ph type="sldImg"/>
          </p:nvPr>
        </p:nvSpPr>
        <p:spPr>
          <a:prstGeom prst="rect">
            <a:avLst/>
          </a:prstGeom>
        </p:spPr>
        <p:txBody>
          <a:bodyPr/>
          <a:lstStyle/>
          <a:p>
            <a:pPr/>
          </a:p>
        </p:txBody>
      </p:sp>
      <p:sp>
        <p:nvSpPr>
          <p:cNvPr id="326" name="Shape 326"/>
          <p:cNvSpPr/>
          <p:nvPr>
            <p:ph type="body" sz="quarter" idx="1"/>
          </p:nvPr>
        </p:nvSpPr>
        <p:spPr>
          <a:prstGeom prst="rect">
            <a:avLst/>
          </a:prstGeom>
        </p:spPr>
        <p:txBody>
          <a:bodyPr/>
          <a:lstStyle>
            <a:lvl1pPr>
              <a:defRPr sz="2000"/>
            </a:lvl1pPr>
          </a:lstStyle>
          <a:p>
            <a:pPr/>
            <a:r>
              <a:t>the need to be developed intentionally and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defRPr sz="2000"/>
            </a:pPr>
            <a:r>
              <a:t>the need to be balanced sustainably 5:08</a:t>
            </a:r>
          </a:p>
          <a:p>
            <a:pPr>
              <a:defRPr sz="2000"/>
            </a:pPr>
          </a:p>
          <a:p>
            <a:pPr>
              <a:defRPr sz="2000"/>
            </a:pPr>
            <a:r>
              <a:t>So far 4:26, 3:12, 4:28, 5:08 =  16:38 so far.</a:t>
            </a:r>
          </a:p>
          <a:p>
            <a:pPr>
              <a:defRPr sz="2000"/>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343"/>
          <p:cNvSpPr/>
          <p:nvPr>
            <p:ph type="sldImg"/>
          </p:nvPr>
        </p:nvSpPr>
        <p:spPr>
          <a:prstGeom prst="rect">
            <a:avLst/>
          </a:prstGeom>
        </p:spPr>
        <p:txBody>
          <a:bodyPr/>
          <a:lstStyle/>
          <a:p>
            <a:pPr/>
          </a:p>
        </p:txBody>
      </p:sp>
      <p:sp>
        <p:nvSpPr>
          <p:cNvPr id="344" name="Shape 344"/>
          <p:cNvSpPr/>
          <p:nvPr>
            <p:ph type="body" sz="quarter" idx="1"/>
          </p:nvPr>
        </p:nvSpPr>
        <p:spPr>
          <a:prstGeom prst="rect">
            <a:avLst/>
          </a:prstGeom>
        </p:spPr>
        <p:txBody>
          <a:bodyPr/>
          <a:lstStyle/>
          <a:p>
            <a:pPr>
              <a:defRPr sz="1500"/>
            </a:pPr>
            <a:r>
              <a:t>EOS. And what was happening with these millennials and in these companies, through an EOS implementation was EOS was forcing each company to come to grips with and be honest about what it means to belong at their organization they were defining their core values and they were hiring, firing rewarding and recognizing based on their values they're recruiting people in who had the skills to do the job, so people knew they belonged </a:t>
            </a:r>
          </a:p>
          <a:p>
            <a:pPr>
              <a:defRPr sz="1500"/>
            </a:pPr>
            <a:r>
              <a:t>and it was forcing the companies to come to grips with what they were asking people to Believe. all the answers captured in our Vision Traction Organizer what's our core focus what's our niche what's our 10 year target what's our marketing strategy what's our three-year picture what's our one year plan what is our focus for the next 90 days and what are the issues that we know are out there but aren't getting worked on </a:t>
            </a:r>
          </a:p>
          <a:p>
            <a:pPr>
              <a:defRPr sz="1500"/>
            </a:pPr>
            <a:r>
              <a:t>it was forcing the organization to get super clear on what people were accountable for, super clear role clarity that tied to seat,  what were the rocks they were committing to and we're accountable for what about the 7 Day two do they took from the weekly level 10 </a:t>
            </a:r>
          </a:p>
          <a:p>
            <a:pPr>
              <a:defRPr sz="1500"/>
            </a:pPr>
            <a:r>
              <a:t>and then heard, it was forcing the organization to simplify and get comfortable and consistent with how the organization listens. So the individual knew when the channels open and when they closed. of course level 10 meetings IDs scorecards quarterly conversations </a:t>
            </a:r>
          </a:p>
          <a:p>
            <a:pPr>
              <a:defRPr sz="1500"/>
            </a:pPr>
            <a:r>
              <a:t>it was forcing the organization to simplify how it offered people opportunities for development developing through identify discuss and solve, having open conversations during quarterly conversations around getting wanting and having the capacity to do each one of your roles – being developed during the issue solving of a meeting </a:t>
            </a:r>
          </a:p>
          <a:p>
            <a:pPr>
              <a:defRPr sz="1500"/>
            </a:pPr>
            <a:r>
              <a:t>and ultimately was balanced. through meetings like the quarterly conversation where you're sitting down and talking about the capacity of each one of your roles and then clearly how much time the job took and what the job paid EOS was doing all of this work.  3:41</a:t>
            </a:r>
          </a:p>
          <a:p>
            <a:pPr>
              <a:defRPr sz="1500"/>
            </a:pPr>
          </a:p>
          <a:p>
            <a:pPr>
              <a:defRPr sz="2000"/>
            </a:pPr>
            <a:r>
              <a:t>So far 4:26, 3:12, 4:28, 5:08, 3:41 =  20:54 so far.</a:t>
            </a:r>
          </a:p>
          <a:p>
            <a:pPr>
              <a:defRPr sz="2000"/>
            </a:pPr>
          </a:p>
          <a:p>
            <a:pPr>
              <a:defRPr sz="2000"/>
            </a:pPr>
          </a:p>
          <a:p>
            <a:pPr>
              <a:defRPr sz="1500"/>
            </a:pPr>
          </a:p>
          <a:p>
            <a:pPr>
              <a:defRPr sz="1500"/>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Shape 352"/>
          <p:cNvSpPr/>
          <p:nvPr>
            <p:ph type="sldImg"/>
          </p:nvPr>
        </p:nvSpPr>
        <p:spPr>
          <a:prstGeom prst="rect">
            <a:avLst/>
          </a:prstGeom>
        </p:spPr>
        <p:txBody>
          <a:bodyPr/>
          <a:lstStyle/>
          <a:p>
            <a:pPr/>
          </a:p>
        </p:txBody>
      </p:sp>
      <p:sp>
        <p:nvSpPr>
          <p:cNvPr id="353" name="Shape 353"/>
          <p:cNvSpPr/>
          <p:nvPr>
            <p:ph type="body" sz="quarter" idx="1"/>
          </p:nvPr>
        </p:nvSpPr>
        <p:spPr>
          <a:prstGeom prst="rect">
            <a:avLst/>
          </a:prstGeom>
        </p:spPr>
        <p:txBody>
          <a:bodyPr/>
          <a:lstStyle/>
          <a:p>
            <a:pPr/>
            <a:r>
              <a:t>EOS Coupled with the 7 Critical Needs is how we break through the ceiling.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Shape 363"/>
          <p:cNvSpPr/>
          <p:nvPr>
            <p:ph type="sldImg"/>
          </p:nvPr>
        </p:nvSpPr>
        <p:spPr>
          <a:prstGeom prst="rect">
            <a:avLst/>
          </a:prstGeom>
        </p:spPr>
        <p:txBody>
          <a:bodyPr/>
          <a:lstStyle/>
          <a:p>
            <a:pPr/>
          </a:p>
        </p:txBody>
      </p:sp>
      <p:sp>
        <p:nvSpPr>
          <p:cNvPr id="364" name="Shape 364"/>
          <p:cNvSpPr/>
          <p:nvPr>
            <p:ph type="body" sz="quarter" idx="1"/>
          </p:nvPr>
        </p:nvSpPr>
        <p:spPr>
          <a:prstGeom prst="rect">
            <a:avLst/>
          </a:prstGeom>
        </p:spPr>
        <p:txBody>
          <a:bodyPr/>
          <a:lstStyle/>
          <a:p>
            <a:pPr/>
            <a:r>
              <a:t>With our people, This is how we break through the ceiling and keep breaking through – with our people.</a:t>
            </a:r>
          </a:p>
          <a:p>
            <a:pPr/>
            <a:r>
              <a:t>With our people, This is how we flip the script, </a:t>
            </a:r>
          </a:p>
          <a:p>
            <a:pPr/>
            <a:r>
              <a:t>This is how we explain that EOS is for you, not to you, </a:t>
            </a:r>
          </a:p>
          <a:p>
            <a:pPr/>
            <a:r>
              <a:t>With our people, this is how we explain The Why EOS, </a:t>
            </a:r>
          </a:p>
          <a:p>
            <a:pPr/>
            <a:r>
              <a:t>This is how we explain WIIFM.</a:t>
            </a:r>
          </a:p>
          <a:p>
            <a:pPr/>
            <a:r>
              <a:t>This is how we get EOS Rolled out to and for the Front Line. :30</a:t>
            </a:r>
          </a:p>
          <a:p>
            <a:pPr/>
          </a:p>
          <a:p>
            <a:pPr>
              <a:defRPr sz="2000"/>
            </a:pPr>
            <a:r>
              <a:t>So far 4:26, 3:12, 4:28, 5:08, 3:41, :30 =  23:03 so far.</a:t>
            </a:r>
          </a:p>
          <a:p>
            <a:pPr/>
          </a:p>
          <a:p>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Shape 372"/>
          <p:cNvSpPr/>
          <p:nvPr>
            <p:ph type="sldImg"/>
          </p:nvPr>
        </p:nvSpPr>
        <p:spPr>
          <a:prstGeom prst="rect">
            <a:avLst/>
          </a:prstGeom>
        </p:spPr>
        <p:txBody>
          <a:bodyPr/>
          <a:lstStyle/>
          <a:p>
            <a:pPr/>
          </a:p>
        </p:txBody>
      </p:sp>
      <p:sp>
        <p:nvSpPr>
          <p:cNvPr id="373" name="Shape 373"/>
          <p:cNvSpPr/>
          <p:nvPr>
            <p:ph type="body" sz="quarter" idx="1"/>
          </p:nvPr>
        </p:nvSpPr>
        <p:spPr>
          <a:prstGeom prst="rect">
            <a:avLst/>
          </a:prstGeom>
        </p:spPr>
        <p:txBody>
          <a:bodyPr/>
          <a:lstStyle/>
          <a:p>
            <a:pPr/>
            <a:r>
              <a:t>Inside of EOS we believe that “what gets measured gets done” </a:t>
            </a:r>
          </a:p>
          <a:p>
            <a:pPr/>
            <a:r>
              <a:t>And we believe “you must inspect what you expect” </a:t>
            </a:r>
          </a:p>
          <a:p>
            <a:pPr/>
          </a:p>
          <a:p>
            <a:pPr/>
            <a:r>
              <a:t>And thank you to our Millennials for building the Rubric we will use.</a:t>
            </a:r>
          </a:p>
          <a:p>
            <a:pPr/>
          </a:p>
          <a:p>
            <a:pPr/>
            <a:r>
              <a:t>in this case the seven critical needs become the Healthy rubric</a:t>
            </a:r>
          </a:p>
          <a:p>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Shape 381"/>
          <p:cNvSpPr/>
          <p:nvPr>
            <p:ph type="sldImg"/>
          </p:nvPr>
        </p:nvSpPr>
        <p:spPr>
          <a:prstGeom prst="rect">
            <a:avLst/>
          </a:prstGeom>
        </p:spPr>
        <p:txBody>
          <a:bodyPr/>
          <a:lstStyle/>
          <a:p>
            <a:pPr/>
          </a:p>
        </p:txBody>
      </p:sp>
      <p:sp>
        <p:nvSpPr>
          <p:cNvPr id="382" name="Shape 382"/>
          <p:cNvSpPr/>
          <p:nvPr>
            <p:ph type="body" sz="quarter" idx="1"/>
          </p:nvPr>
        </p:nvSpPr>
        <p:spPr>
          <a:prstGeom prst="rect">
            <a:avLst/>
          </a:prstGeom>
        </p:spPr>
        <p:txBody>
          <a:bodyPr/>
          <a:lstStyle/>
          <a:p>
            <a:pPr/>
            <a:r>
              <a:t>Inside of EOS we believe that “what gets measured gets done” </a:t>
            </a:r>
          </a:p>
          <a:p>
            <a:pPr/>
            <a:r>
              <a:t>And we believe “you must inspect what you expect” </a:t>
            </a:r>
          </a:p>
          <a:p>
            <a:pPr/>
          </a:p>
          <a:p>
            <a:pPr/>
            <a:r>
              <a:t>And thank you to our Millennials for building the Rubric we will use.</a:t>
            </a:r>
          </a:p>
          <a:p>
            <a:pPr/>
          </a:p>
          <a:p>
            <a:pPr/>
            <a:r>
              <a:t>in this case the seven critical needs become the Healthy rubric</a:t>
            </a:r>
          </a:p>
          <a:p>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Shape 391"/>
          <p:cNvSpPr/>
          <p:nvPr>
            <p:ph type="sldImg"/>
          </p:nvPr>
        </p:nvSpPr>
        <p:spPr>
          <a:prstGeom prst="rect">
            <a:avLst/>
          </a:prstGeom>
        </p:spPr>
        <p:txBody>
          <a:bodyPr/>
          <a:lstStyle/>
          <a:p>
            <a:pPr/>
          </a:p>
        </p:txBody>
      </p:sp>
      <p:sp>
        <p:nvSpPr>
          <p:cNvPr id="392" name="Shape 392"/>
          <p:cNvSpPr/>
          <p:nvPr>
            <p:ph type="body" sz="quarter" idx="1"/>
          </p:nvPr>
        </p:nvSpPr>
        <p:spPr>
          <a:prstGeom prst="rect">
            <a:avLst/>
          </a:prstGeom>
        </p:spPr>
        <p:txBody>
          <a:bodyPr/>
          <a:lstStyle/>
          <a:p>
            <a:pPr/>
          </a:p>
          <a:p>
            <a:pPr/>
            <a:r>
              <a:t>in this case the seven critical needs become the Healthy rubric = we now have measurable organizational health, not some touchy feely thing.</a:t>
            </a:r>
          </a:p>
          <a:p>
            <a:pPr/>
          </a:p>
          <a:p>
            <a:pPr/>
            <a:r>
              <a:t>Remember Patrick earlier saying it is hard to measure…. Well, not any more.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Shape 401"/>
          <p:cNvSpPr/>
          <p:nvPr>
            <p:ph type="sldImg"/>
          </p:nvPr>
        </p:nvSpPr>
        <p:spPr>
          <a:prstGeom prst="rect">
            <a:avLst/>
          </a:prstGeom>
        </p:spPr>
        <p:txBody>
          <a:bodyPr/>
          <a:lstStyle/>
          <a:p>
            <a:pPr/>
          </a:p>
        </p:txBody>
      </p:sp>
      <p:sp>
        <p:nvSpPr>
          <p:cNvPr id="402" name="Shape 402"/>
          <p:cNvSpPr/>
          <p:nvPr>
            <p:ph type="body" sz="quarter" idx="1"/>
          </p:nvPr>
        </p:nvSpPr>
        <p:spPr>
          <a:prstGeom prst="rect">
            <a:avLst/>
          </a:prstGeom>
        </p:spPr>
        <p:txBody>
          <a:bodyPr/>
          <a:lstStyle/>
          <a:p>
            <a:pPr/>
            <a:r>
              <a:t>it becomes the Measurable Organizational Health Rubric</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Healthy Matters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Shape 417"/>
          <p:cNvSpPr/>
          <p:nvPr>
            <p:ph type="sldImg"/>
          </p:nvPr>
        </p:nvSpPr>
        <p:spPr>
          <a:prstGeom prst="rect">
            <a:avLst/>
          </a:prstGeom>
        </p:spPr>
        <p:txBody>
          <a:bodyPr/>
          <a:lstStyle/>
          <a:p>
            <a:pPr/>
          </a:p>
        </p:txBody>
      </p:sp>
      <p:sp>
        <p:nvSpPr>
          <p:cNvPr id="418" name="Shape 418"/>
          <p:cNvSpPr/>
          <p:nvPr>
            <p:ph type="body" sz="quarter" idx="1"/>
          </p:nvPr>
        </p:nvSpPr>
        <p:spPr>
          <a:prstGeom prst="rect">
            <a:avLst/>
          </a:prstGeom>
        </p:spPr>
        <p:txBody>
          <a:bodyPr/>
          <a:lstStyle/>
          <a:p>
            <a:pPr/>
            <a:r>
              <a:t>This is our proven process. 4 steps measure, analyze come up with a plan, share the plan, execute the plan, then measure again </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r>
              <a:t>Remember “the answer is in the tools, you don’t need anymore tools”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7" name="Shape 437"/>
          <p:cNvSpPr/>
          <p:nvPr>
            <p:ph type="sldImg"/>
          </p:nvPr>
        </p:nvSpPr>
        <p:spPr>
          <a:prstGeom prst="rect">
            <a:avLst/>
          </a:prstGeom>
        </p:spPr>
        <p:txBody>
          <a:bodyPr/>
          <a:lstStyle/>
          <a:p>
            <a:pPr/>
          </a:p>
        </p:txBody>
      </p:sp>
      <p:sp>
        <p:nvSpPr>
          <p:cNvPr id="438" name="Shape 438"/>
          <p:cNvSpPr/>
          <p:nvPr>
            <p:ph type="body" sz="quarter" idx="1"/>
          </p:nvPr>
        </p:nvSpPr>
        <p:spPr>
          <a:prstGeom prst="rect">
            <a:avLst/>
          </a:prstGeom>
        </p:spPr>
        <p:txBody>
          <a:bodyPr/>
          <a:lstStyle/>
          <a:p>
            <a:pPr/>
            <a:r>
              <a:t>and how you go about doing this is right here in this little field guide I've shared with you called Healthy Matters and you can dig into this you can give us or your Implementer a call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Shape 444"/>
          <p:cNvSpPr/>
          <p:nvPr>
            <p:ph type="sldImg"/>
          </p:nvPr>
        </p:nvSpPr>
        <p:spPr>
          <a:prstGeom prst="rect">
            <a:avLst/>
          </a:prstGeom>
        </p:spPr>
        <p:txBody>
          <a:bodyPr/>
          <a:lstStyle/>
          <a:p>
            <a:pPr/>
          </a:p>
        </p:txBody>
      </p:sp>
      <p:sp>
        <p:nvSpPr>
          <p:cNvPr id="445" name="Shape 445"/>
          <p:cNvSpPr/>
          <p:nvPr>
            <p:ph type="body" sz="quarter" idx="1"/>
          </p:nvPr>
        </p:nvSpPr>
        <p:spPr>
          <a:prstGeom prst="rect">
            <a:avLst/>
          </a:prstGeom>
        </p:spPr>
        <p:txBody>
          <a:bodyPr/>
          <a:lstStyle/>
          <a:p>
            <a:pPr/>
            <a:r>
              <a:t>2:16</a:t>
            </a:r>
          </a:p>
          <a:p>
            <a:pPr/>
          </a:p>
          <a:p>
            <a:pPr>
              <a:defRPr sz="2000"/>
            </a:pPr>
            <a:r>
              <a:t>So far 4:26, 3:12, 4:28, 5:08, 3:41, :30, 2;16 =  22:49 so far.</a:t>
            </a:r>
          </a:p>
          <a:p>
            <a:pPr>
              <a:defRPr sz="2000"/>
            </a:pPr>
          </a:p>
          <a:p>
            <a:pPr>
              <a:defRPr sz="2000"/>
            </a:pPr>
          </a:p>
          <a:p>
            <a:p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Shape 452"/>
          <p:cNvSpPr/>
          <p:nvPr>
            <p:ph type="sldImg"/>
          </p:nvPr>
        </p:nvSpPr>
        <p:spPr>
          <a:prstGeom prst="rect">
            <a:avLst/>
          </a:prstGeom>
        </p:spPr>
        <p:txBody>
          <a:bodyPr/>
          <a:lstStyle/>
          <a:p>
            <a:pPr/>
          </a:p>
        </p:txBody>
      </p:sp>
      <p:sp>
        <p:nvSpPr>
          <p:cNvPr id="453" name="Shape 453"/>
          <p:cNvSpPr/>
          <p:nvPr>
            <p:ph type="body" sz="quarter" idx="1"/>
          </p:nvPr>
        </p:nvSpPr>
        <p:spPr>
          <a:prstGeom prst="rect">
            <a:avLst/>
          </a:prstGeom>
        </p:spPr>
        <p:txBody>
          <a:bodyPr/>
          <a:lstStyle/>
          <a:p>
            <a:pPr/>
            <a:r>
              <a:t>Section break. Replace the two lines with your section name — keep the flame/orange two-tone. Duplicate this slide for each section.</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3" name="Shape 463"/>
          <p:cNvSpPr/>
          <p:nvPr>
            <p:ph type="sldImg"/>
          </p:nvPr>
        </p:nvSpPr>
        <p:spPr>
          <a:prstGeom prst="rect">
            <a:avLst/>
          </a:prstGeom>
        </p:spPr>
        <p:txBody>
          <a:bodyPr/>
          <a:lstStyle/>
          <a:p>
            <a:pPr/>
          </a:p>
        </p:txBody>
      </p:sp>
      <p:sp>
        <p:nvSpPr>
          <p:cNvPr id="464" name="Shape 464"/>
          <p:cNvSpPr/>
          <p:nvPr>
            <p:ph type="body" sz="quarter" idx="1"/>
          </p:nvPr>
        </p:nvSpPr>
        <p:spPr>
          <a:prstGeom prst="rect">
            <a:avLst/>
          </a:prstGeom>
        </p:spPr>
        <p:txBody>
          <a:bodyPr/>
          <a:lstStyle/>
          <a:p>
            <a:pPr/>
            <a:r>
              <a:t>and how you go about doing this is right here in this little field guide I've shared with you called Healthy Matters and you can dig into this you can give us or your Implementer a call </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hape 474"/>
          <p:cNvSpPr/>
          <p:nvPr>
            <p:ph type="sldImg"/>
          </p:nvPr>
        </p:nvSpPr>
        <p:spPr>
          <a:prstGeom prst="rect">
            <a:avLst/>
          </a:prstGeom>
        </p:spPr>
        <p:txBody>
          <a:bodyPr/>
          <a:lstStyle/>
          <a:p>
            <a:pPr/>
          </a:p>
        </p:txBody>
      </p:sp>
      <p:sp>
        <p:nvSpPr>
          <p:cNvPr id="475" name="Shape 475"/>
          <p:cNvSpPr/>
          <p:nvPr>
            <p:ph type="body" sz="quarter" idx="1"/>
          </p:nvPr>
        </p:nvSpPr>
        <p:spPr>
          <a:prstGeom prst="rect">
            <a:avLst/>
          </a:prstGeom>
        </p:spPr>
        <p:txBody>
          <a:bodyPr/>
          <a:lstStyle/>
          <a:p>
            <a:pPr/>
            <a:r>
              <a:t>and how you go about doing this is right here in this little field guide I've shared with you called Healthy Matters and you can dig into this you can give us or your Implementer a call </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2" name="Shape 482"/>
          <p:cNvSpPr/>
          <p:nvPr>
            <p:ph type="sldImg"/>
          </p:nvPr>
        </p:nvSpPr>
        <p:spPr>
          <a:prstGeom prst="rect">
            <a:avLst/>
          </a:prstGeom>
        </p:spPr>
        <p:txBody>
          <a:bodyPr/>
          <a:lstStyle/>
          <a:p>
            <a:pPr/>
          </a:p>
        </p:txBody>
      </p:sp>
      <p:sp>
        <p:nvSpPr>
          <p:cNvPr id="483" name="Shape 483"/>
          <p:cNvSpPr/>
          <p:nvPr>
            <p:ph type="body" sz="quarter" idx="1"/>
          </p:nvPr>
        </p:nvSpPr>
        <p:spPr>
          <a:prstGeom prst="rect">
            <a:avLst/>
          </a:prstGeom>
        </p:spPr>
        <p:txBody>
          <a:bodyPr/>
          <a:lstStyle/>
          <a:p>
            <a:pPr/>
            <a:r>
              <a:t>Big graphic. Drop in a diagram, chart, or screenshot — it will aspect-fit, never stretch. Arrange or crop as needed.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7" name="Shape 527"/>
          <p:cNvSpPr/>
          <p:nvPr>
            <p:ph type="sldImg"/>
          </p:nvPr>
        </p:nvSpPr>
        <p:spPr>
          <a:prstGeom prst="rect">
            <a:avLst/>
          </a:prstGeom>
        </p:spPr>
        <p:txBody>
          <a:bodyPr/>
          <a:lstStyle/>
          <a:p>
            <a:pPr/>
          </a:p>
        </p:txBody>
      </p:sp>
      <p:sp>
        <p:nvSpPr>
          <p:cNvPr id="528" name="Shape 528"/>
          <p:cNvSpPr/>
          <p:nvPr>
            <p:ph type="body" sz="quarter" idx="1"/>
          </p:nvPr>
        </p:nvSpPr>
        <p:spPr>
          <a:prstGeom prst="rect">
            <a:avLst/>
          </a:prstGeom>
        </p:spPr>
        <p:txBody>
          <a:bodyPr/>
          <a:lstStyle/>
          <a:p>
            <a:pPr/>
            <a:r>
              <a:t>Sponsor thank-you. Logos are current as of the 2026 site — keep this slide as-is and show it at the end of your session.</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7" name="Shape 537"/>
          <p:cNvSpPr/>
          <p:nvPr>
            <p:ph type="sldImg"/>
          </p:nvPr>
        </p:nvSpPr>
        <p:spPr>
          <a:prstGeom prst="rect">
            <a:avLst/>
          </a:prstGeom>
        </p:spPr>
        <p:txBody>
          <a:bodyPr/>
          <a:lstStyle/>
          <a:p>
            <a:pPr/>
          </a:p>
        </p:txBody>
      </p:sp>
      <p:sp>
        <p:nvSpPr>
          <p:cNvPr id="538" name="Shape 538"/>
          <p:cNvSpPr/>
          <p:nvPr>
            <p:ph type="body" sz="quarter" idx="1"/>
          </p:nvPr>
        </p:nvSpPr>
        <p:spPr>
          <a:prstGeom prst="rect">
            <a:avLst/>
          </a:prstGeom>
        </p:spPr>
        <p:txBody>
          <a:bodyPr/>
          <a:lstStyle/>
          <a:p>
            <a:pPr/>
            <a:r>
              <a:t>Session survey. Drop the survey QR code onto the white card. Leave this up while you take questions.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7" name="Shape 547"/>
          <p:cNvSpPr/>
          <p:nvPr>
            <p:ph type="sldImg"/>
          </p:nvPr>
        </p:nvSpPr>
        <p:spPr>
          <a:prstGeom prst="rect">
            <a:avLst/>
          </a:prstGeom>
        </p:spPr>
        <p:txBody>
          <a:bodyPr/>
          <a:lstStyle/>
          <a:p>
            <a:pPr/>
          </a:p>
        </p:txBody>
      </p:sp>
      <p:sp>
        <p:nvSpPr>
          <p:cNvPr id="548" name="Shape 548"/>
          <p:cNvSpPr/>
          <p:nvPr>
            <p:ph type="body" sz="quarter" idx="1"/>
          </p:nvPr>
        </p:nvSpPr>
        <p:spPr>
          <a:prstGeom prst="rect">
            <a:avLst/>
          </a:prstGeom>
        </p:spPr>
        <p:txBody>
          <a:bodyPr/>
          <a:lstStyle/>
          <a:p>
            <a:pPr/>
            <a:r>
              <a:t>Start of the guidelines section — for speakers, not for presenting. Delete slides 10-13 before you present.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3" name="Shape 573"/>
          <p:cNvSpPr/>
          <p:nvPr>
            <p:ph type="sldImg"/>
          </p:nvPr>
        </p:nvSpPr>
        <p:spPr>
          <a:prstGeom prst="rect">
            <a:avLst/>
          </a:prstGeom>
        </p:spPr>
        <p:txBody>
          <a:bodyPr/>
          <a:lstStyle/>
          <a:p>
            <a:pPr/>
          </a:p>
        </p:txBody>
      </p:sp>
      <p:sp>
        <p:nvSpPr>
          <p:cNvPr id="574" name="Shape 574"/>
          <p:cNvSpPr/>
          <p:nvPr>
            <p:ph type="body" sz="quarter" idx="1"/>
          </p:nvPr>
        </p:nvSpPr>
        <p:spPr>
          <a:prstGeom prst="rect">
            <a:avLst/>
          </a:prstGeom>
        </p:spPr>
        <p:txBody>
          <a:bodyPr/>
          <a:lstStyle/>
          <a:p>
            <a:pPr/>
            <a:r>
              <a:t>House rules for slide content.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9" name="Shape 589"/>
          <p:cNvSpPr/>
          <p:nvPr>
            <p:ph type="sldImg"/>
          </p:nvPr>
        </p:nvSpPr>
        <p:spPr>
          <a:prstGeom prst="rect">
            <a:avLst/>
          </a:prstGeom>
        </p:spPr>
        <p:txBody>
          <a:bodyPr/>
          <a:lstStyle/>
          <a:p>
            <a:pPr/>
          </a:p>
        </p:txBody>
      </p:sp>
      <p:sp>
        <p:nvSpPr>
          <p:cNvPr id="590" name="Shape 590"/>
          <p:cNvSpPr/>
          <p:nvPr>
            <p:ph type="body" sz="quarter" idx="1"/>
          </p:nvPr>
        </p:nvSpPr>
        <p:spPr>
          <a:prstGeom prst="rect">
            <a:avLst/>
          </a:prstGeom>
        </p:spPr>
        <p:txBody>
          <a:bodyPr/>
          <a:lstStyle/>
          <a:p>
            <a:pPr/>
            <a:r>
              <a:t>Type rules. League Spartan is the free Gotham-style family used across the deck.</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2" name="Shape 622"/>
          <p:cNvSpPr/>
          <p:nvPr>
            <p:ph type="sldImg"/>
          </p:nvPr>
        </p:nvSpPr>
        <p:spPr>
          <a:prstGeom prst="rect">
            <a:avLst/>
          </a:prstGeom>
        </p:spPr>
        <p:txBody>
          <a:bodyPr/>
          <a:lstStyle/>
          <a:p>
            <a:pPr/>
          </a:p>
        </p:txBody>
      </p:sp>
      <p:sp>
        <p:nvSpPr>
          <p:cNvPr id="623" name="Shape 623"/>
          <p:cNvSpPr/>
          <p:nvPr>
            <p:ph type="body" sz="quarter" idx="1"/>
          </p:nvPr>
        </p:nvSpPr>
        <p:spPr>
          <a:prstGeom prst="rect">
            <a:avLst/>
          </a:prstGeom>
        </p:spPr>
        <p:txBody>
          <a:bodyPr/>
          <a:lstStyle/>
          <a:p>
            <a:pPr/>
            <a:r>
              <a:t>Color rules. Navy and white backgrounds only; orange is for accents.</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3" name="Shape 633"/>
          <p:cNvSpPr/>
          <p:nvPr>
            <p:ph type="sldImg"/>
          </p:nvPr>
        </p:nvSpPr>
        <p:spPr>
          <a:prstGeom prst="rect">
            <a:avLst/>
          </a:prstGeom>
        </p:spPr>
        <p:txBody>
          <a:bodyPr/>
          <a:lstStyle/>
          <a:p>
            <a:pPr/>
          </a:p>
        </p:txBody>
      </p:sp>
      <p:sp>
        <p:nvSpPr>
          <p:cNvPr id="634" name="Shape 634"/>
          <p:cNvSpPr/>
          <p:nvPr>
            <p:ph type="body" sz="quarter" idx="1"/>
          </p:nvPr>
        </p:nvSpPr>
        <p:spPr>
          <a:prstGeom prst="rect">
            <a:avLst/>
          </a:prstGeom>
        </p:spPr>
        <p:txBody>
          <a:bodyPr/>
          <a:lstStyle/>
          <a:p>
            <a:pPr/>
            <a:r>
              <a:t>Closing slide. Swap in your handle so the room can find you.</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2" name="Shape 642"/>
          <p:cNvSpPr/>
          <p:nvPr>
            <p:ph type="sldImg"/>
          </p:nvPr>
        </p:nvSpPr>
        <p:spPr>
          <a:prstGeom prst="rect">
            <a:avLst/>
          </a:prstGeom>
        </p:spPr>
        <p:txBody>
          <a:bodyPr/>
          <a:lstStyle/>
          <a:p>
            <a:pPr/>
          </a:p>
        </p:txBody>
      </p:sp>
      <p:sp>
        <p:nvSpPr>
          <p:cNvPr id="643" name="Shape 643"/>
          <p:cNvSpPr/>
          <p:nvPr>
            <p:ph type="body" sz="quarter" idx="1"/>
          </p:nvPr>
        </p:nvSpPr>
        <p:spPr>
          <a:prstGeom prst="rect">
            <a:avLst/>
          </a:prstGeom>
        </p:spPr>
        <p:txBody>
          <a:bodyPr/>
          <a:lstStyle/>
          <a:p>
            <a:pPr/>
            <a:r>
              <a:t>Quote slide. One or two sentences at most. Update the attribution name and title.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839200" y="9260681"/>
            <a:ext cx="4267200" cy="547688"/>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https://www.youtube.com/embed/_jy18zLJNhs?feature=oembed" TargetMode="External"/><Relationship Id="rId4"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tif"/></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tif"/></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tif"/></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tif"/></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tif"/></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tif"/></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tif"/></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tif"/></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tif"/></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tif"/></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2.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3.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3.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3.tif"/></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3.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3.jpeg"/><Relationship Id="rId5" Type="http://schemas.openxmlformats.org/officeDocument/2006/relationships/image" Target="../media/image2.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1.gif"/><Relationship Id="rId5" Type="http://schemas.openxmlformats.org/officeDocument/2006/relationships/image" Target="../media/image2.png"/></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4.jpeg"/><Relationship Id="rId5" Type="http://schemas.openxmlformats.org/officeDocument/2006/relationships/image" Target="../media/image2.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image" Target="../media/image5.png"/></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5.jpe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4.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hyperlink" Target="https://fonts.google.com/specimen/League+Spartan" TargetMode="External"/><Relationship Id="rId4" Type="http://schemas.openxmlformats.org/officeDocument/2006/relationships/image" Target="../media/image4.png"/></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png"/></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21"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22"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23" name="Image 0" descr="Image 0"/>
          <p:cNvPicPr>
            <a:picLocks noChangeAspect="1"/>
          </p:cNvPicPr>
          <p:nvPr/>
        </p:nvPicPr>
        <p:blipFill>
          <a:blip r:embed="rId3">
            <a:extLst/>
          </a:blip>
          <a:stretch>
            <a:fillRect/>
          </a:stretch>
        </p:blipFill>
        <p:spPr>
          <a:xfrm>
            <a:off x="1047690" y="3215419"/>
            <a:ext cx="4095731" cy="3856071"/>
          </a:xfrm>
          <a:prstGeom prst="rect">
            <a:avLst/>
          </a:prstGeom>
          <a:ln w="12700">
            <a:miter lim="400000"/>
          </a:ln>
        </p:spPr>
      </p:pic>
      <p:sp>
        <p:nvSpPr>
          <p:cNvPr id="24" name="Text 3"/>
          <p:cNvSpPr txBox="1"/>
          <p:nvPr/>
        </p:nvSpPr>
        <p:spPr>
          <a:xfrm>
            <a:off x="3209849" y="3300943"/>
            <a:ext cx="1898201" cy="89022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32104">
              <a:lnSpc>
                <a:spcPct val="86768"/>
              </a:lnSpc>
              <a:defRPr b="1" sz="5460">
                <a:solidFill>
                  <a:srgbClr val="FF7900"/>
                </a:solidFill>
                <a:latin typeface="League Spartan"/>
                <a:ea typeface="League Spartan"/>
                <a:cs typeface="League Spartan"/>
                <a:sym typeface="League Spartan"/>
              </a:defRPr>
            </a:lvl1pPr>
          </a:lstStyle>
          <a:p>
            <a:pPr/>
            <a:r>
              <a:t>2026</a:t>
            </a:r>
          </a:p>
        </p:txBody>
      </p:sp>
      <p:sp>
        <p:nvSpPr>
          <p:cNvPr id="25" name="Text 4"/>
          <p:cNvSpPr txBox="1"/>
          <p:nvPr/>
        </p:nvSpPr>
        <p:spPr>
          <a:xfrm>
            <a:off x="6191111" y="3260321"/>
            <a:ext cx="11315676" cy="3380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940">
                <a:solidFill>
                  <a:srgbClr val="FF7900"/>
                </a:solidFill>
                <a:latin typeface="League Spartan"/>
                <a:ea typeface="League Spartan"/>
                <a:cs typeface="League Spartan"/>
                <a:sym typeface="League Spartan"/>
              </a:defRPr>
            </a:lvl1pPr>
          </a:lstStyle>
          <a:p>
            <a:pPr/>
            <a:r>
              <a:t>FIFTH ANNUAL · SEPTEMBER 14, 2026 · THE STATLER DALLAS</a:t>
            </a:r>
          </a:p>
        </p:txBody>
      </p:sp>
      <p:sp>
        <p:nvSpPr>
          <p:cNvPr id="26"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
        <p:nvSpPr>
          <p:cNvPr id="27" name="Text 6"/>
          <p:cNvSpPr txBox="1"/>
          <p:nvPr/>
        </p:nvSpPr>
        <p:spPr>
          <a:xfrm>
            <a:off x="6191111" y="5968027"/>
            <a:ext cx="11315676" cy="40329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32104">
              <a:lnSpc>
                <a:spcPct val="80000"/>
              </a:lnSpc>
              <a:defRPr sz="2366">
                <a:solidFill>
                  <a:srgbClr val="C9D0D9"/>
                </a:solidFill>
                <a:latin typeface="League Spartan"/>
                <a:ea typeface="League Spartan"/>
                <a:cs typeface="League Spartan"/>
                <a:sym typeface="League Spartan"/>
              </a:defRPr>
            </a:lvl1pPr>
          </a:lstStyle>
          <a:p>
            <a:pPr/>
            <a:r>
              <a:t>Walt Brown, Head Coach - EOS Worldwide</a:t>
            </a:r>
          </a:p>
        </p:txBody>
      </p:sp>
      <p:sp>
        <p:nvSpPr>
          <p:cNvPr id="28" name="Text 7"/>
          <p:cNvSpPr txBox="1"/>
          <p:nvPr/>
        </p:nvSpPr>
        <p:spPr>
          <a:xfrm>
            <a:off x="6191111" y="6657047"/>
            <a:ext cx="11315676"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z="2375">
                <a:solidFill>
                  <a:srgbClr val="FF7900"/>
                </a:solidFill>
                <a:latin typeface="League Spartan"/>
                <a:ea typeface="League Spartan"/>
                <a:cs typeface="League Spartan"/>
                <a:sym typeface="League Spartan"/>
              </a:defRPr>
            </a:lvl1pPr>
          </a:lstStyle>
          <a:p>
            <a:pPr/>
            <a:r>
              <a:t>Walt.Brown@eosworldwide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33"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34"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5"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0"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1"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2"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7"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8"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9"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 MATTERS™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52"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53"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54"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 MATTERS™</a:t>
            </a:r>
          </a:p>
        </p:txBody>
      </p:sp>
      <p:pic>
        <p:nvPicPr>
          <p:cNvPr id="55" name="Smart vs. Healthy Organizations by Patrick Lencioni" descr="Smart vs. Healthy Organizations by Patrick Lencioni"/>
          <p:cNvPicPr>
            <a:picLocks noChangeAspect="0"/>
          </p:cNvPicPr>
          <p:nvPr>
            <a:videoFile xmlns:mc="http://schemas.openxmlformats.org/markup-compatibility/2006" xmlns:aiw="http://developer.apple.com/namespaces/iwork" r:link="rId3" mc:Ignorable="aiw" aiw:title="Smart vs. Healthy Organizations by Patrick Lencioni" aiw:author="Patrick Lencioni"/>
          </p:nvPr>
        </p:nvPicPr>
        <p:blipFill>
          <a:blip r:embed="rId4">
            <a:extLst/>
          </a:blip>
          <a:stretch>
            <a:fillRect/>
          </a:stretch>
        </p:blipFill>
        <p:spPr>
          <a:xfrm>
            <a:off x="1143000" y="698500"/>
            <a:ext cx="16256000" cy="91440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 fill="hold"/>
                                        <p:tgtEl>
                                          <p:spTgt spid="55"/>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80000">
                <p:cTn id="7" fill="hold" display="0">
                  <p:stCondLst>
                    <p:cond delay="indefinite"/>
                  </p:stCondLst>
                </p:cTn>
                <p:tgtEl>
                  <p:spTgt spid="55"/>
                </p:tgtEl>
              </p:cMediaNode>
            </p:video>
            <p:seq concurrent="1" prevAc="none" nextAc="seek">
              <p:cTn id="8" evtFilter="cancelBubble" nodeType="interactiveSeq" restart="whenNotActive" fill="hold">
                <p:stCondLst>
                  <p:cond delay="0" evt="onClick">
                    <p:tgtEl>
                      <p:spTgt spid="55"/>
                    </p:tgtEl>
                  </p:cond>
                </p:stCondLst>
                <p:endSync delay="0" evt="end">
                  <p:rtn val="all"/>
                </p:endSync>
                <p:childTnLst>
                  <p:par>
                    <p:cTn id="9" fill="hold">
                      <p:stCondLst>
                        <p:cond delay="0"/>
                      </p:stCondLst>
                      <p:childTnLst>
                        <p:par>
                          <p:cTn id="10" fill="hold">
                            <p:stCondLst>
                              <p:cond delay="0"/>
                            </p:stCondLst>
                            <p:childTnLst>
                              <p:par>
                                <p:cTn id="11" presetClass="mediacall" nodeType="clickEffect" presetSubtype="0" presetID="2" fill="hold">
                                  <p:stCondLst>
                                    <p:cond delay="0"/>
                                  </p:stCondLst>
                                  <p:childTnLst>
                                    <p:cmd type="call" cmd="togglePause">
                                      <p:cBhvr>
                                        <p:cTn id="12" dur="1" fill="hold"/>
                                        <p:tgtEl>
                                          <p:spTgt spid="55"/>
                                        </p:tgtEl>
                                      </p:cBhvr>
                                    </p:cmd>
                                  </p:childTnLst>
                                </p:cTn>
                              </p:par>
                            </p:childTnLst>
                          </p:cTn>
                        </p:par>
                      </p:childTnLst>
                    </p:cTn>
                  </p:par>
                </p:childTnLst>
              </p:cTn>
              <p:nextCondLst>
                <p:cond delay="0" evt="onClick">
                  <p:tgtEl>
                    <p:spTgt spid="5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60"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61"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62"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22959">
              <a:lnSpc>
                <a:spcPct val="82069"/>
              </a:lnSpc>
              <a:defRPr b="1" spc="-90" sz="5940">
                <a:solidFill>
                  <a:srgbClr val="FFFFFF"/>
                </a:solidFill>
                <a:latin typeface="League Spartan"/>
                <a:ea typeface="League Spartan"/>
                <a:cs typeface="League Spartan"/>
                <a:sym typeface="League Spartan"/>
              </a:defRPr>
            </a:pPr>
            <a:r>
              <a:t>VISION, TRACTION, </a:t>
            </a:r>
            <a:r>
              <a:rPr i="1"/>
              <a:t>HEALTHY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6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6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6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70" name="EOS hits a ceiling.…"/>
          <p:cNvSpPr txBox="1"/>
          <p:nvPr/>
        </p:nvSpPr>
        <p:spPr>
          <a:xfrm>
            <a:off x="1279152" y="1587854"/>
            <a:ext cx="9417951" cy="345342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80" sz="8500">
                <a:solidFill>
                  <a:srgbClr val="F04E23"/>
                </a:solidFill>
                <a:latin typeface="League Spartan"/>
                <a:ea typeface="League Spartan"/>
                <a:cs typeface="League Spartan"/>
                <a:sym typeface="League Spartan"/>
              </a:defRPr>
            </a:pPr>
            <a:r>
              <a:t>EOS hits a ceiling.</a:t>
            </a:r>
          </a:p>
          <a:p>
            <a:pPr>
              <a:lnSpc>
                <a:spcPct val="79766"/>
              </a:lnSpc>
              <a:defRPr b="1" spc="-80" sz="8500">
                <a:solidFill>
                  <a:srgbClr val="F04E23"/>
                </a:solidFill>
                <a:latin typeface="League Spartan"/>
                <a:ea typeface="League Spartan"/>
                <a:cs typeface="League Spartan"/>
                <a:sym typeface="League Spartan"/>
              </a:defRPr>
            </a:pPr>
          </a:p>
          <a:p>
            <a:pPr>
              <a:lnSpc>
                <a:spcPct val="79766"/>
              </a:lnSpc>
              <a:defRPr b="1" spc="-80" sz="8500">
                <a:solidFill>
                  <a:srgbClr val="F04E23"/>
                </a:solidFill>
                <a:latin typeface="League Spartan"/>
                <a:ea typeface="League Spartan"/>
                <a:cs typeface="League Spartan"/>
                <a:sym typeface="League Spartan"/>
              </a:defRPr>
            </a:pPr>
            <a:r>
              <a:t>EOS breaks down.</a:t>
            </a:r>
          </a:p>
        </p:txBody>
      </p:sp>
      <p:pic>
        <p:nvPicPr>
          <p:cNvPr id="71" name="Image" descr="Image"/>
          <p:cNvPicPr>
            <a:picLocks noChangeAspect="1"/>
          </p:cNvPicPr>
          <p:nvPr/>
        </p:nvPicPr>
        <p:blipFill>
          <a:blip r:embed="rId4">
            <a:extLst/>
          </a:blip>
          <a:stretch>
            <a:fillRect/>
          </a:stretch>
        </p:blipFill>
        <p:spPr>
          <a:xfrm>
            <a:off x="8255724" y="278326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76"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77"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78" name="Text 5"/>
          <p:cNvSpPr txBox="1"/>
          <p:nvPr/>
        </p:nvSpPr>
        <p:spPr>
          <a:xfrm>
            <a:off x="6191112" y="2780249"/>
            <a:ext cx="10595586" cy="290205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41247">
              <a:lnSpc>
                <a:spcPct val="82069"/>
              </a:lnSpc>
              <a:defRPr b="1" i="1" spc="-92" sz="6072">
                <a:solidFill>
                  <a:srgbClr val="FFFFFF"/>
                </a:solidFill>
                <a:latin typeface="League Spartan"/>
                <a:ea typeface="League Spartan"/>
                <a:cs typeface="League Spartan"/>
                <a:sym typeface="League Spartan"/>
              </a:defRPr>
            </a:pPr>
            <a:r>
              <a:t>“As goes the leadership team </a:t>
            </a:r>
          </a:p>
          <a:p>
            <a:pPr defTabSz="841247">
              <a:lnSpc>
                <a:spcPct val="82069"/>
              </a:lnSpc>
              <a:defRPr b="1" i="1" spc="-92" sz="6072">
                <a:solidFill>
                  <a:srgbClr val="FFFFFF"/>
                </a:solidFill>
                <a:latin typeface="League Spartan"/>
                <a:ea typeface="League Spartan"/>
                <a:cs typeface="League Spartan"/>
                <a:sym typeface="League Spartan"/>
              </a:defRPr>
            </a:pPr>
            <a:r>
              <a:t>                 so goes</a:t>
            </a:r>
          </a:p>
          <a:p>
            <a:pPr defTabSz="841247">
              <a:lnSpc>
                <a:spcPct val="82069"/>
              </a:lnSpc>
              <a:defRPr b="1" i="1" spc="-92" sz="6072">
                <a:solidFill>
                  <a:srgbClr val="FFFFFF"/>
                </a:solidFill>
                <a:latin typeface="League Spartan"/>
                <a:ea typeface="League Spartan"/>
                <a:cs typeface="League Spartan"/>
                <a:sym typeface="League Spartan"/>
              </a:defRPr>
            </a:pPr>
            <a:r>
              <a:t>the rest of the organization.”</a:t>
            </a:r>
          </a:p>
        </p:txBody>
      </p:sp>
      <p:pic>
        <p:nvPicPr>
          <p:cNvPr id="79"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84"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85"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86"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87" name="EOS Breaks Down"/>
          <p:cNvSpPr txBox="1"/>
          <p:nvPr/>
        </p:nvSpPr>
        <p:spPr>
          <a:xfrm>
            <a:off x="2309718" y="1860506"/>
            <a:ext cx="7227018"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EOS Breaks Down</a:t>
            </a:r>
          </a:p>
        </p:txBody>
      </p:sp>
      <p:pic>
        <p:nvPicPr>
          <p:cNvPr id="88"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93"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94"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95"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96" name="It fails to reach the…"/>
          <p:cNvSpPr txBox="1"/>
          <p:nvPr/>
        </p:nvSpPr>
        <p:spPr>
          <a:xfrm>
            <a:off x="2309718" y="3351518"/>
            <a:ext cx="8176876" cy="43883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It fails to reach the</a:t>
            </a:r>
          </a:p>
          <a:p>
            <a:pPr>
              <a:lnSpc>
                <a:spcPct val="82069"/>
              </a:lnSpc>
              <a:defRPr b="1" spc="-100" sz="6600">
                <a:solidFill>
                  <a:srgbClr val="FFFFFF"/>
                </a:solidFill>
                <a:latin typeface="League Spartan"/>
                <a:ea typeface="League Spartan"/>
                <a:cs typeface="League Spartan"/>
                <a:sym typeface="League Spartan"/>
              </a:defRPr>
            </a:pPr>
            <a:r>
              <a:t>frontlines. </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It is never embraced </a:t>
            </a:r>
          </a:p>
          <a:p>
            <a:pPr>
              <a:lnSpc>
                <a:spcPct val="82069"/>
              </a:lnSpc>
              <a:defRPr b="1" spc="-100" sz="6600">
                <a:solidFill>
                  <a:srgbClr val="FFFFFF"/>
                </a:solidFill>
                <a:latin typeface="League Spartan"/>
                <a:ea typeface="League Spartan"/>
                <a:cs typeface="League Spartan"/>
                <a:sym typeface="League Spartan"/>
              </a:defRPr>
            </a:pPr>
            <a:r>
              <a:t>by our workers.</a:t>
            </a:r>
          </a:p>
        </p:txBody>
      </p:sp>
      <p:pic>
        <p:nvPicPr>
          <p:cNvPr id="97"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0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0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0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05"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
        <p:nvSpPr>
          <p:cNvPr id="106" name="No buy in or belief…"/>
          <p:cNvSpPr txBox="1"/>
          <p:nvPr/>
        </p:nvSpPr>
        <p:spPr>
          <a:xfrm>
            <a:off x="2309718" y="3351518"/>
            <a:ext cx="8212930" cy="43883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No buy in or belief </a:t>
            </a:r>
          </a:p>
          <a:p>
            <a:pPr>
              <a:lnSpc>
                <a:spcPct val="82069"/>
              </a:lnSpc>
              <a:defRPr b="1" spc="-100" sz="6600">
                <a:solidFill>
                  <a:srgbClr val="FFFFFF"/>
                </a:solidFill>
                <a:latin typeface="League Spartan"/>
                <a:ea typeface="League Spartan"/>
                <a:cs typeface="League Spartan"/>
                <a:sym typeface="League Spartan"/>
              </a:defRPr>
            </a:pPr>
            <a:r>
              <a:t>in EOS®… </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especially by</a:t>
            </a:r>
          </a:p>
          <a:p>
            <a:pPr>
              <a:lnSpc>
                <a:spcPct val="82069"/>
              </a:lnSpc>
              <a:defRPr b="1" spc="-100" sz="6600">
                <a:solidFill>
                  <a:srgbClr val="FFFFFF"/>
                </a:solidFill>
                <a:latin typeface="League Spartan"/>
                <a:ea typeface="League Spartan"/>
                <a:cs typeface="League Spartan"/>
                <a:sym typeface="League Spartan"/>
              </a:defRPr>
            </a:pPr>
            <a:r>
              <a:t>middle management.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1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1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1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14" name="Your rollout is a steamroller.…"/>
          <p:cNvSpPr txBox="1"/>
          <p:nvPr/>
        </p:nvSpPr>
        <p:spPr>
          <a:xfrm>
            <a:off x="2309718" y="3351518"/>
            <a:ext cx="11200903" cy="43883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Your rollout is a steamroller. </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You don’t have </a:t>
            </a:r>
          </a:p>
          <a:p>
            <a:pPr>
              <a:lnSpc>
                <a:spcPct val="82069"/>
              </a:lnSpc>
              <a:defRPr b="1" spc="-100" sz="6600">
                <a:solidFill>
                  <a:srgbClr val="FFFFFF"/>
                </a:solidFill>
                <a:latin typeface="League Spartan"/>
                <a:ea typeface="League Spartan"/>
                <a:cs typeface="League Spartan"/>
                <a:sym typeface="League Spartan"/>
              </a:defRPr>
            </a:pPr>
            <a:r>
              <a:t>a compelling</a:t>
            </a:r>
          </a:p>
          <a:p>
            <a:pPr>
              <a:lnSpc>
                <a:spcPct val="82069"/>
              </a:lnSpc>
              <a:defRPr b="1" spc="-100" sz="6600">
                <a:solidFill>
                  <a:srgbClr val="FFFFFF"/>
                </a:solidFill>
                <a:latin typeface="League Spartan"/>
                <a:ea typeface="League Spartan"/>
                <a:cs typeface="League Spartan"/>
                <a:sym typeface="League Spartan"/>
              </a:defRPr>
            </a:pPr>
            <a:r>
              <a:t>message.</a:t>
            </a:r>
          </a:p>
        </p:txBody>
      </p:sp>
      <p:pic>
        <p:nvPicPr>
          <p:cNvPr id="115"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20"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21"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22"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23" name="And You Hit The Ceiling…"/>
          <p:cNvSpPr txBox="1"/>
          <p:nvPr/>
        </p:nvSpPr>
        <p:spPr>
          <a:xfrm>
            <a:off x="2309718" y="1860506"/>
            <a:ext cx="9281082" cy="35649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And You Hit The Ceiling</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Why?</a:t>
            </a:r>
          </a:p>
        </p:txBody>
      </p:sp>
      <p:pic>
        <p:nvPicPr>
          <p:cNvPr id="124"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29"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30"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31"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
        <p:nvSpPr>
          <p:cNvPr id="132" name="Your employees,"/>
          <p:cNvSpPr txBox="1"/>
          <p:nvPr/>
        </p:nvSpPr>
        <p:spPr>
          <a:xfrm>
            <a:off x="2127008" y="1387251"/>
            <a:ext cx="6559895"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Your employees,</a:t>
            </a:r>
          </a:p>
        </p:txBody>
      </p:sp>
      <p:sp>
        <p:nvSpPr>
          <p:cNvPr id="133" name="We must flip the script."/>
          <p:cNvSpPr txBox="1"/>
          <p:nvPr/>
        </p:nvSpPr>
        <p:spPr>
          <a:xfrm>
            <a:off x="2241985" y="5639601"/>
            <a:ext cx="9005625"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We must flip the script.</a:t>
            </a:r>
          </a:p>
        </p:txBody>
      </p:sp>
      <p:sp>
        <p:nvSpPr>
          <p:cNvPr id="134" name="Feel EOS is being done…"/>
          <p:cNvSpPr txBox="1"/>
          <p:nvPr/>
        </p:nvSpPr>
        <p:spPr>
          <a:xfrm>
            <a:off x="2917219" y="2978955"/>
            <a:ext cx="9139893" cy="19181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Feel EOS is being done</a:t>
            </a:r>
          </a:p>
          <a:p>
            <a:pPr>
              <a:lnSpc>
                <a:spcPct val="82069"/>
              </a:lnSpc>
              <a:defRPr b="1" spc="-100" sz="6600">
                <a:solidFill>
                  <a:srgbClr val="FFFFFF"/>
                </a:solidFill>
                <a:latin typeface="League Spartan"/>
                <a:ea typeface="League Spartan"/>
                <a:cs typeface="League Spartan"/>
                <a:sym typeface="League Spartan"/>
              </a:defRPr>
            </a:pPr>
            <a:r>
              <a:rPr i="1"/>
              <a:t>To</a:t>
            </a:r>
            <a:r>
              <a:t> them not </a:t>
            </a:r>
            <a:r>
              <a:rPr i="1"/>
              <a:t>For </a:t>
            </a:r>
            <a:r>
              <a:t>them.</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39"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40"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41"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
        <p:nvSpPr>
          <p:cNvPr id="142" name="Your employees,"/>
          <p:cNvSpPr txBox="1"/>
          <p:nvPr/>
        </p:nvSpPr>
        <p:spPr>
          <a:xfrm>
            <a:off x="2127007" y="1387251"/>
            <a:ext cx="6559896"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Your employees,</a:t>
            </a:r>
          </a:p>
        </p:txBody>
      </p:sp>
      <p:sp>
        <p:nvSpPr>
          <p:cNvPr id="143" name="We must fill in the why gap."/>
          <p:cNvSpPr txBox="1"/>
          <p:nvPr/>
        </p:nvSpPr>
        <p:spPr>
          <a:xfrm>
            <a:off x="2241985" y="5639601"/>
            <a:ext cx="10724131"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We must fill in the why gap.</a:t>
            </a:r>
          </a:p>
        </p:txBody>
      </p:sp>
      <p:sp>
        <p:nvSpPr>
          <p:cNvPr id="144" name="Don’t understand the why of EOS."/>
          <p:cNvSpPr txBox="1"/>
          <p:nvPr/>
        </p:nvSpPr>
        <p:spPr>
          <a:xfrm>
            <a:off x="2917219" y="2978955"/>
            <a:ext cx="13248914"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Don’t understand the why of EOS.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49"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50"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51"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
        <p:nvSpPr>
          <p:cNvPr id="152" name="Your employees,"/>
          <p:cNvSpPr txBox="1"/>
          <p:nvPr/>
        </p:nvSpPr>
        <p:spPr>
          <a:xfrm>
            <a:off x="2127007" y="1387251"/>
            <a:ext cx="6559896"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Your employees,</a:t>
            </a:r>
          </a:p>
        </p:txBody>
      </p:sp>
      <p:sp>
        <p:nvSpPr>
          <p:cNvPr id="153" name="We must help them tune in."/>
          <p:cNvSpPr txBox="1"/>
          <p:nvPr/>
        </p:nvSpPr>
        <p:spPr>
          <a:xfrm>
            <a:off x="2241985" y="5639601"/>
            <a:ext cx="10656216"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We must help them tune in.</a:t>
            </a:r>
          </a:p>
        </p:txBody>
      </p:sp>
      <p:sp>
        <p:nvSpPr>
          <p:cNvPr id="154" name="Can’t tune in to WIIFM."/>
          <p:cNvSpPr txBox="1"/>
          <p:nvPr/>
        </p:nvSpPr>
        <p:spPr>
          <a:xfrm>
            <a:off x="2917219" y="2978955"/>
            <a:ext cx="8844383"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Can’t tune in to WIIFM.</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59"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60"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61"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62" name="Its time to break through."/>
          <p:cNvSpPr txBox="1"/>
          <p:nvPr/>
        </p:nvSpPr>
        <p:spPr>
          <a:xfrm>
            <a:off x="2309718" y="1860506"/>
            <a:ext cx="9833160"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Its time to break through.</a:t>
            </a:r>
          </a:p>
        </p:txBody>
      </p:sp>
      <p:pic>
        <p:nvPicPr>
          <p:cNvPr id="163"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68"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69"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70"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7 CRITICAL NEEDS™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75"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76"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77"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8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8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8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187" name="trust builder.jpg"/>
          <p:cNvGrpSpPr/>
          <p:nvPr/>
        </p:nvGrpSpPr>
        <p:grpSpPr>
          <a:xfrm>
            <a:off x="7653332" y="768350"/>
            <a:ext cx="6184901" cy="8750300"/>
            <a:chOff x="0" y="0"/>
            <a:chExt cx="6184900" cy="8750300"/>
          </a:xfrm>
        </p:grpSpPr>
        <p:pic>
          <p:nvPicPr>
            <p:cNvPr id="186" name="trust builder.jpg" descr="trust builder.jpg"/>
            <p:cNvPicPr>
              <a:picLocks noChangeAspect="1"/>
            </p:cNvPicPr>
            <p:nvPr/>
          </p:nvPicPr>
          <p:blipFill>
            <a:blip r:embed="rId4">
              <a:extLst/>
            </a:blip>
            <a:srcRect l="785" t="0" r="785" b="0"/>
            <a:stretch>
              <a:fillRect/>
            </a:stretch>
          </p:blipFill>
          <p:spPr>
            <a:xfrm>
              <a:off x="203200" y="203200"/>
              <a:ext cx="5778500" cy="8305800"/>
            </a:xfrm>
            <a:prstGeom prst="rect">
              <a:avLst/>
            </a:prstGeom>
            <a:ln>
              <a:noFill/>
            </a:ln>
            <a:effectLst/>
          </p:spPr>
        </p:pic>
        <p:pic>
          <p:nvPicPr>
            <p:cNvPr id="185" name="trust builder.jpg" descr="trust builder.jpg"/>
            <p:cNvPicPr>
              <a:picLocks noChangeAspect="0"/>
            </p:cNvPicPr>
            <p:nvPr/>
          </p:nvPicPr>
          <p:blipFill>
            <a:blip r:embed="rId5">
              <a:extLst/>
            </a:blip>
            <a:stretch>
              <a:fillRect/>
            </a:stretch>
          </p:blipFill>
          <p:spPr>
            <a:xfrm>
              <a:off x="0" y="0"/>
              <a:ext cx="6184900" cy="8750300"/>
            </a:xfrm>
            <a:prstGeom prst="rect">
              <a:avLst/>
            </a:prstGeom>
            <a:effectLst/>
          </p:spPr>
        </p:pic>
      </p:grpSp>
      <p:sp>
        <p:nvSpPr>
          <p:cNvPr id="188" name="Trust…"/>
          <p:cNvSpPr txBox="1"/>
          <p:nvPr/>
        </p:nvSpPr>
        <p:spPr>
          <a:xfrm>
            <a:off x="946984" y="948742"/>
            <a:ext cx="3107323" cy="200918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66" sz="7000">
                <a:solidFill>
                  <a:srgbClr val="F04E23"/>
                </a:solidFill>
                <a:latin typeface="League Spartan"/>
                <a:ea typeface="League Spartan"/>
                <a:cs typeface="League Spartan"/>
                <a:sym typeface="League Spartan"/>
              </a:defRPr>
            </a:pPr>
            <a:r>
              <a:t>Trust</a:t>
            </a:r>
          </a:p>
          <a:p>
            <a:pPr>
              <a:lnSpc>
                <a:spcPct val="79766"/>
              </a:lnSpc>
              <a:defRPr b="1" spc="-66" sz="7000">
                <a:solidFill>
                  <a:srgbClr val="F04E23"/>
                </a:solidFill>
                <a:latin typeface="League Spartan"/>
                <a:ea typeface="League Spartan"/>
                <a:cs typeface="League Spartan"/>
                <a:sym typeface="League Spartan"/>
              </a:defRPr>
            </a:pPr>
            <a:r>
              <a:t>Builder</a:t>
            </a:r>
          </a:p>
        </p:txBody>
      </p:sp>
      <p:sp>
        <p:nvSpPr>
          <p:cNvPr id="189" name="Arrow"/>
          <p:cNvSpPr/>
          <p:nvPr/>
        </p:nvSpPr>
        <p:spPr>
          <a:xfrm>
            <a:off x="11095303" y="6209713"/>
            <a:ext cx="1589291" cy="6550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14" y="14256"/>
                </a:moveTo>
                <a:lnTo>
                  <a:pt x="9814" y="21600"/>
                </a:lnTo>
                <a:lnTo>
                  <a:pt x="0" y="10800"/>
                </a:lnTo>
                <a:lnTo>
                  <a:pt x="9814" y="0"/>
                </a:lnTo>
                <a:lnTo>
                  <a:pt x="9814" y="7344"/>
                </a:lnTo>
                <a:lnTo>
                  <a:pt x="21600" y="7344"/>
                </a:lnTo>
                <a:lnTo>
                  <a:pt x="21600" y="14256"/>
                </a:lnTo>
                <a:close/>
              </a:path>
            </a:pathLst>
          </a:custGeom>
          <a:solidFill>
            <a:schemeClr val="accent2"/>
          </a:solidFill>
          <a:ln w="12700">
            <a:solidFill>
              <a:srgbClr val="AD5B24"/>
            </a:solidFill>
            <a:miter/>
          </a:ln>
        </p:spPr>
        <p:txBody>
          <a:bodyPr lIns="45719" rIns="45719" anchor="ctr"/>
          <a:lstStyle/>
          <a:p>
            <a:pPr>
              <a:defRPr>
                <a:solidFill>
                  <a:srgbClr val="FFFFFF"/>
                </a:solidFill>
              </a:defRPr>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94"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95"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96"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7 CRITICAL NEEDS™ </a:t>
            </a:r>
          </a:p>
        </p:txBody>
      </p:sp>
      <p:sp>
        <p:nvSpPr>
          <p:cNvPr id="197" name="Discovery"/>
          <p:cNvSpPr txBox="1"/>
          <p:nvPr/>
        </p:nvSpPr>
        <p:spPr>
          <a:xfrm>
            <a:off x="6140047" y="5535918"/>
            <a:ext cx="4217254"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Discovery </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0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0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04"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05"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06" name="Do I Belong?"/>
          <p:cNvSpPr txBox="1"/>
          <p:nvPr/>
        </p:nvSpPr>
        <p:spPr>
          <a:xfrm>
            <a:off x="5049707" y="4311418"/>
            <a:ext cx="5120095" cy="1918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a:t>
            </a:r>
            <a:r>
              <a:rPr i="1"/>
              <a:t>Belong</a:t>
            </a:r>
            <a:r>
              <a:t>?</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1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1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13"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1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15" name="Do I Believe?"/>
          <p:cNvSpPr txBox="1"/>
          <p:nvPr/>
        </p:nvSpPr>
        <p:spPr>
          <a:xfrm>
            <a:off x="5049707" y="4311418"/>
            <a:ext cx="5202757" cy="1918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a:t>
            </a:r>
            <a:r>
              <a:rPr i="1"/>
              <a:t>Believe</a:t>
            </a:r>
            <a:r>
              <a:t>?</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hape 0"/>
          <p:cNvSpPr/>
          <p:nvPr/>
        </p:nvSpPr>
        <p:spPr>
          <a:xfrm>
            <a:off x="0" y="12699"/>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20"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21"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22"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2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24"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what I’m </a:t>
            </a:r>
            <a:r>
              <a:rPr i="1"/>
              <a:t>Accountable</a:t>
            </a:r>
            <a:r>
              <a:t> for?</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29"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30"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31"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32"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33"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how I’m </a:t>
            </a:r>
            <a:r>
              <a:rPr i="1"/>
              <a:t>Measured</a:t>
            </a:r>
            <a:r>
              <a: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38"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39"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40"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41"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42"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how I’m </a:t>
            </a:r>
            <a:r>
              <a:rPr i="1"/>
              <a:t>Heard</a:t>
            </a:r>
            <a:r>
              <a: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4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4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49"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50"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51"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how I’m </a:t>
            </a:r>
            <a:r>
              <a:rPr i="1"/>
              <a:t>Developed</a:t>
            </a:r>
            <a:r>
              <a:t>?</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56"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5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58"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5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60"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how I maintain </a:t>
            </a:r>
            <a:r>
              <a:rPr i="1"/>
              <a:t>Balance</a:t>
            </a:r>
            <a:r>
              <a:t>?</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65"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6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6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6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69" name="Do I Belong?              Stay or Go?…"/>
          <p:cNvSpPr txBox="1"/>
          <p:nvPr/>
        </p:nvSpPr>
        <p:spPr>
          <a:xfrm>
            <a:off x="5021934" y="3978151"/>
            <a:ext cx="13085997"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Belong?              Stay or Go?</a:t>
            </a:r>
          </a:p>
          <a:p>
            <a:pPr>
              <a:lnSpc>
                <a:spcPct val="82069"/>
              </a:lnSpc>
              <a:defRPr b="1" spc="-100" sz="6600">
                <a:solidFill>
                  <a:srgbClr val="FFFFFF"/>
                </a:solidFill>
                <a:latin typeface="League Spartan"/>
                <a:ea typeface="League Spartan"/>
                <a:cs typeface="League Spartan"/>
                <a:sym typeface="League Spartan"/>
              </a:defRPr>
            </a:pPr>
            <a:r>
              <a:t>Do I Believe?              Stay or Go?</a:t>
            </a:r>
          </a:p>
          <a:p>
            <a:pPr>
              <a:lnSpc>
                <a:spcPct val="82069"/>
              </a:lnSpc>
              <a:defRPr b="1" spc="-100" sz="6600">
                <a:solidFill>
                  <a:srgbClr val="FFFFFF"/>
                </a:solidFill>
                <a:latin typeface="League Spartan"/>
                <a:ea typeface="League Spartan"/>
                <a:cs typeface="League Spartan"/>
                <a:sym typeface="League Spartan"/>
              </a:defRPr>
            </a:pPr>
            <a:r>
              <a:t>Am I Accountable?    Stay or Go?</a:t>
            </a:r>
          </a:p>
          <a:p>
            <a:pPr>
              <a:lnSpc>
                <a:spcPct val="82069"/>
              </a:lnSpc>
              <a:defRPr b="1" spc="-100" sz="6600">
                <a:solidFill>
                  <a:srgbClr val="FFFFFF"/>
                </a:solidFill>
                <a:latin typeface="League Spartan"/>
                <a:ea typeface="League Spartan"/>
                <a:cs typeface="League Spartan"/>
                <a:sym typeface="League Spartan"/>
              </a:defRPr>
            </a:pPr>
            <a:r>
              <a:t>Am I Measured?         Stay or Go?</a:t>
            </a:r>
          </a:p>
          <a:p>
            <a:pPr>
              <a:lnSpc>
                <a:spcPct val="82069"/>
              </a:lnSpc>
              <a:defRPr b="1" spc="-100" sz="6600">
                <a:solidFill>
                  <a:srgbClr val="FFFFFF"/>
                </a:solidFill>
                <a:latin typeface="League Spartan"/>
                <a:ea typeface="League Spartan"/>
                <a:cs typeface="League Spartan"/>
                <a:sym typeface="League Spartan"/>
              </a:defRPr>
            </a:pPr>
            <a:r>
              <a:t>Am I Heard?                Stay or Go?</a:t>
            </a:r>
          </a:p>
          <a:p>
            <a:pPr>
              <a:lnSpc>
                <a:spcPct val="82069"/>
              </a:lnSpc>
              <a:defRPr b="1" spc="-100" sz="6600">
                <a:solidFill>
                  <a:srgbClr val="FFFFFF"/>
                </a:solidFill>
                <a:latin typeface="League Spartan"/>
                <a:ea typeface="League Spartan"/>
                <a:cs typeface="League Spartan"/>
                <a:sym typeface="League Spartan"/>
              </a:defRPr>
            </a:pPr>
            <a:r>
              <a:t>Am I Developed?        Stay or Go?</a:t>
            </a:r>
          </a:p>
          <a:p>
            <a:pPr>
              <a:lnSpc>
                <a:spcPct val="82069"/>
              </a:lnSpc>
              <a:defRPr b="1" spc="-100" sz="6600">
                <a:solidFill>
                  <a:srgbClr val="FFFFFF"/>
                </a:solidFill>
                <a:latin typeface="League Spartan"/>
                <a:ea typeface="League Spartan"/>
                <a:cs typeface="League Spartan"/>
                <a:sym typeface="League Spartan"/>
              </a:defRPr>
            </a:pPr>
            <a:r>
              <a:t>Am I Balanced?          Stay or Go?</a:t>
            </a:r>
          </a:p>
        </p:txBody>
      </p:sp>
      <p:sp>
        <p:nvSpPr>
          <p:cNvPr id="270" name="Text 3"/>
          <p:cNvSpPr txBox="1"/>
          <p:nvPr/>
        </p:nvSpPr>
        <p:spPr>
          <a:xfrm>
            <a:off x="1349324" y="2461762"/>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F7900"/>
                </a:solidFill>
                <a:latin typeface="League Spartan"/>
                <a:ea typeface="League Spartan"/>
                <a:cs typeface="League Spartan"/>
                <a:sym typeface="League Spartan"/>
              </a:defRPr>
            </a:lvl1pPr>
          </a:lstStyle>
          <a:p>
            <a:pPr/>
            <a:r>
              <a:t>Do I Stay or do I Go? No = Go!</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75"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7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7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27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79" name="The need To Belong…"/>
          <p:cNvSpPr txBox="1"/>
          <p:nvPr/>
        </p:nvSpPr>
        <p:spPr>
          <a:xfrm>
            <a:off x="4798509" y="4311418"/>
            <a:ext cx="13662979" cy="43883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The need To Belong </a:t>
            </a:r>
          </a:p>
          <a:p>
            <a:pPr>
              <a:lnSpc>
                <a:spcPct val="82069"/>
              </a:lnSpc>
              <a:defRPr b="1" spc="-100" sz="6600">
                <a:solidFill>
                  <a:srgbClr val="FFFFFF"/>
                </a:solidFill>
                <a:latin typeface="League Spartan"/>
                <a:ea typeface="League Spartan"/>
                <a:cs typeface="League Spartan"/>
                <a:sym typeface="League Spartan"/>
              </a:defRPr>
            </a:pPr>
            <a:r>
              <a:t>     to a group whose values </a:t>
            </a:r>
          </a:p>
          <a:p>
            <a:pPr>
              <a:lnSpc>
                <a:spcPct val="82069"/>
              </a:lnSpc>
              <a:defRPr b="1" spc="-100" sz="6600">
                <a:solidFill>
                  <a:srgbClr val="FFFFFF"/>
                </a:solidFill>
                <a:latin typeface="League Spartan"/>
                <a:ea typeface="League Spartan"/>
                <a:cs typeface="League Spartan"/>
                <a:sym typeface="League Spartan"/>
              </a:defRPr>
            </a:pPr>
            <a:r>
              <a:t>     align with your own. </a:t>
            </a:r>
          </a:p>
          <a:p>
            <a:pPr>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84"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85"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86"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287"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88" name="The need To Believe…"/>
          <p:cNvSpPr txBox="1"/>
          <p:nvPr/>
        </p:nvSpPr>
        <p:spPr>
          <a:xfrm>
            <a:off x="4693821" y="4311418"/>
            <a:ext cx="13768486" cy="43883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The need To Believe </a:t>
            </a:r>
          </a:p>
          <a:p>
            <a:pPr>
              <a:lnSpc>
                <a:spcPct val="82069"/>
              </a:lnSpc>
              <a:defRPr b="1" spc="-100" sz="6600">
                <a:solidFill>
                  <a:srgbClr val="FFFFFF"/>
                </a:solidFill>
                <a:latin typeface="League Spartan"/>
                <a:ea typeface="League Spartan"/>
                <a:cs typeface="League Spartan"/>
                <a:sym typeface="League Spartan"/>
              </a:defRPr>
            </a:pPr>
            <a:r>
              <a:t>     in the product, the mission and </a:t>
            </a:r>
          </a:p>
          <a:p>
            <a:pPr>
              <a:lnSpc>
                <a:spcPct val="82069"/>
              </a:lnSpc>
              <a:defRPr b="1" spc="-100" sz="6600">
                <a:solidFill>
                  <a:srgbClr val="FFFFFF"/>
                </a:solidFill>
                <a:latin typeface="League Spartan"/>
                <a:ea typeface="League Spartan"/>
                <a:cs typeface="League Spartan"/>
                <a:sym typeface="League Spartan"/>
              </a:defRPr>
            </a:pPr>
            <a:r>
              <a:t>     the strategy for achieving it. </a:t>
            </a:r>
          </a:p>
          <a:p>
            <a:pPr>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93"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94"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95"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296"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97" name="The need to Be Accountable…"/>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The need to Be Accountable </a:t>
            </a:r>
          </a:p>
          <a:p>
            <a:pPr>
              <a:lnSpc>
                <a:spcPct val="82069"/>
              </a:lnSpc>
              <a:defRPr b="1" spc="-100" sz="6600">
                <a:solidFill>
                  <a:srgbClr val="FFFFFF"/>
                </a:solidFill>
                <a:latin typeface="League Spartan"/>
                <a:ea typeface="League Spartan"/>
                <a:cs typeface="League Spartan"/>
                <a:sym typeface="League Spartan"/>
              </a:defRPr>
            </a:pPr>
            <a:r>
              <a:t>     for something meaningful. </a:t>
            </a:r>
          </a:p>
          <a:p>
            <a:pPr>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0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0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04"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05"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06" name="The need to Be Measure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The need to Be Measured </a:t>
            </a:r>
          </a:p>
          <a:p>
            <a:pPr>
              <a:lnSpc>
                <a:spcPct val="82069"/>
              </a:lnSpc>
              <a:defRPr b="1" spc="-100" sz="6600">
                <a:solidFill>
                  <a:srgbClr val="FFFFFF"/>
                </a:solidFill>
                <a:latin typeface="League Spartan"/>
                <a:ea typeface="League Spartan"/>
                <a:cs typeface="League Spartan"/>
                <a:sym typeface="League Spartan"/>
              </a:defRPr>
            </a:pPr>
            <a:r>
              <a:t>     fairly. </a:t>
            </a:r>
          </a:p>
          <a:p>
            <a:pPr>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1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1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13"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1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15" name="The need to Be Hear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The need to Be Heard </a:t>
            </a:r>
          </a:p>
          <a:p>
            <a:pPr>
              <a:lnSpc>
                <a:spcPct val="82069"/>
              </a:lnSpc>
              <a:defRPr b="1" spc="-100" sz="6600">
                <a:solidFill>
                  <a:srgbClr val="FFFFFF"/>
                </a:solidFill>
                <a:latin typeface="League Spartan"/>
                <a:ea typeface="League Spartan"/>
                <a:cs typeface="League Spartan"/>
                <a:sym typeface="League Spartan"/>
              </a:defRPr>
            </a:pPr>
            <a:r>
              <a:t>     honestly. </a:t>
            </a:r>
          </a:p>
          <a:p>
            <a:pPr>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20"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21"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22"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2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24" name="The need to Be Develope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The need to Be Developed </a:t>
            </a:r>
          </a:p>
          <a:p>
            <a:pPr>
              <a:lnSpc>
                <a:spcPct val="82069"/>
              </a:lnSpc>
              <a:defRPr b="1" spc="-100" sz="6600">
                <a:solidFill>
                  <a:srgbClr val="FFFFFF"/>
                </a:solidFill>
                <a:latin typeface="League Spartan"/>
                <a:ea typeface="League Spartan"/>
                <a:cs typeface="League Spartan"/>
                <a:sym typeface="League Spartan"/>
              </a:defRPr>
            </a:pPr>
            <a:r>
              <a:t>     intentionally. </a:t>
            </a:r>
          </a:p>
          <a:p>
            <a:pPr>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29"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30"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31"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32"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33" name="The need to Be Balance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The need to Be Balanced </a:t>
            </a:r>
          </a:p>
          <a:p>
            <a:pPr>
              <a:lnSpc>
                <a:spcPct val="82069"/>
              </a:lnSpc>
              <a:defRPr b="1" spc="-100" sz="6600">
                <a:solidFill>
                  <a:srgbClr val="FFFFFF"/>
                </a:solidFill>
                <a:latin typeface="League Spartan"/>
                <a:ea typeface="League Spartan"/>
                <a:cs typeface="League Spartan"/>
                <a:sym typeface="League Spartan"/>
              </a:defRPr>
            </a:pPr>
            <a:r>
              <a:t>     sustainably. </a:t>
            </a:r>
          </a:p>
          <a:p>
            <a:pPr>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38" name="Image 0" descr="Image 0"/>
          <p:cNvPicPr>
            <a:picLocks noChangeAspect="1"/>
          </p:cNvPicPr>
          <p:nvPr/>
        </p:nvPicPr>
        <p:blipFill>
          <a:blip r:embed="rId3">
            <a:alphaModFix amt="6000"/>
            <a:extLst/>
          </a:blip>
          <a:stretch>
            <a:fillRect/>
          </a:stretch>
        </p:blipFill>
        <p:spPr>
          <a:xfrm>
            <a:off x="8167644" y="498954"/>
            <a:ext cx="9305860" cy="8761395"/>
          </a:xfrm>
          <a:prstGeom prst="rect">
            <a:avLst/>
          </a:prstGeom>
          <a:ln w="12700">
            <a:miter lim="400000"/>
          </a:ln>
        </p:spPr>
      </p:pic>
      <p:sp>
        <p:nvSpPr>
          <p:cNvPr id="339"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40"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341" name="pasted-movie.png" descr="pasted-movie.png"/>
          <p:cNvPicPr>
            <a:picLocks noChangeAspect="1"/>
          </p:cNvPicPr>
          <p:nvPr/>
        </p:nvPicPr>
        <p:blipFill>
          <a:blip r:embed="rId4">
            <a:extLst/>
          </a:blip>
          <a:srcRect l="0" t="0" r="0" b="0"/>
          <a:stretch>
            <a:fillRect/>
          </a:stretch>
        </p:blipFill>
        <p:spPr>
          <a:xfrm>
            <a:off x="4284038" y="1370964"/>
            <a:ext cx="10563706" cy="4056601"/>
          </a:xfrm>
          <a:prstGeom prst="rect">
            <a:avLst/>
          </a:prstGeom>
          <a:ln w="12700">
            <a:miter lim="400000"/>
          </a:ln>
        </p:spPr>
      </p:pic>
      <p:sp>
        <p:nvSpPr>
          <p:cNvPr id="342" name="Forcing"/>
          <p:cNvSpPr txBox="1"/>
          <p:nvPr/>
        </p:nvSpPr>
        <p:spPr>
          <a:xfrm>
            <a:off x="7113588" y="6097640"/>
            <a:ext cx="4904524" cy="1691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100" sz="10500">
                <a:solidFill>
                  <a:srgbClr val="FF7900"/>
                </a:solidFill>
                <a:latin typeface="League Spartan"/>
                <a:ea typeface="League Spartan"/>
                <a:cs typeface="League Spartan"/>
                <a:sym typeface="League Spartan"/>
              </a:defRPr>
            </a:lvl1pPr>
          </a:lstStyle>
          <a:p>
            <a:pPr/>
            <a:r>
              <a:t>Forcing</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47" name="Image 0" descr="Image 0"/>
          <p:cNvPicPr>
            <a:picLocks noChangeAspect="1"/>
          </p:cNvPicPr>
          <p:nvPr/>
        </p:nvPicPr>
        <p:blipFill>
          <a:blip r:embed="rId3">
            <a:alphaModFix amt="6000"/>
            <a:extLst/>
          </a:blip>
          <a:stretch>
            <a:fillRect/>
          </a:stretch>
        </p:blipFill>
        <p:spPr>
          <a:xfrm>
            <a:off x="6384564" y="-3966"/>
            <a:ext cx="9305860" cy="8761395"/>
          </a:xfrm>
          <a:prstGeom prst="rect">
            <a:avLst/>
          </a:prstGeom>
          <a:ln w="12700">
            <a:miter lim="400000"/>
          </a:ln>
        </p:spPr>
      </p:pic>
      <p:sp>
        <p:nvSpPr>
          <p:cNvPr id="34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4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350" name="pasted-movie.png" descr="pasted-movie.png"/>
          <p:cNvPicPr>
            <a:picLocks noChangeAspect="1"/>
          </p:cNvPicPr>
          <p:nvPr/>
        </p:nvPicPr>
        <p:blipFill>
          <a:blip r:embed="rId4">
            <a:extLst/>
          </a:blip>
          <a:stretch>
            <a:fillRect/>
          </a:stretch>
        </p:blipFill>
        <p:spPr>
          <a:xfrm>
            <a:off x="5649118" y="611301"/>
            <a:ext cx="6989824" cy="2684184"/>
          </a:xfrm>
          <a:prstGeom prst="rect">
            <a:avLst/>
          </a:prstGeom>
          <a:ln w="12700">
            <a:miter lim="400000"/>
          </a:ln>
        </p:spPr>
      </p:pic>
      <p:sp>
        <p:nvSpPr>
          <p:cNvPr id="351" name="The 7 Critical Needs…"/>
          <p:cNvSpPr txBox="1"/>
          <p:nvPr/>
        </p:nvSpPr>
        <p:spPr>
          <a:xfrm>
            <a:off x="2835257" y="3964145"/>
            <a:ext cx="14733635" cy="559076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79766"/>
              </a:lnSpc>
              <a:defRPr b="1" spc="-100" sz="10500">
                <a:solidFill>
                  <a:srgbClr val="FF7900"/>
                </a:solidFill>
                <a:latin typeface="League Spartan"/>
                <a:ea typeface="League Spartan"/>
                <a:cs typeface="League Spartan"/>
                <a:sym typeface="League Spartan"/>
              </a:defRPr>
            </a:pPr>
            <a:r>
              <a:t> </a:t>
            </a:r>
            <a:r>
              <a:rPr spc="-78" sz="8200"/>
              <a:t>The 7 Critical Needs</a:t>
            </a:r>
            <a:endParaRPr spc="-78" sz="8200"/>
          </a:p>
          <a:p>
            <a:pPr>
              <a:lnSpc>
                <a:spcPct val="79766"/>
              </a:lnSpc>
              <a:defRPr b="1" spc="-78" sz="8200">
                <a:solidFill>
                  <a:srgbClr val="FF7900"/>
                </a:solidFill>
                <a:latin typeface="League Spartan"/>
                <a:ea typeface="League Spartan"/>
                <a:cs typeface="League Spartan"/>
                <a:sym typeface="League Spartan"/>
              </a:defRPr>
            </a:pPr>
            <a:r>
              <a:t>   is how we break through</a:t>
            </a:r>
          </a:p>
          <a:p>
            <a:pPr>
              <a:lnSpc>
                <a:spcPct val="79766"/>
              </a:lnSpc>
              <a:defRPr b="1" spc="-78" sz="8200">
                <a:solidFill>
                  <a:srgbClr val="FF7900"/>
                </a:solidFill>
                <a:latin typeface="League Spartan"/>
                <a:ea typeface="League Spartan"/>
                <a:cs typeface="League Spartan"/>
                <a:sym typeface="League Spartan"/>
              </a:defRPr>
            </a:pPr>
            <a:r>
              <a:t>   the ceiling.</a:t>
            </a:r>
          </a:p>
          <a:p>
            <a:pPr>
              <a:lnSpc>
                <a:spcPct val="79766"/>
              </a:lnSpc>
              <a:defRPr b="1" spc="-78" sz="8200">
                <a:solidFill>
                  <a:srgbClr val="FF7900"/>
                </a:solidFill>
                <a:latin typeface="League Spartan"/>
                <a:ea typeface="League Spartan"/>
                <a:cs typeface="League Spartan"/>
                <a:sym typeface="League Spartan"/>
              </a:defRPr>
            </a:pPr>
          </a:p>
          <a:p>
            <a:pPr>
              <a:lnSpc>
                <a:spcPct val="79766"/>
              </a:lnSpc>
              <a:defRPr b="1" i="1" spc="-78" sz="8200">
                <a:solidFill>
                  <a:srgbClr val="FF7900"/>
                </a:solidFill>
                <a:latin typeface="League Spartan"/>
                <a:ea typeface="League Spartan"/>
                <a:cs typeface="League Spartan"/>
                <a:sym typeface="League Spartan"/>
              </a:defRPr>
            </a:pPr>
            <a:r>
              <a:t>With our people.</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56" name="Image 0" descr="Image 0"/>
          <p:cNvPicPr>
            <a:picLocks noChangeAspect="1"/>
          </p:cNvPicPr>
          <p:nvPr/>
        </p:nvPicPr>
        <p:blipFill>
          <a:blip r:embed="rId3">
            <a:alphaModFix amt="6000"/>
            <a:extLst/>
          </a:blip>
          <a:stretch>
            <a:fillRect/>
          </a:stretch>
        </p:blipFill>
        <p:spPr>
          <a:xfrm>
            <a:off x="6384564" y="-3966"/>
            <a:ext cx="9305860" cy="8761395"/>
          </a:xfrm>
          <a:prstGeom prst="rect">
            <a:avLst/>
          </a:prstGeom>
          <a:ln w="12700">
            <a:miter lim="400000"/>
          </a:ln>
        </p:spPr>
      </p:pic>
      <p:sp>
        <p:nvSpPr>
          <p:cNvPr id="35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5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359" name="pasted-movie.png" descr="pasted-movie.png"/>
          <p:cNvPicPr>
            <a:picLocks noChangeAspect="1"/>
          </p:cNvPicPr>
          <p:nvPr/>
        </p:nvPicPr>
        <p:blipFill>
          <a:blip r:embed="rId4">
            <a:extLst/>
          </a:blip>
          <a:stretch>
            <a:fillRect/>
          </a:stretch>
        </p:blipFill>
        <p:spPr>
          <a:xfrm>
            <a:off x="5649118" y="611301"/>
            <a:ext cx="6989824" cy="2684184"/>
          </a:xfrm>
          <a:prstGeom prst="rect">
            <a:avLst/>
          </a:prstGeom>
          <a:ln w="12700">
            <a:miter lim="400000"/>
          </a:ln>
        </p:spPr>
      </p:pic>
      <p:sp>
        <p:nvSpPr>
          <p:cNvPr id="360" name="With our people is…"/>
          <p:cNvSpPr txBox="1"/>
          <p:nvPr/>
        </p:nvSpPr>
        <p:spPr>
          <a:xfrm>
            <a:off x="2236758" y="3549102"/>
            <a:ext cx="14322485" cy="530711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79766"/>
              </a:lnSpc>
              <a:defRPr b="1" spc="-78" sz="8200">
                <a:solidFill>
                  <a:srgbClr val="FF7900"/>
                </a:solidFill>
                <a:latin typeface="League Spartan"/>
                <a:ea typeface="League Spartan"/>
                <a:cs typeface="League Spartan"/>
                <a:sym typeface="League Spartan"/>
              </a:defRPr>
            </a:pPr>
            <a:r>
              <a:rPr i="1"/>
              <a:t>With our people</a:t>
            </a:r>
            <a:r>
              <a:t> is</a:t>
            </a:r>
          </a:p>
          <a:p>
            <a:pPr>
              <a:lnSpc>
                <a:spcPct val="79766"/>
              </a:lnSpc>
              <a:defRPr b="1" spc="-78" sz="8200">
                <a:solidFill>
                  <a:srgbClr val="FF7900"/>
                </a:solidFill>
                <a:latin typeface="League Spartan"/>
                <a:ea typeface="League Spartan"/>
                <a:cs typeface="League Spartan"/>
                <a:sym typeface="League Spartan"/>
              </a:defRPr>
            </a:pPr>
            <a:r>
              <a:t>  How we flip the script.</a:t>
            </a:r>
          </a:p>
          <a:p>
            <a:pPr>
              <a:lnSpc>
                <a:spcPct val="79766"/>
              </a:lnSpc>
              <a:defRPr b="1" spc="-78" sz="8200">
                <a:solidFill>
                  <a:srgbClr val="FF7900"/>
                </a:solidFill>
                <a:latin typeface="League Spartan"/>
                <a:ea typeface="League Spartan"/>
                <a:cs typeface="League Spartan"/>
                <a:sym typeface="League Spartan"/>
              </a:defRPr>
            </a:pPr>
            <a:r>
              <a:t>  How we explain the Why.</a:t>
            </a:r>
          </a:p>
          <a:p>
            <a:pPr>
              <a:lnSpc>
                <a:spcPct val="79766"/>
              </a:lnSpc>
              <a:defRPr b="1" spc="-78" sz="8200">
                <a:solidFill>
                  <a:srgbClr val="FF7900"/>
                </a:solidFill>
                <a:latin typeface="League Spartan"/>
                <a:ea typeface="League Spartan"/>
                <a:cs typeface="League Spartan"/>
                <a:sym typeface="League Spartan"/>
              </a:defRPr>
            </a:pPr>
            <a:r>
              <a:t>  How we tune in to WIIFM.</a:t>
            </a:r>
          </a:p>
          <a:p>
            <a:pPr>
              <a:lnSpc>
                <a:spcPct val="79766"/>
              </a:lnSpc>
              <a:defRPr b="1" spc="-78" sz="8200">
                <a:solidFill>
                  <a:srgbClr val="FF7900"/>
                </a:solidFill>
                <a:latin typeface="League Spartan"/>
                <a:ea typeface="League Spartan"/>
                <a:cs typeface="League Spartan"/>
                <a:sym typeface="League Spartan"/>
              </a:defRPr>
            </a:pPr>
            <a:r>
              <a:t>  We Make EOS </a:t>
            </a:r>
            <a:r>
              <a:rPr i="1"/>
              <a:t>For</a:t>
            </a:r>
            <a:r>
              <a:t> them.</a:t>
            </a:r>
          </a:p>
        </p:txBody>
      </p:sp>
      <p:sp>
        <p:nvSpPr>
          <p:cNvPr id="361" name="Text"/>
          <p:cNvSpPr txBox="1"/>
          <p:nvPr/>
        </p:nvSpPr>
        <p:spPr>
          <a:xfrm>
            <a:off x="9030122" y="5103956"/>
            <a:ext cx="481756" cy="333088"/>
          </a:xfrm>
          <a:prstGeom prst="rect">
            <a:avLst/>
          </a:prstGeom>
          <a:ln w="12700">
            <a:miter lim="400000"/>
          </a:ln>
        </p:spPr>
        <p:txBody>
          <a:bodyPr wrap="none" lIns="45719" rIns="45719">
            <a:spAutoFit/>
          </a:bodyPr>
          <a:lstStyle/>
          <a:p>
            <a:pPr/>
          </a:p>
        </p:txBody>
      </p:sp>
      <p:sp>
        <p:nvSpPr>
          <p:cNvPr id="362" name="Text"/>
          <p:cNvSpPr txBox="1"/>
          <p:nvPr/>
        </p:nvSpPr>
        <p:spPr>
          <a:xfrm>
            <a:off x="9157122" y="5230956"/>
            <a:ext cx="481756" cy="333088"/>
          </a:xfrm>
          <a:prstGeom prst="rect">
            <a:avLst/>
          </a:prstGeom>
          <a:ln w="12700">
            <a:miter lim="400000"/>
          </a:ln>
        </p:spPr>
        <p:txBody>
          <a:bodyPr wrap="none" lIns="45719" rIns="45719">
            <a:spAutoFit/>
          </a:bodyPr>
          <a:lstStyle/>
          <a:p>
            <a:pP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6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6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69"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Inside EOS - We Believe:</a:t>
            </a:r>
          </a:p>
        </p:txBody>
      </p:sp>
      <p:sp>
        <p:nvSpPr>
          <p:cNvPr id="370"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71" name="“What gets measured gets done.”…"/>
          <p:cNvSpPr txBox="1"/>
          <p:nvPr/>
        </p:nvSpPr>
        <p:spPr>
          <a:xfrm>
            <a:off x="3276501" y="2986085"/>
            <a:ext cx="14430157" cy="2741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“What gets measured gets done.”</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“You must inspect what you expect.”</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76"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7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78"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Inside EOS - We Believe:</a:t>
            </a:r>
          </a:p>
        </p:txBody>
      </p:sp>
      <p:sp>
        <p:nvSpPr>
          <p:cNvPr id="37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80" name="“What gets measured gets done.”…"/>
          <p:cNvSpPr txBox="1"/>
          <p:nvPr/>
        </p:nvSpPr>
        <p:spPr>
          <a:xfrm>
            <a:off x="3276501" y="2986085"/>
            <a:ext cx="14430157" cy="60351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“What gets measured gets done.”</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“You must inspect what you expect.”</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Thank you Millennials for the rubric!</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85"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8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8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The 7 Critical Needs become</a:t>
            </a:r>
          </a:p>
        </p:txBody>
      </p:sp>
      <p:sp>
        <p:nvSpPr>
          <p:cNvPr id="38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89" name="To Belong?                 1-10?…"/>
          <p:cNvSpPr txBox="1"/>
          <p:nvPr/>
        </p:nvSpPr>
        <p:spPr>
          <a:xfrm>
            <a:off x="5021934" y="3978151"/>
            <a:ext cx="10598496"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To Belong?                 1-10?</a:t>
            </a:r>
          </a:p>
          <a:p>
            <a:pPr>
              <a:lnSpc>
                <a:spcPct val="82069"/>
              </a:lnSpc>
              <a:defRPr b="1" spc="-100" sz="6600">
                <a:solidFill>
                  <a:srgbClr val="FFFFFF"/>
                </a:solidFill>
                <a:latin typeface="League Spartan"/>
                <a:ea typeface="League Spartan"/>
                <a:cs typeface="League Spartan"/>
                <a:sym typeface="League Spartan"/>
              </a:defRPr>
            </a:pPr>
            <a:r>
              <a:t>To Believe?                 1-10?</a:t>
            </a:r>
          </a:p>
          <a:p>
            <a:pPr>
              <a:lnSpc>
                <a:spcPct val="82069"/>
              </a:lnSpc>
              <a:defRPr b="1" spc="-100" sz="6600">
                <a:solidFill>
                  <a:srgbClr val="FFFFFF"/>
                </a:solidFill>
                <a:latin typeface="League Spartan"/>
                <a:ea typeface="League Spartan"/>
                <a:cs typeface="League Spartan"/>
                <a:sym typeface="League Spartan"/>
              </a:defRPr>
            </a:pPr>
            <a:r>
              <a:t>To Be Accountable?  1-10?</a:t>
            </a:r>
          </a:p>
          <a:p>
            <a:pPr>
              <a:lnSpc>
                <a:spcPct val="82069"/>
              </a:lnSpc>
              <a:defRPr b="1" spc="-100" sz="6600">
                <a:solidFill>
                  <a:srgbClr val="FFFFFF"/>
                </a:solidFill>
                <a:latin typeface="League Spartan"/>
                <a:ea typeface="League Spartan"/>
                <a:cs typeface="League Spartan"/>
                <a:sym typeface="League Spartan"/>
              </a:defRPr>
            </a:pPr>
            <a:r>
              <a:t>To Be Measured?       1-10?</a:t>
            </a:r>
          </a:p>
          <a:p>
            <a:pPr>
              <a:lnSpc>
                <a:spcPct val="82069"/>
              </a:lnSpc>
              <a:defRPr b="1" spc="-100" sz="6600">
                <a:solidFill>
                  <a:srgbClr val="FFFFFF"/>
                </a:solidFill>
                <a:latin typeface="League Spartan"/>
                <a:ea typeface="League Spartan"/>
                <a:cs typeface="League Spartan"/>
                <a:sym typeface="League Spartan"/>
              </a:defRPr>
            </a:pPr>
            <a:r>
              <a:t>To Be Heard?              1-10?</a:t>
            </a:r>
          </a:p>
          <a:p>
            <a:pPr>
              <a:lnSpc>
                <a:spcPct val="82069"/>
              </a:lnSpc>
              <a:defRPr b="1" spc="-100" sz="6600">
                <a:solidFill>
                  <a:srgbClr val="FFFFFF"/>
                </a:solidFill>
                <a:latin typeface="League Spartan"/>
                <a:ea typeface="League Spartan"/>
                <a:cs typeface="League Spartan"/>
                <a:sym typeface="League Spartan"/>
              </a:defRPr>
            </a:pPr>
            <a:r>
              <a:t>To Be Developed?      1-10?</a:t>
            </a:r>
          </a:p>
          <a:p>
            <a:pPr>
              <a:lnSpc>
                <a:spcPct val="82069"/>
              </a:lnSpc>
              <a:defRPr b="1" spc="-100" sz="6600">
                <a:solidFill>
                  <a:srgbClr val="FFFFFF"/>
                </a:solidFill>
                <a:latin typeface="League Spartan"/>
                <a:ea typeface="League Spartan"/>
                <a:cs typeface="League Spartan"/>
                <a:sym typeface="League Spartan"/>
              </a:defRPr>
            </a:pPr>
            <a:r>
              <a:t>To Be Balanced?        1-10?</a:t>
            </a:r>
          </a:p>
        </p:txBody>
      </p:sp>
      <p:sp>
        <p:nvSpPr>
          <p:cNvPr id="390" name="Text 3"/>
          <p:cNvSpPr txBox="1"/>
          <p:nvPr/>
        </p:nvSpPr>
        <p:spPr>
          <a:xfrm>
            <a:off x="-75500" y="2461762"/>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F7900"/>
                </a:solidFill>
                <a:latin typeface="League Spartan"/>
                <a:ea typeface="League Spartan"/>
                <a:cs typeface="League Spartan"/>
                <a:sym typeface="League Spartan"/>
              </a:defRPr>
            </a:lvl1pPr>
          </a:lstStyle>
          <a:p>
            <a:pPr/>
            <a:r>
              <a:t>     Your “Healthy” Measurement</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95"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9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9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The 7 Critical Needs become</a:t>
            </a:r>
          </a:p>
        </p:txBody>
      </p:sp>
      <p:sp>
        <p:nvSpPr>
          <p:cNvPr id="39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99" name="To Belong?                 1-10?…"/>
          <p:cNvSpPr txBox="1"/>
          <p:nvPr/>
        </p:nvSpPr>
        <p:spPr>
          <a:xfrm>
            <a:off x="5021934" y="3978151"/>
            <a:ext cx="10598496"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To Belong?                 1-10?</a:t>
            </a:r>
          </a:p>
          <a:p>
            <a:pPr>
              <a:lnSpc>
                <a:spcPct val="82069"/>
              </a:lnSpc>
              <a:defRPr b="1" spc="-100" sz="6600">
                <a:solidFill>
                  <a:srgbClr val="FFFFFF"/>
                </a:solidFill>
                <a:latin typeface="League Spartan"/>
                <a:ea typeface="League Spartan"/>
                <a:cs typeface="League Spartan"/>
                <a:sym typeface="League Spartan"/>
              </a:defRPr>
            </a:pPr>
            <a:r>
              <a:t>To Believe?                 1-10?</a:t>
            </a:r>
          </a:p>
          <a:p>
            <a:pPr>
              <a:lnSpc>
                <a:spcPct val="82069"/>
              </a:lnSpc>
              <a:defRPr b="1" spc="-100" sz="6600">
                <a:solidFill>
                  <a:srgbClr val="FFFFFF"/>
                </a:solidFill>
                <a:latin typeface="League Spartan"/>
                <a:ea typeface="League Spartan"/>
                <a:cs typeface="League Spartan"/>
                <a:sym typeface="League Spartan"/>
              </a:defRPr>
            </a:pPr>
            <a:r>
              <a:t>To Be Accountable?  1-10?</a:t>
            </a:r>
          </a:p>
          <a:p>
            <a:pPr>
              <a:lnSpc>
                <a:spcPct val="82069"/>
              </a:lnSpc>
              <a:defRPr b="1" spc="-100" sz="6600">
                <a:solidFill>
                  <a:srgbClr val="FFFFFF"/>
                </a:solidFill>
                <a:latin typeface="League Spartan"/>
                <a:ea typeface="League Spartan"/>
                <a:cs typeface="League Spartan"/>
                <a:sym typeface="League Spartan"/>
              </a:defRPr>
            </a:pPr>
            <a:r>
              <a:t>To Be Measured?       1-10?</a:t>
            </a:r>
          </a:p>
          <a:p>
            <a:pPr>
              <a:lnSpc>
                <a:spcPct val="82069"/>
              </a:lnSpc>
              <a:defRPr b="1" spc="-100" sz="6600">
                <a:solidFill>
                  <a:srgbClr val="FFFFFF"/>
                </a:solidFill>
                <a:latin typeface="League Spartan"/>
                <a:ea typeface="League Spartan"/>
                <a:cs typeface="League Spartan"/>
                <a:sym typeface="League Spartan"/>
              </a:defRPr>
            </a:pPr>
            <a:r>
              <a:t>To Be Heard?              1-10?</a:t>
            </a:r>
          </a:p>
          <a:p>
            <a:pPr>
              <a:lnSpc>
                <a:spcPct val="82069"/>
              </a:lnSpc>
              <a:defRPr b="1" spc="-100" sz="6600">
                <a:solidFill>
                  <a:srgbClr val="FFFFFF"/>
                </a:solidFill>
                <a:latin typeface="League Spartan"/>
                <a:ea typeface="League Spartan"/>
                <a:cs typeface="League Spartan"/>
                <a:sym typeface="League Spartan"/>
              </a:defRPr>
            </a:pPr>
            <a:r>
              <a:t>To Be Developed?      1-10?</a:t>
            </a:r>
          </a:p>
          <a:p>
            <a:pPr>
              <a:lnSpc>
                <a:spcPct val="82069"/>
              </a:lnSpc>
              <a:defRPr b="1" spc="-100" sz="6600">
                <a:solidFill>
                  <a:srgbClr val="FFFFFF"/>
                </a:solidFill>
                <a:latin typeface="League Spartan"/>
                <a:ea typeface="League Spartan"/>
                <a:cs typeface="League Spartan"/>
                <a:sym typeface="League Spartan"/>
              </a:defRPr>
            </a:pPr>
            <a:r>
              <a:t>To Be Balanced?        1-10?</a:t>
            </a:r>
          </a:p>
        </p:txBody>
      </p:sp>
      <p:sp>
        <p:nvSpPr>
          <p:cNvPr id="400" name="Text 3"/>
          <p:cNvSpPr txBox="1"/>
          <p:nvPr/>
        </p:nvSpPr>
        <p:spPr>
          <a:xfrm>
            <a:off x="587754" y="2461762"/>
            <a:ext cx="1815420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F7900"/>
                </a:solidFill>
                <a:latin typeface="League Spartan"/>
                <a:ea typeface="League Spartan"/>
                <a:cs typeface="League Spartan"/>
                <a:sym typeface="League Spartan"/>
              </a:defRPr>
            </a:lvl1pPr>
          </a:lstStyle>
          <a:p>
            <a:pPr/>
            <a:r>
              <a:t>Your Measurable Org Health Tool</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05"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06"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07"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 MATTERS™</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12" name="Image 0" descr="Image 0"/>
          <p:cNvPicPr>
            <a:picLocks noChangeAspect="1"/>
          </p:cNvPicPr>
          <p:nvPr/>
        </p:nvPicPr>
        <p:blipFill>
          <a:blip r:embed="rId3">
            <a:alphaModFix amt="6000"/>
            <a:extLst/>
          </a:blip>
          <a:stretch>
            <a:fillRect/>
          </a:stretch>
        </p:blipFill>
        <p:spPr>
          <a:xfrm>
            <a:off x="8352280" y="762802"/>
            <a:ext cx="9305859" cy="8761396"/>
          </a:xfrm>
          <a:prstGeom prst="rect">
            <a:avLst/>
          </a:prstGeom>
          <a:ln w="12700">
            <a:miter lim="400000"/>
          </a:ln>
        </p:spPr>
      </p:pic>
      <p:sp>
        <p:nvSpPr>
          <p:cNvPr id="41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1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15" name="Proven Process"/>
          <p:cNvSpPr txBox="1"/>
          <p:nvPr/>
        </p:nvSpPr>
        <p:spPr>
          <a:xfrm>
            <a:off x="937317" y="483413"/>
            <a:ext cx="7271945" cy="1247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72" sz="7600">
                <a:solidFill>
                  <a:srgbClr val="F04E23"/>
                </a:solidFill>
                <a:latin typeface="League Spartan"/>
                <a:ea typeface="League Spartan"/>
                <a:cs typeface="League Spartan"/>
                <a:sym typeface="League Spartan"/>
              </a:defRPr>
            </a:lvl1pPr>
          </a:lstStyle>
          <a:p>
            <a:pPr/>
            <a:r>
              <a:t>Proven Process</a:t>
            </a:r>
          </a:p>
        </p:txBody>
      </p:sp>
      <p:pic>
        <p:nvPicPr>
          <p:cNvPr id="416" name="Image" descr="Image"/>
          <p:cNvPicPr>
            <a:picLocks noChangeAspect="1"/>
          </p:cNvPicPr>
          <p:nvPr/>
        </p:nvPicPr>
        <p:blipFill>
          <a:blip r:embed="rId4">
            <a:extLst/>
          </a:blip>
          <a:stretch>
            <a:fillRect/>
          </a:stretch>
        </p:blipFill>
        <p:spPr>
          <a:xfrm>
            <a:off x="5409917" y="1361635"/>
            <a:ext cx="8333551" cy="8292860"/>
          </a:xfrm>
          <a:prstGeom prst="rect">
            <a:avLst/>
          </a:prstGeom>
          <a:ln w="12700">
            <a:miter lim="400000"/>
          </a:ln>
        </p:spPr>
      </p:pic>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21" name="Image 0" descr="Image 0"/>
          <p:cNvPicPr>
            <a:picLocks noChangeAspect="1"/>
          </p:cNvPicPr>
          <p:nvPr/>
        </p:nvPicPr>
        <p:blipFill>
          <a:blip r:embed="rId3">
            <a:alphaModFix amt="6000"/>
            <a:extLst/>
          </a:blip>
          <a:stretch>
            <a:fillRect/>
          </a:stretch>
        </p:blipFill>
        <p:spPr>
          <a:xfrm>
            <a:off x="8167644" y="498954"/>
            <a:ext cx="9305860" cy="8761395"/>
          </a:xfrm>
          <a:prstGeom prst="rect">
            <a:avLst/>
          </a:prstGeom>
          <a:ln w="12700">
            <a:miter lim="400000"/>
          </a:ln>
        </p:spPr>
      </p:pic>
      <p:sp>
        <p:nvSpPr>
          <p:cNvPr id="42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2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424" name="pasted-movie.png" descr="pasted-movie.png"/>
          <p:cNvPicPr>
            <a:picLocks noChangeAspect="1"/>
          </p:cNvPicPr>
          <p:nvPr/>
        </p:nvPicPr>
        <p:blipFill>
          <a:blip r:embed="rId4">
            <a:extLst/>
          </a:blip>
          <a:srcRect l="0" t="0" r="0" b="0"/>
          <a:stretch>
            <a:fillRect/>
          </a:stretch>
        </p:blipFill>
        <p:spPr>
          <a:xfrm>
            <a:off x="4284038" y="2851421"/>
            <a:ext cx="10563706" cy="4056601"/>
          </a:xfrm>
          <a:prstGeom prst="rect">
            <a:avLst/>
          </a:prstGeom>
          <a:ln w="12700">
            <a:miter lim="400000"/>
          </a:ln>
        </p:spPr>
      </p:pic>
      <p:sp>
        <p:nvSpPr>
          <p:cNvPr id="425" name="“The Answer is in the Tools.” - Walt"/>
          <p:cNvSpPr txBox="1"/>
          <p:nvPr/>
        </p:nvSpPr>
        <p:spPr>
          <a:xfrm>
            <a:off x="1281620" y="7610201"/>
            <a:ext cx="15987444" cy="1247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72" sz="7600">
                <a:solidFill>
                  <a:srgbClr val="F04E23"/>
                </a:solidFill>
                <a:latin typeface="League Spartan"/>
                <a:ea typeface="League Spartan"/>
                <a:cs typeface="League Spartan"/>
                <a:sym typeface="League Spartan"/>
              </a:defRPr>
            </a:lvl1pPr>
          </a:lstStyle>
          <a:p>
            <a:pPr/>
            <a:r>
              <a:t>“The Answer is in the Tools.” - Walt</a:t>
            </a:r>
          </a:p>
        </p:txBody>
      </p:sp>
      <p:sp>
        <p:nvSpPr>
          <p:cNvPr id="426" name="No Additional Tools Required"/>
          <p:cNvSpPr txBox="1"/>
          <p:nvPr/>
        </p:nvSpPr>
        <p:spPr>
          <a:xfrm>
            <a:off x="2269234" y="901960"/>
            <a:ext cx="13306298" cy="1247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72" sz="7600">
                <a:solidFill>
                  <a:srgbClr val="F04E23"/>
                </a:solidFill>
                <a:latin typeface="League Spartan"/>
                <a:ea typeface="League Spartan"/>
                <a:cs typeface="League Spartan"/>
                <a:sym typeface="League Spartan"/>
              </a:defRPr>
            </a:lvl1pPr>
          </a:lstStyle>
          <a:p>
            <a:pPr/>
            <a:r>
              <a:t>No Additional Tools Required</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3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3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3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436" name="Healthy matters front cover.jpg"/>
          <p:cNvGrpSpPr/>
          <p:nvPr/>
        </p:nvGrpSpPr>
        <p:grpSpPr>
          <a:xfrm>
            <a:off x="6051550" y="774700"/>
            <a:ext cx="6184900" cy="8750300"/>
            <a:chOff x="0" y="0"/>
            <a:chExt cx="6184900" cy="8750300"/>
          </a:xfrm>
        </p:grpSpPr>
        <p:pic>
          <p:nvPicPr>
            <p:cNvPr id="435" name="Healthy matters front cover.jpg" descr="Healthy matters front cover.jpg"/>
            <p:cNvPicPr>
              <a:picLocks noChangeAspect="1"/>
            </p:cNvPicPr>
            <p:nvPr/>
          </p:nvPicPr>
          <p:blipFill>
            <a:blip r:embed="rId4">
              <a:extLst/>
            </a:blip>
            <a:srcRect l="0" t="0" r="0" b="0"/>
            <a:stretch>
              <a:fillRect/>
            </a:stretch>
          </p:blipFill>
          <p:spPr>
            <a:xfrm>
              <a:off x="203200" y="203200"/>
              <a:ext cx="5778500" cy="8305800"/>
            </a:xfrm>
            <a:prstGeom prst="rect">
              <a:avLst/>
            </a:prstGeom>
            <a:ln>
              <a:noFill/>
            </a:ln>
            <a:effectLst/>
          </p:spPr>
        </p:pic>
        <p:pic>
          <p:nvPicPr>
            <p:cNvPr id="434" name="Healthy matters front cover.jpg" descr="Healthy matters front cover.jpg"/>
            <p:cNvPicPr>
              <a:picLocks noChangeAspect="0"/>
            </p:cNvPicPr>
            <p:nvPr/>
          </p:nvPicPr>
          <p:blipFill>
            <a:blip r:embed="rId5">
              <a:extLst/>
            </a:blip>
            <a:stretch>
              <a:fillRect/>
            </a:stretch>
          </p:blipFill>
          <p:spPr>
            <a:xfrm>
              <a:off x="0" y="0"/>
              <a:ext cx="6184900" cy="8750300"/>
            </a:xfrm>
            <a:prstGeom prst="rect">
              <a:avLst/>
            </a:prstGeom>
            <a:effectLst/>
          </p:spPr>
        </p:pic>
      </p:gr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41"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42"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43"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48"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49"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50" name="Text 2"/>
          <p:cNvSpPr txBox="1"/>
          <p:nvPr/>
        </p:nvSpPr>
        <p:spPr>
          <a:xfrm>
            <a:off x="1776910" y="3702583"/>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04E23"/>
                </a:solidFill>
                <a:latin typeface="League Spartan"/>
                <a:ea typeface="League Spartan"/>
                <a:cs typeface="League Spartan"/>
                <a:sym typeface="League Spartan"/>
              </a:defRPr>
            </a:lvl1pPr>
          </a:lstStyle>
          <a:p>
            <a:pPr/>
            <a:r>
              <a:t>Questions? Thoughts?</a:t>
            </a:r>
          </a:p>
        </p:txBody>
      </p:sp>
      <p:sp>
        <p:nvSpPr>
          <p:cNvPr id="451"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56"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5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5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461" name="7 Critical Needs  Survey  21 Questions - Advanced.gif"/>
          <p:cNvGrpSpPr/>
          <p:nvPr/>
        </p:nvGrpSpPr>
        <p:grpSpPr>
          <a:xfrm>
            <a:off x="7653332" y="768350"/>
            <a:ext cx="6184901" cy="8750300"/>
            <a:chOff x="0" y="0"/>
            <a:chExt cx="6184900" cy="8750300"/>
          </a:xfrm>
        </p:grpSpPr>
        <p:pic>
          <p:nvPicPr>
            <p:cNvPr id="460" name="7 Critical Needs  Survey  21 Questions - Advanced.gif" descr="7 Critical Needs  Survey  21 Questions - Advanced.gif"/>
            <p:cNvPicPr>
              <a:picLocks noChangeAspect="1"/>
            </p:cNvPicPr>
            <p:nvPr/>
          </p:nvPicPr>
          <p:blipFill>
            <a:blip r:embed="rId4">
              <a:extLst/>
            </a:blip>
            <a:srcRect l="2169" t="0" r="2169" b="0"/>
            <a:stretch>
              <a:fillRect/>
            </a:stretch>
          </p:blipFill>
          <p:spPr>
            <a:xfrm>
              <a:off x="203200" y="203200"/>
              <a:ext cx="5778500" cy="8305800"/>
            </a:xfrm>
            <a:prstGeom prst="rect">
              <a:avLst/>
            </a:prstGeom>
            <a:ln>
              <a:noFill/>
            </a:ln>
            <a:effectLst/>
          </p:spPr>
        </p:pic>
        <p:pic>
          <p:nvPicPr>
            <p:cNvPr id="459" name="7 Critical Needs  Survey  21 Questions - Advanced.gif" descr="7 Critical Needs  Survey  21 Questions - Advanced.gif"/>
            <p:cNvPicPr>
              <a:picLocks noChangeAspect="0"/>
            </p:cNvPicPr>
            <p:nvPr/>
          </p:nvPicPr>
          <p:blipFill>
            <a:blip r:embed="rId5">
              <a:extLst/>
            </a:blip>
            <a:stretch>
              <a:fillRect/>
            </a:stretch>
          </p:blipFill>
          <p:spPr>
            <a:xfrm>
              <a:off x="0" y="0"/>
              <a:ext cx="6184900" cy="8750300"/>
            </a:xfrm>
            <a:prstGeom prst="rect">
              <a:avLst/>
            </a:prstGeom>
            <a:effectLst/>
          </p:spPr>
        </p:pic>
      </p:grpSp>
      <p:sp>
        <p:nvSpPr>
          <p:cNvPr id="462" name="Assessment…"/>
          <p:cNvSpPr txBox="1"/>
          <p:nvPr/>
        </p:nvSpPr>
        <p:spPr>
          <a:xfrm>
            <a:off x="946984" y="948742"/>
            <a:ext cx="5257542" cy="200918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66" sz="7000">
                <a:solidFill>
                  <a:srgbClr val="F04E23"/>
                </a:solidFill>
                <a:latin typeface="League Spartan"/>
                <a:ea typeface="League Spartan"/>
                <a:cs typeface="League Spartan"/>
                <a:sym typeface="League Spartan"/>
              </a:defRPr>
            </a:pPr>
            <a:r>
              <a:t>Assessment</a:t>
            </a:r>
          </a:p>
          <a:p>
            <a:pPr>
              <a:lnSpc>
                <a:spcPct val="79766"/>
              </a:lnSpc>
              <a:defRPr b="1" spc="-66" sz="7000">
                <a:solidFill>
                  <a:srgbClr val="F04E23"/>
                </a:solidFill>
                <a:latin typeface="League Spartan"/>
                <a:ea typeface="League Spartan"/>
                <a:cs typeface="League Spartan"/>
                <a:sym typeface="League Spartan"/>
              </a:defRPr>
            </a:pPr>
            <a:r>
              <a:t>Platform</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6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6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6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472" name="Final Effort Arrows.jpg"/>
          <p:cNvGrpSpPr/>
          <p:nvPr/>
        </p:nvGrpSpPr>
        <p:grpSpPr>
          <a:xfrm>
            <a:off x="7831307" y="768350"/>
            <a:ext cx="6184901" cy="8750301"/>
            <a:chOff x="0" y="0"/>
            <a:chExt cx="6184900" cy="8750300"/>
          </a:xfrm>
        </p:grpSpPr>
        <p:pic>
          <p:nvPicPr>
            <p:cNvPr id="471" name="Final Effort Arrows.jpg" descr="Final Effort Arrows.jpg"/>
            <p:cNvPicPr>
              <a:picLocks noChangeAspect="1"/>
            </p:cNvPicPr>
            <p:nvPr/>
          </p:nvPicPr>
          <p:blipFill>
            <a:blip r:embed="rId4">
              <a:extLst/>
            </a:blip>
            <a:srcRect l="9015" t="0" r="9015" b="0"/>
            <a:stretch>
              <a:fillRect/>
            </a:stretch>
          </p:blipFill>
          <p:spPr>
            <a:xfrm>
              <a:off x="203200" y="203200"/>
              <a:ext cx="5778500" cy="8305800"/>
            </a:xfrm>
            <a:prstGeom prst="rect">
              <a:avLst/>
            </a:prstGeom>
            <a:ln>
              <a:noFill/>
            </a:ln>
            <a:effectLst/>
          </p:spPr>
        </p:pic>
        <p:pic>
          <p:nvPicPr>
            <p:cNvPr id="470" name="Final Effort Arrows.jpg" descr="Final Effort Arrows.jpg"/>
            <p:cNvPicPr>
              <a:picLocks noChangeAspect="0"/>
            </p:cNvPicPr>
            <p:nvPr/>
          </p:nvPicPr>
          <p:blipFill>
            <a:blip r:embed="rId5">
              <a:extLst/>
            </a:blip>
            <a:stretch>
              <a:fillRect/>
            </a:stretch>
          </p:blipFill>
          <p:spPr>
            <a:xfrm>
              <a:off x="0" y="0"/>
              <a:ext cx="6184900" cy="8750300"/>
            </a:xfrm>
            <a:prstGeom prst="rect">
              <a:avLst/>
            </a:prstGeom>
            <a:effectLst/>
          </p:spPr>
        </p:pic>
      </p:grpSp>
      <p:sp>
        <p:nvSpPr>
          <p:cNvPr id="473" name="Effort…"/>
          <p:cNvSpPr txBox="1"/>
          <p:nvPr/>
        </p:nvSpPr>
        <p:spPr>
          <a:xfrm>
            <a:off x="1267340" y="948742"/>
            <a:ext cx="3116224" cy="200918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66" sz="7000">
                <a:solidFill>
                  <a:srgbClr val="F04E23"/>
                </a:solidFill>
                <a:latin typeface="League Spartan"/>
                <a:ea typeface="League Spartan"/>
                <a:cs typeface="League Spartan"/>
                <a:sym typeface="League Spartan"/>
              </a:defRPr>
            </a:pPr>
            <a:r>
              <a:t>Effort</a:t>
            </a:r>
          </a:p>
          <a:p>
            <a:pPr>
              <a:lnSpc>
                <a:spcPct val="79766"/>
              </a:lnSpc>
              <a:defRPr b="1" spc="-66" sz="7000">
                <a:solidFill>
                  <a:srgbClr val="F04E23"/>
                </a:solidFill>
                <a:latin typeface="League Spartan"/>
                <a:ea typeface="League Spartan"/>
                <a:cs typeface="League Spartan"/>
                <a:sym typeface="League Spartan"/>
              </a:defRPr>
            </a:pPr>
            <a:r>
              <a:t>Arrows</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7" name="Text 1"/>
          <p:cNvSpPr txBox="1"/>
          <p:nvPr/>
        </p:nvSpPr>
        <p:spPr>
          <a:xfrm>
            <a:off x="952453" y="9654885"/>
            <a:ext cx="2485228" cy="26364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905255">
              <a:lnSpc>
                <a:spcPct val="80000"/>
              </a:lnSpc>
              <a:defRPr b="1" sz="1485">
                <a:solidFill>
                  <a:srgbClr val="A5AAAF"/>
                </a:solidFill>
                <a:latin typeface="Arial"/>
                <a:ea typeface="Arial"/>
                <a:cs typeface="Arial"/>
                <a:sym typeface="Arial"/>
              </a:defRPr>
            </a:lvl1pPr>
          </a:lstStyle>
          <a:p>
            <a:pPr/>
            <a:r>
              <a:t>#WeRunOnEOS2026</a:t>
            </a:r>
          </a:p>
        </p:txBody>
      </p:sp>
      <p:pic>
        <p:nvPicPr>
          <p:cNvPr id="478" name="Image 0" descr="Image 0"/>
          <p:cNvPicPr>
            <a:picLocks noChangeAspect="1"/>
          </p:cNvPicPr>
          <p:nvPr/>
        </p:nvPicPr>
        <p:blipFill>
          <a:blip r:embed="rId3">
            <a:alphaModFix amt="35000"/>
            <a:extLst/>
          </a:blip>
          <a:stretch>
            <a:fillRect/>
          </a:stretch>
        </p:blipFill>
        <p:spPr>
          <a:xfrm>
            <a:off x="16687857" y="9334388"/>
            <a:ext cx="647650" cy="609745"/>
          </a:xfrm>
          <a:prstGeom prst="rect">
            <a:avLst/>
          </a:prstGeom>
          <a:ln w="12700">
            <a:miter lim="400000"/>
          </a:ln>
        </p:spPr>
      </p:pic>
      <p:sp>
        <p:nvSpPr>
          <p:cNvPr id="479" name="Text 2"/>
          <p:cNvSpPr txBox="1"/>
          <p:nvPr/>
        </p:nvSpPr>
        <p:spPr>
          <a:xfrm>
            <a:off x="17030701" y="9353408"/>
            <a:ext cx="356618" cy="16193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77677"/>
              </a:lnSpc>
              <a:defRPr b="1" sz="800">
                <a:solidFill>
                  <a:srgbClr val="FF7900">
                    <a:alpha val="35000"/>
                  </a:srgbClr>
                </a:solidFill>
                <a:latin typeface="Arial"/>
                <a:ea typeface="Arial"/>
                <a:cs typeface="Arial"/>
                <a:sym typeface="Arial"/>
              </a:defRPr>
            </a:lvl1pPr>
          </a:lstStyle>
          <a:p>
            <a:pPr/>
            <a:r>
              <a:t>2026</a:t>
            </a:r>
          </a:p>
        </p:txBody>
      </p:sp>
      <p:pic>
        <p:nvPicPr>
          <p:cNvPr id="480" name="pasted-movie.png" descr="pasted-movie.png"/>
          <p:cNvPicPr>
            <a:picLocks noChangeAspect="1"/>
          </p:cNvPicPr>
          <p:nvPr/>
        </p:nvPicPr>
        <p:blipFill>
          <a:blip r:embed="rId4">
            <a:extLst/>
          </a:blip>
          <a:stretch>
            <a:fillRect/>
          </a:stretch>
        </p:blipFill>
        <p:spPr>
          <a:xfrm>
            <a:off x="4945677" y="1677676"/>
            <a:ext cx="7681153" cy="7643648"/>
          </a:xfrm>
          <a:prstGeom prst="rect">
            <a:avLst/>
          </a:prstGeom>
          <a:ln w="12700">
            <a:miter lim="400000"/>
          </a:ln>
        </p:spPr>
      </p:pic>
      <p:sp>
        <p:nvSpPr>
          <p:cNvPr id="481" name="Text 2"/>
          <p:cNvSpPr txBox="1"/>
          <p:nvPr/>
        </p:nvSpPr>
        <p:spPr>
          <a:xfrm>
            <a:off x="776575" y="605205"/>
            <a:ext cx="17356024" cy="91907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694944">
              <a:lnSpc>
                <a:spcPct val="79766"/>
              </a:lnSpc>
              <a:defRPr b="1" spc="-55" sz="5776">
                <a:solidFill>
                  <a:srgbClr val="F04E23"/>
                </a:solidFill>
                <a:latin typeface="League Spartan"/>
                <a:ea typeface="League Spartan"/>
                <a:cs typeface="League Spartan"/>
                <a:sym typeface="League Spartan"/>
              </a:defRPr>
            </a:lvl1pPr>
          </a:lstStyle>
          <a:p>
            <a:pPr/>
            <a:r>
              <a:t>Proven Process</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5" name="Text 0"/>
          <p:cNvSpPr txBox="1"/>
          <p:nvPr/>
        </p:nvSpPr>
        <p:spPr>
          <a:xfrm>
            <a:off x="952452" y="761976"/>
            <a:ext cx="18021360" cy="60763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90000"/>
              </a:lnSpc>
              <a:defRPr b="1" spc="-94" sz="3666">
                <a:solidFill>
                  <a:srgbClr val="142233"/>
                </a:solidFill>
                <a:latin typeface="League Spartan"/>
                <a:ea typeface="League Spartan"/>
                <a:cs typeface="League Spartan"/>
                <a:sym typeface="League Spartan"/>
              </a:defRPr>
            </a:lvl1pPr>
          </a:lstStyle>
          <a:p>
            <a:pPr/>
            <a:r>
              <a:t>Thank You to Our Sponsors</a:t>
            </a:r>
          </a:p>
        </p:txBody>
      </p:sp>
      <p:sp>
        <p:nvSpPr>
          <p:cNvPr id="486" name="Text 1"/>
          <p:cNvSpPr txBox="1"/>
          <p:nvPr/>
        </p:nvSpPr>
        <p:spPr>
          <a:xfrm>
            <a:off x="952453" y="1617219"/>
            <a:ext cx="2883804"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TITLE SPONSORS</a:t>
            </a:r>
          </a:p>
        </p:txBody>
      </p:sp>
      <p:sp>
        <p:nvSpPr>
          <p:cNvPr id="487" name="Shape 2"/>
          <p:cNvSpPr/>
          <p:nvPr/>
        </p:nvSpPr>
        <p:spPr>
          <a:xfrm>
            <a:off x="3745479" y="1740310"/>
            <a:ext cx="13590028"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488" name="Shape 3"/>
          <p:cNvSpPr/>
          <p:nvPr/>
        </p:nvSpPr>
        <p:spPr>
          <a:xfrm>
            <a:off x="4057687" y="1996679"/>
            <a:ext cx="4952946" cy="1409693"/>
          </a:xfrm>
          <a:prstGeom prst="roundRect">
            <a:avLst>
              <a:gd name="adj" fmla="val 6757"/>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89" name="Image 0" descr="Image 0"/>
          <p:cNvPicPr>
            <a:picLocks noChangeAspect="1"/>
          </p:cNvPicPr>
          <p:nvPr/>
        </p:nvPicPr>
        <p:blipFill>
          <a:blip r:embed="rId3">
            <a:extLst/>
          </a:blip>
          <a:stretch>
            <a:fillRect/>
          </a:stretch>
        </p:blipFill>
        <p:spPr>
          <a:xfrm>
            <a:off x="5267664" y="2242654"/>
            <a:ext cx="2532923" cy="917673"/>
          </a:xfrm>
          <a:prstGeom prst="rect">
            <a:avLst/>
          </a:prstGeom>
          <a:ln w="12700">
            <a:miter lim="400000"/>
          </a:ln>
        </p:spPr>
      </p:pic>
      <p:sp>
        <p:nvSpPr>
          <p:cNvPr id="490" name="Shape 4"/>
          <p:cNvSpPr/>
          <p:nvPr/>
        </p:nvSpPr>
        <p:spPr>
          <a:xfrm>
            <a:off x="9277326" y="1996679"/>
            <a:ext cx="4952945" cy="1409693"/>
          </a:xfrm>
          <a:prstGeom prst="roundRect">
            <a:avLst>
              <a:gd name="adj" fmla="val 6757"/>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91" name="Image 1" descr="Image 1"/>
          <p:cNvPicPr>
            <a:picLocks noChangeAspect="1"/>
          </p:cNvPicPr>
          <p:nvPr/>
        </p:nvPicPr>
        <p:blipFill>
          <a:blip r:embed="rId4">
            <a:extLst/>
          </a:blip>
          <a:stretch>
            <a:fillRect/>
          </a:stretch>
        </p:blipFill>
        <p:spPr>
          <a:xfrm>
            <a:off x="10317088" y="2242654"/>
            <a:ext cx="2873353" cy="917673"/>
          </a:xfrm>
          <a:prstGeom prst="rect">
            <a:avLst/>
          </a:prstGeom>
          <a:ln w="12700">
            <a:miter lim="400000"/>
          </a:ln>
        </p:spPr>
      </p:pic>
      <p:sp>
        <p:nvSpPr>
          <p:cNvPr id="492" name="Text 5"/>
          <p:cNvSpPr txBox="1"/>
          <p:nvPr/>
        </p:nvSpPr>
        <p:spPr>
          <a:xfrm>
            <a:off x="952453" y="3634956"/>
            <a:ext cx="2875509"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BOOK SPONSORS</a:t>
            </a:r>
          </a:p>
        </p:txBody>
      </p:sp>
      <p:sp>
        <p:nvSpPr>
          <p:cNvPr id="493" name="Shape 6"/>
          <p:cNvSpPr/>
          <p:nvPr/>
        </p:nvSpPr>
        <p:spPr>
          <a:xfrm>
            <a:off x="3737940" y="3758046"/>
            <a:ext cx="13597567"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494" name="Shape 7"/>
          <p:cNvSpPr/>
          <p:nvPr/>
        </p:nvSpPr>
        <p:spPr>
          <a:xfrm>
            <a:off x="5219705" y="4014416"/>
            <a:ext cx="3809947" cy="1104889"/>
          </a:xfrm>
          <a:prstGeom prst="roundRect">
            <a:avLst>
              <a:gd name="adj" fmla="val 86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95" name="Image 2" descr="Image 2"/>
          <p:cNvPicPr>
            <a:picLocks noChangeAspect="1"/>
          </p:cNvPicPr>
          <p:nvPr/>
        </p:nvPicPr>
        <p:blipFill>
          <a:blip r:embed="rId5">
            <a:extLst/>
          </a:blip>
          <a:stretch>
            <a:fillRect/>
          </a:stretch>
        </p:blipFill>
        <p:spPr>
          <a:xfrm>
            <a:off x="5689300" y="4203194"/>
            <a:ext cx="2870759" cy="727265"/>
          </a:xfrm>
          <a:prstGeom prst="rect">
            <a:avLst/>
          </a:prstGeom>
          <a:ln w="12700">
            <a:miter lim="400000"/>
          </a:ln>
        </p:spPr>
      </p:pic>
      <p:sp>
        <p:nvSpPr>
          <p:cNvPr id="496" name="Shape 8"/>
          <p:cNvSpPr/>
          <p:nvPr/>
        </p:nvSpPr>
        <p:spPr>
          <a:xfrm>
            <a:off x="9258237" y="4014416"/>
            <a:ext cx="3809948" cy="1104889"/>
          </a:xfrm>
          <a:prstGeom prst="roundRect">
            <a:avLst>
              <a:gd name="adj" fmla="val 86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97" name="Image 3" descr="Image 3"/>
          <p:cNvPicPr>
            <a:picLocks noChangeAspect="1"/>
          </p:cNvPicPr>
          <p:nvPr/>
        </p:nvPicPr>
        <p:blipFill>
          <a:blip r:embed="rId6">
            <a:extLst/>
          </a:blip>
          <a:stretch>
            <a:fillRect/>
          </a:stretch>
        </p:blipFill>
        <p:spPr>
          <a:xfrm>
            <a:off x="10162199" y="4203194"/>
            <a:ext cx="2002023" cy="727265"/>
          </a:xfrm>
          <a:prstGeom prst="rect">
            <a:avLst/>
          </a:prstGeom>
          <a:ln w="12700">
            <a:miter lim="400000"/>
          </a:ln>
        </p:spPr>
      </p:pic>
      <p:sp>
        <p:nvSpPr>
          <p:cNvPr id="498" name="Text 9"/>
          <p:cNvSpPr txBox="1"/>
          <p:nvPr/>
        </p:nvSpPr>
        <p:spPr>
          <a:xfrm>
            <a:off x="952453" y="5347891"/>
            <a:ext cx="3890777"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HAPPY HOUR SPONSOR</a:t>
            </a:r>
          </a:p>
        </p:txBody>
      </p:sp>
      <p:sp>
        <p:nvSpPr>
          <p:cNvPr id="499" name="Shape 10"/>
          <p:cNvSpPr/>
          <p:nvPr/>
        </p:nvSpPr>
        <p:spPr>
          <a:xfrm>
            <a:off x="4660910" y="5470981"/>
            <a:ext cx="12674597"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500" name="Shape 11"/>
          <p:cNvSpPr/>
          <p:nvPr/>
        </p:nvSpPr>
        <p:spPr>
          <a:xfrm>
            <a:off x="7572340" y="5727350"/>
            <a:ext cx="3143210" cy="933432"/>
          </a:xfrm>
          <a:prstGeom prst="roundRect">
            <a:avLst>
              <a:gd name="adj" fmla="val 10204"/>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01" name="Image 4" descr="Image 4"/>
          <p:cNvPicPr>
            <a:picLocks noChangeAspect="1"/>
          </p:cNvPicPr>
          <p:nvPr/>
        </p:nvPicPr>
        <p:blipFill>
          <a:blip r:embed="rId7">
            <a:extLst/>
          </a:blip>
          <a:stretch>
            <a:fillRect/>
          </a:stretch>
        </p:blipFill>
        <p:spPr>
          <a:xfrm>
            <a:off x="8550542" y="5897109"/>
            <a:ext cx="1186806" cy="593849"/>
          </a:xfrm>
          <a:prstGeom prst="rect">
            <a:avLst/>
          </a:prstGeom>
          <a:ln w="12700">
            <a:miter lim="400000"/>
          </a:ln>
        </p:spPr>
      </p:pic>
      <p:sp>
        <p:nvSpPr>
          <p:cNvPr id="502" name="Text 12"/>
          <p:cNvSpPr txBox="1"/>
          <p:nvPr/>
        </p:nvSpPr>
        <p:spPr>
          <a:xfrm>
            <a:off x="952453" y="6889367"/>
            <a:ext cx="3710021"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SWAG BAG SPONSORS</a:t>
            </a:r>
          </a:p>
        </p:txBody>
      </p:sp>
      <p:sp>
        <p:nvSpPr>
          <p:cNvPr id="503" name="Shape 13"/>
          <p:cNvSpPr/>
          <p:nvPr/>
        </p:nvSpPr>
        <p:spPr>
          <a:xfrm>
            <a:off x="4496587" y="7012458"/>
            <a:ext cx="12838921"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504" name="Shape 14"/>
          <p:cNvSpPr/>
          <p:nvPr/>
        </p:nvSpPr>
        <p:spPr>
          <a:xfrm>
            <a:off x="6467519" y="7268827"/>
            <a:ext cx="2571712" cy="819106"/>
          </a:xfrm>
          <a:prstGeom prst="roundRect">
            <a:avLst>
              <a:gd name="adj" fmla="val 11629"/>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05" name="Image 5" descr="Image 5"/>
          <p:cNvPicPr>
            <a:picLocks noChangeAspect="1"/>
          </p:cNvPicPr>
          <p:nvPr/>
        </p:nvPicPr>
        <p:blipFill>
          <a:blip r:embed="rId8">
            <a:extLst/>
          </a:blip>
          <a:stretch>
            <a:fillRect/>
          </a:stretch>
        </p:blipFill>
        <p:spPr>
          <a:xfrm>
            <a:off x="6814584" y="7400476"/>
            <a:ext cx="1877515" cy="555740"/>
          </a:xfrm>
          <a:prstGeom prst="rect">
            <a:avLst/>
          </a:prstGeom>
          <a:ln w="12700">
            <a:miter lim="400000"/>
          </a:ln>
        </p:spPr>
      </p:pic>
      <p:sp>
        <p:nvSpPr>
          <p:cNvPr id="506" name="Shape 15"/>
          <p:cNvSpPr/>
          <p:nvPr/>
        </p:nvSpPr>
        <p:spPr>
          <a:xfrm>
            <a:off x="9248727" y="7268827"/>
            <a:ext cx="2571711" cy="819106"/>
          </a:xfrm>
          <a:prstGeom prst="roundRect">
            <a:avLst>
              <a:gd name="adj" fmla="val 11629"/>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07" name="Image 6" descr="Image 6"/>
          <p:cNvPicPr>
            <a:picLocks noChangeAspect="1"/>
          </p:cNvPicPr>
          <p:nvPr/>
        </p:nvPicPr>
        <p:blipFill>
          <a:blip r:embed="rId9">
            <a:extLst/>
          </a:blip>
          <a:stretch>
            <a:fillRect/>
          </a:stretch>
        </p:blipFill>
        <p:spPr>
          <a:xfrm>
            <a:off x="9380423" y="7405299"/>
            <a:ext cx="2308321" cy="546162"/>
          </a:xfrm>
          <a:prstGeom prst="rect">
            <a:avLst/>
          </a:prstGeom>
          <a:ln w="12700">
            <a:miter lim="400000"/>
          </a:ln>
        </p:spPr>
      </p:pic>
      <p:sp>
        <p:nvSpPr>
          <p:cNvPr id="508" name="Text 16"/>
          <p:cNvSpPr txBox="1"/>
          <p:nvPr/>
        </p:nvSpPr>
        <p:spPr>
          <a:xfrm>
            <a:off x="952453" y="8316518"/>
            <a:ext cx="3093329"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BOOTH SPONSORS</a:t>
            </a:r>
          </a:p>
        </p:txBody>
      </p:sp>
      <p:sp>
        <p:nvSpPr>
          <p:cNvPr id="509" name="Shape 17"/>
          <p:cNvSpPr/>
          <p:nvPr/>
        </p:nvSpPr>
        <p:spPr>
          <a:xfrm>
            <a:off x="3935957" y="8439608"/>
            <a:ext cx="13399550"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510" name="Shape 18"/>
          <p:cNvSpPr/>
          <p:nvPr/>
        </p:nvSpPr>
        <p:spPr>
          <a:xfrm>
            <a:off x="1295705"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1" name="Image 7" descr="Image 7"/>
          <p:cNvPicPr>
            <a:picLocks noChangeAspect="1"/>
          </p:cNvPicPr>
          <p:nvPr/>
        </p:nvPicPr>
        <p:blipFill>
          <a:blip r:embed="rId10">
            <a:extLst/>
          </a:blip>
          <a:stretch>
            <a:fillRect/>
          </a:stretch>
        </p:blipFill>
        <p:spPr>
          <a:xfrm>
            <a:off x="1687729" y="8827627"/>
            <a:ext cx="1311335" cy="498610"/>
          </a:xfrm>
          <a:prstGeom prst="rect">
            <a:avLst/>
          </a:prstGeom>
          <a:ln w="12700">
            <a:miter lim="400000"/>
          </a:ln>
        </p:spPr>
      </p:pic>
      <p:sp>
        <p:nvSpPr>
          <p:cNvPr id="512" name="Shape 19"/>
          <p:cNvSpPr/>
          <p:nvPr/>
        </p:nvSpPr>
        <p:spPr>
          <a:xfrm>
            <a:off x="3562544"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3" name="Image 8" descr="Image 8"/>
          <p:cNvPicPr>
            <a:picLocks noChangeAspect="1"/>
          </p:cNvPicPr>
          <p:nvPr/>
        </p:nvPicPr>
        <p:blipFill>
          <a:blip r:embed="rId11">
            <a:extLst/>
          </a:blip>
          <a:stretch>
            <a:fillRect/>
          </a:stretch>
        </p:blipFill>
        <p:spPr>
          <a:xfrm>
            <a:off x="4198083" y="8827627"/>
            <a:ext cx="824372" cy="498610"/>
          </a:xfrm>
          <a:prstGeom prst="rect">
            <a:avLst/>
          </a:prstGeom>
          <a:ln w="12700">
            <a:miter lim="400000"/>
          </a:ln>
        </p:spPr>
      </p:pic>
      <p:sp>
        <p:nvSpPr>
          <p:cNvPr id="514" name="Shape 20"/>
          <p:cNvSpPr/>
          <p:nvPr/>
        </p:nvSpPr>
        <p:spPr>
          <a:xfrm>
            <a:off x="5829382"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5" name="Image 9" descr="Image 9"/>
          <p:cNvPicPr>
            <a:picLocks noChangeAspect="1"/>
          </p:cNvPicPr>
          <p:nvPr/>
        </p:nvPicPr>
        <p:blipFill>
          <a:blip r:embed="rId12">
            <a:extLst/>
          </a:blip>
          <a:stretch>
            <a:fillRect/>
          </a:stretch>
        </p:blipFill>
        <p:spPr>
          <a:xfrm>
            <a:off x="5961031" y="8936180"/>
            <a:ext cx="1832153" cy="281573"/>
          </a:xfrm>
          <a:prstGeom prst="rect">
            <a:avLst/>
          </a:prstGeom>
          <a:ln w="12700">
            <a:miter lim="400000"/>
          </a:ln>
        </p:spPr>
      </p:pic>
      <p:sp>
        <p:nvSpPr>
          <p:cNvPr id="516" name="Shape 21"/>
          <p:cNvSpPr/>
          <p:nvPr/>
        </p:nvSpPr>
        <p:spPr>
          <a:xfrm>
            <a:off x="8096219"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7" name="Image 10" descr="Image 10"/>
          <p:cNvPicPr>
            <a:picLocks noChangeAspect="1"/>
          </p:cNvPicPr>
          <p:nvPr/>
        </p:nvPicPr>
        <p:blipFill>
          <a:blip r:embed="rId13">
            <a:extLst/>
          </a:blip>
          <a:stretch>
            <a:fillRect/>
          </a:stretch>
        </p:blipFill>
        <p:spPr>
          <a:xfrm>
            <a:off x="8227869" y="8921198"/>
            <a:ext cx="1832153" cy="311469"/>
          </a:xfrm>
          <a:prstGeom prst="rect">
            <a:avLst/>
          </a:prstGeom>
          <a:ln w="12700">
            <a:miter lim="400000"/>
          </a:ln>
        </p:spPr>
      </p:pic>
      <p:sp>
        <p:nvSpPr>
          <p:cNvPr id="518" name="Shape 22"/>
          <p:cNvSpPr/>
          <p:nvPr/>
        </p:nvSpPr>
        <p:spPr>
          <a:xfrm>
            <a:off x="10363058"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9" name="Image 11" descr="Image 11"/>
          <p:cNvPicPr>
            <a:picLocks noChangeAspect="1"/>
          </p:cNvPicPr>
          <p:nvPr/>
        </p:nvPicPr>
        <p:blipFill>
          <a:blip r:embed="rId14">
            <a:extLst/>
          </a:blip>
          <a:stretch>
            <a:fillRect/>
          </a:stretch>
        </p:blipFill>
        <p:spPr>
          <a:xfrm>
            <a:off x="10494873" y="8892161"/>
            <a:ext cx="1831823" cy="369610"/>
          </a:xfrm>
          <a:prstGeom prst="rect">
            <a:avLst/>
          </a:prstGeom>
          <a:ln w="12700">
            <a:miter lim="400000"/>
          </a:ln>
        </p:spPr>
      </p:pic>
      <p:sp>
        <p:nvSpPr>
          <p:cNvPr id="520" name="Shape 23"/>
          <p:cNvSpPr/>
          <p:nvPr/>
        </p:nvSpPr>
        <p:spPr>
          <a:xfrm>
            <a:off x="12629898"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21" name="Image 12" descr="Image 12"/>
          <p:cNvPicPr>
            <a:picLocks noChangeAspect="1"/>
          </p:cNvPicPr>
          <p:nvPr/>
        </p:nvPicPr>
        <p:blipFill>
          <a:blip r:embed="rId15">
            <a:extLst/>
          </a:blip>
          <a:stretch>
            <a:fillRect/>
          </a:stretch>
        </p:blipFill>
        <p:spPr>
          <a:xfrm>
            <a:off x="12761693" y="8984343"/>
            <a:ext cx="1831860" cy="185247"/>
          </a:xfrm>
          <a:prstGeom prst="rect">
            <a:avLst/>
          </a:prstGeom>
          <a:ln w="12700">
            <a:miter lim="400000"/>
          </a:ln>
        </p:spPr>
      </p:pic>
      <p:sp>
        <p:nvSpPr>
          <p:cNvPr id="522" name="Shape 24"/>
          <p:cNvSpPr/>
          <p:nvPr/>
        </p:nvSpPr>
        <p:spPr>
          <a:xfrm>
            <a:off x="14896735"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23" name="Image 13" descr="Image 13"/>
          <p:cNvPicPr>
            <a:picLocks noChangeAspect="1"/>
          </p:cNvPicPr>
          <p:nvPr/>
        </p:nvPicPr>
        <p:blipFill>
          <a:blip r:embed="rId16">
            <a:extLst/>
          </a:blip>
          <a:stretch>
            <a:fillRect/>
          </a:stretch>
        </p:blipFill>
        <p:spPr>
          <a:xfrm>
            <a:off x="15047648" y="8827627"/>
            <a:ext cx="1793557" cy="498610"/>
          </a:xfrm>
          <a:prstGeom prst="rect">
            <a:avLst/>
          </a:prstGeom>
          <a:ln w="12700">
            <a:miter lim="400000"/>
          </a:ln>
        </p:spPr>
      </p:pic>
      <p:sp>
        <p:nvSpPr>
          <p:cNvPr id="524" name="Text 25"/>
          <p:cNvSpPr txBox="1"/>
          <p:nvPr/>
        </p:nvSpPr>
        <p:spPr>
          <a:xfrm>
            <a:off x="952453" y="9731102"/>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A5AAAF"/>
                </a:solidFill>
                <a:latin typeface="League Spartan"/>
                <a:ea typeface="League Spartan"/>
                <a:cs typeface="League Spartan"/>
                <a:sym typeface="League Spartan"/>
              </a:defRPr>
            </a:lvl1pPr>
          </a:lstStyle>
          <a:p>
            <a:pPr/>
            <a:r>
              <a:t>#WeRunOnEOS2026</a:t>
            </a:r>
          </a:p>
        </p:txBody>
      </p:sp>
      <p:pic>
        <p:nvPicPr>
          <p:cNvPr id="525" name="Image 14" descr="Image 14"/>
          <p:cNvPicPr>
            <a:picLocks noChangeAspect="1"/>
          </p:cNvPicPr>
          <p:nvPr/>
        </p:nvPicPr>
        <p:blipFill>
          <a:blip r:embed="rId17">
            <a:alphaModFix amt="35000"/>
            <a:extLst/>
          </a:blip>
          <a:stretch>
            <a:fillRect/>
          </a:stretch>
        </p:blipFill>
        <p:spPr>
          <a:xfrm>
            <a:off x="16725966" y="9427385"/>
            <a:ext cx="609541" cy="573877"/>
          </a:xfrm>
          <a:prstGeom prst="rect">
            <a:avLst/>
          </a:prstGeom>
          <a:ln w="12700">
            <a:miter lim="400000"/>
          </a:ln>
        </p:spPr>
      </p:pic>
      <p:sp>
        <p:nvSpPr>
          <p:cNvPr id="526" name="Text 26"/>
          <p:cNvSpPr txBox="1"/>
          <p:nvPr/>
        </p:nvSpPr>
        <p:spPr>
          <a:xfrm>
            <a:off x="17049790" y="9446406"/>
            <a:ext cx="335084" cy="15242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6328"/>
              </a:lnSpc>
              <a:defRPr b="1" sz="712">
                <a:solidFill>
                  <a:srgbClr val="FF7900">
                    <a:alpha val="35000"/>
                  </a:srgbClr>
                </a:solidFill>
                <a:latin typeface="League Spartan"/>
                <a:ea typeface="League Spartan"/>
                <a:cs typeface="League Spartan"/>
                <a:sym typeface="League Spartan"/>
              </a:defRPr>
            </a:lvl1pPr>
          </a:lstStyle>
          <a:p>
            <a:pPr/>
            <a:r>
              <a:t>2026</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531" name="Shape 1"/>
          <p:cNvSpPr/>
          <p:nvPr/>
        </p:nvSpPr>
        <p:spPr>
          <a:xfrm>
            <a:off x="1428712" y="3871286"/>
            <a:ext cx="1047692" cy="133348"/>
          </a:xfrm>
          <a:prstGeom prst="roundRect">
            <a:avLst>
              <a:gd name="adj" fmla="val 50000"/>
            </a:avLst>
          </a:prstGeom>
          <a:gradFill>
            <a:gsLst>
              <a:gs pos="0">
                <a:srgbClr val="F04E23"/>
              </a:gs>
              <a:gs pos="100000">
                <a:srgbClr val="FF7900"/>
              </a:gs>
            </a:gsLst>
          </a:gradFill>
          <a:ln w="12700">
            <a:miter lim="400000"/>
          </a:ln>
        </p:spPr>
        <p:txBody>
          <a:bodyPr lIns="45719" rIns="45719"/>
          <a:lstStyle/>
          <a:p>
            <a:pPr>
              <a:defRPr>
                <a:latin typeface="League Spartan"/>
                <a:ea typeface="League Spartan"/>
                <a:cs typeface="League Spartan"/>
                <a:sym typeface="League Spartan"/>
              </a:defRPr>
            </a:pPr>
          </a:p>
        </p:txBody>
      </p:sp>
      <p:sp>
        <p:nvSpPr>
          <p:cNvPr id="532" name="Text 2"/>
          <p:cNvSpPr txBox="1"/>
          <p:nvPr/>
        </p:nvSpPr>
        <p:spPr>
          <a:xfrm>
            <a:off x="1428713" y="4252240"/>
            <a:ext cx="8512872" cy="7424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pc="-95" sz="4560">
                <a:solidFill>
                  <a:srgbClr val="FFFFFF"/>
                </a:solidFill>
                <a:latin typeface="League Spartan"/>
                <a:ea typeface="League Spartan"/>
                <a:cs typeface="League Spartan"/>
                <a:sym typeface="League Spartan"/>
              </a:defRPr>
            </a:lvl1pPr>
          </a:lstStyle>
          <a:p>
            <a:pPr/>
            <a:r>
              <a:t>Session Survey</a:t>
            </a:r>
          </a:p>
        </p:txBody>
      </p:sp>
      <p:sp>
        <p:nvSpPr>
          <p:cNvPr id="533" name="Text 3"/>
          <p:cNvSpPr txBox="1"/>
          <p:nvPr/>
        </p:nvSpPr>
        <p:spPr>
          <a:xfrm>
            <a:off x="1428713" y="5299388"/>
            <a:ext cx="8512872" cy="51816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09207"/>
              </a:lnSpc>
              <a:defRPr sz="2700">
                <a:solidFill>
                  <a:srgbClr val="C9D0D9"/>
                </a:solidFill>
                <a:latin typeface="League Spartan"/>
                <a:ea typeface="League Spartan"/>
                <a:cs typeface="League Spartan"/>
                <a:sym typeface="League Spartan"/>
              </a:defRPr>
            </a:lvl1pPr>
          </a:lstStyle>
          <a:p>
            <a:pPr/>
            <a:r>
              <a:t>Scan the code to share quick feedback on this session.</a:t>
            </a:r>
          </a:p>
        </p:txBody>
      </p:sp>
      <p:sp>
        <p:nvSpPr>
          <p:cNvPr id="534" name="Text 4"/>
          <p:cNvSpPr txBox="1"/>
          <p:nvPr/>
        </p:nvSpPr>
        <p:spPr>
          <a:xfrm>
            <a:off x="1428713" y="6046148"/>
            <a:ext cx="8512872"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z="2375">
                <a:solidFill>
                  <a:srgbClr val="FF7900"/>
                </a:solidFill>
                <a:latin typeface="League Spartan"/>
                <a:ea typeface="League Spartan"/>
                <a:cs typeface="League Spartan"/>
                <a:sym typeface="League Spartan"/>
              </a:defRPr>
            </a:lvl1pPr>
          </a:lstStyle>
          <a:p>
            <a:pPr/>
            <a:r>
              <a:t>Thank you for your feedback.</a:t>
            </a:r>
          </a:p>
        </p:txBody>
      </p:sp>
      <p:sp>
        <p:nvSpPr>
          <p:cNvPr id="535" name="Shape 5"/>
          <p:cNvSpPr/>
          <p:nvPr/>
        </p:nvSpPr>
        <p:spPr>
          <a:xfrm>
            <a:off x="12763516" y="3095589"/>
            <a:ext cx="4095730" cy="4095730"/>
          </a:xfrm>
          <a:prstGeom prst="roundRect">
            <a:avLst>
              <a:gd name="adj" fmla="val 5581"/>
            </a:avLst>
          </a:prstGeom>
          <a:solidFill>
            <a:srgbClr val="FFFFFF"/>
          </a:solidFill>
          <a:ln w="12700">
            <a:miter lim="400000"/>
          </a:ln>
        </p:spPr>
        <p:txBody>
          <a:bodyPr lIns="45719" rIns="45719"/>
          <a:lstStyle/>
          <a:p>
            <a:pPr>
              <a:defRPr>
                <a:latin typeface="League Spartan"/>
                <a:ea typeface="League Spartan"/>
                <a:cs typeface="League Spartan"/>
                <a:sym typeface="League Spartan"/>
              </a:defRPr>
            </a:pPr>
          </a:p>
        </p:txBody>
      </p:sp>
      <p:sp>
        <p:nvSpPr>
          <p:cNvPr id="536" name="Text 6"/>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541" name="Text 2"/>
          <p:cNvSpPr txBox="1"/>
          <p:nvPr/>
        </p:nvSpPr>
        <p:spPr>
          <a:xfrm>
            <a:off x="1238236" y="3434698"/>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04E23"/>
                </a:solidFill>
                <a:latin typeface="League Spartan"/>
                <a:ea typeface="League Spartan"/>
                <a:cs typeface="League Spartan"/>
                <a:sym typeface="League Spartan"/>
              </a:defRPr>
            </a:lvl1pPr>
          </a:lstStyle>
          <a:p>
            <a:pPr/>
            <a:r>
              <a:t>Speaker</a:t>
            </a:r>
          </a:p>
        </p:txBody>
      </p:sp>
      <p:sp>
        <p:nvSpPr>
          <p:cNvPr id="542" name="Text 3"/>
          <p:cNvSpPr txBox="1"/>
          <p:nvPr/>
        </p:nvSpPr>
        <p:spPr>
          <a:xfrm>
            <a:off x="1238236" y="4794801"/>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F7900"/>
                </a:solidFill>
                <a:latin typeface="League Spartan"/>
                <a:ea typeface="League Spartan"/>
                <a:cs typeface="League Spartan"/>
                <a:sym typeface="League Spartan"/>
              </a:defRPr>
            </a:lvl1pPr>
          </a:lstStyle>
          <a:p>
            <a:pPr/>
            <a:r>
              <a:t>Guidelines</a:t>
            </a:r>
          </a:p>
        </p:txBody>
      </p:sp>
      <p:sp>
        <p:nvSpPr>
          <p:cNvPr id="543" name="Text 4"/>
          <p:cNvSpPr txBox="1"/>
          <p:nvPr/>
        </p:nvSpPr>
        <p:spPr>
          <a:xfrm>
            <a:off x="1238236" y="6573966"/>
            <a:ext cx="17392637" cy="31634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95527">
              <a:lnSpc>
                <a:spcPct val="80000"/>
              </a:lnSpc>
              <a:defRPr sz="1740">
                <a:solidFill>
                  <a:srgbClr val="C9D0D9"/>
                </a:solidFill>
                <a:latin typeface="League Spartan"/>
                <a:ea typeface="League Spartan"/>
                <a:cs typeface="League Spartan"/>
                <a:sym typeface="League Spartan"/>
              </a:defRPr>
            </a:lvl1pPr>
          </a:lstStyle>
          <a:p>
            <a:pPr/>
            <a:r>
              <a:t>Four slides of house rules — delete them before you present.</a:t>
            </a:r>
          </a:p>
        </p:txBody>
      </p:sp>
      <p:sp>
        <p:nvSpPr>
          <p:cNvPr id="544" name="Text 5"/>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545"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54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0" name="Shape 0"/>
          <p:cNvSpPr/>
          <p:nvPr/>
        </p:nvSpPr>
        <p:spPr>
          <a:xfrm>
            <a:off x="952453" y="838193"/>
            <a:ext cx="1047691" cy="133348"/>
          </a:xfrm>
          <a:prstGeom prst="roundRect">
            <a:avLst>
              <a:gd name="adj" fmla="val 50000"/>
            </a:avLst>
          </a:prstGeom>
          <a:gradFill>
            <a:gsLst>
              <a:gs pos="0">
                <a:srgbClr val="F04E23"/>
              </a:gs>
              <a:gs pos="100000">
                <a:srgbClr val="FF7900"/>
              </a:gs>
            </a:gsLst>
          </a:gradFill>
          <a:ln w="12700">
            <a:miter lim="400000"/>
          </a:ln>
        </p:spPr>
        <p:txBody>
          <a:bodyPr lIns="45719" rIns="45719"/>
          <a:lstStyle/>
          <a:p>
            <a:pPr>
              <a:defRPr>
                <a:latin typeface="League Spartan"/>
                <a:ea typeface="League Spartan"/>
                <a:cs typeface="League Spartan"/>
                <a:sym typeface="League Spartan"/>
              </a:defRPr>
            </a:pPr>
          </a:p>
        </p:txBody>
      </p:sp>
      <p:sp>
        <p:nvSpPr>
          <p:cNvPr id="551" name="Text 1"/>
          <p:cNvSpPr txBox="1"/>
          <p:nvPr/>
        </p:nvSpPr>
        <p:spPr>
          <a:xfrm>
            <a:off x="952452" y="1219146"/>
            <a:ext cx="18021360" cy="7424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pc="-95" sz="4560">
                <a:solidFill>
                  <a:srgbClr val="142233"/>
                </a:solidFill>
                <a:latin typeface="League Spartan"/>
                <a:ea typeface="League Spartan"/>
                <a:cs typeface="League Spartan"/>
                <a:sym typeface="League Spartan"/>
              </a:defRPr>
            </a:lvl1pPr>
          </a:lstStyle>
          <a:p>
            <a:pPr/>
            <a:r>
              <a:t>Slides &amp; Content</a:t>
            </a:r>
          </a:p>
        </p:txBody>
      </p:sp>
      <p:sp>
        <p:nvSpPr>
          <p:cNvPr id="552" name="Text 2"/>
          <p:cNvSpPr txBox="1"/>
          <p:nvPr/>
        </p:nvSpPr>
        <p:spPr>
          <a:xfrm>
            <a:off x="952453" y="2494949"/>
            <a:ext cx="8539176"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pc="190" sz="2375">
                <a:solidFill>
                  <a:srgbClr val="FF7900"/>
                </a:solidFill>
                <a:latin typeface="League Spartan"/>
                <a:ea typeface="League Spartan"/>
                <a:cs typeface="League Spartan"/>
                <a:sym typeface="League Spartan"/>
              </a:defRPr>
            </a:lvl1pPr>
          </a:lstStyle>
          <a:p>
            <a:pPr/>
            <a:r>
              <a:t>DO</a:t>
            </a:r>
          </a:p>
        </p:txBody>
      </p:sp>
      <p:sp>
        <p:nvSpPr>
          <p:cNvPr id="553" name="Shape 3"/>
          <p:cNvSpPr/>
          <p:nvPr/>
        </p:nvSpPr>
        <p:spPr>
          <a:xfrm>
            <a:off x="952453" y="3238622"/>
            <a:ext cx="152369" cy="152369"/>
          </a:xfrm>
          <a:prstGeom prst="roundRect">
            <a:avLst>
              <a:gd name="adj" fmla="val 18754"/>
            </a:avLst>
          </a:prstGeom>
          <a:solidFill>
            <a:srgbClr val="FF7900"/>
          </a:solidFill>
          <a:ln w="12700">
            <a:miter lim="400000"/>
          </a:ln>
        </p:spPr>
        <p:txBody>
          <a:bodyPr lIns="45719" rIns="45719"/>
          <a:lstStyle/>
          <a:p>
            <a:pPr>
              <a:defRPr>
                <a:latin typeface="League Spartan"/>
                <a:ea typeface="League Spartan"/>
                <a:cs typeface="League Spartan"/>
                <a:sym typeface="League Spartan"/>
              </a:defRPr>
            </a:pPr>
          </a:p>
        </p:txBody>
      </p:sp>
      <p:sp>
        <p:nvSpPr>
          <p:cNvPr id="554" name="Text 4"/>
          <p:cNvSpPr txBox="1"/>
          <p:nvPr/>
        </p:nvSpPr>
        <p:spPr>
          <a:xfrm>
            <a:off x="1352427" y="3188315"/>
            <a:ext cx="4776100"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142233"/>
                </a:solidFill>
                <a:latin typeface="League Spartan"/>
                <a:ea typeface="League Spartan"/>
                <a:cs typeface="League Spartan"/>
                <a:sym typeface="League Spartan"/>
              </a:defRPr>
            </a:lvl1pPr>
          </a:lstStyle>
          <a:p>
            <a:pPr/>
            <a:r>
              <a:t>Build from the layouts in this file</a:t>
            </a:r>
          </a:p>
        </p:txBody>
      </p:sp>
      <p:sp>
        <p:nvSpPr>
          <p:cNvPr id="555" name="Shape 5"/>
          <p:cNvSpPr/>
          <p:nvPr/>
        </p:nvSpPr>
        <p:spPr>
          <a:xfrm>
            <a:off x="952453" y="3853731"/>
            <a:ext cx="152369" cy="152369"/>
          </a:xfrm>
          <a:prstGeom prst="roundRect">
            <a:avLst>
              <a:gd name="adj" fmla="val 18754"/>
            </a:avLst>
          </a:prstGeom>
          <a:solidFill>
            <a:srgbClr val="FF7900"/>
          </a:solidFill>
          <a:ln w="12700">
            <a:miter lim="400000"/>
          </a:ln>
        </p:spPr>
        <p:txBody>
          <a:bodyPr lIns="45719" rIns="45719"/>
          <a:lstStyle/>
          <a:p>
            <a:pPr>
              <a:defRPr>
                <a:latin typeface="League Spartan"/>
                <a:ea typeface="League Spartan"/>
                <a:cs typeface="League Spartan"/>
                <a:sym typeface="League Spartan"/>
              </a:defRPr>
            </a:pPr>
          </a:p>
        </p:txBody>
      </p:sp>
      <p:sp>
        <p:nvSpPr>
          <p:cNvPr id="556" name="Text 6"/>
          <p:cNvSpPr txBox="1"/>
          <p:nvPr/>
        </p:nvSpPr>
        <p:spPr>
          <a:xfrm>
            <a:off x="1352427" y="3803424"/>
            <a:ext cx="5315006"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142233"/>
                </a:solidFill>
                <a:latin typeface="League Spartan"/>
                <a:ea typeface="League Spartan"/>
                <a:cs typeface="League Spartan"/>
                <a:sym typeface="League Spartan"/>
              </a:defRPr>
            </a:lvl1pPr>
          </a:lstStyle>
          <a:p>
            <a:pPr/>
            <a:r>
              <a:t>Keep copy short, scannable, and big</a:t>
            </a:r>
          </a:p>
        </p:txBody>
      </p:sp>
      <p:sp>
        <p:nvSpPr>
          <p:cNvPr id="557" name="Shape 7"/>
          <p:cNvSpPr/>
          <p:nvPr/>
        </p:nvSpPr>
        <p:spPr>
          <a:xfrm>
            <a:off x="952453" y="4468841"/>
            <a:ext cx="152369" cy="152369"/>
          </a:xfrm>
          <a:prstGeom prst="roundRect">
            <a:avLst>
              <a:gd name="adj" fmla="val 18754"/>
            </a:avLst>
          </a:prstGeom>
          <a:solidFill>
            <a:srgbClr val="FF7900"/>
          </a:solidFill>
          <a:ln w="12700">
            <a:miter lim="400000"/>
          </a:ln>
        </p:spPr>
        <p:txBody>
          <a:bodyPr lIns="45719" rIns="45719"/>
          <a:lstStyle/>
          <a:p>
            <a:pPr>
              <a:defRPr>
                <a:latin typeface="League Spartan"/>
                <a:ea typeface="League Spartan"/>
                <a:cs typeface="League Spartan"/>
                <a:sym typeface="League Spartan"/>
              </a:defRPr>
            </a:pPr>
          </a:p>
        </p:txBody>
      </p:sp>
      <p:sp>
        <p:nvSpPr>
          <p:cNvPr id="558" name="Text 8"/>
          <p:cNvSpPr txBox="1"/>
          <p:nvPr/>
        </p:nvSpPr>
        <p:spPr>
          <a:xfrm>
            <a:off x="1352427" y="4418534"/>
            <a:ext cx="4543636"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142233"/>
                </a:solidFill>
                <a:latin typeface="League Spartan"/>
                <a:ea typeface="League Spartan"/>
                <a:cs typeface="League Spartan"/>
                <a:sym typeface="League Spartan"/>
              </a:defRPr>
            </a:lvl1pPr>
          </a:lstStyle>
          <a:p>
            <a:pPr/>
            <a:r>
              <a:t>Use one or two levels of bullets</a:t>
            </a:r>
          </a:p>
        </p:txBody>
      </p:sp>
      <p:sp>
        <p:nvSpPr>
          <p:cNvPr id="559" name="Shape 9"/>
          <p:cNvSpPr/>
          <p:nvPr/>
        </p:nvSpPr>
        <p:spPr>
          <a:xfrm>
            <a:off x="952453" y="5083952"/>
            <a:ext cx="152369" cy="152369"/>
          </a:xfrm>
          <a:prstGeom prst="roundRect">
            <a:avLst>
              <a:gd name="adj" fmla="val 18754"/>
            </a:avLst>
          </a:prstGeom>
          <a:solidFill>
            <a:srgbClr val="FF7900"/>
          </a:solidFill>
          <a:ln w="12700">
            <a:miter lim="400000"/>
          </a:ln>
        </p:spPr>
        <p:txBody>
          <a:bodyPr lIns="45719" rIns="45719"/>
          <a:lstStyle/>
          <a:p>
            <a:pPr>
              <a:defRPr>
                <a:latin typeface="League Spartan"/>
                <a:ea typeface="League Spartan"/>
                <a:cs typeface="League Spartan"/>
                <a:sym typeface="League Spartan"/>
              </a:defRPr>
            </a:pPr>
          </a:p>
        </p:txBody>
      </p:sp>
      <p:sp>
        <p:nvSpPr>
          <p:cNvPr id="560" name="Text 10"/>
          <p:cNvSpPr txBox="1"/>
          <p:nvPr/>
        </p:nvSpPr>
        <p:spPr>
          <a:xfrm>
            <a:off x="1352427" y="5033645"/>
            <a:ext cx="5228476"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142233"/>
                </a:solidFill>
                <a:latin typeface="League Spartan"/>
                <a:ea typeface="League Spartan"/>
                <a:cs typeface="League Spartan"/>
                <a:sym typeface="League Spartan"/>
              </a:defRPr>
            </a:lvl1pPr>
          </a:lstStyle>
          <a:p>
            <a:pPr/>
            <a:r>
              <a:t>Duplicate slides to make more room</a:t>
            </a:r>
          </a:p>
        </p:txBody>
      </p:sp>
      <p:sp>
        <p:nvSpPr>
          <p:cNvPr id="561" name="Text 11"/>
          <p:cNvSpPr txBox="1"/>
          <p:nvPr/>
        </p:nvSpPr>
        <p:spPr>
          <a:xfrm>
            <a:off x="9572552" y="2494949"/>
            <a:ext cx="8539250"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pc="190" sz="2375">
                <a:solidFill>
                  <a:srgbClr val="142233"/>
                </a:solidFill>
                <a:latin typeface="League Spartan"/>
                <a:ea typeface="League Spartan"/>
                <a:cs typeface="League Spartan"/>
                <a:sym typeface="League Spartan"/>
              </a:defRPr>
            </a:lvl1pPr>
          </a:lstStyle>
          <a:p>
            <a:pPr/>
            <a:r>
              <a:t>AVOID</a:t>
            </a:r>
          </a:p>
        </p:txBody>
      </p:sp>
      <p:sp>
        <p:nvSpPr>
          <p:cNvPr id="562" name="Shape 12"/>
          <p:cNvSpPr/>
          <p:nvPr/>
        </p:nvSpPr>
        <p:spPr>
          <a:xfrm>
            <a:off x="9572552" y="3276748"/>
            <a:ext cx="247607" cy="38042"/>
          </a:xfrm>
          <a:prstGeom prst="roundRect">
            <a:avLst>
              <a:gd name="adj" fmla="val 50000"/>
            </a:avLst>
          </a:prstGeom>
          <a:solidFill>
            <a:srgbClr val="A5AAAF"/>
          </a:solidFill>
          <a:ln w="12700">
            <a:miter lim="400000"/>
          </a:ln>
        </p:spPr>
        <p:txBody>
          <a:bodyPr lIns="45719" rIns="45719"/>
          <a:lstStyle/>
          <a:p>
            <a:pPr>
              <a:defRPr>
                <a:latin typeface="League Spartan"/>
                <a:ea typeface="League Spartan"/>
                <a:cs typeface="League Spartan"/>
                <a:sym typeface="League Spartan"/>
              </a:defRPr>
            </a:pPr>
          </a:p>
        </p:txBody>
      </p:sp>
      <p:sp>
        <p:nvSpPr>
          <p:cNvPr id="563" name="Text 13"/>
          <p:cNvSpPr txBox="1"/>
          <p:nvPr/>
        </p:nvSpPr>
        <p:spPr>
          <a:xfrm>
            <a:off x="10067766" y="3188315"/>
            <a:ext cx="4710270"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5A6472"/>
                </a:solidFill>
                <a:latin typeface="League Spartan"/>
                <a:ea typeface="League Spartan"/>
                <a:cs typeface="League Spartan"/>
                <a:sym typeface="League Spartan"/>
              </a:defRPr>
            </a:lvl1pPr>
          </a:lstStyle>
          <a:p>
            <a:pPr/>
            <a:r>
              <a:t>New colors, fonts, or slide styles</a:t>
            </a:r>
          </a:p>
        </p:txBody>
      </p:sp>
      <p:sp>
        <p:nvSpPr>
          <p:cNvPr id="564" name="Shape 14"/>
          <p:cNvSpPr/>
          <p:nvPr/>
        </p:nvSpPr>
        <p:spPr>
          <a:xfrm>
            <a:off x="9572552" y="3891858"/>
            <a:ext cx="247607" cy="38042"/>
          </a:xfrm>
          <a:prstGeom prst="roundRect">
            <a:avLst>
              <a:gd name="adj" fmla="val 50000"/>
            </a:avLst>
          </a:prstGeom>
          <a:solidFill>
            <a:srgbClr val="A5AAAF"/>
          </a:solidFill>
          <a:ln w="12700">
            <a:miter lim="400000"/>
          </a:ln>
        </p:spPr>
        <p:txBody>
          <a:bodyPr lIns="45719" rIns="45719"/>
          <a:lstStyle/>
          <a:p>
            <a:pPr>
              <a:defRPr>
                <a:latin typeface="League Spartan"/>
                <a:ea typeface="League Spartan"/>
                <a:cs typeface="League Spartan"/>
                <a:sym typeface="League Spartan"/>
              </a:defRPr>
            </a:pPr>
          </a:p>
        </p:txBody>
      </p:sp>
      <p:sp>
        <p:nvSpPr>
          <p:cNvPr id="565" name="Text 15"/>
          <p:cNvSpPr txBox="1"/>
          <p:nvPr/>
        </p:nvSpPr>
        <p:spPr>
          <a:xfrm>
            <a:off x="10067766" y="3803424"/>
            <a:ext cx="4952598"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5A6472"/>
                </a:solidFill>
                <a:latin typeface="League Spartan"/>
                <a:ea typeface="League Spartan"/>
                <a:cs typeface="League Spartan"/>
                <a:sym typeface="League Spartan"/>
              </a:defRPr>
            </a:lvl1pPr>
          </a:lstStyle>
          <a:p>
            <a:pPr/>
            <a:r>
              <a:t>Dense paragraphs and small type</a:t>
            </a:r>
          </a:p>
        </p:txBody>
      </p:sp>
      <p:sp>
        <p:nvSpPr>
          <p:cNvPr id="566" name="Shape 16"/>
          <p:cNvSpPr/>
          <p:nvPr/>
        </p:nvSpPr>
        <p:spPr>
          <a:xfrm>
            <a:off x="9572552" y="4506969"/>
            <a:ext cx="247607" cy="38042"/>
          </a:xfrm>
          <a:prstGeom prst="roundRect">
            <a:avLst>
              <a:gd name="adj" fmla="val 50000"/>
            </a:avLst>
          </a:prstGeom>
          <a:solidFill>
            <a:srgbClr val="A5AAAF"/>
          </a:solidFill>
          <a:ln w="12700">
            <a:miter lim="400000"/>
          </a:ln>
        </p:spPr>
        <p:txBody>
          <a:bodyPr lIns="45719" rIns="45719"/>
          <a:lstStyle/>
          <a:p>
            <a:pPr>
              <a:defRPr>
                <a:latin typeface="League Spartan"/>
                <a:ea typeface="League Spartan"/>
                <a:cs typeface="League Spartan"/>
                <a:sym typeface="League Spartan"/>
              </a:defRPr>
            </a:pPr>
          </a:p>
        </p:txBody>
      </p:sp>
      <p:sp>
        <p:nvSpPr>
          <p:cNvPr id="567" name="Text 17"/>
          <p:cNvSpPr txBox="1"/>
          <p:nvPr/>
        </p:nvSpPr>
        <p:spPr>
          <a:xfrm>
            <a:off x="10067766" y="4418534"/>
            <a:ext cx="4716248"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5A6472"/>
                </a:solidFill>
                <a:latin typeface="League Spartan"/>
                <a:ea typeface="League Spartan"/>
                <a:cs typeface="League Spartan"/>
                <a:sym typeface="League Spartan"/>
              </a:defRPr>
            </a:lvl1pPr>
          </a:lstStyle>
          <a:p>
            <a:pPr/>
            <a:r>
              <a:t>Clip art or watermarked images</a:t>
            </a:r>
          </a:p>
        </p:txBody>
      </p:sp>
      <p:sp>
        <p:nvSpPr>
          <p:cNvPr id="568" name="Shape 18"/>
          <p:cNvSpPr/>
          <p:nvPr/>
        </p:nvSpPr>
        <p:spPr>
          <a:xfrm>
            <a:off x="9572552" y="5122078"/>
            <a:ext cx="247607" cy="38042"/>
          </a:xfrm>
          <a:prstGeom prst="roundRect">
            <a:avLst>
              <a:gd name="adj" fmla="val 50000"/>
            </a:avLst>
          </a:prstGeom>
          <a:solidFill>
            <a:srgbClr val="A5AAAF"/>
          </a:solidFill>
          <a:ln w="12700">
            <a:miter lim="400000"/>
          </a:ln>
        </p:spPr>
        <p:txBody>
          <a:bodyPr lIns="45719" rIns="45719"/>
          <a:lstStyle/>
          <a:p>
            <a:pPr>
              <a:defRPr>
                <a:latin typeface="League Spartan"/>
                <a:ea typeface="League Spartan"/>
                <a:cs typeface="League Spartan"/>
                <a:sym typeface="League Spartan"/>
              </a:defRPr>
            </a:pPr>
          </a:p>
        </p:txBody>
      </p:sp>
      <p:sp>
        <p:nvSpPr>
          <p:cNvPr id="569" name="Text 19"/>
          <p:cNvSpPr txBox="1"/>
          <p:nvPr/>
        </p:nvSpPr>
        <p:spPr>
          <a:xfrm>
            <a:off x="10067766" y="5033645"/>
            <a:ext cx="5371349" cy="32938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80000"/>
              </a:lnSpc>
              <a:defRPr b="1" sz="1879">
                <a:solidFill>
                  <a:srgbClr val="5A6472"/>
                </a:solidFill>
                <a:latin typeface="League Spartan"/>
                <a:ea typeface="League Spartan"/>
                <a:cs typeface="League Spartan"/>
                <a:sym typeface="League Spartan"/>
              </a:defRPr>
            </a:lvl1pPr>
          </a:lstStyle>
          <a:p>
            <a:pPr/>
            <a:r>
              <a:t>Moving the footer or the Texas mark</a:t>
            </a:r>
          </a:p>
        </p:txBody>
      </p:sp>
      <p:sp>
        <p:nvSpPr>
          <p:cNvPr id="570" name="Text 20"/>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A5AAAF"/>
                </a:solidFill>
                <a:latin typeface="League Spartan"/>
                <a:ea typeface="League Spartan"/>
                <a:cs typeface="League Spartan"/>
                <a:sym typeface="League Spartan"/>
              </a:defRPr>
            </a:lvl1pPr>
          </a:lstStyle>
          <a:p>
            <a:pPr/>
            <a:r>
              <a:t>#WeRunOnEOS2026</a:t>
            </a:r>
          </a:p>
        </p:txBody>
      </p:sp>
      <p:pic>
        <p:nvPicPr>
          <p:cNvPr id="571" name="Image 0" descr="Image 0"/>
          <p:cNvPicPr>
            <a:picLocks noChangeAspect="1"/>
          </p:cNvPicPr>
          <p:nvPr/>
        </p:nvPicPr>
        <p:blipFill>
          <a:blip r:embed="rId3">
            <a:alphaModFix amt="35000"/>
            <a:extLst/>
          </a:blip>
          <a:stretch>
            <a:fillRect/>
          </a:stretch>
        </p:blipFill>
        <p:spPr>
          <a:xfrm>
            <a:off x="16687857" y="9334388"/>
            <a:ext cx="647650" cy="609745"/>
          </a:xfrm>
          <a:prstGeom prst="rect">
            <a:avLst/>
          </a:prstGeom>
          <a:ln w="12700">
            <a:miter lim="400000"/>
          </a:ln>
        </p:spPr>
      </p:pic>
      <p:sp>
        <p:nvSpPr>
          <p:cNvPr id="572" name="Text 21"/>
          <p:cNvSpPr txBox="1"/>
          <p:nvPr/>
        </p:nvSpPr>
        <p:spPr>
          <a:xfrm>
            <a:off x="17030701" y="9353408"/>
            <a:ext cx="356618" cy="16193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7677"/>
              </a:lnSpc>
              <a:defRPr b="1" sz="712">
                <a:solidFill>
                  <a:srgbClr val="FF7900">
                    <a:alpha val="35000"/>
                  </a:srgbClr>
                </a:solidFill>
                <a:latin typeface="League Spartan"/>
                <a:ea typeface="League Spartan"/>
                <a:cs typeface="League Spartan"/>
                <a:sym typeface="League Spartan"/>
              </a:defRPr>
            </a:lvl1pPr>
          </a:lstStyle>
          <a:p>
            <a:pPr/>
            <a:r>
              <a:t>2026</a:t>
            </a:r>
          </a:p>
        </p:txBody>
      </p:sp>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6" name="Shape 0"/>
          <p:cNvSpPr/>
          <p:nvPr/>
        </p:nvSpPr>
        <p:spPr>
          <a:xfrm>
            <a:off x="952453" y="838193"/>
            <a:ext cx="1047691" cy="133348"/>
          </a:xfrm>
          <a:prstGeom prst="roundRect">
            <a:avLst>
              <a:gd name="adj" fmla="val 50000"/>
            </a:avLst>
          </a:prstGeom>
          <a:gradFill>
            <a:gsLst>
              <a:gs pos="0">
                <a:srgbClr val="F04E23"/>
              </a:gs>
              <a:gs pos="100000">
                <a:srgbClr val="FF7900"/>
              </a:gs>
            </a:gsLst>
          </a:gradFill>
          <a:ln w="12700">
            <a:miter lim="400000"/>
          </a:ln>
        </p:spPr>
        <p:txBody>
          <a:bodyPr lIns="45719" rIns="45719"/>
          <a:lstStyle/>
          <a:p>
            <a:pPr>
              <a:defRPr>
                <a:latin typeface="League Spartan"/>
                <a:ea typeface="League Spartan"/>
                <a:cs typeface="League Spartan"/>
                <a:sym typeface="League Spartan"/>
              </a:defRPr>
            </a:pPr>
          </a:p>
        </p:txBody>
      </p:sp>
      <p:sp>
        <p:nvSpPr>
          <p:cNvPr id="577" name="Text 1"/>
          <p:cNvSpPr txBox="1"/>
          <p:nvPr/>
        </p:nvSpPr>
        <p:spPr>
          <a:xfrm>
            <a:off x="952452" y="1219146"/>
            <a:ext cx="18021360" cy="7424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pc="-95" sz="4560">
                <a:solidFill>
                  <a:srgbClr val="142233"/>
                </a:solidFill>
                <a:latin typeface="League Spartan"/>
                <a:ea typeface="League Spartan"/>
                <a:cs typeface="League Spartan"/>
                <a:sym typeface="League Spartan"/>
              </a:defRPr>
            </a:lvl1pPr>
          </a:lstStyle>
          <a:p>
            <a:pPr/>
            <a:r>
              <a:t>Fonts</a:t>
            </a:r>
          </a:p>
        </p:txBody>
      </p:sp>
      <p:sp>
        <p:nvSpPr>
          <p:cNvPr id="578" name="Text 2"/>
          <p:cNvSpPr txBox="1"/>
          <p:nvPr/>
        </p:nvSpPr>
        <p:spPr>
          <a:xfrm>
            <a:off x="952452" y="2456839"/>
            <a:ext cx="18021360" cy="109020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90000"/>
              </a:lnSpc>
              <a:defRPr b="1" spc="-94" sz="6768">
                <a:solidFill>
                  <a:srgbClr val="142233"/>
                </a:solidFill>
                <a:latin typeface="League Spartan"/>
                <a:ea typeface="League Spartan"/>
                <a:cs typeface="League Spartan"/>
                <a:sym typeface="League Spartan"/>
              </a:defRPr>
            </a:lvl1pPr>
          </a:lstStyle>
          <a:p>
            <a:pPr/>
            <a:r>
              <a:t>League Spartan</a:t>
            </a:r>
          </a:p>
        </p:txBody>
      </p:sp>
      <p:sp>
        <p:nvSpPr>
          <p:cNvPr id="579" name="Text 3"/>
          <p:cNvSpPr txBox="1"/>
          <p:nvPr/>
        </p:nvSpPr>
        <p:spPr>
          <a:xfrm>
            <a:off x="952452" y="3680335"/>
            <a:ext cx="18021360" cy="28156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04672">
              <a:lnSpc>
                <a:spcPct val="80000"/>
              </a:lnSpc>
              <a:defRPr sz="1496">
                <a:solidFill>
                  <a:srgbClr val="5A6472"/>
                </a:solidFill>
                <a:latin typeface="League Spartan"/>
                <a:ea typeface="League Spartan"/>
                <a:cs typeface="League Spartan"/>
                <a:sym typeface="League Spartan"/>
              </a:defRPr>
            </a:pPr>
            <a:r>
              <a:t>This deck uses one family at three weights — free to install from </a:t>
            </a:r>
            <a:r>
              <a:rPr u="sng">
                <a:solidFill>
                  <a:srgbClr val="0563C1"/>
                </a:solidFill>
                <a:uFill>
                  <a:solidFill>
                    <a:srgbClr val="0563C1"/>
                  </a:solidFill>
                </a:uFill>
                <a:hlinkClick r:id="rId3" invalidUrl="" action="" tgtFrame="" tooltip="" history="1" highlightClick="0" endSnd="0"/>
              </a:rPr>
              <a:t>fonts.google.com/specimen/League+Spartan</a:t>
            </a:r>
          </a:p>
        </p:txBody>
      </p:sp>
      <p:sp>
        <p:nvSpPr>
          <p:cNvPr id="580" name="Text 4"/>
          <p:cNvSpPr txBox="1"/>
          <p:nvPr/>
        </p:nvSpPr>
        <p:spPr>
          <a:xfrm>
            <a:off x="952453" y="4419077"/>
            <a:ext cx="3562292" cy="5163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90000"/>
              </a:lnSpc>
              <a:defRPr b="1" sz="3167">
                <a:solidFill>
                  <a:srgbClr val="142233"/>
                </a:solidFill>
                <a:latin typeface="League Spartan"/>
                <a:ea typeface="League Spartan"/>
                <a:cs typeface="League Spartan"/>
                <a:sym typeface="League Spartan"/>
              </a:defRPr>
            </a:lvl1pPr>
          </a:lstStyle>
          <a:p>
            <a:pPr/>
            <a:r>
              <a:t>ExtraBold</a:t>
            </a:r>
          </a:p>
        </p:txBody>
      </p:sp>
      <p:sp>
        <p:nvSpPr>
          <p:cNvPr id="581" name="Text 5"/>
          <p:cNvSpPr txBox="1"/>
          <p:nvPr/>
        </p:nvSpPr>
        <p:spPr>
          <a:xfrm>
            <a:off x="4571853" y="4601674"/>
            <a:ext cx="5724790" cy="29895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80000"/>
              </a:lnSpc>
              <a:defRPr sz="1746">
                <a:solidFill>
                  <a:srgbClr val="5A6472"/>
                </a:solidFill>
                <a:latin typeface="League Spartan"/>
                <a:ea typeface="League Spartan"/>
                <a:cs typeface="League Spartan"/>
                <a:sym typeface="League Spartan"/>
              </a:defRPr>
            </a:lvl1pPr>
          </a:lstStyle>
          <a:p>
            <a:pPr/>
            <a:r>
              <a:t>Page titles &amp; section breaks — 48 pt and up</a:t>
            </a:r>
          </a:p>
        </p:txBody>
      </p:sp>
      <p:sp>
        <p:nvSpPr>
          <p:cNvPr id="582" name="Text 6"/>
          <p:cNvSpPr txBox="1"/>
          <p:nvPr/>
        </p:nvSpPr>
        <p:spPr>
          <a:xfrm>
            <a:off x="952453" y="5183023"/>
            <a:ext cx="3562292" cy="5163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90000"/>
              </a:lnSpc>
              <a:defRPr b="1" sz="3167">
                <a:solidFill>
                  <a:srgbClr val="142233"/>
                </a:solidFill>
                <a:latin typeface="League Spartan"/>
                <a:ea typeface="League Spartan"/>
                <a:cs typeface="League Spartan"/>
                <a:sym typeface="League Spartan"/>
              </a:defRPr>
            </a:lvl1pPr>
          </a:lstStyle>
          <a:p>
            <a:pPr/>
            <a:r>
              <a:t>Bold</a:t>
            </a:r>
          </a:p>
        </p:txBody>
      </p:sp>
      <p:sp>
        <p:nvSpPr>
          <p:cNvPr id="583" name="Text 7"/>
          <p:cNvSpPr txBox="1"/>
          <p:nvPr/>
        </p:nvSpPr>
        <p:spPr>
          <a:xfrm>
            <a:off x="4571853" y="5365620"/>
            <a:ext cx="5658959" cy="29895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80000"/>
              </a:lnSpc>
              <a:defRPr sz="1746">
                <a:solidFill>
                  <a:srgbClr val="5A6472"/>
                </a:solidFill>
                <a:latin typeface="League Spartan"/>
                <a:ea typeface="League Spartan"/>
                <a:cs typeface="League Spartan"/>
                <a:sym typeface="League Spartan"/>
              </a:defRPr>
            </a:lvl1pPr>
          </a:lstStyle>
          <a:p>
            <a:pPr/>
            <a:r>
              <a:t>Emphasis, numbers, and labels — 24–28 pt</a:t>
            </a:r>
          </a:p>
        </p:txBody>
      </p:sp>
      <p:sp>
        <p:nvSpPr>
          <p:cNvPr id="584" name="Text 8"/>
          <p:cNvSpPr txBox="1"/>
          <p:nvPr/>
        </p:nvSpPr>
        <p:spPr>
          <a:xfrm>
            <a:off x="952453" y="5946969"/>
            <a:ext cx="3562292" cy="42068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77240">
              <a:lnSpc>
                <a:spcPct val="80000"/>
              </a:lnSpc>
              <a:defRPr sz="2380">
                <a:solidFill>
                  <a:srgbClr val="142233"/>
                </a:solidFill>
                <a:latin typeface="League Spartan"/>
                <a:ea typeface="League Spartan"/>
                <a:cs typeface="League Spartan"/>
                <a:sym typeface="League Spartan"/>
              </a:defRPr>
            </a:lvl1pPr>
          </a:lstStyle>
          <a:p>
            <a:pPr/>
            <a:r>
              <a:t>Medium</a:t>
            </a:r>
          </a:p>
        </p:txBody>
      </p:sp>
      <p:sp>
        <p:nvSpPr>
          <p:cNvPr id="585" name="Text 9"/>
          <p:cNvSpPr txBox="1"/>
          <p:nvPr/>
        </p:nvSpPr>
        <p:spPr>
          <a:xfrm>
            <a:off x="4571853" y="6038267"/>
            <a:ext cx="6290448" cy="29895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80000"/>
              </a:lnSpc>
              <a:defRPr sz="1746">
                <a:solidFill>
                  <a:srgbClr val="5A6472"/>
                </a:solidFill>
                <a:latin typeface="League Spartan"/>
                <a:ea typeface="League Spartan"/>
                <a:cs typeface="League Spartan"/>
                <a:sym typeface="League Spartan"/>
              </a:defRPr>
            </a:lvl1pPr>
          </a:lstStyle>
          <a:p>
            <a:pPr/>
            <a:r>
              <a:t>Body copy — 22–26 pt, never smaller than 18 pt</a:t>
            </a:r>
          </a:p>
        </p:txBody>
      </p:sp>
      <p:sp>
        <p:nvSpPr>
          <p:cNvPr id="586" name="Text 10"/>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A5AAAF"/>
                </a:solidFill>
                <a:latin typeface="League Spartan"/>
                <a:ea typeface="League Spartan"/>
                <a:cs typeface="League Spartan"/>
                <a:sym typeface="League Spartan"/>
              </a:defRPr>
            </a:lvl1pPr>
          </a:lstStyle>
          <a:p>
            <a:pPr/>
            <a:r>
              <a:t>#WeRunOnEOS2026</a:t>
            </a:r>
          </a:p>
        </p:txBody>
      </p:sp>
      <p:pic>
        <p:nvPicPr>
          <p:cNvPr id="587" name="Image 0" descr="Image 0"/>
          <p:cNvPicPr>
            <a:picLocks noChangeAspect="1"/>
          </p:cNvPicPr>
          <p:nvPr/>
        </p:nvPicPr>
        <p:blipFill>
          <a:blip r:embed="rId4">
            <a:alphaModFix amt="35000"/>
            <a:extLst/>
          </a:blip>
          <a:stretch>
            <a:fillRect/>
          </a:stretch>
        </p:blipFill>
        <p:spPr>
          <a:xfrm>
            <a:off x="16687857" y="9334388"/>
            <a:ext cx="647650" cy="609745"/>
          </a:xfrm>
          <a:prstGeom prst="rect">
            <a:avLst/>
          </a:prstGeom>
          <a:ln w="12700">
            <a:miter lim="400000"/>
          </a:ln>
        </p:spPr>
      </p:pic>
      <p:sp>
        <p:nvSpPr>
          <p:cNvPr id="588" name="Text 11"/>
          <p:cNvSpPr txBox="1"/>
          <p:nvPr/>
        </p:nvSpPr>
        <p:spPr>
          <a:xfrm>
            <a:off x="17030701" y="9353408"/>
            <a:ext cx="356618" cy="16193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7677"/>
              </a:lnSpc>
              <a:defRPr b="1" sz="712">
                <a:solidFill>
                  <a:srgbClr val="FF7900">
                    <a:alpha val="35000"/>
                  </a:srgbClr>
                </a:solidFill>
                <a:latin typeface="League Spartan"/>
                <a:ea typeface="League Spartan"/>
                <a:cs typeface="League Spartan"/>
                <a:sym typeface="League Spartan"/>
              </a:defRPr>
            </a:lvl1pPr>
          </a:lstStyle>
          <a:p>
            <a:pPr/>
            <a:r>
              <a:t>2026</a:t>
            </a:r>
          </a:p>
        </p:txBody>
      </p:sp>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2" name="Shape 0"/>
          <p:cNvSpPr/>
          <p:nvPr/>
        </p:nvSpPr>
        <p:spPr>
          <a:xfrm>
            <a:off x="952453" y="838193"/>
            <a:ext cx="1047691" cy="133348"/>
          </a:xfrm>
          <a:prstGeom prst="roundRect">
            <a:avLst>
              <a:gd name="adj" fmla="val 50000"/>
            </a:avLst>
          </a:prstGeom>
          <a:gradFill>
            <a:gsLst>
              <a:gs pos="0">
                <a:srgbClr val="F04E23"/>
              </a:gs>
              <a:gs pos="100000">
                <a:srgbClr val="FF7900"/>
              </a:gs>
            </a:gsLst>
          </a:gradFill>
          <a:ln w="12700">
            <a:miter lim="400000"/>
          </a:ln>
        </p:spPr>
        <p:txBody>
          <a:bodyPr lIns="45719" rIns="45719"/>
          <a:lstStyle/>
          <a:p>
            <a:pPr>
              <a:defRPr>
                <a:latin typeface="League Spartan"/>
                <a:ea typeface="League Spartan"/>
                <a:cs typeface="League Spartan"/>
                <a:sym typeface="League Spartan"/>
              </a:defRPr>
            </a:pPr>
          </a:p>
        </p:txBody>
      </p:sp>
      <p:sp>
        <p:nvSpPr>
          <p:cNvPr id="593" name="Text 1"/>
          <p:cNvSpPr txBox="1"/>
          <p:nvPr/>
        </p:nvSpPr>
        <p:spPr>
          <a:xfrm>
            <a:off x="952452" y="1219146"/>
            <a:ext cx="18021360" cy="7424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pc="-95" sz="4560">
                <a:solidFill>
                  <a:srgbClr val="142233"/>
                </a:solidFill>
                <a:latin typeface="League Spartan"/>
                <a:ea typeface="League Spartan"/>
                <a:cs typeface="League Spartan"/>
                <a:sym typeface="League Spartan"/>
              </a:defRPr>
            </a:lvl1pPr>
          </a:lstStyle>
          <a:p>
            <a:pPr/>
            <a:r>
              <a:t>Color Palette</a:t>
            </a:r>
          </a:p>
        </p:txBody>
      </p:sp>
      <p:sp>
        <p:nvSpPr>
          <p:cNvPr id="594" name="Shape 2"/>
          <p:cNvSpPr/>
          <p:nvPr/>
        </p:nvSpPr>
        <p:spPr>
          <a:xfrm>
            <a:off x="952453" y="2418731"/>
            <a:ext cx="5245113" cy="2267587"/>
          </a:xfrm>
          <a:prstGeom prst="roundRect">
            <a:avLst>
              <a:gd name="adj" fmla="val 67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sp>
        <p:nvSpPr>
          <p:cNvPr id="595" name="Shape 3"/>
          <p:cNvSpPr/>
          <p:nvPr/>
        </p:nvSpPr>
        <p:spPr>
          <a:xfrm>
            <a:off x="969843" y="2436121"/>
            <a:ext cx="5210332" cy="1238237"/>
          </a:xfrm>
          <a:prstGeom prst="rect">
            <a:avLst/>
          </a:prstGeom>
          <a:solidFill>
            <a:srgbClr val="142233"/>
          </a:solidFill>
          <a:ln w="12700">
            <a:miter lim="400000"/>
          </a:ln>
        </p:spPr>
        <p:txBody>
          <a:bodyPr lIns="45719" rIns="45719"/>
          <a:lstStyle/>
          <a:p>
            <a:pPr>
              <a:defRPr>
                <a:latin typeface="League Spartan"/>
                <a:ea typeface="League Spartan"/>
                <a:cs typeface="League Spartan"/>
                <a:sym typeface="League Spartan"/>
              </a:defRPr>
            </a:pPr>
          </a:p>
        </p:txBody>
      </p:sp>
      <p:sp>
        <p:nvSpPr>
          <p:cNvPr id="596" name="Text 4"/>
          <p:cNvSpPr txBox="1"/>
          <p:nvPr/>
        </p:nvSpPr>
        <p:spPr>
          <a:xfrm>
            <a:off x="1198429" y="3864833"/>
            <a:ext cx="5228476" cy="3641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90000"/>
              </a:lnSpc>
              <a:defRPr b="1" sz="2000">
                <a:solidFill>
                  <a:srgbClr val="142233"/>
                </a:solidFill>
                <a:latin typeface="League Spartan"/>
                <a:ea typeface="League Spartan"/>
                <a:cs typeface="League Spartan"/>
                <a:sym typeface="League Spartan"/>
              </a:defRPr>
            </a:lvl1pPr>
          </a:lstStyle>
          <a:p>
            <a:pPr/>
            <a:r>
              <a:t>Midnight Navy</a:t>
            </a:r>
          </a:p>
        </p:txBody>
      </p:sp>
      <p:sp>
        <p:nvSpPr>
          <p:cNvPr id="597" name="Text 5"/>
          <p:cNvSpPr txBox="1"/>
          <p:nvPr/>
        </p:nvSpPr>
        <p:spPr>
          <a:xfrm>
            <a:off x="1198429" y="4248029"/>
            <a:ext cx="5228476" cy="26852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80000"/>
              </a:lnSpc>
              <a:defRPr sz="1488">
                <a:solidFill>
                  <a:srgbClr val="5A6472"/>
                </a:solidFill>
                <a:latin typeface="League Spartan"/>
                <a:ea typeface="League Spartan"/>
                <a:cs typeface="League Spartan"/>
                <a:sym typeface="League Spartan"/>
              </a:defRPr>
            </a:lvl1pPr>
          </a:lstStyle>
          <a:p>
            <a:pPr/>
            <a:r>
              <a:t>#142233 — backgrounds &amp; titles</a:t>
            </a:r>
          </a:p>
        </p:txBody>
      </p:sp>
      <p:sp>
        <p:nvSpPr>
          <p:cNvPr id="598" name="Shape 6"/>
          <p:cNvSpPr/>
          <p:nvPr/>
        </p:nvSpPr>
        <p:spPr>
          <a:xfrm>
            <a:off x="6521388" y="2418731"/>
            <a:ext cx="5245113" cy="2267587"/>
          </a:xfrm>
          <a:prstGeom prst="roundRect">
            <a:avLst>
              <a:gd name="adj" fmla="val 67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sp>
        <p:nvSpPr>
          <p:cNvPr id="599" name="Shape 7"/>
          <p:cNvSpPr/>
          <p:nvPr/>
        </p:nvSpPr>
        <p:spPr>
          <a:xfrm>
            <a:off x="6538779" y="2436121"/>
            <a:ext cx="5210333" cy="1238237"/>
          </a:xfrm>
          <a:prstGeom prst="rect">
            <a:avLst/>
          </a:prstGeom>
          <a:solidFill>
            <a:srgbClr val="303B4F"/>
          </a:solidFill>
          <a:ln w="12700">
            <a:miter lim="400000"/>
          </a:ln>
        </p:spPr>
        <p:txBody>
          <a:bodyPr lIns="45719" rIns="45719"/>
          <a:lstStyle/>
          <a:p>
            <a:pPr>
              <a:defRPr>
                <a:latin typeface="League Spartan"/>
                <a:ea typeface="League Spartan"/>
                <a:cs typeface="League Spartan"/>
                <a:sym typeface="League Spartan"/>
              </a:defRPr>
            </a:pPr>
          </a:p>
        </p:txBody>
      </p:sp>
      <p:sp>
        <p:nvSpPr>
          <p:cNvPr id="600" name="Text 8"/>
          <p:cNvSpPr txBox="1"/>
          <p:nvPr/>
        </p:nvSpPr>
        <p:spPr>
          <a:xfrm>
            <a:off x="6767365" y="3864833"/>
            <a:ext cx="5228476" cy="3641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90000"/>
              </a:lnSpc>
              <a:defRPr b="1" sz="2000">
                <a:solidFill>
                  <a:srgbClr val="142233"/>
                </a:solidFill>
                <a:latin typeface="League Spartan"/>
                <a:ea typeface="League Spartan"/>
                <a:cs typeface="League Spartan"/>
                <a:sym typeface="League Spartan"/>
              </a:defRPr>
            </a:lvl1pPr>
          </a:lstStyle>
          <a:p>
            <a:pPr/>
            <a:r>
              <a:t>Slate</a:t>
            </a:r>
          </a:p>
        </p:txBody>
      </p:sp>
      <p:sp>
        <p:nvSpPr>
          <p:cNvPr id="601" name="Text 9"/>
          <p:cNvSpPr txBox="1"/>
          <p:nvPr/>
        </p:nvSpPr>
        <p:spPr>
          <a:xfrm>
            <a:off x="6767365" y="4248029"/>
            <a:ext cx="5228476" cy="26852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80000"/>
              </a:lnSpc>
              <a:defRPr sz="1488">
                <a:solidFill>
                  <a:srgbClr val="5A6472"/>
                </a:solidFill>
                <a:latin typeface="League Spartan"/>
                <a:ea typeface="League Spartan"/>
                <a:cs typeface="League Spartan"/>
                <a:sym typeface="League Spartan"/>
              </a:defRPr>
            </a:lvl1pPr>
          </a:lstStyle>
          <a:p>
            <a:pPr/>
            <a:r>
              <a:t>#303B4F — gradient partner</a:t>
            </a:r>
          </a:p>
        </p:txBody>
      </p:sp>
      <p:sp>
        <p:nvSpPr>
          <p:cNvPr id="602" name="Shape 10"/>
          <p:cNvSpPr/>
          <p:nvPr/>
        </p:nvSpPr>
        <p:spPr>
          <a:xfrm>
            <a:off x="12090326" y="2418731"/>
            <a:ext cx="5245181" cy="2267587"/>
          </a:xfrm>
          <a:prstGeom prst="roundRect">
            <a:avLst>
              <a:gd name="adj" fmla="val 67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sp>
        <p:nvSpPr>
          <p:cNvPr id="603" name="Shape 11"/>
          <p:cNvSpPr/>
          <p:nvPr/>
        </p:nvSpPr>
        <p:spPr>
          <a:xfrm>
            <a:off x="12107716" y="2436121"/>
            <a:ext cx="5210401" cy="1238237"/>
          </a:xfrm>
          <a:prstGeom prst="rect">
            <a:avLst/>
          </a:prstGeom>
          <a:solidFill>
            <a:srgbClr val="FF7900"/>
          </a:solidFill>
          <a:ln w="12700">
            <a:miter lim="400000"/>
          </a:ln>
        </p:spPr>
        <p:txBody>
          <a:bodyPr lIns="45719" rIns="45719"/>
          <a:lstStyle/>
          <a:p>
            <a:pPr>
              <a:defRPr>
                <a:latin typeface="League Spartan"/>
                <a:ea typeface="League Spartan"/>
                <a:cs typeface="League Spartan"/>
                <a:sym typeface="League Spartan"/>
              </a:defRPr>
            </a:pPr>
          </a:p>
        </p:txBody>
      </p:sp>
      <p:sp>
        <p:nvSpPr>
          <p:cNvPr id="604" name="Text 12"/>
          <p:cNvSpPr txBox="1"/>
          <p:nvPr/>
        </p:nvSpPr>
        <p:spPr>
          <a:xfrm>
            <a:off x="12336302" y="3864833"/>
            <a:ext cx="5228552" cy="3641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90000"/>
              </a:lnSpc>
              <a:defRPr b="1" sz="2000">
                <a:solidFill>
                  <a:srgbClr val="142233"/>
                </a:solidFill>
                <a:latin typeface="League Spartan"/>
                <a:ea typeface="League Spartan"/>
                <a:cs typeface="League Spartan"/>
                <a:sym typeface="League Spartan"/>
              </a:defRPr>
            </a:lvl1pPr>
          </a:lstStyle>
          <a:p>
            <a:pPr/>
            <a:r>
              <a:t>EOS Orange</a:t>
            </a:r>
          </a:p>
        </p:txBody>
      </p:sp>
      <p:sp>
        <p:nvSpPr>
          <p:cNvPr id="605" name="Text 13"/>
          <p:cNvSpPr txBox="1"/>
          <p:nvPr/>
        </p:nvSpPr>
        <p:spPr>
          <a:xfrm>
            <a:off x="12336302" y="4248029"/>
            <a:ext cx="5228552" cy="26852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80000"/>
              </a:lnSpc>
              <a:defRPr sz="1488">
                <a:solidFill>
                  <a:srgbClr val="5A6472"/>
                </a:solidFill>
                <a:latin typeface="League Spartan"/>
                <a:ea typeface="League Spartan"/>
                <a:cs typeface="League Spartan"/>
                <a:sym typeface="League Spartan"/>
              </a:defRPr>
            </a:lvl1pPr>
          </a:lstStyle>
          <a:p>
            <a:pPr/>
            <a:r>
              <a:t>#FF7900 — primary accent</a:t>
            </a:r>
          </a:p>
        </p:txBody>
      </p:sp>
      <p:sp>
        <p:nvSpPr>
          <p:cNvPr id="606" name="Shape 14"/>
          <p:cNvSpPr/>
          <p:nvPr/>
        </p:nvSpPr>
        <p:spPr>
          <a:xfrm>
            <a:off x="952453" y="5010141"/>
            <a:ext cx="5245113" cy="2267587"/>
          </a:xfrm>
          <a:prstGeom prst="roundRect">
            <a:avLst>
              <a:gd name="adj" fmla="val 67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sp>
        <p:nvSpPr>
          <p:cNvPr id="607" name="Shape 15"/>
          <p:cNvSpPr/>
          <p:nvPr/>
        </p:nvSpPr>
        <p:spPr>
          <a:xfrm>
            <a:off x="969843" y="5027531"/>
            <a:ext cx="5210332" cy="1238237"/>
          </a:xfrm>
          <a:prstGeom prst="rect">
            <a:avLst/>
          </a:prstGeom>
          <a:solidFill>
            <a:srgbClr val="F04E23"/>
          </a:solidFill>
          <a:ln w="12700">
            <a:miter lim="400000"/>
          </a:ln>
        </p:spPr>
        <p:txBody>
          <a:bodyPr lIns="45719" rIns="45719"/>
          <a:lstStyle/>
          <a:p>
            <a:pPr>
              <a:defRPr>
                <a:latin typeface="League Spartan"/>
                <a:ea typeface="League Spartan"/>
                <a:cs typeface="League Spartan"/>
                <a:sym typeface="League Spartan"/>
              </a:defRPr>
            </a:pPr>
          </a:p>
        </p:txBody>
      </p:sp>
      <p:sp>
        <p:nvSpPr>
          <p:cNvPr id="608" name="Text 16"/>
          <p:cNvSpPr txBox="1"/>
          <p:nvPr/>
        </p:nvSpPr>
        <p:spPr>
          <a:xfrm>
            <a:off x="1198429" y="6456243"/>
            <a:ext cx="5228476" cy="3641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90000"/>
              </a:lnSpc>
              <a:defRPr b="1" sz="2000">
                <a:solidFill>
                  <a:srgbClr val="142233"/>
                </a:solidFill>
                <a:latin typeface="League Spartan"/>
                <a:ea typeface="League Spartan"/>
                <a:cs typeface="League Spartan"/>
                <a:sym typeface="League Spartan"/>
              </a:defRPr>
            </a:lvl1pPr>
          </a:lstStyle>
          <a:p>
            <a:pPr/>
            <a:r>
              <a:t>Flame</a:t>
            </a:r>
          </a:p>
        </p:txBody>
      </p:sp>
      <p:sp>
        <p:nvSpPr>
          <p:cNvPr id="609" name="Text 17"/>
          <p:cNvSpPr txBox="1"/>
          <p:nvPr/>
        </p:nvSpPr>
        <p:spPr>
          <a:xfrm>
            <a:off x="1198429" y="6839439"/>
            <a:ext cx="5228476" cy="26852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80000"/>
              </a:lnSpc>
              <a:defRPr sz="1488">
                <a:solidFill>
                  <a:srgbClr val="5A6472"/>
                </a:solidFill>
                <a:latin typeface="League Spartan"/>
                <a:ea typeface="League Spartan"/>
                <a:cs typeface="League Spartan"/>
                <a:sym typeface="League Spartan"/>
              </a:defRPr>
            </a:lvl1pPr>
          </a:lstStyle>
          <a:p>
            <a:pPr/>
            <a:r>
              <a:t>#F04E23 — accent pair</a:t>
            </a:r>
          </a:p>
        </p:txBody>
      </p:sp>
      <p:sp>
        <p:nvSpPr>
          <p:cNvPr id="610" name="Shape 18"/>
          <p:cNvSpPr/>
          <p:nvPr/>
        </p:nvSpPr>
        <p:spPr>
          <a:xfrm>
            <a:off x="6521388" y="5010141"/>
            <a:ext cx="5245113" cy="2267587"/>
          </a:xfrm>
          <a:prstGeom prst="roundRect">
            <a:avLst>
              <a:gd name="adj" fmla="val 67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sp>
        <p:nvSpPr>
          <p:cNvPr id="611" name="Shape 19"/>
          <p:cNvSpPr/>
          <p:nvPr/>
        </p:nvSpPr>
        <p:spPr>
          <a:xfrm>
            <a:off x="6538779" y="5027531"/>
            <a:ext cx="5210333" cy="1238237"/>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612" name="Text 20"/>
          <p:cNvSpPr txBox="1"/>
          <p:nvPr/>
        </p:nvSpPr>
        <p:spPr>
          <a:xfrm>
            <a:off x="6767365" y="6456243"/>
            <a:ext cx="5228476" cy="3641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90000"/>
              </a:lnSpc>
              <a:defRPr b="1" sz="2000">
                <a:solidFill>
                  <a:srgbClr val="142233"/>
                </a:solidFill>
                <a:latin typeface="League Spartan"/>
                <a:ea typeface="League Spartan"/>
                <a:cs typeface="League Spartan"/>
                <a:sym typeface="League Spartan"/>
              </a:defRPr>
            </a:lvl1pPr>
          </a:lstStyle>
          <a:p>
            <a:pPr/>
            <a:r>
              <a:t>Cloud</a:t>
            </a:r>
          </a:p>
        </p:txBody>
      </p:sp>
      <p:sp>
        <p:nvSpPr>
          <p:cNvPr id="613" name="Text 21"/>
          <p:cNvSpPr txBox="1"/>
          <p:nvPr/>
        </p:nvSpPr>
        <p:spPr>
          <a:xfrm>
            <a:off x="6767365" y="6839439"/>
            <a:ext cx="5228476" cy="26852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80000"/>
              </a:lnSpc>
              <a:defRPr sz="1488">
                <a:solidFill>
                  <a:srgbClr val="5A6472"/>
                </a:solidFill>
                <a:latin typeface="League Spartan"/>
                <a:ea typeface="League Spartan"/>
                <a:cs typeface="League Spartan"/>
                <a:sym typeface="League Spartan"/>
              </a:defRPr>
            </a:lvl1pPr>
          </a:lstStyle>
          <a:p>
            <a:pPr/>
            <a:r>
              <a:t>#E5E8EB — dividers &amp; tiles</a:t>
            </a:r>
          </a:p>
        </p:txBody>
      </p:sp>
      <p:sp>
        <p:nvSpPr>
          <p:cNvPr id="614" name="Shape 22"/>
          <p:cNvSpPr/>
          <p:nvPr/>
        </p:nvSpPr>
        <p:spPr>
          <a:xfrm>
            <a:off x="12090326" y="5010141"/>
            <a:ext cx="5245181" cy="2267587"/>
          </a:xfrm>
          <a:prstGeom prst="roundRect">
            <a:avLst>
              <a:gd name="adj" fmla="val 67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sp>
        <p:nvSpPr>
          <p:cNvPr id="615" name="Shape 23"/>
          <p:cNvSpPr/>
          <p:nvPr/>
        </p:nvSpPr>
        <p:spPr>
          <a:xfrm>
            <a:off x="12107716" y="5027531"/>
            <a:ext cx="5210401" cy="1238237"/>
          </a:xfrm>
          <a:prstGeom prst="rect">
            <a:avLst/>
          </a:prstGeom>
          <a:solidFill>
            <a:srgbClr val="A5AAAF"/>
          </a:solidFill>
          <a:ln w="12700">
            <a:miter lim="400000"/>
          </a:ln>
        </p:spPr>
        <p:txBody>
          <a:bodyPr lIns="45719" rIns="45719"/>
          <a:lstStyle/>
          <a:p>
            <a:pPr>
              <a:defRPr>
                <a:latin typeface="League Spartan"/>
                <a:ea typeface="League Spartan"/>
                <a:cs typeface="League Spartan"/>
                <a:sym typeface="League Spartan"/>
              </a:defRPr>
            </a:pPr>
          </a:p>
        </p:txBody>
      </p:sp>
      <p:sp>
        <p:nvSpPr>
          <p:cNvPr id="616" name="Text 24"/>
          <p:cNvSpPr txBox="1"/>
          <p:nvPr/>
        </p:nvSpPr>
        <p:spPr>
          <a:xfrm>
            <a:off x="12336302" y="6456243"/>
            <a:ext cx="5228552" cy="36416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90000"/>
              </a:lnSpc>
              <a:defRPr b="1" sz="2000">
                <a:solidFill>
                  <a:srgbClr val="142233"/>
                </a:solidFill>
                <a:latin typeface="League Spartan"/>
                <a:ea typeface="League Spartan"/>
                <a:cs typeface="League Spartan"/>
                <a:sym typeface="League Spartan"/>
              </a:defRPr>
            </a:lvl1pPr>
          </a:lstStyle>
          <a:p>
            <a:pPr/>
            <a:r>
              <a:t>Steel Gray</a:t>
            </a:r>
          </a:p>
        </p:txBody>
      </p:sp>
      <p:sp>
        <p:nvSpPr>
          <p:cNvPr id="617" name="Text 25"/>
          <p:cNvSpPr txBox="1"/>
          <p:nvPr/>
        </p:nvSpPr>
        <p:spPr>
          <a:xfrm>
            <a:off x="12336302" y="6839439"/>
            <a:ext cx="5228552" cy="26852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80000"/>
              </a:lnSpc>
              <a:defRPr sz="1488">
                <a:solidFill>
                  <a:srgbClr val="5A6472"/>
                </a:solidFill>
                <a:latin typeface="League Spartan"/>
                <a:ea typeface="League Spartan"/>
                <a:cs typeface="League Spartan"/>
                <a:sym typeface="League Spartan"/>
              </a:defRPr>
            </a:lvl1pPr>
          </a:lstStyle>
          <a:p>
            <a:pPr/>
            <a:r>
              <a:t>#A5AAAF — captions &amp; footers</a:t>
            </a:r>
          </a:p>
        </p:txBody>
      </p:sp>
      <p:sp>
        <p:nvSpPr>
          <p:cNvPr id="618" name="Text 26"/>
          <p:cNvSpPr txBox="1"/>
          <p:nvPr/>
        </p:nvSpPr>
        <p:spPr>
          <a:xfrm>
            <a:off x="952452" y="7658681"/>
            <a:ext cx="18021360" cy="28156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04672">
              <a:lnSpc>
                <a:spcPct val="80000"/>
              </a:lnSpc>
              <a:defRPr b="1" sz="1496">
                <a:solidFill>
                  <a:srgbClr val="142233"/>
                </a:solidFill>
                <a:latin typeface="League Spartan"/>
                <a:ea typeface="League Spartan"/>
                <a:cs typeface="League Spartan"/>
                <a:sym typeface="League Spartan"/>
              </a:defRPr>
            </a:lvl1pPr>
          </a:lstStyle>
          <a:p>
            <a:pPr/>
            <a:r>
              <a:t>Navy and white backgrounds only. Orange is for accents — never body text.</a:t>
            </a:r>
          </a:p>
        </p:txBody>
      </p:sp>
      <p:sp>
        <p:nvSpPr>
          <p:cNvPr id="619" name="Text 27"/>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A5AAAF"/>
                </a:solidFill>
                <a:latin typeface="League Spartan"/>
                <a:ea typeface="League Spartan"/>
                <a:cs typeface="League Spartan"/>
                <a:sym typeface="League Spartan"/>
              </a:defRPr>
            </a:lvl1pPr>
          </a:lstStyle>
          <a:p>
            <a:pPr/>
            <a:r>
              <a:t>#WeRunOnEOS2026</a:t>
            </a:r>
          </a:p>
        </p:txBody>
      </p:sp>
      <p:pic>
        <p:nvPicPr>
          <p:cNvPr id="620" name="Image 0" descr="Image 0"/>
          <p:cNvPicPr>
            <a:picLocks noChangeAspect="1"/>
          </p:cNvPicPr>
          <p:nvPr/>
        </p:nvPicPr>
        <p:blipFill>
          <a:blip r:embed="rId3">
            <a:alphaModFix amt="35000"/>
            <a:extLst/>
          </a:blip>
          <a:stretch>
            <a:fillRect/>
          </a:stretch>
        </p:blipFill>
        <p:spPr>
          <a:xfrm>
            <a:off x="16687857" y="9334388"/>
            <a:ext cx="647650" cy="609745"/>
          </a:xfrm>
          <a:prstGeom prst="rect">
            <a:avLst/>
          </a:prstGeom>
          <a:ln w="12700">
            <a:miter lim="400000"/>
          </a:ln>
        </p:spPr>
      </p:pic>
      <p:sp>
        <p:nvSpPr>
          <p:cNvPr id="621" name="Text 28"/>
          <p:cNvSpPr txBox="1"/>
          <p:nvPr/>
        </p:nvSpPr>
        <p:spPr>
          <a:xfrm>
            <a:off x="17030701" y="9353408"/>
            <a:ext cx="356618" cy="16193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7677"/>
              </a:lnSpc>
              <a:defRPr b="1" sz="712">
                <a:solidFill>
                  <a:srgbClr val="FF7900">
                    <a:alpha val="35000"/>
                  </a:srgbClr>
                </a:solidFill>
                <a:latin typeface="League Spartan"/>
                <a:ea typeface="League Spartan"/>
                <a:cs typeface="League Spartan"/>
                <a:sym typeface="League Spartan"/>
              </a:defRPr>
            </a:lvl1pPr>
          </a:lstStyle>
          <a:p>
            <a:pPr/>
            <a:r>
              <a:t>2026</a:t>
            </a:r>
          </a:p>
        </p:txBody>
      </p:sp>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626" name="Image 0" descr="Image 0"/>
          <p:cNvPicPr>
            <a:picLocks noChangeAspect="1"/>
          </p:cNvPicPr>
          <p:nvPr/>
        </p:nvPicPr>
        <p:blipFill>
          <a:blip r:embed="rId3">
            <a:extLst/>
          </a:blip>
          <a:stretch>
            <a:fillRect/>
          </a:stretch>
        </p:blipFill>
        <p:spPr>
          <a:xfrm>
            <a:off x="7524722" y="2165011"/>
            <a:ext cx="3238448" cy="3048990"/>
          </a:xfrm>
          <a:prstGeom prst="rect">
            <a:avLst/>
          </a:prstGeom>
          <a:ln w="12700">
            <a:miter lim="400000"/>
          </a:ln>
        </p:spPr>
      </p:pic>
      <p:sp>
        <p:nvSpPr>
          <p:cNvPr id="627" name="Text 1"/>
          <p:cNvSpPr txBox="1"/>
          <p:nvPr/>
        </p:nvSpPr>
        <p:spPr>
          <a:xfrm>
            <a:off x="9239218" y="2269758"/>
            <a:ext cx="1494769" cy="63819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8128"/>
              </a:lnSpc>
              <a:defRPr b="1" sz="3827">
                <a:solidFill>
                  <a:srgbClr val="FF7900"/>
                </a:solidFill>
                <a:latin typeface="League Spartan"/>
                <a:ea typeface="League Spartan"/>
                <a:cs typeface="League Spartan"/>
                <a:sym typeface="League Spartan"/>
              </a:defRPr>
            </a:lvl1pPr>
          </a:lstStyle>
          <a:p>
            <a:pPr/>
            <a:r>
              <a:t>2026</a:t>
            </a:r>
          </a:p>
        </p:txBody>
      </p:sp>
      <p:sp>
        <p:nvSpPr>
          <p:cNvPr id="628" name="Text 2"/>
          <p:cNvSpPr txBox="1"/>
          <p:nvPr/>
        </p:nvSpPr>
        <p:spPr>
          <a:xfrm>
            <a:off x="6323033" y="5594953"/>
            <a:ext cx="6206084" cy="1172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59536">
              <a:lnSpc>
                <a:spcPct val="90000"/>
              </a:lnSpc>
              <a:defRPr b="1" spc="-94" sz="7332">
                <a:solidFill>
                  <a:srgbClr val="FFFFFF"/>
                </a:solidFill>
                <a:latin typeface="League Spartan"/>
                <a:ea typeface="League Spartan"/>
                <a:cs typeface="League Spartan"/>
                <a:sym typeface="League Spartan"/>
              </a:defRPr>
            </a:pPr>
            <a:r>
              <a:t>Thanks, </a:t>
            </a:r>
            <a:r>
              <a:rPr>
                <a:solidFill>
                  <a:srgbClr val="FF7900"/>
                </a:solidFill>
              </a:rPr>
              <a:t>y’all!</a:t>
            </a:r>
          </a:p>
        </p:txBody>
      </p:sp>
      <p:sp>
        <p:nvSpPr>
          <p:cNvPr id="629" name="Text 3"/>
          <p:cNvSpPr txBox="1"/>
          <p:nvPr/>
        </p:nvSpPr>
        <p:spPr>
          <a:xfrm>
            <a:off x="3844814" y="7110617"/>
            <a:ext cx="10598331" cy="29895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defTabSz="886968">
              <a:lnSpc>
                <a:spcPct val="80000"/>
              </a:lnSpc>
              <a:defRPr b="1" spc="194" sz="1746">
                <a:solidFill>
                  <a:srgbClr val="AEB7C2"/>
                </a:solidFill>
                <a:latin typeface="League Spartan"/>
                <a:ea typeface="League Spartan"/>
                <a:cs typeface="League Spartan"/>
                <a:sym typeface="League Spartan"/>
              </a:defRPr>
            </a:lvl1pPr>
          </a:lstStyle>
          <a:p>
            <a:pPr/>
            <a:r>
              <a:t>FIFTH ANNUAL · SEPTEMBER 14, 2026 · THE STATLER DALLAS</a:t>
            </a:r>
          </a:p>
        </p:txBody>
      </p:sp>
      <p:sp>
        <p:nvSpPr>
          <p:cNvPr id="630" name="Text 4"/>
          <p:cNvSpPr txBox="1"/>
          <p:nvPr/>
        </p:nvSpPr>
        <p:spPr>
          <a:xfrm>
            <a:off x="6967284" y="7752423"/>
            <a:ext cx="1490585"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z="2375">
                <a:solidFill>
                  <a:srgbClr val="FF7900"/>
                </a:solidFill>
                <a:latin typeface="League Spartan"/>
                <a:ea typeface="League Spartan"/>
                <a:cs typeface="League Spartan"/>
                <a:sym typeface="League Spartan"/>
              </a:defRPr>
            </a:lvl1pPr>
          </a:lstStyle>
          <a:p>
            <a:pPr/>
            <a:r>
              <a:t>@Handle</a:t>
            </a:r>
          </a:p>
        </p:txBody>
      </p:sp>
      <p:sp>
        <p:nvSpPr>
          <p:cNvPr id="631" name="Text 5"/>
          <p:cNvSpPr txBox="1"/>
          <p:nvPr/>
        </p:nvSpPr>
        <p:spPr>
          <a:xfrm>
            <a:off x="8703315" y="7821985"/>
            <a:ext cx="2879096" cy="33373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80000"/>
              </a:lnSpc>
              <a:defRPr b="1" sz="1869">
                <a:solidFill>
                  <a:srgbClr val="C9D0D9"/>
                </a:solidFill>
                <a:latin typeface="League Spartan"/>
                <a:ea typeface="League Spartan"/>
                <a:cs typeface="League Spartan"/>
                <a:sym typeface="League Spartan"/>
              </a:defRPr>
            </a:lvl1pPr>
          </a:lstStyle>
          <a:p>
            <a:pPr/>
            <a:r>
              <a:t>eosnorthtexas.com</a:t>
            </a:r>
          </a:p>
        </p:txBody>
      </p:sp>
      <p:sp>
        <p:nvSpPr>
          <p:cNvPr id="632" name="Text 6"/>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637" name="Text 1"/>
          <p:cNvSpPr txBox="1"/>
          <p:nvPr/>
        </p:nvSpPr>
        <p:spPr>
          <a:xfrm>
            <a:off x="1523950" y="3491896"/>
            <a:ext cx="16764062" cy="118109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448055">
              <a:lnSpc>
                <a:spcPct val="40000"/>
              </a:lnSpc>
              <a:defRPr b="1" sz="7448">
                <a:solidFill>
                  <a:srgbClr val="FF7900"/>
                </a:solidFill>
                <a:latin typeface="League Spartan"/>
                <a:ea typeface="League Spartan"/>
                <a:cs typeface="League Spartan"/>
                <a:sym typeface="League Spartan"/>
              </a:defRPr>
            </a:lvl1pPr>
          </a:lstStyle>
          <a:p>
            <a:pPr/>
            <a:r>
              <a:t>“</a:t>
            </a:r>
          </a:p>
        </p:txBody>
      </p:sp>
      <p:sp>
        <p:nvSpPr>
          <p:cNvPr id="638" name="Text 2"/>
          <p:cNvSpPr txBox="1"/>
          <p:nvPr/>
        </p:nvSpPr>
        <p:spPr>
          <a:xfrm>
            <a:off x="1523951" y="4634893"/>
            <a:ext cx="14519900" cy="13715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905255">
              <a:lnSpc>
                <a:spcPct val="97891"/>
              </a:lnSpc>
              <a:defRPr b="1" spc="-99" sz="4158">
                <a:solidFill>
                  <a:srgbClr val="FFFFFF"/>
                </a:solidFill>
                <a:latin typeface="League Spartan"/>
                <a:ea typeface="League Spartan"/>
                <a:cs typeface="League Spartan"/>
                <a:sym typeface="League Spartan"/>
              </a:defRPr>
            </a:lvl1pPr>
          </a:lstStyle>
          <a:p>
            <a:pPr/>
            <a:r>
              <a:t>Replace with a short, punchy quote — one or two sentences that land the point you want the room to remember.</a:t>
            </a:r>
          </a:p>
        </p:txBody>
      </p:sp>
      <p:sp>
        <p:nvSpPr>
          <p:cNvPr id="639" name="Text 3"/>
          <p:cNvSpPr txBox="1"/>
          <p:nvPr/>
        </p:nvSpPr>
        <p:spPr>
          <a:xfrm>
            <a:off x="1523950" y="6425539"/>
            <a:ext cx="3187704"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z="2375">
                <a:solidFill>
                  <a:srgbClr val="FF7900"/>
                </a:solidFill>
                <a:latin typeface="League Spartan"/>
                <a:ea typeface="League Spartan"/>
                <a:cs typeface="League Spartan"/>
                <a:sym typeface="League Spartan"/>
              </a:defRPr>
            </a:lvl1pPr>
          </a:lstStyle>
          <a:p>
            <a:pPr/>
            <a:r>
              <a:t>— Attribution Name,</a:t>
            </a:r>
          </a:p>
        </p:txBody>
      </p:sp>
      <p:sp>
        <p:nvSpPr>
          <p:cNvPr id="640" name="Text 4"/>
          <p:cNvSpPr txBox="1"/>
          <p:nvPr/>
        </p:nvSpPr>
        <p:spPr>
          <a:xfrm>
            <a:off x="4555211" y="6495100"/>
            <a:ext cx="2401763" cy="33373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80000"/>
              </a:lnSpc>
              <a:defRPr sz="1869">
                <a:solidFill>
                  <a:srgbClr val="AEB7C2"/>
                </a:solidFill>
                <a:latin typeface="League Spartan"/>
                <a:ea typeface="League Spartan"/>
                <a:cs typeface="League Spartan"/>
                <a:sym typeface="League Spartan"/>
              </a:defRPr>
            </a:lvl1pPr>
          </a:lstStyle>
          <a:p>
            <a:pPr/>
            <a:r>
              <a:t>Title / Company</a:t>
            </a:r>
          </a:p>
        </p:txBody>
      </p:sp>
      <p:sp>
        <p:nvSpPr>
          <p:cNvPr id="641" name="Text 5"/>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