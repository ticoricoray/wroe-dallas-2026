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62" r:id="rId4"/>
    <p:sldId id="297" r:id="rId5"/>
    <p:sldId id="298" r:id="rId6"/>
    <p:sldId id="280" r:id="rId7"/>
    <p:sldId id="294" r:id="rId8"/>
    <p:sldId id="270" r:id="rId9"/>
    <p:sldId id="1516" r:id="rId10"/>
    <p:sldId id="1243" r:id="rId11"/>
    <p:sldId id="1204" r:id="rId12"/>
    <p:sldId id="276" r:id="rId13"/>
    <p:sldId id="271" r:id="rId14"/>
    <p:sldId id="1498" r:id="rId15"/>
    <p:sldId id="324" r:id="rId16"/>
    <p:sldId id="1530" r:id="rId17"/>
    <p:sldId id="1532" r:id="rId18"/>
    <p:sldId id="268" r:id="rId19"/>
    <p:sldId id="272" r:id="rId20"/>
    <p:sldId id="1533" r:id="rId21"/>
    <p:sldId id="1531" r:id="rId22"/>
    <p:sldId id="1550" r:id="rId23"/>
    <p:sldId id="1542" r:id="rId24"/>
    <p:sldId id="1543" r:id="rId25"/>
    <p:sldId id="1544" r:id="rId26"/>
    <p:sldId id="1545" r:id="rId27"/>
    <p:sldId id="1546" r:id="rId28"/>
    <p:sldId id="1547" r:id="rId29"/>
    <p:sldId id="1548" r:id="rId30"/>
    <p:sldId id="1534" r:id="rId31"/>
    <p:sldId id="1538" r:id="rId32"/>
    <p:sldId id="1540" r:id="rId33"/>
    <p:sldId id="1539" r:id="rId34"/>
    <p:sldId id="1541" r:id="rId35"/>
    <p:sldId id="295" r:id="rId36"/>
    <p:sldId id="273" r:id="rId37"/>
    <p:sldId id="1551" r:id="rId38"/>
    <p:sldId id="296" r:id="rId39"/>
    <p:sldId id="1537" r:id="rId40"/>
    <p:sldId id="293" r:id="rId41"/>
    <p:sldId id="281" r:id="rId42"/>
    <p:sldId id="264" r:id="rId43"/>
    <p:sldId id="263" r:id="rId44"/>
    <p:sldId id="269" r:id="rId45"/>
  </p:sldIdLst>
  <p:sldSz cx="18288000" cy="10287000"/>
  <p:notesSz cx="182880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4C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11"/>
    <p:restoredTop sz="96543"/>
  </p:normalViewPr>
  <p:slideViewPr>
    <p:cSldViewPr snapToGrid="0" snapToObjects="1">
      <p:cViewPr>
        <p:scale>
          <a:sx n="85" d="100"/>
          <a:sy n="85" d="100"/>
        </p:scale>
        <p:origin x="5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731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before the story starts. </a:t>
            </a:r>
            <a:r>
              <a:rPr dirty="0"/>
              <a:t>Doors open / walk-in slide.</a:t>
            </a:r>
          </a:p>
          <a:p>
            <a:r>
              <a:rPr dirty="0"/>
              <a:t>OPENING LINE (when the mic is live): "Show of hands — who grew revenue last year? Keep them up. Who got STRONGER last year? ... Different question. That's the next ninety minutes."</a:t>
            </a:r>
          </a:p>
          <a:p>
            <a:r>
              <a:rPr dirty="0"/>
              <a:t>RUN-OF-SHOW (90 min, rehearse against a timer):</a:t>
            </a:r>
          </a:p>
          <a:p>
            <a:r>
              <a:rPr dirty="0"/>
              <a:t>  0:00–0:12  Story + promise (slides 1–7)</a:t>
            </a:r>
          </a:p>
          <a:p>
            <a:r>
              <a:rPr dirty="0"/>
              <a:t>  0:12–0:26  Five numbers + Exercise 1 (8–12)</a:t>
            </a:r>
          </a:p>
          <a:p>
            <a:r>
              <a:rPr dirty="0"/>
              <a:t>  0:26–0:38  Profit Power Ratio + Exercise 2 (13–18)</a:t>
            </a:r>
          </a:p>
          <a:p>
            <a:r>
              <a:rPr dirty="0"/>
              <a:t>  0:38–0:50  Power of X — board, page-2 setup, seven moves, the screen (19–30)</a:t>
            </a:r>
          </a:p>
          <a:p>
            <a:r>
              <a:rPr dirty="0"/>
              <a:t>  0:50–0:58  Price — excuses, Table A, discounts, Table B, quote (31–35)</a:t>
            </a:r>
          </a:p>
          <a:p>
            <a:r>
              <a:rPr dirty="0"/>
              <a:t>  0:58–1:03  First Move Monday (36–37)</a:t>
            </a:r>
          </a:p>
          <a:p>
            <a:r>
              <a:rPr dirty="0"/>
              <a:t>  1:03–1:07  Proof + now what (38–40)</a:t>
            </a:r>
          </a:p>
          <a:p>
            <a:r>
              <a:rPr dirty="0"/>
              <a:t>  1:07–1:10  The flag (41)</a:t>
            </a:r>
          </a:p>
          <a:p>
            <a:r>
              <a:rPr dirty="0"/>
              <a:t>  1:10–1:30  Survey up, Q&amp;A, sponsors, thanks (42–44)</a:t>
            </a:r>
          </a:p>
          <a:p>
            <a:r>
              <a:rPr dirty="0"/>
              <a:t>IF RUNNING LONG: cut 33–34 (discount excuses + Table B). Never cut the exercises or the flag.</a:t>
            </a:r>
          </a:p>
          <a:p>
            <a:r>
              <a:rPr dirty="0"/>
              <a:t>Book signing is Sunday evening; the box with the flag is under the table from 9am.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the promise. 60 seconds, no more.</a:t>
            </a:r>
          </a:p>
          <a:p>
            <a:r>
              <a:t>SAY: "By the end you will read your business in five numbers, know your Profit Power Ratio — stronger or just bigger, in one number — and leave with your first move for Monday morning."</a:t>
            </a:r>
          </a:p>
          <a:p>
            <a:r>
              <a:t>TRANSITION: "But first, the sentence that almost took me down."</a:t>
            </a:r>
          </a:p>
          <a:p>
            <a:r>
              <a:t>TIMING: 1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BACKGROUND. The belief the room walked in with.</a:t>
            </a:r>
          </a:p>
          <a:p>
            <a:r>
              <a:t>SAY: "They almost always mean revenue. Ego lives in that number — and danger: revenue can grow while the business gets weaker, and most scorecards cannot tell the difference."</a:t>
            </a:r>
          </a:p>
          <a:p>
            <a:r>
              <a:t>ASK for a show of hands: "Who said some version of this sentence in the last year?" Let the hands go up. "Keep it up if you know — for a fact — whether your business got STRONGER last year, not just bigger." Watch them drop.</a:t>
            </a:r>
          </a:p>
          <a:p>
            <a:r>
              <a:t>TRANSITION: "I get to say this next part because I paid full tuition. 2008."</a:t>
            </a:r>
          </a:p>
          <a:p>
            <a:r>
              <a:t>TIMING: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RISING ACTION begins. The steel story, part 1. (Walk the table top to bottom — left column is the business we bought, right column is six months later.)</a:t>
            </a:r>
          </a:p>
          <a:p>
            <a:r>
              <a:t>SAY: "On the last day of 2008, three partners and I bought Fort Dodge Steel — founded 1899, it's stitched on the flag behind me. You'll see the real one later. The left column is what we bought: $6M in revenue, 30-some points of margin, $600K of EBITDA. We paid full price for the inventory — $1.2M. First piece of a roll-up. We thought we could take on the world. We even had a flag made — our Jolly Roger."</a:t>
            </a:r>
          </a:p>
          <a:p>
            <a:r>
              <a:t>POINT AT CHART once (evidence, not the story): "Steel peaked in August 2008 and was already off the top when we closed. Six months later it found bottom."</a:t>
            </a:r>
          </a:p>
          <a:p>
            <a:r>
              <a:t>THE RIGHT COLUMN, row by row: "Six months in — the Great Recession, the Lesser Depression. Revenue: $6M to $3.5M. Margins: low thirties to low twenties. And here's the row that no revenue number shows you: gross profit went from about $36K a week to about $14K a week — while the nut never moved. $25K a week. Every week. We were $11K in the hole before Monday's first truck rolled. EBITDA swung from +$600K to half a million in the red."</a:t>
            </a:r>
          </a:p>
          <a:p>
            <a:r>
              <a:t>NOTE (for you): the math: 31% × $6M = $1.86M GP vs $1.3M nut = +$600K. 21% × $3.5M = $735K GP vs the same nut = ≈ −$550K. PPR 1.4 → 0.6 — don't name the ratio here; it pays off at winning/surviving/losing.</a:t>
            </a:r>
          </a:p>
          <a:p>
            <a:r>
              <a:t>TIMING: 3.5 min.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RISING ACTION, the turn. Steel story, part 2.</a:t>
            </a:r>
          </a:p>
          <a:p>
            <a:r>
              <a:t>SAY: "Friday afternoon, end of a long week. We're having beers, and my head of sales raises his glass: 'Cheers — a record sales week!' The biggest of our entire run. It sounded good. And something was off. We had not made one more dollar of gross profit. A record week. The same gross profit. We had dropped margin to buy the revenue — trucks driving further, everyone working harder, for nothing extra."</a:t>
            </a:r>
          </a:p>
          <a:p>
            <a:r>
              <a:t>SAY: "That Monday I locked out the bottom four price codes. Real tension with my head of sales — who was also my partner. That's when I knew. Our gross profit dollars were not covering our OPEX. Years later I'd have a name for it: a Profit Power Ratio below 1.0. In 2009 I could only feel it."</a:t>
            </a:r>
          </a:p>
          <a:p>
            <a:r>
              <a:t>CASH LEVERS (last bullet): "So we fought with the levers we had. Payables out to 45 days. Receivables in at 30. Inventory turns from 6 to 18 — tripled. Pulled about as hard as they can be pulled. They kept us alive. They never made us well."</a:t>
            </a:r>
          </a:p>
          <a:p>
            <a:r>
              <a:t>TIMING: 3 min.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MOUNTAIN — CLIMAX OF THE PAIN. The photo is the actual flag in the actual box — taken August 29, 2026, after eleven years in the attic. FOUNDED 1899 on the cloth. (The real box is backstage — it comes out at the end. Don't tip it.)</a:t>
            </a:r>
          </a:p>
          <a:p>
            <a:r>
              <a:rPr dirty="0"/>
              <a:t>SAY: "In May 2015 we closed it — we got killed on the second downdraft, and there was nothing left to absorb it. A company that had carried that name since 1899 ended on our watch. Twelve people had to find new jobs. And my confidence — broken. The flag, our Jolly Roger, got folded into a box in my attic. It's still there. I photographed it two weeks ago."</a:t>
            </a:r>
          </a:p>
          <a:p>
            <a:r>
              <a:rPr dirty="0"/>
              <a:t>READ THE LINE on the slide, slowly — this is the gut punch: "2,000 days and $865,000 later, there were a few lessons learned and many to teach."</a:t>
            </a:r>
          </a:p>
          <a:p>
            <a:r>
              <a:rPr dirty="0"/>
              <a:t>BEAT. Then: "This session is the way out I wish I'd had. The scores that mattered were never on the wall. Today we put them on yours."</a:t>
            </a:r>
          </a:p>
          <a:p>
            <a:r>
              <a:rPr dirty="0"/>
              <a:t>TRANSITION: "Everything we do for the next hour is the system I needed in 2009. It starts with five numbers."</a:t>
            </a:r>
          </a:p>
          <a:p>
            <a:r>
              <a:rPr dirty="0"/>
              <a:t>TIMING: 3 min.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pivot from pain to tools.</a:t>
            </a:r>
          </a:p>
          <a:p>
            <a:r>
              <a:t>SAY: "I put that lesson in a book. In the fable, a leadership team a lot like yours meets a guide named Clarus — and this is the first thing he has to teach them. It cost me a steel company to learn it."</a:t>
            </a:r>
          </a:p>
          <a:p>
            <a:r>
              <a:t>TRANSITION: "So let's replace feeling good with knowing. Five numbers."</a:t>
            </a:r>
          </a:p>
          <a:p>
            <a:r>
              <a:t>TIMING: 1 min.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FALLING ACTION / the tools, part 1. Tool 1: the 5-Number Income Statement™.</a:t>
            </a:r>
          </a:p>
          <a:p>
            <a:r>
              <a:t>SAY: "Forget the 47-line P&amp;L. Five numbers tell the real story — and if the whole team can read them, the whole team can lead with them."</a:t>
            </a:r>
          </a:p>
          <a:p>
            <a:r>
              <a:t>TIMING: 15 sec.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FDD9-A8D6-7DA1-1FD5-DC2DADDBA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AFC92-1F59-F9B7-8A26-F2D5E2686E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CB9E54-3730-1606-0801-E52AB7C16C64}"/>
              </a:ext>
            </a:extLst>
          </p:cNvPr>
          <p:cNvSpPr>
            <a:spLocks noGrp="1"/>
          </p:cNvSpPr>
          <p:nvPr>
            <p:ph type="body" idx="1"/>
          </p:nvPr>
        </p:nvSpPr>
        <p:spPr/>
        <p:txBody>
          <a:bodyPr/>
          <a:lstStyle/>
          <a:p>
            <a:r>
              <a:t>TOOL 1 setup — the candy store.</a:t>
            </a:r>
          </a:p>
          <a:p>
            <a:r>
              <a:t>OPENING LINE: "Yes, a candy store. Stay with me."</a:t>
            </a:r>
          </a:p>
          <a:p>
            <a:r>
              <a:t>SAY: "Some of the most complex businesses in the world get clearer when you reduce them to the candy-store model. $4,000 a month to open the doors. A dollar of margin per bar. Breakeven: 4,000 bars. Every bar over 4,000 is a dollar of profit. It sells products, has costs, pays expenses, ends up with some profit — same as you."</a:t>
            </a:r>
          </a:p>
          <a:p>
            <a:r>
              <a:t>COACHING CUE: if anyone resists "too simple" — that's the point. If you can't explain YOUR business in candy-store terms, you don't understand it well enough yet.</a:t>
            </a:r>
          </a:p>
          <a:p>
            <a:r>
              <a:t>DATA BOOK ANCHOR: page 126.</a:t>
            </a:r>
          </a:p>
          <a:p>
            <a:r>
              <a:t>TIMING: 2.5 min.</a:t>
            </a:r>
          </a:p>
        </p:txBody>
      </p:sp>
      <p:sp>
        <p:nvSpPr>
          <p:cNvPr id="4" name="Slide Number Placeholder 3">
            <a:extLst>
              <a:ext uri="{FF2B5EF4-FFF2-40B4-BE49-F238E27FC236}">
                <a16:creationId xmlns:a16="http://schemas.microsoft.com/office/drawing/2014/main" id="{0B301FF3-D388-3753-95D5-F2CA52813EA5}"/>
              </a:ext>
            </a:extLst>
          </p:cNvPr>
          <p:cNvSpPr>
            <a:spLocks noGrp="1"/>
          </p:cNvSpPr>
          <p:nvPr>
            <p:ph type="sldNum" sz="quarter" idx="5"/>
          </p:nvPr>
        </p:nvSpPr>
        <p:spPr/>
        <p:txBody>
          <a:bodyPr/>
          <a:lstStyle/>
          <a:p>
            <a:fld id="{B05B3F27-CB2C-BF49-9C30-E35071F5AE5F}" type="slidenum">
              <a:rPr lang="en-US" smtClean="0"/>
              <a:t>9</a:t>
            </a:fld>
            <a:endParaRPr lang="en-US"/>
          </a:p>
        </p:txBody>
      </p:sp>
    </p:spTree>
    <p:extLst>
      <p:ext uri="{BB962C8B-B14F-4D97-AF65-F5344CB8AC3E}">
        <p14:creationId xmlns:p14="http://schemas.microsoft.com/office/powerpoint/2010/main" val="1557349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2606-C159-947B-C2EC-E5F80CAAB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6F0C1-2DF6-FAD9-55CB-63168CAFEF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06989-E4B4-EFB6-4F92-0FE960679A96}"/>
              </a:ext>
            </a:extLst>
          </p:cNvPr>
          <p:cNvSpPr>
            <a:spLocks noGrp="1"/>
          </p:cNvSpPr>
          <p:nvPr>
            <p:ph type="body" idx="1"/>
          </p:nvPr>
        </p:nvSpPr>
        <p:spPr/>
        <p:txBody>
          <a:bodyPr/>
          <a:lstStyle/>
          <a:p>
            <a:r>
              <a:rPr dirty="0"/>
              <a:t>TOOL 1 — the five numbers, on the candy store.</a:t>
            </a:r>
          </a:p>
          <a:p>
            <a:r>
              <a:rPr dirty="0"/>
              <a:t>OPENING LINE: "Forget the 47-line P&amp;L. Five numbers tell the real story."</a:t>
            </a:r>
          </a:p>
          <a:p>
            <a:r>
              <a:rPr dirty="0"/>
              <a:t>WALK THE HAND-DRAWN TABLE top to bottom: Revenue $10,000 — 5,000 bars at $2. Cost of the bars $5,000. Gross profit margin $5,000 — the money left after paying the vendor. Fixed OPEX $4,000 — everything it takes to open the doors. Net operating income $1,000.</a:t>
            </a:r>
          </a:p>
          <a:p>
            <a:r>
              <a:rPr dirty="0"/>
              <a:t>PRINCIPLE: complexity is the enemy of alignment. Five numbers fits on a napkin; a napkin fits in every conversation. This isn't a finance tool — it's a leadership tool.</a:t>
            </a:r>
          </a:p>
          <a:p>
            <a:r>
              <a:rPr dirty="0"/>
              <a:t>DATA BOOK ANCHOR: page 126.</a:t>
            </a:r>
          </a:p>
          <a:p>
            <a:r>
              <a:rPr dirty="0"/>
              <a:t>TIMING: 2.5 min.</a:t>
            </a:r>
          </a:p>
        </p:txBody>
      </p:sp>
      <p:sp>
        <p:nvSpPr>
          <p:cNvPr id="4" name="Slide Number Placeholder 3">
            <a:extLst>
              <a:ext uri="{FF2B5EF4-FFF2-40B4-BE49-F238E27FC236}">
                <a16:creationId xmlns:a16="http://schemas.microsoft.com/office/drawing/2014/main" id="{F91B3048-7907-2491-E9EF-78A4CFDFAC9C}"/>
              </a:ext>
            </a:extLst>
          </p:cNvPr>
          <p:cNvSpPr>
            <a:spLocks noGrp="1"/>
          </p:cNvSpPr>
          <p:nvPr>
            <p:ph type="sldNum" sz="quarter" idx="5"/>
          </p:nvPr>
        </p:nvSpPr>
        <p:spPr/>
        <p:txBody>
          <a:bodyPr/>
          <a:lstStyle/>
          <a:p>
            <a:fld id="{B05B3F27-CB2C-BF49-9C30-E35071F5AE5F}" type="slidenum">
              <a:rPr lang="en-US" smtClean="0"/>
              <a:t>10</a:t>
            </a:fld>
            <a:endParaRPr lang="en-US"/>
          </a:p>
        </p:txBody>
      </p:sp>
    </p:spTree>
    <p:extLst>
      <p:ext uri="{BB962C8B-B14F-4D97-AF65-F5344CB8AC3E}">
        <p14:creationId xmlns:p14="http://schemas.microsoft.com/office/powerpoint/2010/main" val="329515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TOOL 1 — the example they copy. This is the same five-row story with example numbers — the room writes THEIR version on handout page 1 on the next slide.</a:t>
            </a:r>
          </a:p>
          <a:p>
            <a:r>
              <a:rPr dirty="0"/>
              <a:t>WALK IT: "Revenue — what your customer pays you. DVC — what it costs to fulfill the order. Gross Profit — what's left to run the business. OPEX — what it costs to keep the lights on. Net Operating Income — what you actually keep."</a:t>
            </a:r>
          </a:p>
          <a:p>
            <a:r>
              <a:rPr dirty="0"/>
              <a:t>SAY: "Estimating IS leadership. If you can't estimate yours within 20%, that's a finding too."</a:t>
            </a:r>
          </a:p>
          <a:p>
            <a:r>
              <a:rPr dirty="0"/>
              <a:t>TIMING: 2 min.</a:t>
            </a:r>
          </a:p>
        </p:txBody>
      </p:sp>
      <p:sp>
        <p:nvSpPr>
          <p:cNvPr id="4" name="Slide Number Placeholder 3"/>
          <p:cNvSpPr>
            <a:spLocks noGrp="1"/>
          </p:cNvSpPr>
          <p:nvPr>
            <p:ph type="sldNum" sz="quarter" idx="5"/>
          </p:nvPr>
        </p:nvSpPr>
        <p:spPr/>
        <p:txBody>
          <a:bodyPr/>
          <a:lstStyle/>
          <a:p>
            <a:fld id="{B05B3F27-CB2C-BF49-9C30-E35071F5AE5F}" type="slidenum">
              <a:rPr lang="en-US" smtClean="0"/>
              <a:t>11</a:t>
            </a:fld>
            <a:endParaRPr lang="en-US"/>
          </a:p>
        </p:txBody>
      </p:sp>
    </p:spTree>
    <p:extLst>
      <p:ext uri="{BB962C8B-B14F-4D97-AF65-F5344CB8AC3E}">
        <p14:creationId xmlns:p14="http://schemas.microsoft.com/office/powerpoint/2010/main" val="204064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EXERCISE 1 — 3 minutes, handout page 1.</a:t>
            </a:r>
          </a:p>
          <a:p>
            <a:r>
              <a:t>SAY: "Now plug yours in. Best guess. This isn't a finance test." Encourage phones out — last year's P&amp;L or two numbers from it.</a:t>
            </a:r>
          </a:p>
          <a:p>
            <a:r>
              <a:t>WORK THE ROOM. Encourage table chatter: "Compare your gross margin with the person next to you."</a:t>
            </a:r>
          </a:p>
          <a:p>
            <a:r>
              <a:t>CALL TIME at 3 minutes: "Whatever you wrote — that's more clarity than most leadership teams operate with."</a:t>
            </a:r>
          </a:p>
          <a:p>
            <a:r>
              <a:t>TRANSITION: "Two of your five numbers are about to become one."</a:t>
            </a:r>
          </a:p>
          <a:p>
            <a:r>
              <a:t>TIMING: 4 min with debrief.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approaching the summit. Tool 2: the Profit Power Ratio™.</a:t>
            </a:r>
          </a:p>
          <a:p>
            <a:r>
              <a:t>SAY: "Five numbers tell the story. One fraction bar tells the truth."</a:t>
            </a:r>
          </a:p>
          <a:p>
            <a:r>
              <a:t>TIMING: 15 sec.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TOOL 2 — the game and the number, one frame.</a:t>
            </a:r>
          </a:p>
          <a:p>
            <a:r>
              <a:t>SAY: "Business is a game. Gross Profit is the fuel — it moves you forward. OPEX is the drag — it always wants to creep up. The game is one sentence: grow gross profit at a MUCH faster rate than OPEX."</a:t>
            </a:r>
          </a:p>
          <a:p>
            <a:r>
              <a:t>POINT RIGHT: "And there's one number that tells you if you're winning the game: the Profit Power Ratio. Gross Profit divided by OPEX. Candy store: $5,000 over $4,000 — 1.25. Every dollar of OPEX generated a dollar twenty-five of gross profit."</a:t>
            </a:r>
          </a:p>
          <a:p>
            <a:r>
              <a:t>THE GAUGE: "Below 1.0 you're losing — that was Fort Dodge Steel, most weeks. At 1.0 you're working for the lights. Above 1.0 you're winning. And the direction matters more than the level."</a:t>
            </a:r>
          </a:p>
          <a:p>
            <a:r>
              <a:t>TIMING: 3 min.</a:t>
            </a:r>
          </a:p>
        </p:txBody>
      </p:sp>
      <p:sp>
        <p:nvSpPr>
          <p:cNvPr id="4" name="Slide Number Placeholder 3"/>
          <p:cNvSpPr>
            <a:spLocks noGrp="1"/>
          </p:cNvSpPr>
          <p:nvPr>
            <p:ph type="sldNum" sz="quarter" idx="5"/>
          </p:nvPr>
        </p:nvSpPr>
        <p:spPr/>
        <p:txBody>
          <a:bodyPr/>
          <a:lstStyle/>
          <a:p>
            <a:fld id="{B05B3F27-CB2C-BF49-9C30-E35071F5AE5F}" type="slidenum">
              <a:rPr lang="en-US" smtClean="0"/>
              <a:t>14</a:t>
            </a:fld>
            <a:endParaRPr lang="en-US"/>
          </a:p>
        </p:txBody>
      </p:sp>
    </p:spTree>
    <p:extLst>
      <p:ext uri="{BB962C8B-B14F-4D97-AF65-F5344CB8AC3E}">
        <p14:creationId xmlns:p14="http://schemas.microsoft.com/office/powerpoint/2010/main" val="2155736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TOOL 2 — the picture. What "stronger" looks like on a chart. Do not read the right column; point at the lines.</a:t>
            </a:r>
          </a:p>
          <a:p>
            <a:r>
              <a:t>SAY: "Two lines. Gross profit on top, OPEX underneath. Both are rising — and that's normal, growth costs money. The question is never whether OPEX went up. The question is the GAP. Is it widening or closing?"</a:t>
            </a:r>
          </a:p>
          <a:p>
            <a:r>
              <a:t>POINT AT THE GAP: "Widening — you're getting stronger, every new dollar buys more strength. Closing — you're getting bigger and more fragile, and nobody in the building can feel it yet. Crossed — you're paying more to run the business than it keeps. That's Fort Dodge in 2009."</a:t>
            </a:r>
          </a:p>
          <a:p>
            <a:r>
              <a:t>FORT DODGE BEAT: "Our lines crossed in six months. The flag was still on the wall."</a:t>
            </a:r>
          </a:p>
          <a:p>
            <a:r>
              <a:t>TIMING: 1.5 min.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TOOL 2 — what to DO with the number.</a:t>
            </a:r>
          </a:p>
          <a:p>
            <a:r>
              <a:t>WALK THE THREE: "Track progress — when the ratio improves quarter over quarter, the team is making smart decisions and compounding them. Decide on spend — before approving any OPEX increase, ask: will this grow gross profit faster than it grows cost? Align the team — everyone rallies around a single score that says whether the business is winning, surviving, or losing."</a:t>
            </a:r>
          </a:p>
          <a:p>
            <a:r>
              <a:t>TIMING: 2 min.</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556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B0D7-05DF-3037-645F-1977BF4F969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B47F6E7-35F4-C7CB-405A-17FA6FCB736C}"/>
              </a:ext>
            </a:extLst>
          </p:cNvPr>
          <p:cNvSpPr>
            <a:spLocks noGrp="1"/>
          </p:cNvSpPr>
          <p:nvPr>
            <p:ph type="body" idx="1"/>
          </p:nvPr>
        </p:nvSpPr>
        <p:spPr/>
        <p:txBody>
          <a:bodyPr/>
          <a:lstStyle/>
          <a:p>
            <a:r>
              <a:t>EXERCISE 2 — 30 seconds of math, 3 minutes with the debrief. Handout page 1, section 2. THIS IS THE CLIMAX OF THE SESSION.</a:t>
            </a:r>
          </a:p>
          <a:p>
            <a:r>
              <a:t>SAY: "Two of your five numbers. Gross profit divided by OPEX. This year — and last year. Thirty seconds."</a:t>
            </a:r>
          </a:p>
          <a:p>
            <a:r>
              <a:t>CALL TIME: "Above one — you're winning. Around one — surviving. Below one — losing. Now the one that matters: which way is it MOVING?"</a:t>
            </a:r>
          </a:p>
          <a:p>
            <a:r>
              <a:t>WORK THE ROOM: "Hands up if it went up. Hands up if it went down. Keep them up. Look around — that's the room." (Let the silence sit.)</a:t>
            </a:r>
          </a:p>
          <a:p>
            <a:r>
              <a:t>LANDING LINE: "Some of you just found out you're bigger. Some of you just found out you're stronger. Revenue could never have told you which."</a:t>
            </a:r>
          </a:p>
          <a:p>
            <a:r>
              <a:t>TRANSITION: "So what do you do about it? Seven moves. Every one of them already inside your business."</a:t>
            </a:r>
          </a:p>
          <a:p>
            <a:r>
              <a:t>TIMING: 3 min.</a:t>
            </a:r>
          </a:p>
        </p:txBody>
      </p:sp>
    </p:spTree>
    <p:extLst>
      <p:ext uri="{BB962C8B-B14F-4D97-AF65-F5344CB8AC3E}">
        <p14:creationId xmlns:p14="http://schemas.microsoft.com/office/powerpoint/2010/main" val="3240976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TOOL 2 — what the number looks like when it's on the wall. 45 seconds, no demo, no pitch.</a:t>
            </a:r>
          </a:p>
          <a:p>
            <a:r>
              <a:t>SAY: "This is what the ratio looks like when it's live. Always visible — top of every page. The number, and whether it's climbing. Green above one, orange below. That's the whole point: a leadership team that can see the number every Monday doesn't need me to tell them whether they're getting stronger."</a:t>
            </a:r>
          </a:p>
          <a:p>
            <a:r>
              <a:t>FORT DODGE BEAT (optional): "If this had been on my wall in 2009, I'd have known in February what I found out over beers in June."</a:t>
            </a:r>
          </a:p>
          <a:p>
            <a:r>
              <a:t>BRIDGE: "Now — what moves it. Seven dials."</a:t>
            </a:r>
          </a:p>
          <a:p>
            <a:r>
              <a:t>TIMING: 45 sec.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DESCENT / what to do about it. Tool 3: The Power of X.</a:t>
            </a:r>
          </a:p>
          <a:p>
            <a:r>
              <a:t>SAY: "Seven moves. Four that find profit — price, volume, direct cost, overhead. Three that release cash — collect faster, hold cash longer, move inventory faster. Every one of them is already sitting inside your business. The question is which one has the most leverage for you."</a:t>
            </a:r>
          </a:p>
          <a:p>
            <a:r>
              <a:t>TIMING: 15 sec.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D3BC-1FA9-98CA-1493-C4A1B5B25BF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524498D-9254-01B6-74D8-47EF8D46C679}"/>
              </a:ext>
            </a:extLst>
          </p:cNvPr>
          <p:cNvSpPr>
            <a:spLocks noGrp="1"/>
          </p:cNvSpPr>
          <p:nvPr>
            <p:ph type="body" idx="1"/>
          </p:nvPr>
        </p:nvSpPr>
        <p:spPr/>
        <p:txBody>
          <a:bodyPr/>
          <a:lstStyle/>
          <a:p>
            <a:r>
              <a:t>MOUNTAIN — pivot into the seven moves. Book Two.</a:t>
            </a:r>
          </a:p>
          <a:p>
            <a:r>
              <a:t>SAY: "Book Two is where the levers live. In the fable, the team's instinct is to yank everything at once. Clarus stops them with this: you don't need any lever to move ten percent. You need to know which lever, moved one percent, deliberately, and held, does the most good — because one percent, compounded across seven levers and four quarters, is the whole game, played properly."</a:t>
            </a:r>
          </a:p>
          <a:p>
            <a:r>
              <a:t>TRANSITION: "Seven levers. Let's learn them."</a:t>
            </a:r>
          </a:p>
          <a:p>
            <a:r>
              <a:t>TIMING: 1 min.</a:t>
            </a:r>
          </a:p>
        </p:txBody>
      </p:sp>
    </p:spTree>
    <p:extLst>
      <p:ext uri="{BB962C8B-B14F-4D97-AF65-F5344CB8AC3E}">
        <p14:creationId xmlns:p14="http://schemas.microsoft.com/office/powerpoint/2010/main" val="2663537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TOOL 3 — all seven moves, one frame.</a:t>
            </a:r>
          </a:p>
          <a:p>
            <a:r>
              <a:t>LEFT COLUMN — the profit drivers: "Increase price — be bold, fix the leaks. Increase volume — mine the gold in the customers you already have. Reduce DVC — remove the waste. Reduce OPEX — get lean."</a:t>
            </a:r>
          </a:p>
          <a:p>
            <a:r>
              <a:t>RIGHT COLUMN — the cash levers: "Collect faster. Hold cash longer. Move inventory faster. These three kept Fort Dodge alive for seven years — pulled about as hard as they can be pulled. They buy you time; the left column fixes the structure."</a:t>
            </a:r>
          </a:p>
          <a:p>
            <a:r>
              <a:t>PRINCIPLE: "You don't need all seven. You need the ONE with the most leverage in your business right now."</a:t>
            </a:r>
          </a:p>
          <a:p>
            <a:r>
              <a:t>TIMING: 3 min.</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SET UP PAGE 2 — 60 seconds. This is the working page for the next ten minutes.</a:t>
            </a:r>
          </a:p>
          <a:p>
            <a:r>
              <a:t>SAY: "Turn to page 2. Seven rows, seven moves. Each one has the formula and a worked example on a ten-million-dollar business. I'm going to walk all seven — while I do, put a number in the box on the right. Your business, your best guess. We rank them at the end."</a:t>
            </a:r>
          </a:p>
          <a:p>
            <a:r>
              <a:t>Do not explain the moves here — that is what the next seven slides are for. Pens out, then go.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overview — 45 seconds. "Price is first because it has the hardest gearing. One percent of price at your margin is nearly three percent of gross profit. And it is the only dial with no undo — so we will spend real time here in a minute." Do NOT do the excuses yet. Bridge: "Hold that thought — six more dials first."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2 — 45 seconds. "Nobody grows revenue. You grow customers, or units, or price. Twenty percent more customers, one more unit in the basket, fifty dollars of price — that is 58% more revenue, and nobody worked 58% harder." Then the gold: "Most of you have a CRM full of people who bought once. That is the cheapest dollar on the planet."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3 — 40 seconds. "Every one of you has five percent sitting in rework, returns, waiting and overproduction. Five percent of ten million is half a million of gross profit — no new customer required." Fort Dodge beat if time: scrap steel is a real number on a real P&amp;L.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4 — 40 seconds. "This is the one everybody reaches for first, and it is fourth on purpose. It works — five percent off a four-million nut is two hundred grand and the ratio moves. But you cannot cut your way to strong. Get lean, then go back to dials one, two and three."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5 — 40 seconds. "Cash levers are measured in days, and days times daily spend equals dollars. Ten-million business, twenty-seven thousand a day. Five days faster is a hundred and thirty-seven grand you already earned." The cleanest cash on the planet.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6 — 35 seconds. "How many of you pay on day ten because the bookkeeper is tidy? That is your working capital sitting in somebody else's bank." Ask, earn, trade. Keep it short — this room knows the concept.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7 — 35 seconds. Fort Dodge beat: "I owned a steel yard. Inventory is where my cash went to die." Then the three plays. Bridge to the closer: "Seven dials. Here is what it looks like when they are all on one screen."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SCREEN — 60 seconds, no selling. This is what the Power of X looks like when it's live instead of on a whiteboard.</a:t>
            </a:r>
          </a:p>
          <a:p>
            <a:r>
              <a:t>WALK IT: "Seven levers on the left — four move profit, three move cash. Slide one and the five-number statement reacts on the right. Price is the hot one here: one percent, three hundred grand to the bottom line."</a:t>
            </a:r>
          </a:p>
          <a:p>
            <a:r>
              <a:t>THE POINT: "You don't need this screen to do the math — the handout works. What the screen does is RANK the levers for your business so the argument in the leadership meeting is over before it starts."</a:t>
            </a:r>
          </a:p>
          <a:p>
            <a:r>
              <a:t>BRIDGE: "So let's do the deep dive on the lever with the most leverage — and the most excuses. Price."</a:t>
            </a:r>
          </a:p>
          <a:p>
            <a:r>
              <a:t>TIMING: 1 min. Do not demo. Do not pitch.</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part 1 — the excuses. (Bullets animate By Paragraph — read each one out loud, slowly.)</a:t>
            </a:r>
          </a:p>
          <a:p>
            <a:r>
              <a:t>OPENING LINE: "Let me read these out loud. Tell me which one you've said this year."</a:t>
            </a:r>
          </a:p>
          <a:p>
            <a:r>
              <a:t>Pause after the fifth. Watch the nods. Everyone has used one of these in the last 12 months.</a:t>
            </a:r>
          </a:p>
          <a:p>
            <a:r>
              <a:t>THE REFRAME: "Every one of these is a STORY. The math doesn't care about your story. Staying safe may be costing you more than you think — inaction has a price too, and it shows up in your margin."</a:t>
            </a:r>
          </a:p>
          <a:p>
            <a:r>
              <a:t>FORT DODGE BEAT: "I locked out the bottom four price codes on a Monday morning and it nearly cost me a partner. It was still the right move."</a:t>
            </a:r>
          </a:p>
          <a:p>
            <a:r>
              <a:t>TIMING: 2.5 min.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TABLE A — the one they photograph.</a:t>
            </a:r>
          </a:p>
          <a:p>
            <a:r>
              <a:t>OPENING LINE: "This is Table A. Memorize where it lives — you'll use it the rest of your career."</a:t>
            </a:r>
          </a:p>
          <a:p>
            <a:r>
              <a:t>READ IT LIKE A TAX TABLE: gross margin across the top, price increase down the side, the cell is your tolerance. Point at the orange cell: "50% margin, 20% price increase — you can lose 14.3% of your volume and keep every dollar of gross profit."</a:t>
            </a:r>
          </a:p>
          <a:p>
            <a:r>
              <a:t>TWO TAKEAWAYS: high-margin businesses can absorb more volume loss than low-margin ones; even small price increases at modest margins create real cushion.</a:t>
            </a:r>
          </a:p>
          <a:p>
            <a:r>
              <a:t>SAY: "This is the table your sales team should have laminated and taped to their monitor."</a:t>
            </a:r>
          </a:p>
          <a:p>
            <a:r>
              <a:t>TIMING: 2.5 min.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part 2 — fix the leaks. (Bullets animate By Paragraph.)</a:t>
            </a:r>
          </a:p>
          <a:p>
            <a:r>
              <a:t>OPENING LINE: "Be honest. Which of these have you said this quarter?"</a:t>
            </a:r>
          </a:p>
          <a:p>
            <a:r>
              <a:t>Read each excuse slowly. Let the room sit with it. Most heads will nod.</a:t>
            </a:r>
          </a:p>
          <a:p>
            <a:r>
              <a:t>THE REFRAME: "Discounts feel like control. They feel proactive — like you're saving the deal. But every discount is a quiet vote that your value isn't enough. You're trading margin to buy certainty."</a:t>
            </a:r>
          </a:p>
          <a:p>
            <a:r>
              <a:t>FLIP IT: "What if pricing with confidence actually builds trust? Customers read a firm price as a firm promise."</a:t>
            </a:r>
          </a:p>
          <a:p>
            <a:r>
              <a:t>TIMING: 2 min.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TABLE B — the receipt.</a:t>
            </a:r>
          </a:p>
          <a:p>
            <a:r>
              <a:t>OPENING LINE: "Find your row, find your column, read the cost."</a:t>
            </a:r>
          </a:p>
          <a:p>
            <a:r>
              <a:t>Gross margin across the top, discount down the side, the cell is your multiplier. Point at the orange cell: "50% margin, 20% discount — you need 33.3% more sales just to make the same gross profit."</a:t>
            </a:r>
          </a:p>
          <a:p>
            <a:r>
              <a:t>THEN THE RED: "See the cells that say 'not possible'? At a 10% margin, a 10% discount can't be sold back at ANY volume. You've given away the whole margin."</a:t>
            </a:r>
          </a:p>
          <a:p>
            <a:r>
              <a:t>LOW-MARGIN WARNING: "At a 20% margin, even a 5% discount needs 26.7% more volume to stand still."</a:t>
            </a:r>
          </a:p>
          <a:p>
            <a:r>
              <a:t>PRINCIPLE: "Every discount is a profit decision, not a sales decision. Treat it that way."</a:t>
            </a:r>
          </a:p>
          <a:p>
            <a:r>
              <a:t>TIMING: 2.5 min.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1% PRINCIPLE — the small-move gospel.</a:t>
            </a:r>
          </a:p>
          <a:p>
            <a:r>
              <a:t>SAY: "You do not need any lever to move 10%. You need to know which lever, moved 1%, deliberately, and held, does the most good — because 1%, compounded across seven levers and four quarters, is not a small number. It is the whole game, played properly."</a:t>
            </a:r>
          </a:p>
          <a:p>
            <a:r>
              <a:t>WORK A LIVE EXAMPLE from the room if energy allows: someone's revenue, 1% of margin, straight to the bottom line.</a:t>
            </a:r>
          </a:p>
          <a:p>
            <a:r>
              <a:t>TIMING: 2 min.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RESOLUTION. Nothing happens if nothing happens.</a:t>
            </a:r>
          </a:p>
          <a:p>
            <a:r>
              <a:t>SAY: "Everything we've done today is worth exactly nothing on Tuesday unless one thing changes on Monday. Page 2, bottom section."</a:t>
            </a:r>
          </a:p>
          <a:p>
            <a:r>
              <a:t>TIMING: 15 sec — straight into the exercise.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FIRST MOVE MONDAY — 3 minutes, handout page 2, section 4. This is the payoff for the page.</a:t>
            </a:r>
          </a:p>
          <a:p>
            <a:r>
              <a:t>OPENING LINE: "Look at your page 2. Somewhere in that column is a number bigger than the others. That's your move."</a:t>
            </a:r>
          </a:p>
          <a:p>
            <a:r>
              <a:t>90 seconds of silence — circle it, owner, quarter, the Monday move. Do not talk over it.</a:t>
            </a:r>
          </a:p>
          <a:p>
            <a:r>
              <a:t>THEN: "Turn to the person next to you. Tell them the move and the owner. Thirty seconds each."</a:t>
            </a:r>
          </a:p>
          <a:p>
            <a:r>
              <a:t>CLOSE THE BEAT: "One move. One owner. One number. Monday. That is how data becomes dollars."</a:t>
            </a:r>
          </a:p>
          <a:p>
            <a:r>
              <a:t>TIMING: 3 min + the pair share.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PROOF, in someone else's words.</a:t>
            </a:r>
          </a:p>
          <a:p>
            <a:r>
              <a:t>SAY: "That's a business owner in Charlotte, at the end of a workshop day, summing up everything I just took 60 minutes to teach you — in four words. He found $250,000 on the way to writing it. Leaders in these rooms have found $160K, $410K, $770K — one CFO found over a million."</a:t>
            </a:r>
          </a:p>
          <a:p>
            <a:r>
              <a:t>TRANSITION: "Which brings me to what's next — for those who want to go deeper."</a:t>
            </a:r>
          </a:p>
          <a:p>
            <a:r>
              <a:t>TIMING: 1 min.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WHAT, beat 1 — the workshop tour. Light touch; the agreement allows a brief mention and there's a table at the back.</a:t>
            </a:r>
          </a:p>
          <a:p>
            <a:r>
              <a:t>SAY: "Everything today came out of a full-day workshop — the Data-Driven Leader Workshop. Today was the ninety-minute version; the full day is your numbers, your scorecard, your first three moves, with Angela and me in the room. Fourteen cities this fall — the QR is on your handout, page 2, and on the table in the back."</a:t>
            </a:r>
          </a:p>
          <a:p>
            <a:r>
              <a:t>DO NOT: read the city list, quote the price from stage, or say "sign up." Point at the QR and move on.</a:t>
            </a:r>
          </a:p>
          <a:p>
            <a:r>
              <a:t>TIMING: 45 sec.</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NOW WHAT, beat 2 — the books and the platform. Light touch; the agreement allows brief book references and this is a gift, not a pitch.</a:t>
            </a:r>
          </a:p>
          <a:p>
            <a:r>
              <a:t>SAY: "Today came out of a book called Data, in the EOS Mastery Series — every one of you takes a copy home. What I learned folding that flag became a series of its own: the Clarus Leadership Series. One principle, one book, twelve of them — Book One is The Profit Power Ratio, Book Two is The Power of X. You just did both."</a:t>
            </a:r>
          </a:p>
          <a:p>
            <a:r>
              <a:t>SAY: "The first four books are written, and they're what the Clarus platform ships — the platform only does what the books have already taught. If you want on the waitlist, the first hundred take Book One home today. And books one through four are on Amazon if you want to keep going with Cole's journey."</a:t>
            </a:r>
          </a:p>
          <a:p>
            <a:r>
              <a:t>TIMING: 1.5 min.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RESOLUTION, the bookend. THE BOX COMES OUT ON STAGE.</a:t>
            </a:r>
          </a:p>
          <a:p>
            <a:r>
              <a:t>DO: bring the box out. Open it. Take your time. "I told you this flag went into a box in my attic in 2015. I brought the box."</a:t>
            </a:r>
          </a:p>
          <a:p>
            <a:r>
              <a:t>SAY: "FOUNDED 1899 — it's right there on the cloth. A hundred and sixteen years, and the scores that mattered were never on the wall. Now you know the five numbers, the one ratio, and the seven moves that put them there."</a:t>
            </a:r>
          </a:p>
          <a:p>
            <a:r>
              <a:t>UNFURL IT — you, on stage, full width. Hold it up. Let the room look at it. No group photo, no calling people up — the flag is the picture. Phones will come out on their own.</a:t>
            </a:r>
          </a:p>
          <a:p>
            <a:r>
              <a:t>LAST LINE, flag still up: "Stronger — or just bigger? Now you know how to tell."</a:t>
            </a:r>
          </a:p>
          <a:p>
            <a:r>
              <a:t>TIMING: 3 min. Then the survey slide for Q&amp;A.</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 leave this up while you take questions (10–15 min).</a:t>
            </a:r>
          </a:p>
          <a:p>
            <a:r>
              <a:t>NOTE: drop the session survey QR code onto the white card when the organizer sends it.</a:t>
            </a:r>
          </a:p>
          <a:p>
            <a:r>
              <a:t>SAY: "While we do questions — scan the survey. It takes a minute and it genuinely shapes what I teach next time."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Kept exactly as the event template ships it — show at the end of the session per the organizer's house rules.</a:t>
            </a:r>
          </a:p>
          <a:p>
            <a:r>
              <a:t>SAY: "These folks make the day free-flowing — thank them at their booths."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a:t>
            </a:r>
          </a:p>
          <a:p>
            <a:r>
              <a:t>SAY: "Know your number. Pick your move. Make it Monday. Thanks, y'all."</a:t>
            </a:r>
          </a:p>
          <a:p>
            <a:r>
              <a:t>Then to the book-signing table / meet-and-greet as coordinated with the organizer.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46857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2.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40.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16.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7.png"/><Relationship Id="rId9" Type="http://schemas.openxmlformats.org/officeDocument/2006/relationships/image" Target="../media/image36.png"/><Relationship Id="rId1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49.jpe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2.png"/><Relationship Id="rId2" Type="http://schemas.openxmlformats.org/officeDocument/2006/relationships/notesSlide" Target="../notesSlides/notesSlide43.xml"/><Relationship Id="rId16"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1" y="949"/>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dirty="0">
              <a:latin typeface="League Spartan" pitchFamily="2" charset="77"/>
            </a:endParaRPr>
          </a:p>
        </p:txBody>
      </p:sp>
      <p:sp>
        <p:nvSpPr>
          <p:cNvPr id="3" name="Text 1"/>
          <p:cNvSpPr/>
          <p:nvPr/>
        </p:nvSpPr>
        <p:spPr>
          <a:xfrm>
            <a:off x="952453" y="9654885"/>
            <a:ext cx="2288780"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eosnorthtexas.com</a:t>
            </a:r>
            <a:endParaRPr lang="en-US" sz="1800" dirty="0">
              <a:latin typeface="League Spartan" pitchFamily="2" charset="77"/>
            </a:endParaRPr>
          </a:p>
        </p:txBody>
      </p:sp>
      <p:sp>
        <p:nvSpPr>
          <p:cNvPr id="4" name="Text 2"/>
          <p:cNvSpPr/>
          <p:nvPr/>
        </p:nvSpPr>
        <p:spPr>
          <a:xfrm>
            <a:off x="15076208"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5" name="Image 0" descr="preencoded.png"/>
          <p:cNvPicPr>
            <a:picLocks noChangeAspect="1"/>
          </p:cNvPicPr>
          <p:nvPr/>
        </p:nvPicPr>
        <p:blipFill>
          <a:blip r:embed="rId3"/>
          <a:stretch>
            <a:fillRect/>
          </a:stretch>
        </p:blipFill>
        <p:spPr>
          <a:xfrm>
            <a:off x="908209" y="3215419"/>
            <a:ext cx="4095729" cy="3856071"/>
          </a:xfrm>
          <a:prstGeom prst="rect">
            <a:avLst/>
          </a:prstGeom>
        </p:spPr>
      </p:pic>
      <p:sp>
        <p:nvSpPr>
          <p:cNvPr id="6" name="Text 3"/>
          <p:cNvSpPr/>
          <p:nvPr/>
        </p:nvSpPr>
        <p:spPr>
          <a:xfrm>
            <a:off x="3023873" y="3300944"/>
            <a:ext cx="1898200" cy="890219"/>
          </a:xfrm>
          <a:prstGeom prst="rect">
            <a:avLst/>
          </a:prstGeom>
          <a:noFill/>
          <a:ln/>
        </p:spPr>
        <p:txBody>
          <a:bodyPr wrap="square" lIns="25400" tIns="25400" rIns="25400" bIns="25400" rtlCol="0" anchor="t">
            <a:normAutofit/>
          </a:bodyPr>
          <a:lstStyle/>
          <a:p>
            <a:pPr marL="0" indent="0" algn="l">
              <a:lnSpc>
                <a:spcPct val="86768"/>
              </a:lnSpc>
              <a:buNone/>
            </a:pPr>
            <a:r>
              <a:rPr lang="en-US" sz="6000" b="1" kern="0" spc="60" dirty="0">
                <a:solidFill>
                  <a:srgbClr val="FF7900"/>
                </a:solidFill>
                <a:latin typeface="League Spartan" pitchFamily="2" charset="77"/>
                <a:ea typeface="Arial" pitchFamily="34" charset="-122"/>
                <a:cs typeface="Arial" pitchFamily="34" charset="-120"/>
              </a:rPr>
              <a:t>2026</a:t>
            </a:r>
            <a:endParaRPr lang="en-US" sz="6000" dirty="0">
              <a:latin typeface="League Spartan" pitchFamily="2" charset="77"/>
            </a:endParaRPr>
          </a:p>
        </p:txBody>
      </p:sp>
      <p:sp>
        <p:nvSpPr>
          <p:cNvPr id="7" name="Text 4"/>
          <p:cNvSpPr/>
          <p:nvPr/>
        </p:nvSpPr>
        <p:spPr>
          <a:xfrm>
            <a:off x="6036132" y="3260321"/>
            <a:ext cx="11315674" cy="338081"/>
          </a:xfrm>
          <a:prstGeom prst="rect">
            <a:avLst/>
          </a:prstGeom>
          <a:noFill/>
          <a:ln/>
        </p:spPr>
        <p:txBody>
          <a:bodyPr wrap="square" lIns="25400" tIns="25400" rIns="25400" bIns="25400" rtlCol="0" anchor="t">
            <a:normAutofit lnSpcReduction="10000"/>
          </a:bodyPr>
          <a:lstStyle/>
          <a:p>
            <a:pPr marL="0" indent="0" algn="l">
              <a:buNone/>
            </a:pPr>
            <a:r>
              <a:rPr lang="en-US" sz="2025" b="1" kern="0" spc="365" dirty="0">
                <a:solidFill>
                  <a:srgbClr val="FF7900"/>
                </a:solidFill>
                <a:latin typeface="League Spartan" pitchFamily="2" charset="77"/>
                <a:ea typeface="Arial" pitchFamily="34" charset="-122"/>
                <a:cs typeface="Arial" pitchFamily="34" charset="-120"/>
              </a:rPr>
              <a:t>FIFTH ANNUAL · SEPTEMBER 14, 2026 · THE STATLER DALLAS</a:t>
            </a:r>
            <a:endParaRPr lang="en-US" sz="2025" dirty="0">
              <a:latin typeface="League Spartan" pitchFamily="2" charset="77"/>
            </a:endParaRPr>
          </a:p>
        </p:txBody>
      </p:sp>
      <p:sp>
        <p:nvSpPr>
          <p:cNvPr id="8" name="Text 5"/>
          <p:cNvSpPr/>
          <p:nvPr/>
        </p:nvSpPr>
        <p:spPr>
          <a:xfrm>
            <a:off x="6036132" y="3884126"/>
            <a:ext cx="10595586" cy="1798177"/>
          </a:xfrm>
          <a:prstGeom prst="rect">
            <a:avLst/>
          </a:prstGeom>
          <a:noFill/>
          <a:ln/>
        </p:spPr>
        <p:txBody>
          <a:bodyPr wrap="square" lIns="25400" tIns="25400" rIns="25400" bIns="25400" rtlCol="0" anchor="t">
            <a:normAutofit lnSpcReduction="10000"/>
          </a:bodyPr>
          <a:lstStyle/>
          <a:p>
            <a:pPr marL="0" indent="0" algn="l">
              <a:lnSpc>
                <a:spcPct val="91188"/>
              </a:lnSpc>
              <a:buNone/>
            </a:pPr>
            <a:r>
              <a:rPr lang="en-US" sz="6600" b="1" kern="0" spc="-66" dirty="0">
                <a:solidFill>
                  <a:srgbClr val="FFFFFF"/>
                </a:solidFill>
                <a:latin typeface="League Spartan" pitchFamily="2" charset="77"/>
                <a:ea typeface="Arial" pitchFamily="34" charset="-122"/>
                <a:cs typeface="Arial" pitchFamily="34" charset="-120"/>
              </a:rPr>
              <a:t>Profit Power:</a:t>
            </a:r>
            <a:endParaRPr lang="en-US" sz="6600" dirty="0">
              <a:latin typeface="League Spartan" pitchFamily="2" charset="77"/>
            </a:endParaRPr>
          </a:p>
          <a:p>
            <a:pPr marL="0" indent="0" algn="l">
              <a:lnSpc>
                <a:spcPct val="91188"/>
              </a:lnSpc>
              <a:buNone/>
            </a:pPr>
            <a:r>
              <a:rPr lang="en-US" sz="6600" b="1" kern="0" spc="-66" dirty="0">
                <a:solidFill>
                  <a:srgbClr val="FFFFFF"/>
                </a:solidFill>
                <a:latin typeface="League Spartan" pitchFamily="2" charset="77"/>
                <a:ea typeface="Arial" pitchFamily="34" charset="-122"/>
                <a:cs typeface="Arial" pitchFamily="34" charset="-120"/>
              </a:rPr>
              <a:t>Stronger — or Just Bigger?</a:t>
            </a:r>
            <a:endParaRPr lang="en-US" sz="6600" dirty="0">
              <a:latin typeface="League Spartan" pitchFamily="2" charset="77"/>
            </a:endParaRPr>
          </a:p>
        </p:txBody>
      </p:sp>
      <p:sp>
        <p:nvSpPr>
          <p:cNvPr id="9" name="Text 6"/>
          <p:cNvSpPr/>
          <p:nvPr/>
        </p:nvSpPr>
        <p:spPr>
          <a:xfrm>
            <a:off x="6036132" y="5853545"/>
            <a:ext cx="11693932" cy="932189"/>
          </a:xfrm>
          <a:prstGeom prst="rect">
            <a:avLst/>
          </a:prstGeom>
          <a:noFill/>
          <a:ln/>
        </p:spPr>
        <p:txBody>
          <a:bodyPr wrap="square" lIns="25400" tIns="25400" rIns="25400" bIns="25400" rtlCol="0" anchor="t">
            <a:normAutofit fontScale="55000" lnSpcReduction="20000"/>
          </a:bodyPr>
          <a:lstStyle/>
          <a:p>
            <a:pPr>
              <a:lnSpc>
                <a:spcPct val="120000"/>
              </a:lnSpc>
              <a:spcAft>
                <a:spcPts val="600"/>
              </a:spcAft>
            </a:pPr>
            <a:r>
              <a:rPr lang="en-US" sz="5100" dirty="0">
                <a:solidFill>
                  <a:schemeClr val="bg1"/>
                </a:solidFill>
                <a:latin typeface="League Spartan" pitchFamily="2" charset="77"/>
                <a:ea typeface="Arial" pitchFamily="34" charset="-122"/>
                <a:cs typeface="Arial" pitchFamily="34" charset="-120"/>
              </a:rPr>
              <a:t>Mark Stanley</a:t>
            </a:r>
          </a:p>
          <a:p>
            <a:r>
              <a:rPr lang="en-US" sz="3800" dirty="0">
                <a:solidFill>
                  <a:srgbClr val="C9D0D9"/>
                </a:solidFill>
                <a:latin typeface="League Spartan" pitchFamily="2" charset="77"/>
                <a:ea typeface="Arial" pitchFamily="34" charset="-122"/>
                <a:cs typeface="Arial" pitchFamily="34" charset="-120"/>
              </a:rPr>
              <a:t>Teacher ·  Expert EOS Implementer™  ·  Co-Author of Data ·  Clarus Visionary ·  UNSTOPPABLE! Visionary</a:t>
            </a:r>
            <a:endParaRPr lang="en-US" sz="3800" dirty="0">
              <a:latin typeface="League Spartan" pitchFamily="2" charset="77"/>
            </a:endParaRPr>
          </a:p>
        </p:txBody>
      </p:sp>
      <p:sp>
        <p:nvSpPr>
          <p:cNvPr id="10" name="Text 7"/>
          <p:cNvSpPr/>
          <p:nvPr/>
        </p:nvSpPr>
        <p:spPr>
          <a:xfrm>
            <a:off x="6036132" y="7277904"/>
            <a:ext cx="11315674" cy="952622"/>
          </a:xfrm>
          <a:prstGeom prst="rect">
            <a:avLst/>
          </a:prstGeom>
          <a:noFill/>
          <a:ln/>
        </p:spPr>
        <p:txBody>
          <a:bodyPr wrap="square" lIns="25400" tIns="25400" rIns="25400" bIns="25400" rtlCol="0" anchor="t">
            <a:normAutofit/>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linkedin.com/in/</a:t>
            </a:r>
            <a:r>
              <a:rPr lang="en-US" sz="2550" b="1" dirty="0" err="1">
                <a:solidFill>
                  <a:srgbClr val="FF7900"/>
                </a:solidFill>
                <a:latin typeface="League Spartan" pitchFamily="2" charset="77"/>
                <a:ea typeface="Arial" pitchFamily="34" charset="-122"/>
                <a:cs typeface="Arial" pitchFamily="34" charset="-120"/>
              </a:rPr>
              <a:t>markstanleyprofile</a:t>
            </a:r>
            <a:endParaRPr lang="en-US" sz="2550" b="1" dirty="0">
              <a:solidFill>
                <a:srgbClr val="FF7900"/>
              </a:solidFill>
              <a:latin typeface="League Spartan" pitchFamily="2" charset="77"/>
              <a:ea typeface="Arial" pitchFamily="34" charset="-122"/>
              <a:cs typeface="Arial" pitchFamily="34" charset="-120"/>
            </a:endParaRPr>
          </a:p>
          <a:p>
            <a:pPr marL="0" indent="0" algn="l">
              <a:buNone/>
            </a:pPr>
            <a:r>
              <a:rPr lang="en-US" sz="2550" b="1" dirty="0" err="1">
                <a:solidFill>
                  <a:srgbClr val="FF7900"/>
                </a:solidFill>
                <a:latin typeface="League Spartan" pitchFamily="2" charset="77"/>
                <a:cs typeface="Arial" pitchFamily="34" charset="-120"/>
              </a:rPr>
              <a:t>www.markstanley.com</a:t>
            </a:r>
            <a:endParaRPr lang="en-US" sz="2550" dirty="0">
              <a:latin typeface="League Spartan"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3"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5451883" cy="742403"/>
          </a:xfrm>
          <a:prstGeom prst="rect">
            <a:avLst/>
          </a:prstGeom>
          <a:noFill/>
          <a:ln/>
        </p:spPr>
        <p:txBody>
          <a:bodyPr wrap="square" lIns="25400" tIns="25400" rIns="25400" bIns="25400" rtlCol="0" anchor="t">
            <a:normAutofit fontScale="92500" lnSpcReduction="10000"/>
          </a:bodyPr>
          <a:lstStyle/>
          <a:p>
            <a:pPr marL="0" indent="0" algn="l">
              <a:buNone/>
            </a:pPr>
            <a:r>
              <a:rPr lang="en-US" sz="5400" b="1" kern="0" spc="-48" dirty="0">
                <a:solidFill>
                  <a:srgbClr val="142233"/>
                </a:solidFill>
                <a:latin typeface="League Spartan" pitchFamily="2" charset="77"/>
                <a:ea typeface="Arial" pitchFamily="34" charset="-122"/>
                <a:cs typeface="Arial" pitchFamily="34" charset="-120"/>
              </a:rPr>
              <a:t>Session Agenda</a:t>
            </a:r>
            <a:endParaRPr lang="en-US" sz="5400" dirty="0">
              <a:latin typeface="League Spartan" pitchFamily="2" charset="77"/>
            </a:endParaRPr>
          </a:p>
        </p:txBody>
      </p:sp>
      <p:grpSp>
        <p:nvGrpSpPr>
          <p:cNvPr id="27" name="Group 26">
            <a:extLst>
              <a:ext uri="{FF2B5EF4-FFF2-40B4-BE49-F238E27FC236}">
                <a16:creationId xmlns:a16="http://schemas.microsoft.com/office/drawing/2014/main" id="{EB371D63-441A-6303-B403-E91C150CBA85}"/>
              </a:ext>
            </a:extLst>
          </p:cNvPr>
          <p:cNvGrpSpPr/>
          <p:nvPr/>
        </p:nvGrpSpPr>
        <p:grpSpPr>
          <a:xfrm>
            <a:off x="952453" y="2802979"/>
            <a:ext cx="16383053" cy="1099384"/>
            <a:chOff x="952453" y="2802979"/>
            <a:chExt cx="16383053" cy="1099384"/>
          </a:xfrm>
        </p:grpSpPr>
        <p:sp>
          <p:nvSpPr>
            <p:cNvPr id="4" name="Shape 2"/>
            <p:cNvSpPr/>
            <p:nvPr/>
          </p:nvSpPr>
          <p:spPr>
            <a:xfrm>
              <a:off x="952453" y="3884973"/>
              <a:ext cx="16383053" cy="17390"/>
            </a:xfrm>
            <a:prstGeom prst="rect">
              <a:avLst/>
            </a:prstGeom>
            <a:solidFill>
              <a:srgbClr val="E5E8EB"/>
            </a:solidFill>
            <a:ln/>
          </p:spPr>
          <p:txBody>
            <a:bodyPr/>
            <a:lstStyle/>
            <a:p>
              <a:endParaRPr lang="en-US" sz="2800">
                <a:latin typeface="League Spartan" pitchFamily="2" charset="77"/>
              </a:endParaRPr>
            </a:p>
          </p:txBody>
        </p:sp>
        <p:sp>
          <p:nvSpPr>
            <p:cNvPr id="5" name="Text 3"/>
            <p:cNvSpPr/>
            <p:nvPr/>
          </p:nvSpPr>
          <p:spPr>
            <a:xfrm>
              <a:off x="952453" y="2802979"/>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01</a:t>
              </a:r>
              <a:endParaRPr lang="en-US" sz="4400" dirty="0">
                <a:latin typeface="League Spartan" pitchFamily="2" charset="77"/>
              </a:endParaRPr>
            </a:p>
          </p:txBody>
        </p:sp>
        <p:sp>
          <p:nvSpPr>
            <p:cNvPr id="6" name="Text 4"/>
            <p:cNvSpPr/>
            <p:nvPr/>
          </p:nvSpPr>
          <p:spPr>
            <a:xfrm>
              <a:off x="2133491" y="2855150"/>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The Trap</a:t>
              </a:r>
              <a:endParaRPr lang="en-US" sz="4000" dirty="0">
                <a:latin typeface="League Spartan" pitchFamily="2" charset="77"/>
              </a:endParaRPr>
            </a:p>
          </p:txBody>
        </p:sp>
        <p:sp>
          <p:nvSpPr>
            <p:cNvPr id="7" name="Text 5"/>
            <p:cNvSpPr/>
            <p:nvPr/>
          </p:nvSpPr>
          <p:spPr>
            <a:xfrm>
              <a:off x="7545252" y="2985576"/>
              <a:ext cx="9167397" cy="498940"/>
            </a:xfrm>
            <a:prstGeom prst="rect">
              <a:avLst/>
            </a:prstGeom>
            <a:noFill/>
            <a:ln/>
          </p:spPr>
          <p:txBody>
            <a:bodyPr wrap="square" lIns="25400" tIns="25400" rIns="25400" bIns="25400" rtlCol="0" anchor="t">
              <a:noAutofit/>
            </a:bodyPr>
            <a:lstStyle/>
            <a:p>
              <a:pPr marL="0" indent="0" algn="l">
                <a:buNone/>
              </a:pPr>
              <a:r>
                <a:rPr lang="en-US" sz="3200" dirty="0">
                  <a:solidFill>
                    <a:srgbClr val="5A6472"/>
                  </a:solidFill>
                  <a:latin typeface="League Spartan" pitchFamily="2" charset="77"/>
                  <a:ea typeface="Arial" pitchFamily="34" charset="-122"/>
                  <a:cs typeface="Arial" pitchFamily="34" charset="-120"/>
                </a:rPr>
                <a:t>Why revenue can grow while the business gets weaker</a:t>
              </a:r>
              <a:endParaRPr lang="en-US" sz="3200" dirty="0">
                <a:latin typeface="League Spartan" pitchFamily="2" charset="77"/>
              </a:endParaRPr>
            </a:p>
          </p:txBody>
        </p:sp>
      </p:grpSp>
      <p:grpSp>
        <p:nvGrpSpPr>
          <p:cNvPr id="21" name="Group 20">
            <a:extLst>
              <a:ext uri="{FF2B5EF4-FFF2-40B4-BE49-F238E27FC236}">
                <a16:creationId xmlns:a16="http://schemas.microsoft.com/office/drawing/2014/main" id="{3966C4A6-11FF-3A12-3244-6A645B81AAB3}"/>
              </a:ext>
            </a:extLst>
          </p:cNvPr>
          <p:cNvGrpSpPr/>
          <p:nvPr/>
        </p:nvGrpSpPr>
        <p:grpSpPr>
          <a:xfrm>
            <a:off x="952453" y="4188078"/>
            <a:ext cx="16383053" cy="1079506"/>
            <a:chOff x="952453" y="4188078"/>
            <a:chExt cx="16383053" cy="1079506"/>
          </a:xfrm>
        </p:grpSpPr>
        <p:sp>
          <p:nvSpPr>
            <p:cNvPr id="8" name="Shape 6"/>
            <p:cNvSpPr/>
            <p:nvPr/>
          </p:nvSpPr>
          <p:spPr>
            <a:xfrm>
              <a:off x="952453" y="5250194"/>
              <a:ext cx="16383053" cy="17390"/>
            </a:xfrm>
            <a:prstGeom prst="rect">
              <a:avLst/>
            </a:prstGeom>
            <a:solidFill>
              <a:srgbClr val="E5E8EB"/>
            </a:solidFill>
            <a:ln/>
          </p:spPr>
          <p:txBody>
            <a:bodyPr/>
            <a:lstStyle/>
            <a:p>
              <a:endParaRPr lang="en-US" sz="2800">
                <a:latin typeface="League Spartan" pitchFamily="2" charset="77"/>
              </a:endParaRPr>
            </a:p>
          </p:txBody>
        </p:sp>
        <p:sp>
          <p:nvSpPr>
            <p:cNvPr id="9" name="Text 7"/>
            <p:cNvSpPr/>
            <p:nvPr/>
          </p:nvSpPr>
          <p:spPr>
            <a:xfrm>
              <a:off x="952453" y="4188078"/>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02</a:t>
              </a:r>
              <a:endParaRPr lang="en-US" sz="4400" dirty="0">
                <a:latin typeface="League Spartan" pitchFamily="2" charset="77"/>
              </a:endParaRPr>
            </a:p>
          </p:txBody>
        </p:sp>
        <p:sp>
          <p:nvSpPr>
            <p:cNvPr id="10" name="Text 8"/>
            <p:cNvSpPr/>
            <p:nvPr/>
          </p:nvSpPr>
          <p:spPr>
            <a:xfrm>
              <a:off x="2133491" y="4240249"/>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Five Numbers</a:t>
              </a:r>
              <a:endParaRPr lang="en-US" sz="4000" dirty="0">
                <a:latin typeface="League Spartan" pitchFamily="2" charset="77"/>
              </a:endParaRPr>
            </a:p>
          </p:txBody>
        </p:sp>
        <p:sp>
          <p:nvSpPr>
            <p:cNvPr id="11" name="Text 9"/>
            <p:cNvSpPr/>
            <p:nvPr/>
          </p:nvSpPr>
          <p:spPr>
            <a:xfrm>
              <a:off x="7545252" y="4370675"/>
              <a:ext cx="9213371" cy="498940"/>
            </a:xfrm>
            <a:prstGeom prst="rect">
              <a:avLst/>
            </a:prstGeom>
            <a:noFill/>
            <a:ln/>
          </p:spPr>
          <p:txBody>
            <a:bodyPr wrap="square" lIns="25400" tIns="25400" rIns="25400" bIns="25400" rtlCol="0" anchor="t">
              <a:noAutofit/>
            </a:bodyPr>
            <a:lstStyle/>
            <a:p>
              <a:pPr marL="0" indent="0" algn="l">
                <a:buNone/>
              </a:pPr>
              <a:r>
                <a:rPr lang="en-US" sz="3200" dirty="0">
                  <a:solidFill>
                    <a:srgbClr val="5A6472"/>
                  </a:solidFill>
                  <a:latin typeface="League Spartan" pitchFamily="2" charset="77"/>
                  <a:ea typeface="Arial" pitchFamily="34" charset="-122"/>
                  <a:cs typeface="Arial" pitchFamily="34" charset="-120"/>
                </a:rPr>
                <a:t>The whole P&amp;L — then your Profit Power Ratio™, live</a:t>
              </a:r>
              <a:endParaRPr lang="en-US" sz="3200" dirty="0">
                <a:latin typeface="League Spartan" pitchFamily="2" charset="77"/>
              </a:endParaRPr>
            </a:p>
          </p:txBody>
        </p:sp>
      </p:grpSp>
      <p:grpSp>
        <p:nvGrpSpPr>
          <p:cNvPr id="25" name="Group 24">
            <a:extLst>
              <a:ext uri="{FF2B5EF4-FFF2-40B4-BE49-F238E27FC236}">
                <a16:creationId xmlns:a16="http://schemas.microsoft.com/office/drawing/2014/main" id="{A744E962-52BF-8431-085F-CA2EAE6E3970}"/>
              </a:ext>
            </a:extLst>
          </p:cNvPr>
          <p:cNvGrpSpPr/>
          <p:nvPr/>
        </p:nvGrpSpPr>
        <p:grpSpPr>
          <a:xfrm>
            <a:off x="952453" y="5553299"/>
            <a:ext cx="16383053" cy="1079506"/>
            <a:chOff x="952453" y="5553299"/>
            <a:chExt cx="16383053" cy="1079506"/>
          </a:xfrm>
        </p:grpSpPr>
        <p:sp>
          <p:nvSpPr>
            <p:cNvPr id="12" name="Shape 10"/>
            <p:cNvSpPr/>
            <p:nvPr/>
          </p:nvSpPr>
          <p:spPr>
            <a:xfrm>
              <a:off x="952453" y="6615415"/>
              <a:ext cx="16383053" cy="17390"/>
            </a:xfrm>
            <a:prstGeom prst="rect">
              <a:avLst/>
            </a:prstGeom>
            <a:solidFill>
              <a:srgbClr val="E5E8EB"/>
            </a:solidFill>
            <a:ln/>
          </p:spPr>
          <p:txBody>
            <a:bodyPr/>
            <a:lstStyle/>
            <a:p>
              <a:endParaRPr lang="en-US" sz="2800">
                <a:latin typeface="League Spartan" pitchFamily="2" charset="77"/>
              </a:endParaRPr>
            </a:p>
          </p:txBody>
        </p:sp>
        <p:sp>
          <p:nvSpPr>
            <p:cNvPr id="13" name="Text 11"/>
            <p:cNvSpPr/>
            <p:nvPr/>
          </p:nvSpPr>
          <p:spPr>
            <a:xfrm>
              <a:off x="952453" y="5553299"/>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03</a:t>
              </a:r>
              <a:endParaRPr lang="en-US" sz="4400" dirty="0">
                <a:latin typeface="League Spartan" pitchFamily="2" charset="77"/>
              </a:endParaRPr>
            </a:p>
          </p:txBody>
        </p:sp>
        <p:sp>
          <p:nvSpPr>
            <p:cNvPr id="14" name="Text 12"/>
            <p:cNvSpPr/>
            <p:nvPr/>
          </p:nvSpPr>
          <p:spPr>
            <a:xfrm>
              <a:off x="2133491" y="5605470"/>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The 7 Power Moves</a:t>
              </a:r>
              <a:endParaRPr lang="en-US" sz="4000" dirty="0">
                <a:latin typeface="League Spartan" pitchFamily="2" charset="77"/>
              </a:endParaRPr>
            </a:p>
          </p:txBody>
        </p:sp>
        <p:sp>
          <p:nvSpPr>
            <p:cNvPr id="15" name="Text 13"/>
            <p:cNvSpPr/>
            <p:nvPr/>
          </p:nvSpPr>
          <p:spPr>
            <a:xfrm>
              <a:off x="7545252" y="5735896"/>
              <a:ext cx="9623403" cy="498940"/>
            </a:xfrm>
            <a:prstGeom prst="rect">
              <a:avLst/>
            </a:prstGeom>
            <a:noFill/>
            <a:ln/>
          </p:spPr>
          <p:txBody>
            <a:bodyPr wrap="square" lIns="25400" tIns="25400" rIns="25400" bIns="25400" rtlCol="0" anchor="t">
              <a:noAutofit/>
            </a:bodyPr>
            <a:lstStyle/>
            <a:p>
              <a:pPr marL="0" indent="0" algn="l">
                <a:buNone/>
              </a:pPr>
              <a:r>
                <a:rPr lang="en-US" sz="2800" dirty="0">
                  <a:solidFill>
                    <a:srgbClr val="5A6472"/>
                  </a:solidFill>
                  <a:latin typeface="League Spartan" pitchFamily="2" charset="77"/>
                  <a:ea typeface="Arial" pitchFamily="34" charset="-122"/>
                  <a:cs typeface="Arial" pitchFamily="34" charset="-120"/>
                </a:rPr>
                <a:t>Four that find hidden profit, three that release trapped cash</a:t>
              </a:r>
              <a:endParaRPr lang="en-US" sz="2800" dirty="0">
                <a:latin typeface="League Spartan" pitchFamily="2" charset="77"/>
              </a:endParaRPr>
            </a:p>
          </p:txBody>
        </p:sp>
      </p:grpSp>
      <p:grpSp>
        <p:nvGrpSpPr>
          <p:cNvPr id="26" name="Group 25">
            <a:extLst>
              <a:ext uri="{FF2B5EF4-FFF2-40B4-BE49-F238E27FC236}">
                <a16:creationId xmlns:a16="http://schemas.microsoft.com/office/drawing/2014/main" id="{2E702987-205C-63C0-71E7-B0541080F6A9}"/>
              </a:ext>
            </a:extLst>
          </p:cNvPr>
          <p:cNvGrpSpPr/>
          <p:nvPr/>
        </p:nvGrpSpPr>
        <p:grpSpPr>
          <a:xfrm>
            <a:off x="952453" y="6918520"/>
            <a:ext cx="16383053" cy="1059628"/>
            <a:chOff x="952453" y="6918520"/>
            <a:chExt cx="16383053" cy="1059628"/>
          </a:xfrm>
        </p:grpSpPr>
        <p:sp>
          <p:nvSpPr>
            <p:cNvPr id="16" name="Shape 14"/>
            <p:cNvSpPr/>
            <p:nvPr/>
          </p:nvSpPr>
          <p:spPr>
            <a:xfrm>
              <a:off x="952453" y="7960758"/>
              <a:ext cx="16383053" cy="17390"/>
            </a:xfrm>
            <a:prstGeom prst="rect">
              <a:avLst/>
            </a:prstGeom>
            <a:solidFill>
              <a:srgbClr val="E5E8EB"/>
            </a:solidFill>
            <a:ln/>
          </p:spPr>
          <p:txBody>
            <a:bodyPr/>
            <a:lstStyle/>
            <a:p>
              <a:endParaRPr lang="en-US" sz="2800">
                <a:latin typeface="League Spartan" pitchFamily="2" charset="77"/>
              </a:endParaRPr>
            </a:p>
          </p:txBody>
        </p:sp>
        <p:sp>
          <p:nvSpPr>
            <p:cNvPr id="17" name="Text 15"/>
            <p:cNvSpPr/>
            <p:nvPr/>
          </p:nvSpPr>
          <p:spPr>
            <a:xfrm>
              <a:off x="952453" y="6918520"/>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04</a:t>
              </a:r>
              <a:endParaRPr lang="en-US" sz="4400" dirty="0">
                <a:latin typeface="League Spartan" pitchFamily="2" charset="77"/>
              </a:endParaRPr>
            </a:p>
          </p:txBody>
        </p:sp>
        <p:sp>
          <p:nvSpPr>
            <p:cNvPr id="18" name="Text 16"/>
            <p:cNvSpPr/>
            <p:nvPr/>
          </p:nvSpPr>
          <p:spPr>
            <a:xfrm>
              <a:off x="2133491" y="6970691"/>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First Move Monday</a:t>
              </a:r>
              <a:endParaRPr lang="en-US" sz="4000" dirty="0">
                <a:latin typeface="League Spartan" pitchFamily="2" charset="77"/>
              </a:endParaRPr>
            </a:p>
          </p:txBody>
        </p:sp>
        <p:sp>
          <p:nvSpPr>
            <p:cNvPr id="19" name="Text 17"/>
            <p:cNvSpPr/>
            <p:nvPr/>
          </p:nvSpPr>
          <p:spPr>
            <a:xfrm>
              <a:off x="7545253" y="7101117"/>
              <a:ext cx="9210270" cy="498940"/>
            </a:xfrm>
            <a:prstGeom prst="rect">
              <a:avLst/>
            </a:prstGeom>
            <a:noFill/>
            <a:ln/>
          </p:spPr>
          <p:txBody>
            <a:bodyPr wrap="square" lIns="25400" tIns="25400" rIns="25400" bIns="25400" rtlCol="0" anchor="t">
              <a:normAutofit/>
            </a:bodyPr>
            <a:lstStyle/>
            <a:p>
              <a:pPr marL="0" indent="0" algn="l">
                <a:buNone/>
              </a:pPr>
              <a:r>
                <a:rPr lang="en-US" sz="2800" dirty="0">
                  <a:solidFill>
                    <a:srgbClr val="5A6472"/>
                  </a:solidFill>
                  <a:latin typeface="League Spartan" pitchFamily="2" charset="77"/>
                  <a:ea typeface="Arial" pitchFamily="34" charset="-122"/>
                  <a:cs typeface="Arial" pitchFamily="34" charset="-120"/>
                </a:rPr>
                <a:t>Your number, your move — plus what's next and Q&amp;A</a:t>
              </a:r>
              <a:endParaRPr lang="en-US" sz="2800" dirty="0">
                <a:latin typeface="League Spartan" pitchFamily="2" charset="77"/>
              </a:endParaRPr>
            </a:p>
          </p:txBody>
        </p:sp>
      </p:grpSp>
      <p:sp>
        <p:nvSpPr>
          <p:cNvPr id="20" name="Text 1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22" name="Text 19"/>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pic>
        <p:nvPicPr>
          <p:cNvPr id="24" name="Picture 23" descr="texas_mark_light.png"/>
          <p:cNvPicPr>
            <a:picLocks noChangeAspect="1"/>
          </p:cNvPicPr>
          <p:nvPr/>
        </p:nvPicPr>
        <p:blipFill>
          <a:blip r:embed="rId3"/>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3000"/>
                                  </p:stCondLst>
                                  <p:childTnLst>
                                    <p:set>
                                      <p:cBhvr>
                                        <p:cTn id="9" dur="1" fill="hold">
                                          <p:stCondLst>
                                            <p:cond delay="0"/>
                                          </p:stCondLst>
                                        </p:cTn>
                                        <p:tgtEl>
                                          <p:spTgt spid="2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98782"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376479"/>
            <a:ext cx="14519900" cy="1371574"/>
          </a:xfrm>
          <a:prstGeom prst="rect">
            <a:avLst/>
          </a:prstGeom>
          <a:noFill/>
          <a:ln/>
        </p:spPr>
        <p:txBody>
          <a:bodyPr wrap="square" lIns="25400" tIns="25400" rIns="25400" bIns="25400" rtlCol="0" anchor="t">
            <a:normAutofit/>
          </a:bodyPr>
          <a:lstStyle/>
          <a:p>
            <a:pPr marL="0" indent="0" algn="l">
              <a:lnSpc>
                <a:spcPct val="108768"/>
              </a:lnSpc>
              <a:buNone/>
            </a:pPr>
            <a:r>
              <a:rPr lang="en-US" sz="6000" b="1" kern="0" spc="-21" dirty="0">
                <a:solidFill>
                  <a:srgbClr val="FFFFFF"/>
                </a:solidFill>
                <a:latin typeface="League Spartan" pitchFamily="2" charset="77"/>
                <a:ea typeface="Arial" pitchFamily="34" charset="-122"/>
                <a:cs typeface="Arial" pitchFamily="34" charset="-120"/>
              </a:rPr>
              <a:t>We grew twenty percent last year.</a:t>
            </a:r>
            <a:endParaRPr lang="en-US" sz="6000" dirty="0">
              <a:latin typeface="League Spartan" pitchFamily="2" charset="77"/>
            </a:endParaRPr>
          </a:p>
        </p:txBody>
      </p:sp>
      <p:sp>
        <p:nvSpPr>
          <p:cNvPr id="5" name="Text 3"/>
          <p:cNvSpPr/>
          <p:nvPr/>
        </p:nvSpPr>
        <p:spPr>
          <a:xfrm>
            <a:off x="1527048" y="6169818"/>
            <a:ext cx="10972800" cy="407642"/>
          </a:xfrm>
          <a:prstGeom prst="rect">
            <a:avLst/>
          </a:prstGeom>
          <a:noFill/>
          <a:ln/>
        </p:spPr>
        <p:txBody>
          <a:bodyPr wrap="square" lIns="25400" tIns="25400" rIns="25400" bIns="25400" rtlCol="0" anchor="t">
            <a:noAutofit/>
          </a:bodyPr>
          <a:lstStyle/>
          <a:p>
            <a:pPr marL="0" indent="0" algn="l">
              <a:buNone/>
            </a:pPr>
            <a:r>
              <a:rPr lang="en-US" sz="4000" b="1" dirty="0">
                <a:solidFill>
                  <a:srgbClr val="FF7900"/>
                </a:solidFill>
                <a:latin typeface="League Spartan" pitchFamily="2" charset="77"/>
                <a:ea typeface="Arial" pitchFamily="34" charset="-122"/>
                <a:cs typeface="Arial" pitchFamily="34" charset="-120"/>
              </a:rPr>
              <a:t>No sentence feels better to say.</a:t>
            </a:r>
            <a:endParaRPr lang="en-US" sz="4000" dirty="0">
              <a:latin typeface="League Spartan" pitchFamily="2" charset="77"/>
            </a:endParaRPr>
          </a:p>
        </p:txBody>
      </p:sp>
      <p:sp>
        <p:nvSpPr>
          <p:cNvPr id="6" name="Text 4"/>
          <p:cNvSpPr/>
          <p:nvPr/>
        </p:nvSpPr>
        <p:spPr>
          <a:xfrm>
            <a:off x="1523951" y="6999225"/>
            <a:ext cx="12801600" cy="1477613"/>
          </a:xfrm>
          <a:prstGeom prst="rect">
            <a:avLst/>
          </a:prstGeom>
          <a:noFill/>
          <a:ln/>
        </p:spPr>
        <p:txBody>
          <a:bodyPr wrap="square" lIns="25400" tIns="25400" rIns="25400" bIns="25400" rtlCol="0" anchor="t">
            <a:normAutofit/>
          </a:bodyPr>
          <a:lstStyle/>
          <a:p>
            <a:pPr marL="0" indent="0" algn="l">
              <a:buNone/>
            </a:pPr>
            <a:r>
              <a:rPr lang="en-US" sz="3600" dirty="0">
                <a:solidFill>
                  <a:srgbClr val="AEB7C2"/>
                </a:solidFill>
                <a:latin typeface="League Spartan" pitchFamily="2" charset="77"/>
                <a:ea typeface="Arial" pitchFamily="34" charset="-122"/>
                <a:cs typeface="Arial" pitchFamily="34" charset="-120"/>
              </a:rPr>
              <a:t>No number is easier to hide behind.</a:t>
            </a:r>
            <a:endParaRPr lang="en-US" sz="3600" dirty="0">
              <a:latin typeface="League Spartan" pitchFamily="2" charset="77"/>
            </a:endParaRPr>
          </a:p>
        </p:txBody>
      </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1000"/>
                                        <p:tgtEl>
                                          <p:spTgt spid="4"/>
                                        </p:tgtEl>
                                      </p:cBhvr>
                                    </p:animEffect>
                                  </p:childTnLst>
                                </p:cTn>
                              </p:par>
                            </p:childTnLst>
                          </p:cTn>
                        </p:par>
                        <p:par>
                          <p:cTn id="8" fill="hold">
                            <p:stCondLst>
                              <p:cond delay="2000"/>
                            </p:stCondLst>
                            <p:childTnLst>
                              <p:par>
                                <p:cTn id="9" presetID="1" presetClass="entr" presetSubtype="0" fill="hold" grpId="0" nodeType="afterEffect">
                                  <p:stCondLst>
                                    <p:cond delay="200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4000"/>
                            </p:stCondLst>
                            <p:childTnLst>
                              <p:par>
                                <p:cTn id="12" presetID="1" presetClass="entr" presetSubtype="0" fill="hold" grpId="0" nodeType="afterEffect">
                                  <p:stCondLst>
                                    <p:cond delay="200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Flag Ghost Background" descr="flag_ghost.png"/>
          <p:cNvPicPr>
            <a:picLocks noChangeAspect="1"/>
          </p:cNvPicPr>
          <p:nvPr/>
        </p:nvPicPr>
        <p:blipFill>
          <a:blip r:embed="rId3">
            <a:alphaModFix amt="53000"/>
          </a:blip>
          <a:srcRect l="1631" t="7502" r="3765" b="-1548"/>
          <a:stretch>
            <a:fillRect/>
          </a:stretch>
        </p:blipFill>
        <p:spPr>
          <a:xfrm>
            <a:off x="-198783" y="0"/>
            <a:ext cx="18805291" cy="10515600"/>
          </a:xfrm>
          <a:prstGeom prst="rect">
            <a:avLst/>
          </a:prstGeom>
        </p:spPr>
      </p:pic>
      <p:sp>
        <p:nvSpPr>
          <p:cNvPr id="20" name="LED Lower-Third Gradient"/>
          <p:cNvSpPr/>
          <p:nvPr/>
        </p:nvSpPr>
        <p:spPr>
          <a:xfrm>
            <a:off x="-45720" y="6858000"/>
            <a:ext cx="18379440" cy="3474720"/>
          </a:xfrm>
          <a:prstGeom prst="rect">
            <a:avLst/>
          </a:prstGeom>
          <a:gradFill rotWithShape="1">
            <a:gsLst>
              <a:gs pos="0">
                <a:srgbClr val="142233">
                  <a:alpha val="0"/>
                </a:srgbClr>
              </a:gs>
              <a:gs pos="100000">
                <a:srgbClr val="142233">
                  <a:alpha val="92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ext 0"/>
          <p:cNvSpPr/>
          <p:nvPr/>
        </p:nvSpPr>
        <p:spPr>
          <a:xfrm>
            <a:off x="952453" y="588844"/>
            <a:ext cx="18021359" cy="742403"/>
          </a:xfrm>
          <a:prstGeom prst="rect">
            <a:avLst/>
          </a:prstGeom>
          <a:noFill/>
          <a:ln/>
        </p:spPr>
        <p:txBody>
          <a:bodyPr wrap="square" lIns="25400" tIns="25400" rIns="25400" bIns="25400" rtlCol="0" anchor="t">
            <a:normAutofit fontScale="92500" lnSpcReduction="10000"/>
          </a:bodyPr>
          <a:lstStyle/>
          <a:p>
            <a:pPr marL="0" indent="0" algn="l">
              <a:buNone/>
            </a:pPr>
            <a:r>
              <a:rPr lang="en-US" sz="5400" b="1" kern="0" spc="-48" dirty="0">
                <a:solidFill>
                  <a:srgbClr val="142233"/>
                </a:solidFill>
                <a:latin typeface="League Spartan" pitchFamily="2" charset="77"/>
                <a:ea typeface="Arial" pitchFamily="34" charset="-122"/>
                <a:cs typeface="Arial" pitchFamily="34" charset="-120"/>
              </a:rPr>
              <a:t>December 31, 2008 — Into the Great Recession</a:t>
            </a:r>
            <a:endParaRPr lang="en-US" sz="54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6" name="Picture 5" descr="Steel_Prices_Slide_Dark.png"/>
          <p:cNvPicPr>
            <a:picLocks noChangeAspect="1"/>
          </p:cNvPicPr>
          <p:nvPr/>
        </p:nvPicPr>
        <p:blipFill>
          <a:blip r:embed="rId4"/>
          <a:stretch>
            <a:fillRect/>
          </a:stretch>
        </p:blipFill>
        <p:spPr>
          <a:xfrm>
            <a:off x="129435" y="2531734"/>
            <a:ext cx="8473307" cy="4723526"/>
          </a:xfrm>
          <a:prstGeom prst="rect">
            <a:avLst/>
          </a:prstGeom>
        </p:spPr>
      </p:pic>
      <p:graphicFrame>
        <p:nvGraphicFramePr>
          <p:cNvPr id="19" name="Table 18"/>
          <p:cNvGraphicFramePr>
            <a:graphicFrameLocks noGrp="1"/>
          </p:cNvGraphicFramePr>
          <p:nvPr/>
        </p:nvGraphicFramePr>
        <p:xfrm>
          <a:off x="9144000" y="2144687"/>
          <a:ext cx="8820327" cy="5802399"/>
        </p:xfrm>
        <a:graphic>
          <a:graphicData uri="http://schemas.openxmlformats.org/drawingml/2006/table">
            <a:tbl>
              <a:tblPr firstRow="1" bandRow="1">
                <a:tableStyleId>{5C22544A-7EE6-4342-B048-85BDC9FD1C3A}</a:tableStyleId>
              </a:tblPr>
              <a:tblGrid>
                <a:gridCol w="3316018">
                  <a:extLst>
                    <a:ext uri="{9D8B030D-6E8A-4147-A177-3AD203B41FA5}">
                      <a16:colId xmlns:a16="http://schemas.microsoft.com/office/drawing/2014/main" val="20000"/>
                    </a:ext>
                  </a:extLst>
                </a:gridCol>
                <a:gridCol w="2710092">
                  <a:extLst>
                    <a:ext uri="{9D8B030D-6E8A-4147-A177-3AD203B41FA5}">
                      <a16:colId xmlns:a16="http://schemas.microsoft.com/office/drawing/2014/main" val="20001"/>
                    </a:ext>
                  </a:extLst>
                </a:gridCol>
                <a:gridCol w="2794217">
                  <a:extLst>
                    <a:ext uri="{9D8B030D-6E8A-4147-A177-3AD203B41FA5}">
                      <a16:colId xmlns:a16="http://schemas.microsoft.com/office/drawing/2014/main" val="20002"/>
                    </a:ext>
                  </a:extLst>
                </a:gridCol>
              </a:tblGrid>
              <a:tr h="1042619">
                <a:tc>
                  <a:txBody>
                    <a:bodyPr/>
                    <a:lstStyle/>
                    <a:p>
                      <a:pPr algn="l"/>
                      <a:endParaRPr sz="3200" dirty="0"/>
                    </a:p>
                  </a:txBody>
                  <a:tcPr marL="164592" marR="109728" marT="54864" marB="54864" anchor="ctr">
                    <a:solidFill>
                      <a:srgbClr val="142233"/>
                    </a:solidFill>
                  </a:tcPr>
                </a:tc>
                <a:tc>
                  <a:txBody>
                    <a:bodyPr/>
                    <a:lstStyle/>
                    <a:p>
                      <a:pPr algn="ctr"/>
                      <a:r>
                        <a:rPr sz="2400" b="1">
                          <a:solidFill>
                            <a:srgbClr val="FFFFFF"/>
                          </a:solidFill>
                          <a:latin typeface="League Spartan"/>
                        </a:rPr>
                        <a:t>2008 Financials</a:t>
                      </a:r>
                    </a:p>
                  </a:txBody>
                  <a:tcPr marL="164592" marR="109728" marT="54864" marB="54864" anchor="ctr">
                    <a:solidFill>
                      <a:srgbClr val="142233"/>
                    </a:solidFill>
                  </a:tcPr>
                </a:tc>
                <a:tc>
                  <a:txBody>
                    <a:bodyPr/>
                    <a:lstStyle/>
                    <a:p>
                      <a:pPr algn="ctr"/>
                      <a:r>
                        <a:rPr sz="2400" b="1" dirty="0">
                          <a:solidFill>
                            <a:srgbClr val="FF7900"/>
                          </a:solidFill>
                          <a:latin typeface="League Spartan"/>
                        </a:rPr>
                        <a:t>2009 Forecast — </a:t>
                      </a:r>
                      <a:endParaRPr lang="en-US" sz="2400" b="1" dirty="0">
                        <a:solidFill>
                          <a:srgbClr val="FF7900"/>
                        </a:solidFill>
                        <a:latin typeface="League Spartan"/>
                      </a:endParaRPr>
                    </a:p>
                    <a:p>
                      <a:pPr algn="ctr"/>
                      <a:r>
                        <a:rPr sz="2400" b="1" dirty="0">
                          <a:solidFill>
                            <a:srgbClr val="FF7900"/>
                          </a:solidFill>
                          <a:latin typeface="League Spartan"/>
                        </a:rPr>
                        <a:t>6 Months In</a:t>
                      </a:r>
                    </a:p>
                  </a:txBody>
                  <a:tcPr marL="164592" marR="109728" marT="54864" marB="54864" anchor="ctr">
                    <a:solidFill>
                      <a:srgbClr val="142233"/>
                    </a:solidFill>
                  </a:tcPr>
                </a:tc>
                <a:extLst>
                  <a:ext uri="{0D108BD9-81ED-4DB2-BD59-A6C34878D82A}">
                    <a16:rowId xmlns:a16="http://schemas.microsoft.com/office/drawing/2014/main" val="10000"/>
                  </a:ext>
                </a:extLst>
              </a:tr>
              <a:tr h="951956">
                <a:tc>
                  <a:txBody>
                    <a:bodyPr/>
                    <a:lstStyle/>
                    <a:p>
                      <a:pPr algn="l"/>
                      <a:r>
                        <a:rPr sz="2800" b="1">
                          <a:solidFill>
                            <a:srgbClr val="142233"/>
                          </a:solidFill>
                          <a:latin typeface="League Spartan"/>
                        </a:rPr>
                        <a:t>Revenue</a:t>
                      </a:r>
                    </a:p>
                  </a:txBody>
                  <a:tcPr marL="164592" marR="109728" marT="54864" marB="54864" anchor="ctr">
                    <a:solidFill>
                      <a:srgbClr val="FFFFFF"/>
                    </a:solidFill>
                  </a:tcPr>
                </a:tc>
                <a:tc>
                  <a:txBody>
                    <a:bodyPr/>
                    <a:lstStyle/>
                    <a:p>
                      <a:pPr algn="ctr"/>
                      <a:r>
                        <a:rPr sz="2800" b="0">
                          <a:solidFill>
                            <a:srgbClr val="303B4F"/>
                          </a:solidFill>
                          <a:latin typeface="League Spartan"/>
                        </a:rPr>
                        <a:t>$6M</a:t>
                      </a:r>
                    </a:p>
                  </a:txBody>
                  <a:tcPr marL="164592" marR="109728" marT="54864" marB="54864" anchor="ctr">
                    <a:solidFill>
                      <a:srgbClr val="FFFFFF"/>
                    </a:solidFill>
                  </a:tcPr>
                </a:tc>
                <a:tc>
                  <a:txBody>
                    <a:bodyPr/>
                    <a:lstStyle/>
                    <a:p>
                      <a:pPr algn="ctr"/>
                      <a:r>
                        <a:rPr sz="2800" b="0">
                          <a:solidFill>
                            <a:srgbClr val="142233"/>
                          </a:solidFill>
                          <a:latin typeface="League Spartan"/>
                        </a:rPr>
                        <a:t>$3.5M</a:t>
                      </a:r>
                    </a:p>
                  </a:txBody>
                  <a:tcPr marL="164592" marR="109728" marT="54864" marB="54864" anchor="ctr">
                    <a:solidFill>
                      <a:srgbClr val="FFFFFF"/>
                    </a:solidFill>
                  </a:tcPr>
                </a:tc>
                <a:extLst>
                  <a:ext uri="{0D108BD9-81ED-4DB2-BD59-A6C34878D82A}">
                    <a16:rowId xmlns:a16="http://schemas.microsoft.com/office/drawing/2014/main" val="10001"/>
                  </a:ext>
                </a:extLst>
              </a:tr>
              <a:tr h="951956">
                <a:tc>
                  <a:txBody>
                    <a:bodyPr/>
                    <a:lstStyle/>
                    <a:p>
                      <a:pPr algn="l"/>
                      <a:r>
                        <a:rPr sz="2800" b="1">
                          <a:solidFill>
                            <a:srgbClr val="142233"/>
                          </a:solidFill>
                          <a:latin typeface="League Spartan"/>
                        </a:rPr>
                        <a:t>Gross Margin</a:t>
                      </a:r>
                    </a:p>
                  </a:txBody>
                  <a:tcPr marL="164592" marR="109728" marT="54864" marB="54864" anchor="ctr">
                    <a:solidFill>
                      <a:srgbClr val="E5E8EB"/>
                    </a:solidFill>
                  </a:tcPr>
                </a:tc>
                <a:tc>
                  <a:txBody>
                    <a:bodyPr/>
                    <a:lstStyle/>
                    <a:p>
                      <a:pPr algn="ctr"/>
                      <a:r>
                        <a:rPr sz="2800" b="0">
                          <a:solidFill>
                            <a:srgbClr val="303B4F"/>
                          </a:solidFill>
                          <a:latin typeface="League Spartan"/>
                        </a:rPr>
                        <a:t>30–32%</a:t>
                      </a:r>
                    </a:p>
                  </a:txBody>
                  <a:tcPr marL="164592" marR="109728" marT="54864" marB="54864" anchor="ctr">
                    <a:solidFill>
                      <a:srgbClr val="E5E8EB"/>
                    </a:solidFill>
                  </a:tcPr>
                </a:tc>
                <a:tc>
                  <a:txBody>
                    <a:bodyPr/>
                    <a:lstStyle/>
                    <a:p>
                      <a:pPr algn="ctr"/>
                      <a:r>
                        <a:rPr sz="2800" b="0">
                          <a:solidFill>
                            <a:srgbClr val="142233"/>
                          </a:solidFill>
                          <a:latin typeface="League Spartan"/>
                        </a:rPr>
                        <a:t>20–22%</a:t>
                      </a:r>
                    </a:p>
                  </a:txBody>
                  <a:tcPr marL="164592" marR="109728" marT="54864" marB="54864" anchor="ctr">
                    <a:solidFill>
                      <a:srgbClr val="E5E8EB"/>
                    </a:solidFill>
                  </a:tcPr>
                </a:tc>
                <a:extLst>
                  <a:ext uri="{0D108BD9-81ED-4DB2-BD59-A6C34878D82A}">
                    <a16:rowId xmlns:a16="http://schemas.microsoft.com/office/drawing/2014/main" val="10002"/>
                  </a:ext>
                </a:extLst>
              </a:tr>
              <a:tr h="951956">
                <a:tc>
                  <a:txBody>
                    <a:bodyPr/>
                    <a:lstStyle/>
                    <a:p>
                      <a:pPr algn="l"/>
                      <a:r>
                        <a:rPr sz="2800" b="1">
                          <a:solidFill>
                            <a:srgbClr val="142233"/>
                          </a:solidFill>
                          <a:latin typeface="League Spartan"/>
                        </a:rPr>
                        <a:t>Gross Profit / week</a:t>
                      </a:r>
                    </a:p>
                  </a:txBody>
                  <a:tcPr marL="164592" marR="109728" marT="54864" marB="54864" anchor="ctr">
                    <a:solidFill>
                      <a:srgbClr val="FFFFFF"/>
                    </a:solidFill>
                  </a:tcPr>
                </a:tc>
                <a:tc>
                  <a:txBody>
                    <a:bodyPr/>
                    <a:lstStyle/>
                    <a:p>
                      <a:pPr algn="ctr"/>
                      <a:r>
                        <a:rPr sz="2800" b="0">
                          <a:solidFill>
                            <a:srgbClr val="303B4F"/>
                          </a:solidFill>
                          <a:latin typeface="League Spartan"/>
                        </a:rPr>
                        <a:t>~$36K</a:t>
                      </a:r>
                    </a:p>
                  </a:txBody>
                  <a:tcPr marL="164592" marR="109728" marT="54864" marB="54864" anchor="ctr">
                    <a:solidFill>
                      <a:srgbClr val="FFFFFF"/>
                    </a:solidFill>
                  </a:tcPr>
                </a:tc>
                <a:tc>
                  <a:txBody>
                    <a:bodyPr/>
                    <a:lstStyle/>
                    <a:p>
                      <a:pPr algn="ctr"/>
                      <a:r>
                        <a:rPr sz="2800" b="0">
                          <a:solidFill>
                            <a:srgbClr val="F04E23"/>
                          </a:solidFill>
                          <a:latin typeface="League Spartan"/>
                        </a:rPr>
                        <a:t>~$14K</a:t>
                      </a:r>
                    </a:p>
                  </a:txBody>
                  <a:tcPr marL="164592" marR="109728" marT="54864" marB="54864" anchor="ctr">
                    <a:solidFill>
                      <a:srgbClr val="FFFFFF"/>
                    </a:solidFill>
                  </a:tcPr>
                </a:tc>
                <a:extLst>
                  <a:ext uri="{0D108BD9-81ED-4DB2-BD59-A6C34878D82A}">
                    <a16:rowId xmlns:a16="http://schemas.microsoft.com/office/drawing/2014/main" val="10003"/>
                  </a:ext>
                </a:extLst>
              </a:tr>
              <a:tr h="951956">
                <a:tc>
                  <a:txBody>
                    <a:bodyPr/>
                    <a:lstStyle/>
                    <a:p>
                      <a:pPr algn="l"/>
                      <a:r>
                        <a:rPr sz="2800" b="1" dirty="0">
                          <a:solidFill>
                            <a:srgbClr val="142233"/>
                          </a:solidFill>
                          <a:latin typeface="League Spartan"/>
                        </a:rPr>
                        <a:t>The Nut</a:t>
                      </a:r>
                    </a:p>
                  </a:txBody>
                  <a:tcPr marL="164592" marR="109728" marT="54864" marB="54864" anchor="ctr">
                    <a:solidFill>
                      <a:srgbClr val="E5E8EB"/>
                    </a:solidFill>
                  </a:tcPr>
                </a:tc>
                <a:tc>
                  <a:txBody>
                    <a:bodyPr/>
                    <a:lstStyle/>
                    <a:p>
                      <a:pPr algn="ctr"/>
                      <a:r>
                        <a:rPr sz="2800" b="0">
                          <a:solidFill>
                            <a:srgbClr val="303B4F"/>
                          </a:solidFill>
                          <a:latin typeface="League Spartan"/>
                        </a:rPr>
                        <a:t>$25K / week</a:t>
                      </a:r>
                    </a:p>
                  </a:txBody>
                  <a:tcPr marL="164592" marR="109728" marT="54864" marB="54864" anchor="ctr">
                    <a:solidFill>
                      <a:srgbClr val="E5E8EB"/>
                    </a:solidFill>
                  </a:tcPr>
                </a:tc>
                <a:tc>
                  <a:txBody>
                    <a:bodyPr/>
                    <a:lstStyle/>
                    <a:p>
                      <a:pPr algn="ctr"/>
                      <a:r>
                        <a:rPr sz="2800" b="0">
                          <a:solidFill>
                            <a:srgbClr val="142233"/>
                          </a:solidFill>
                          <a:latin typeface="League Spartan"/>
                        </a:rPr>
                        <a:t>$25K / week</a:t>
                      </a:r>
                    </a:p>
                  </a:txBody>
                  <a:tcPr marL="164592" marR="109728" marT="54864" marB="54864" anchor="ctr">
                    <a:solidFill>
                      <a:srgbClr val="E5E8EB"/>
                    </a:solidFill>
                  </a:tcPr>
                </a:tc>
                <a:extLst>
                  <a:ext uri="{0D108BD9-81ED-4DB2-BD59-A6C34878D82A}">
                    <a16:rowId xmlns:a16="http://schemas.microsoft.com/office/drawing/2014/main" val="10004"/>
                  </a:ext>
                </a:extLst>
              </a:tr>
              <a:tr h="951956">
                <a:tc>
                  <a:txBody>
                    <a:bodyPr/>
                    <a:lstStyle/>
                    <a:p>
                      <a:pPr algn="l"/>
                      <a:r>
                        <a:rPr sz="2800" b="1">
                          <a:solidFill>
                            <a:srgbClr val="142233"/>
                          </a:solidFill>
                          <a:latin typeface="League Spartan"/>
                        </a:rPr>
                        <a:t>EBITDA</a:t>
                      </a:r>
                    </a:p>
                  </a:txBody>
                  <a:tcPr marL="164592" marR="109728" marT="54864" marB="54864" anchor="ctr">
                    <a:solidFill>
                      <a:srgbClr val="FFFFFF"/>
                    </a:solidFill>
                  </a:tcPr>
                </a:tc>
                <a:tc>
                  <a:txBody>
                    <a:bodyPr/>
                    <a:lstStyle/>
                    <a:p>
                      <a:pPr algn="ctr"/>
                      <a:r>
                        <a:rPr sz="2800" b="0">
                          <a:solidFill>
                            <a:srgbClr val="303B4F"/>
                          </a:solidFill>
                          <a:latin typeface="League Spartan"/>
                        </a:rPr>
                        <a:t>+$600K</a:t>
                      </a:r>
                    </a:p>
                  </a:txBody>
                  <a:tcPr marL="164592" marR="109728" marT="54864" marB="54864" anchor="ctr">
                    <a:solidFill>
                      <a:srgbClr val="FFFFFF"/>
                    </a:solidFill>
                  </a:tcPr>
                </a:tc>
                <a:tc>
                  <a:txBody>
                    <a:bodyPr/>
                    <a:lstStyle/>
                    <a:p>
                      <a:pPr algn="ctr"/>
                      <a:r>
                        <a:rPr sz="2800" b="0" dirty="0">
                          <a:solidFill>
                            <a:srgbClr val="F04E23"/>
                          </a:solidFill>
                          <a:latin typeface="League Spartan"/>
                        </a:rPr>
                        <a:t>≈ −$550K</a:t>
                      </a:r>
                    </a:p>
                  </a:txBody>
                  <a:tcPr marL="164592" marR="109728" marT="54864" marB="54864" anchor="ctr">
                    <a:solidFill>
                      <a:srgbClr val="FFFFFF"/>
                    </a:solidFill>
                  </a:tcPr>
                </a:tc>
                <a:extLst>
                  <a:ext uri="{0D108BD9-81ED-4DB2-BD59-A6C34878D82A}">
                    <a16:rowId xmlns:a16="http://schemas.microsoft.com/office/drawing/2014/main" val="10005"/>
                  </a:ext>
                </a:extLst>
              </a:tr>
            </a:tbl>
          </a:graphicData>
        </a:graphic>
      </p:graphicFrame>
      <p:pic>
        <p:nvPicPr>
          <p:cNvPr id="21" name="Picture 20" descr="texas_mark_light.png"/>
          <p:cNvPicPr>
            <a:picLocks noChangeAspect="1"/>
          </p:cNvPicPr>
          <p:nvPr/>
        </p:nvPicPr>
        <p:blipFill>
          <a:blip r:embed="rId5"/>
          <a:stretch>
            <a:fillRect/>
          </a:stretch>
        </p:blipFill>
        <p:spPr>
          <a:xfrm>
            <a:off x="16687858" y="9334388"/>
            <a:ext cx="647649" cy="609744"/>
          </a:xfrm>
          <a:prstGeom prst="rect">
            <a:avLst/>
          </a:prstGeom>
        </p:spPr>
      </p:pic>
      <p:sp>
        <p:nvSpPr>
          <p:cNvPr id="4" name="TextBox 3">
            <a:extLst>
              <a:ext uri="{FF2B5EF4-FFF2-40B4-BE49-F238E27FC236}">
                <a16:creationId xmlns:a16="http://schemas.microsoft.com/office/drawing/2014/main" id="{071EF7B0-AFE1-D148-1DE1-8DA8709BB46F}"/>
              </a:ext>
            </a:extLst>
          </p:cNvPr>
          <p:cNvSpPr txBox="1"/>
          <p:nvPr/>
        </p:nvSpPr>
        <p:spPr>
          <a:xfrm>
            <a:off x="1203513" y="6858000"/>
            <a:ext cx="6691255" cy="3154710"/>
          </a:xfrm>
          <a:prstGeom prst="rect">
            <a:avLst/>
          </a:prstGeom>
          <a:noFill/>
        </p:spPr>
        <p:txBody>
          <a:bodyPr wrap="none" rtlCol="0">
            <a:spAutoFit/>
          </a:bodyPr>
          <a:lstStyle/>
          <a:p>
            <a:r>
              <a:rPr lang="en-US" sz="19900" dirty="0">
                <a:solidFill>
                  <a:srgbClr val="C00000"/>
                </a:solidFill>
                <a:latin typeface="Montserrat" pitchFamily="2" charset="77"/>
              </a:rPr>
              <a:t>PAIN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200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200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100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4" y="1219147"/>
            <a:ext cx="16383054"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Friday Over Beers Was When I Knew</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6439704" y="2427814"/>
            <a:ext cx="11325302" cy="6275852"/>
          </a:xfrm>
          <a:prstGeom prst="rect">
            <a:avLst/>
          </a:prstGeom>
          <a:noFill/>
          <a:ln/>
        </p:spPr>
        <p:txBody>
          <a:bodyPr wrap="square" lIns="25400" tIns="25400" rIns="25400" bIns="25400" rtlCol="0" anchor="t">
            <a:normAutofit fontScale="92500"/>
          </a:bodyPr>
          <a:lstStyle/>
          <a:p>
            <a:pPr algn="ctr">
              <a:spcAft>
                <a:spcPts val="2400"/>
              </a:spcAft>
              <a:buClr>
                <a:srgbClr val="FF7900"/>
              </a:buClr>
              <a:buSzPct val="110000"/>
            </a:pPr>
            <a:r>
              <a:rPr lang="en-US" sz="7100" b="1" dirty="0">
                <a:solidFill>
                  <a:srgbClr val="142233"/>
                </a:solidFill>
                <a:latin typeface="League Spartan" pitchFamily="2" charset="77"/>
                <a:ea typeface="Arial" pitchFamily="34" charset="-122"/>
                <a:cs typeface="Arial" pitchFamily="34" charset="-120"/>
              </a:rPr>
              <a:t>“Cheers - A record sales week!”</a:t>
            </a:r>
          </a:p>
          <a:p>
            <a:pPr algn="ctr">
              <a:spcAft>
                <a:spcPts val="2400"/>
              </a:spcAft>
              <a:buClr>
                <a:srgbClr val="FF7900"/>
              </a:buClr>
              <a:buSzPct val="110000"/>
            </a:pPr>
            <a:endParaRPr lang="en-US" sz="1700" b="1" dirty="0">
              <a:solidFill>
                <a:srgbClr val="142233"/>
              </a:solidFill>
              <a:latin typeface="League Spartan" pitchFamily="2" charset="77"/>
              <a:ea typeface="Arial" pitchFamily="34" charset="-122"/>
              <a:cs typeface="Arial" pitchFamily="34" charset="-120"/>
            </a:endParaRP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It sounded good.  Something was off.</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Trucks driving further.  Everyone working harder.</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Not one more dollar of gross profit.</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We had dropped margin to buy the revenue.</a:t>
            </a:r>
          </a:p>
        </p:txBody>
      </p:sp>
      <p:sp>
        <p:nvSpPr>
          <p:cNvPr id="4" name="TextBox 3">
            <a:extLst>
              <a:ext uri="{FF2B5EF4-FFF2-40B4-BE49-F238E27FC236}">
                <a16:creationId xmlns:a16="http://schemas.microsoft.com/office/drawing/2014/main" id="{186B36A2-38DB-2D5B-F944-0B94329AF600}"/>
              </a:ext>
            </a:extLst>
          </p:cNvPr>
          <p:cNvSpPr txBox="1"/>
          <p:nvPr/>
        </p:nvSpPr>
        <p:spPr>
          <a:xfrm>
            <a:off x="5964622" y="8349723"/>
            <a:ext cx="11800384" cy="707886"/>
          </a:xfrm>
          <a:prstGeom prst="rect">
            <a:avLst/>
          </a:prstGeom>
          <a:noFill/>
        </p:spPr>
        <p:txBody>
          <a:bodyPr wrap="square" rtlCol="0">
            <a:spAutoFit/>
          </a:bodyPr>
          <a:lstStyle/>
          <a:p>
            <a:pPr algn="ctr"/>
            <a:r>
              <a:rPr lang="en-US" sz="4000" b="1" i="1" dirty="0">
                <a:solidFill>
                  <a:srgbClr val="142233"/>
                </a:solidFill>
                <a:latin typeface="League Spartan" pitchFamily="2" charset="77"/>
                <a:cs typeface="Arial" pitchFamily="34" charset="-120"/>
              </a:rPr>
              <a:t>“We pulled the cash levers as hard as we could.”</a:t>
            </a:r>
          </a:p>
        </p:txBody>
      </p:sp>
      <p:pic>
        <p:nvPicPr>
          <p:cNvPr id="20" name="Picture 19" descr="texas_mark_light.png"/>
          <p:cNvPicPr>
            <a:picLocks noChangeAspect="1"/>
          </p:cNvPicPr>
          <p:nvPr/>
        </p:nvPicPr>
        <p:blipFill>
          <a:blip r:embed="rId3"/>
          <a:stretch>
            <a:fillRect/>
          </a:stretch>
        </p:blipFill>
        <p:spPr>
          <a:xfrm>
            <a:off x="16687858" y="9334388"/>
            <a:ext cx="647649" cy="609744"/>
          </a:xfrm>
          <a:prstGeom prst="rect">
            <a:avLst/>
          </a:prstGeom>
        </p:spPr>
      </p:pic>
      <p:pic>
        <p:nvPicPr>
          <p:cNvPr id="5" name="Picture 4">
            <a:extLst>
              <a:ext uri="{FF2B5EF4-FFF2-40B4-BE49-F238E27FC236}">
                <a16:creationId xmlns:a16="http://schemas.microsoft.com/office/drawing/2014/main" id="{D6F3472C-3A46-8474-F684-9E39AD40172F}"/>
              </a:ext>
            </a:extLst>
          </p:cNvPr>
          <p:cNvPicPr>
            <a:picLocks noChangeAspect="1"/>
          </p:cNvPicPr>
          <p:nvPr/>
        </p:nvPicPr>
        <p:blipFill>
          <a:blip r:embed="rId4"/>
          <a:stretch>
            <a:fillRect/>
          </a:stretch>
        </p:blipFill>
        <p:spPr>
          <a:xfrm>
            <a:off x="726908" y="2597531"/>
            <a:ext cx="4940168" cy="5752192"/>
          </a:xfrm>
          <a:prstGeom prst="rect">
            <a:avLst/>
          </a:prstGeom>
          <a:effectLst>
            <a:softEdge rad="115191"/>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0" presetClass="entr" presetSubtype="0" fill="hold" grpId="0" nodeType="afterEffect">
                                  <p:stCondLst>
                                    <p:cond delay="50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2000"/>
                                        <p:tgtEl>
                                          <p:spTgt spid="17">
                                            <p:txEl>
                                              <p:pRg st="0" end="0"/>
                                            </p:txEl>
                                          </p:spTgt>
                                        </p:tgtEl>
                                      </p:cBhvr>
                                    </p:animEffect>
                                  </p:childTnLst>
                                </p:cTn>
                              </p:par>
                            </p:childTnLst>
                          </p:cTn>
                        </p:par>
                        <p:par>
                          <p:cTn id="11" fill="hold">
                            <p:stCondLst>
                              <p:cond delay="3500"/>
                            </p:stCondLst>
                            <p:childTnLst>
                              <p:par>
                                <p:cTn id="12" presetID="9" presetClass="entr" presetSubtype="0" fill="hold" nodeType="after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2000"/>
                                        <p:tgtEl>
                                          <p:spTgt spid="5"/>
                                        </p:tgtEl>
                                      </p:cBhvr>
                                    </p:animEffect>
                                  </p:childTnLst>
                                </p:cTn>
                              </p:par>
                            </p:childTnLst>
                          </p:cTn>
                        </p:par>
                        <p:par>
                          <p:cTn id="15" fill="hold">
                            <p:stCondLst>
                              <p:cond delay="6000"/>
                            </p:stCondLst>
                            <p:childTnLst>
                              <p:par>
                                <p:cTn id="16" presetID="10" presetClass="entr" presetSubtype="0" fill="hold" grpId="0" nodeType="afterEffect">
                                  <p:stCondLst>
                                    <p:cond delay="50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fade">
                                      <p:cBhvr>
                                        <p:cTn id="18" dur="2000"/>
                                        <p:tgtEl>
                                          <p:spTgt spid="17">
                                            <p:txEl>
                                              <p:pRg st="2" end="2"/>
                                            </p:txEl>
                                          </p:spTgt>
                                        </p:tgtEl>
                                      </p:cBhvr>
                                    </p:animEffect>
                                  </p:childTnLst>
                                </p:cTn>
                              </p:par>
                            </p:childTnLst>
                          </p:cTn>
                        </p:par>
                        <p:par>
                          <p:cTn id="19" fill="hold">
                            <p:stCondLst>
                              <p:cond delay="8500"/>
                            </p:stCondLst>
                            <p:childTnLst>
                              <p:par>
                                <p:cTn id="20" presetID="10" presetClass="entr" presetSubtype="0" fill="hold" grpId="0" nodeType="afterEffect">
                                  <p:stCondLst>
                                    <p:cond delay="50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fade">
                                      <p:cBhvr>
                                        <p:cTn id="22" dur="2000"/>
                                        <p:tgtEl>
                                          <p:spTgt spid="17">
                                            <p:txEl>
                                              <p:pRg st="3" end="3"/>
                                            </p:txEl>
                                          </p:spTgt>
                                        </p:tgtEl>
                                      </p:cBhvr>
                                    </p:animEffect>
                                  </p:childTnLst>
                                </p:cTn>
                              </p:par>
                            </p:childTnLst>
                          </p:cTn>
                        </p:par>
                        <p:par>
                          <p:cTn id="23" fill="hold">
                            <p:stCondLst>
                              <p:cond delay="11000"/>
                            </p:stCondLst>
                            <p:childTnLst>
                              <p:par>
                                <p:cTn id="24" presetID="10" presetClass="entr" presetSubtype="0" fill="hold" grpId="0" nodeType="afterEffect">
                                  <p:stCondLst>
                                    <p:cond delay="500"/>
                                  </p:stCondLst>
                                  <p:childTnLst>
                                    <p:set>
                                      <p:cBhvr>
                                        <p:cTn id="25" dur="1" fill="hold">
                                          <p:stCondLst>
                                            <p:cond delay="0"/>
                                          </p:stCondLst>
                                        </p:cTn>
                                        <p:tgtEl>
                                          <p:spTgt spid="17">
                                            <p:txEl>
                                              <p:pRg st="4" end="4"/>
                                            </p:txEl>
                                          </p:spTgt>
                                        </p:tgtEl>
                                        <p:attrNameLst>
                                          <p:attrName>style.visibility</p:attrName>
                                        </p:attrNameLst>
                                      </p:cBhvr>
                                      <p:to>
                                        <p:strVal val="visible"/>
                                      </p:to>
                                    </p:set>
                                    <p:animEffect transition="in" filter="fade">
                                      <p:cBhvr>
                                        <p:cTn id="26" dur="2000"/>
                                        <p:tgtEl>
                                          <p:spTgt spid="17">
                                            <p:txEl>
                                              <p:pRg st="4" end="4"/>
                                            </p:txEl>
                                          </p:spTgt>
                                        </p:tgtEl>
                                      </p:cBhvr>
                                    </p:animEffect>
                                  </p:childTnLst>
                                </p:cTn>
                              </p:par>
                            </p:childTnLst>
                          </p:cTn>
                        </p:par>
                        <p:par>
                          <p:cTn id="27" fill="hold">
                            <p:stCondLst>
                              <p:cond delay="13500"/>
                            </p:stCondLst>
                            <p:childTnLst>
                              <p:par>
                                <p:cTn id="28" presetID="10" presetClass="entr" presetSubtype="0" fill="hold" grpId="0" nodeType="afterEffect">
                                  <p:stCondLst>
                                    <p:cond delay="500"/>
                                  </p:stCondLst>
                                  <p:childTnLst>
                                    <p:set>
                                      <p:cBhvr>
                                        <p:cTn id="29" dur="1" fill="hold">
                                          <p:stCondLst>
                                            <p:cond delay="0"/>
                                          </p:stCondLst>
                                        </p:cTn>
                                        <p:tgtEl>
                                          <p:spTgt spid="17">
                                            <p:txEl>
                                              <p:pRg st="5" end="5"/>
                                            </p:txEl>
                                          </p:spTgt>
                                        </p:tgtEl>
                                        <p:attrNameLst>
                                          <p:attrName>style.visibility</p:attrName>
                                        </p:attrNameLst>
                                      </p:cBhvr>
                                      <p:to>
                                        <p:strVal val="visible"/>
                                      </p:to>
                                    </p:set>
                                    <p:animEffect transition="in" filter="fade">
                                      <p:cBhvr>
                                        <p:cTn id="30" dur="2000"/>
                                        <p:tgtEl>
                                          <p:spTgt spid="17">
                                            <p:txEl>
                                              <p:pRg st="5" end="5"/>
                                            </p:txEl>
                                          </p:spTgt>
                                        </p:tgtEl>
                                      </p:cBhvr>
                                    </p:animEffect>
                                  </p:childTnLst>
                                </p:cTn>
                              </p:par>
                            </p:childTnLst>
                          </p:cTn>
                        </p:par>
                        <p:par>
                          <p:cTn id="31" fill="hold">
                            <p:stCondLst>
                              <p:cond delay="16000"/>
                            </p:stCondLst>
                            <p:childTnLst>
                              <p:par>
                                <p:cTn id="32" presetID="10" presetClass="entr" presetSubtype="0" fill="hold" grpId="0" nodeType="afterEffect">
                                  <p:stCondLst>
                                    <p:cond delay="50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uiExpand="1"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867958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May 2015 — Folding the Flag</a:t>
            </a:r>
            <a:endParaRPr lang="en-US" sz="4800" dirty="0">
              <a:latin typeface="League Spartan" pitchFamily="2" charset="77"/>
            </a:endParaRPr>
          </a:p>
        </p:txBody>
      </p:sp>
      <p:sp>
        <p:nvSpPr>
          <p:cNvPr id="10" name="Text 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2" name="Text 11">
            <a:extLst>
              <a:ext uri="{FF2B5EF4-FFF2-40B4-BE49-F238E27FC236}">
                <a16:creationId xmlns:a16="http://schemas.microsoft.com/office/drawing/2014/main" id="{C578A636-B8F7-5039-F960-1AC76A9FB4F7}"/>
              </a:ext>
            </a:extLst>
          </p:cNvPr>
          <p:cNvSpPr/>
          <p:nvPr/>
        </p:nvSpPr>
        <p:spPr>
          <a:xfrm>
            <a:off x="7003683" y="2770275"/>
            <a:ext cx="9301321" cy="4637656"/>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Founded 1899 — ended on our watch</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Twelve people had to find new jobs</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Promises Broken</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My confidence shattered</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The flag went into a box in my attic</a:t>
            </a:r>
          </a:p>
        </p:txBody>
      </p:sp>
      <p:grpSp>
        <p:nvGrpSpPr>
          <p:cNvPr id="4" name="Group 3">
            <a:extLst>
              <a:ext uri="{FF2B5EF4-FFF2-40B4-BE49-F238E27FC236}">
                <a16:creationId xmlns:a16="http://schemas.microsoft.com/office/drawing/2014/main" id="{489CB874-226B-011F-684E-FCBB9B433683}"/>
              </a:ext>
            </a:extLst>
          </p:cNvPr>
          <p:cNvGrpSpPr/>
          <p:nvPr/>
        </p:nvGrpSpPr>
        <p:grpSpPr>
          <a:xfrm>
            <a:off x="1222300" y="2770276"/>
            <a:ext cx="4393094" cy="5268751"/>
            <a:chOff x="1222300" y="2770276"/>
            <a:chExt cx="4393094" cy="5268751"/>
          </a:xfrm>
        </p:grpSpPr>
        <p:pic>
          <p:nvPicPr>
            <p:cNvPr id="13" name="Picture 12" descr="assets_flag.jpg"/>
            <p:cNvPicPr>
              <a:picLocks noChangeAspect="1"/>
            </p:cNvPicPr>
            <p:nvPr/>
          </p:nvPicPr>
          <p:blipFill>
            <a:blip r:embed="rId3"/>
            <a:srcRect r="14206"/>
            <a:stretch>
              <a:fillRect/>
            </a:stretch>
          </p:blipFill>
          <p:spPr>
            <a:xfrm rot="16200000">
              <a:off x="946558" y="3083686"/>
              <a:ext cx="4982246" cy="4355426"/>
            </a:xfrm>
            <a:prstGeom prst="rect">
              <a:avLst/>
            </a:prstGeom>
            <a:effectLst>
              <a:softEdge rad="91804"/>
            </a:effectLst>
          </p:spPr>
        </p:pic>
        <p:sp>
          <p:nvSpPr>
            <p:cNvPr id="14" name="TextBox 13"/>
            <p:cNvSpPr txBox="1"/>
            <p:nvPr/>
          </p:nvSpPr>
          <p:spPr>
            <a:xfrm>
              <a:off x="1222300" y="7838972"/>
              <a:ext cx="4333461" cy="200055"/>
            </a:xfrm>
            <a:prstGeom prst="rect">
              <a:avLst/>
            </a:prstGeom>
            <a:noFill/>
          </p:spPr>
          <p:txBody>
            <a:bodyPr wrap="square" lIns="0" tIns="0" rIns="0" bIns="0" anchor="t">
              <a:spAutoFit/>
            </a:bodyPr>
            <a:lstStyle/>
            <a:p>
              <a:pPr algn="ctr"/>
              <a:r>
                <a:rPr sz="1300" b="0" dirty="0">
                  <a:solidFill>
                    <a:srgbClr val="303B4F"/>
                  </a:solidFill>
                  <a:latin typeface="League Spartan"/>
                </a:rPr>
                <a:t>The box — photographed August 29, 2026</a:t>
              </a:r>
            </a:p>
          </p:txBody>
        </p:sp>
      </p:grpSp>
      <p:sp>
        <p:nvSpPr>
          <p:cNvPr id="5" name="TextBox 4">
            <a:extLst>
              <a:ext uri="{FF2B5EF4-FFF2-40B4-BE49-F238E27FC236}">
                <a16:creationId xmlns:a16="http://schemas.microsoft.com/office/drawing/2014/main" id="{CEFD9718-6112-226B-82DF-AB133042E149}"/>
              </a:ext>
            </a:extLst>
          </p:cNvPr>
          <p:cNvSpPr txBox="1"/>
          <p:nvPr/>
        </p:nvSpPr>
        <p:spPr>
          <a:xfrm>
            <a:off x="5754152" y="8216658"/>
            <a:ext cx="11800384" cy="1323439"/>
          </a:xfrm>
          <a:prstGeom prst="rect">
            <a:avLst/>
          </a:prstGeom>
          <a:noFill/>
        </p:spPr>
        <p:txBody>
          <a:bodyPr wrap="square" rtlCol="0">
            <a:spAutoFit/>
          </a:bodyPr>
          <a:lstStyle/>
          <a:p>
            <a:pPr algn="ctr"/>
            <a:r>
              <a:rPr lang="en-US" sz="4000" b="1" dirty="0">
                <a:solidFill>
                  <a:srgbClr val="142233"/>
                </a:solidFill>
                <a:latin typeface="League Spartan" pitchFamily="2" charset="77"/>
                <a:cs typeface="Arial" pitchFamily="34" charset="-120"/>
              </a:rPr>
              <a:t>ME: </a:t>
            </a:r>
            <a:r>
              <a:rPr lang="en-US" sz="4000" b="1" i="1" dirty="0">
                <a:solidFill>
                  <a:srgbClr val="142233"/>
                </a:solidFill>
                <a:latin typeface="League Spartan" pitchFamily="2" charset="77"/>
                <a:cs typeface="Arial" pitchFamily="34" charset="-120"/>
              </a:rPr>
              <a:t>“2,000+ days, untallied stress and $865,000+ later, </a:t>
            </a:r>
          </a:p>
          <a:p>
            <a:pPr algn="ctr"/>
            <a:r>
              <a:rPr lang="en-US" sz="4000" b="1" i="1" dirty="0">
                <a:solidFill>
                  <a:srgbClr val="142233"/>
                </a:solidFill>
                <a:latin typeface="League Spartan" pitchFamily="2" charset="77"/>
                <a:cs typeface="Arial" pitchFamily="34" charset="-120"/>
              </a:rPr>
              <a:t>there were a few lessons learned and many to teach.”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9" presetClass="entr" presetSubtype="0"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2000"/>
                                        <p:tgtEl>
                                          <p:spTgt spid="4"/>
                                        </p:tgtEl>
                                      </p:cBhvr>
                                    </p:animEffect>
                                  </p:childTnLst>
                                </p:cTn>
                              </p:par>
                            </p:childTnLst>
                          </p:cTn>
                        </p:par>
                        <p:par>
                          <p:cTn id="11" fill="hold">
                            <p:stCondLst>
                              <p:cond delay="3500"/>
                            </p:stCondLst>
                            <p:childTnLst>
                              <p:par>
                                <p:cTn id="12" presetID="1" presetClass="entr" presetSubtype="0" fill="hold" nodeType="afterEffect">
                                  <p:stCondLst>
                                    <p:cond delay="2000"/>
                                  </p:stCondLst>
                                  <p:childTnLst>
                                    <p:set>
                                      <p:cBhvr>
                                        <p:cTn id="13" dur="1" fill="hold">
                                          <p:stCondLst>
                                            <p:cond delay="0"/>
                                          </p:stCondLst>
                                        </p:cTn>
                                        <p:tgtEl>
                                          <p:spTgt spid="12">
                                            <p:txEl>
                                              <p:pRg st="0" end="0"/>
                                            </p:txEl>
                                          </p:spTgt>
                                        </p:tgtEl>
                                        <p:attrNameLst>
                                          <p:attrName>style.visibility</p:attrName>
                                        </p:attrNameLst>
                                      </p:cBhvr>
                                      <p:to>
                                        <p:strVal val="visible"/>
                                      </p:to>
                                    </p:set>
                                  </p:childTnLst>
                                </p:cTn>
                              </p:par>
                            </p:childTnLst>
                          </p:cTn>
                        </p:par>
                        <p:par>
                          <p:cTn id="14" fill="hold">
                            <p:stCondLst>
                              <p:cond delay="5500"/>
                            </p:stCondLst>
                            <p:childTnLst>
                              <p:par>
                                <p:cTn id="15" presetID="1" presetClass="entr" presetSubtype="0" fill="hold" nodeType="afterEffect">
                                  <p:stCondLst>
                                    <p:cond delay="200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par>
                          <p:cTn id="17" fill="hold">
                            <p:stCondLst>
                              <p:cond delay="7500"/>
                            </p:stCondLst>
                            <p:childTnLst>
                              <p:par>
                                <p:cTn id="18" presetID="1" presetClass="entr" presetSubtype="0" fill="hold" nodeType="afterEffect">
                                  <p:stCondLst>
                                    <p:cond delay="2000"/>
                                  </p:stCondLst>
                                  <p:childTnLst>
                                    <p:set>
                                      <p:cBhvr>
                                        <p:cTn id="19" dur="1" fill="hold">
                                          <p:stCondLst>
                                            <p:cond delay="0"/>
                                          </p:stCondLst>
                                        </p:cTn>
                                        <p:tgtEl>
                                          <p:spTgt spid="12">
                                            <p:txEl>
                                              <p:pRg st="2" end="2"/>
                                            </p:txEl>
                                          </p:spTgt>
                                        </p:tgtEl>
                                        <p:attrNameLst>
                                          <p:attrName>style.visibility</p:attrName>
                                        </p:attrNameLst>
                                      </p:cBhvr>
                                      <p:to>
                                        <p:strVal val="visible"/>
                                      </p:to>
                                    </p:set>
                                  </p:childTnLst>
                                </p:cTn>
                              </p:par>
                            </p:childTnLst>
                          </p:cTn>
                        </p:par>
                        <p:par>
                          <p:cTn id="20" fill="hold">
                            <p:stCondLst>
                              <p:cond delay="9500"/>
                            </p:stCondLst>
                            <p:childTnLst>
                              <p:par>
                                <p:cTn id="21" presetID="1" presetClass="entr" presetSubtype="0" fill="hold" nodeType="afterEffect">
                                  <p:stCondLst>
                                    <p:cond delay="200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par>
                          <p:cTn id="23" fill="hold">
                            <p:stCondLst>
                              <p:cond delay="11500"/>
                            </p:stCondLst>
                            <p:childTnLst>
                              <p:par>
                                <p:cTn id="24" presetID="1" presetClass="entr" presetSubtype="0" fill="hold" nodeType="afterEffect">
                                  <p:stCondLst>
                                    <p:cond delay="2000"/>
                                  </p:stCondLst>
                                  <p:childTnLst>
                                    <p:set>
                                      <p:cBhvr>
                                        <p:cTn id="25" dur="1" fill="hold">
                                          <p:stCondLst>
                                            <p:cond delay="0"/>
                                          </p:stCondLst>
                                        </p:cTn>
                                        <p:tgtEl>
                                          <p:spTgt spid="12">
                                            <p:txEl>
                                              <p:pRg st="4" end="4"/>
                                            </p:txEl>
                                          </p:spTgt>
                                        </p:tgtEl>
                                        <p:attrNameLst>
                                          <p:attrName>style.visibility</p:attrName>
                                        </p:attrNameLst>
                                      </p:cBhvr>
                                      <p:to>
                                        <p:strVal val="visible"/>
                                      </p:to>
                                    </p:set>
                                  </p:childTnLst>
                                </p:cTn>
                              </p:par>
                            </p:childTnLst>
                          </p:cTn>
                        </p:par>
                        <p:par>
                          <p:cTn id="26" fill="hold">
                            <p:stCondLst>
                              <p:cond delay="13500"/>
                            </p:stCondLst>
                            <p:childTnLst>
                              <p:par>
                                <p:cTn id="27" presetID="1" presetClass="entr" presetSubtype="0" fill="hold" grpId="0" nodeType="afterEffect">
                                  <p:stCondLst>
                                    <p:cond delay="200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23"/>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482387" y="4551765"/>
            <a:ext cx="11521440" cy="1371574"/>
          </a:xfrm>
          <a:prstGeom prst="rect">
            <a:avLst/>
          </a:prstGeom>
          <a:noFill/>
          <a:ln/>
        </p:spPr>
        <p:txBody>
          <a:bodyPr wrap="square" lIns="25400" tIns="25400" rIns="25400" bIns="25400" rtlCol="0" anchor="t">
            <a:normAutofit lnSpcReduction="10000"/>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Feeling good about revenue is one of the most expensive habits a leadership team can develop.</a:t>
            </a:r>
            <a:endParaRPr lang="en-US" sz="4200" dirty="0">
              <a:latin typeface="League Spartan" pitchFamily="2" charset="77"/>
            </a:endParaRPr>
          </a:p>
        </p:txBody>
      </p:sp>
      <p:grpSp>
        <p:nvGrpSpPr>
          <p:cNvPr id="9" name="Group 8">
            <a:extLst>
              <a:ext uri="{FF2B5EF4-FFF2-40B4-BE49-F238E27FC236}">
                <a16:creationId xmlns:a16="http://schemas.microsoft.com/office/drawing/2014/main" id="{7F69C84E-B76D-71D4-F276-5378E8365DCD}"/>
              </a:ext>
            </a:extLst>
          </p:cNvPr>
          <p:cNvGrpSpPr/>
          <p:nvPr/>
        </p:nvGrpSpPr>
        <p:grpSpPr>
          <a:xfrm>
            <a:off x="1527048" y="6428232"/>
            <a:ext cx="10422497" cy="873229"/>
            <a:chOff x="1527048" y="6428232"/>
            <a:chExt cx="12801600" cy="873229"/>
          </a:xfrm>
        </p:grpSpPr>
        <p:sp>
          <p:nvSpPr>
            <p:cNvPr id="5" name="Text 3"/>
            <p:cNvSpPr/>
            <p:nvPr/>
          </p:nvSpPr>
          <p:spPr>
            <a:xfrm>
              <a:off x="1527048" y="6428232"/>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p:cNvSpPr/>
            <p:nvPr/>
          </p:nvSpPr>
          <p:spPr>
            <a:xfrm>
              <a:off x="1527048" y="6967728"/>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Profit Power Ratio · Book One, Clarus Leadership Series</a:t>
              </a:r>
              <a:endParaRPr lang="en-US" sz="2550" dirty="0">
                <a:latin typeface="League Spartan" pitchFamily="2" charset="77"/>
              </a:endParaRPr>
            </a:p>
          </p:txBody>
        </p:sp>
      </p:gr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8" name="Picture 7" descr="image.png"/>
          <p:cNvPicPr>
            <a:picLocks noChangeAspect="1"/>
          </p:cNvPicPr>
          <p:nvPr/>
        </p:nvPicPr>
        <p:blipFill>
          <a:blip r:embed="rId3"/>
          <a:stretch>
            <a:fillRect/>
          </a:stretch>
        </p:blipFill>
        <p:spPr>
          <a:xfrm>
            <a:off x="13202205" y="1636081"/>
            <a:ext cx="4383397" cy="7014837"/>
          </a:xfrm>
          <a:prstGeom prst="rect">
            <a:avLst/>
          </a:prstGeom>
          <a:ln>
            <a:solidFill>
              <a:schemeClr val="bg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1000"/>
                                        <p:tgtEl>
                                          <p:spTgt spid="4"/>
                                        </p:tgtEl>
                                      </p:cBhvr>
                                    </p:animEffect>
                                  </p:childTnLst>
                                </p:cTn>
                              </p:par>
                            </p:childTnLst>
                          </p:cTn>
                        </p:par>
                        <p:par>
                          <p:cTn id="8" fill="hold">
                            <p:stCondLst>
                              <p:cond delay="1500"/>
                            </p:stCondLst>
                            <p:childTnLst>
                              <p:par>
                                <p:cTn id="9" presetID="9" presetClass="entr" presetSubtype="0" fill="hold"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1000"/>
                                        <p:tgtEl>
                                          <p:spTgt spid="9"/>
                                        </p:tgtEl>
                                      </p:cBhvr>
                                    </p:animEffect>
                                  </p:childTnLst>
                                </p:cTn>
                              </p:par>
                            </p:childTnLst>
                          </p:cTn>
                        </p:par>
                        <p:par>
                          <p:cTn id="12" fill="hold">
                            <p:stCondLst>
                              <p:cond delay="3000"/>
                            </p:stCondLst>
                            <p:childTnLst>
                              <p:par>
                                <p:cTn id="13" presetID="5" presetClass="entr" presetSubtype="10" fill="hold" nodeType="after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Five</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cs typeface="Arial" pitchFamily="34" charset="-120"/>
              </a:rPr>
              <a:t>Number Income Statement™</a:t>
            </a: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96EBB-9BB9-5250-FD33-A266A02D6FD6}"/>
            </a:ext>
          </a:extLst>
        </p:cNvPr>
        <p:cNvGrpSpPr/>
        <p:nvPr/>
      </p:nvGrpSpPr>
      <p:grpSpPr>
        <a:xfrm>
          <a:off x="0" y="0"/>
          <a:ext cx="0" cy="0"/>
          <a:chOff x="0" y="0"/>
          <a:chExt cx="0" cy="0"/>
        </a:xfrm>
      </p:grpSpPr>
      <p:sp>
        <p:nvSpPr>
          <p:cNvPr id="18"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952453" y="877824"/>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Let's Simplify: A Candy Store's Financials</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11" name="Picture 10" descr="image.jpg"/>
          <p:cNvPicPr>
            <a:picLocks noChangeAspect="1"/>
          </p:cNvPicPr>
          <p:nvPr/>
        </p:nvPicPr>
        <p:blipFill>
          <a:blip r:embed="rId3"/>
          <a:srcRect b="25035"/>
          <a:stretch>
            <a:fillRect/>
          </a:stretch>
        </p:blipFill>
        <p:spPr>
          <a:xfrm>
            <a:off x="2667916" y="1805630"/>
            <a:ext cx="12952168" cy="5809914"/>
          </a:xfrm>
          <a:prstGeom prst="rect">
            <a:avLst/>
          </a:prstGeom>
        </p:spPr>
      </p:pic>
      <p:grpSp>
        <p:nvGrpSpPr>
          <p:cNvPr id="4" name="Group 3">
            <a:extLst>
              <a:ext uri="{FF2B5EF4-FFF2-40B4-BE49-F238E27FC236}">
                <a16:creationId xmlns:a16="http://schemas.microsoft.com/office/drawing/2014/main" id="{681DB11A-4124-1033-7F24-2049C5B27198}"/>
              </a:ext>
            </a:extLst>
          </p:cNvPr>
          <p:cNvGrpSpPr/>
          <p:nvPr/>
        </p:nvGrpSpPr>
        <p:grpSpPr>
          <a:xfrm>
            <a:off x="16268317" y="692421"/>
            <a:ext cx="1488190" cy="1573283"/>
            <a:chOff x="10058064" y="275395"/>
            <a:chExt cx="768094" cy="812013"/>
          </a:xfrm>
        </p:grpSpPr>
        <p:pic>
          <p:nvPicPr>
            <p:cNvPr id="14" name="Picture 13" descr="data book">
              <a:extLst>
                <a:ext uri="{FF2B5EF4-FFF2-40B4-BE49-F238E27FC236}">
                  <a16:creationId xmlns:a16="http://schemas.microsoft.com/office/drawing/2014/main" id="{91E4A094-884C-02C0-937C-B4E2EAED7A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3641" y="275395"/>
              <a:ext cx="543665" cy="812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Rounded Rectangle 14">
              <a:extLst>
                <a:ext uri="{FF2B5EF4-FFF2-40B4-BE49-F238E27FC236}">
                  <a16:creationId xmlns:a16="http://schemas.microsoft.com/office/drawing/2014/main" id="{80F250D1-5B5C-06A8-47C7-871F926029D2}"/>
                </a:ext>
              </a:extLst>
            </p:cNvPr>
            <p:cNvSpPr/>
            <p:nvPr/>
          </p:nvSpPr>
          <p:spPr>
            <a:xfrm>
              <a:off x="10058064" y="796228"/>
              <a:ext cx="768094" cy="187064"/>
            </a:xfrm>
            <a:prstGeom prst="roundRect">
              <a:avLst>
                <a:gd name="adj" fmla="val 50000"/>
              </a:avLst>
            </a:prstGeom>
            <a:solidFill>
              <a:schemeClr val="bg1"/>
            </a:solidFill>
            <a:ln>
              <a:solidFill>
                <a:srgbClr val="037D6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037A5E"/>
                  </a:solidFill>
                  <a:latin typeface="Montserrat" pitchFamily="2" charset="77"/>
                </a:rPr>
                <a:t>126</a:t>
              </a:r>
            </a:p>
          </p:txBody>
        </p:sp>
        <p:sp>
          <p:nvSpPr>
            <p:cNvPr id="16" name="TextBox 15">
              <a:extLst>
                <a:ext uri="{FF2B5EF4-FFF2-40B4-BE49-F238E27FC236}">
                  <a16:creationId xmlns:a16="http://schemas.microsoft.com/office/drawing/2014/main" id="{304E8581-5DCB-E760-DB24-F318997CB691}"/>
                </a:ext>
              </a:extLst>
            </p:cNvPr>
            <p:cNvSpPr txBox="1"/>
            <p:nvPr/>
          </p:nvSpPr>
          <p:spPr>
            <a:xfrm>
              <a:off x="10114339" y="608800"/>
              <a:ext cx="655544" cy="190622"/>
            </a:xfrm>
            <a:prstGeom prst="rect">
              <a:avLst/>
            </a:prstGeom>
            <a:solidFill>
              <a:srgbClr val="037A5E"/>
            </a:solidFill>
          </p:spPr>
          <p:txBody>
            <a:bodyPr wrap="square" rtlCol="0">
              <a:spAutoFit/>
            </a:bodyPr>
            <a:lstStyle/>
            <a:p>
              <a:pPr algn="ctr">
                <a:buNone/>
              </a:pPr>
              <a:r>
                <a:rPr lang="en-US" b="1" dirty="0">
                  <a:solidFill>
                    <a:schemeClr val="bg1"/>
                  </a:solidFill>
                  <a:latin typeface="Montserrat" pitchFamily="2" charset="77"/>
                </a:rPr>
                <a:t>BOOK</a:t>
              </a:r>
            </a:p>
          </p:txBody>
        </p:sp>
      </p:grpSp>
      <p:grpSp>
        <p:nvGrpSpPr>
          <p:cNvPr id="6" name="Group 5">
            <a:extLst>
              <a:ext uri="{FF2B5EF4-FFF2-40B4-BE49-F238E27FC236}">
                <a16:creationId xmlns:a16="http://schemas.microsoft.com/office/drawing/2014/main" id="{2804F28C-32BF-4327-7DCF-1F9F0D623C4C}"/>
              </a:ext>
            </a:extLst>
          </p:cNvPr>
          <p:cNvGrpSpPr/>
          <p:nvPr/>
        </p:nvGrpSpPr>
        <p:grpSpPr>
          <a:xfrm>
            <a:off x="2667915" y="8221677"/>
            <a:ext cx="14719404" cy="1293669"/>
            <a:chOff x="2667915" y="8221677"/>
            <a:chExt cx="14719404" cy="1293669"/>
          </a:xfrm>
        </p:grpSpPr>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17" name="Rounded Rectangle 16">
              <a:extLst>
                <a:ext uri="{FF2B5EF4-FFF2-40B4-BE49-F238E27FC236}">
                  <a16:creationId xmlns:a16="http://schemas.microsoft.com/office/drawing/2014/main" id="{7BAF59F5-0CB1-DC5D-49FD-AD901D4C364D}"/>
                </a:ext>
              </a:extLst>
            </p:cNvPr>
            <p:cNvSpPr/>
            <p:nvPr/>
          </p:nvSpPr>
          <p:spPr>
            <a:xfrm>
              <a:off x="2667915" y="8221677"/>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3550130" y="8306065"/>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Yes, a candy store. Stay with me.</a:t>
              </a:r>
            </a:p>
            <a:p>
              <a:pPr algn="ctr">
                <a:lnSpc>
                  <a:spcPct val="115000"/>
                </a:lnSpc>
              </a:pPr>
              <a:r>
                <a:rPr sz="2400" b="0" i="1" dirty="0">
                  <a:solidFill>
                    <a:srgbClr val="303B4F"/>
                  </a:solidFill>
                  <a:latin typeface="League Spartan"/>
                </a:rPr>
                <a:t>The most complex businesses get clearer when you reduce them to the candy-store model</a:t>
              </a:r>
              <a:r>
                <a:rPr sz="1500" b="0" i="1" dirty="0">
                  <a:solidFill>
                    <a:srgbClr val="303B4F"/>
                  </a:solidFill>
                  <a:latin typeface="League Spartan"/>
                </a:rPr>
                <a:t>.</a:t>
              </a:r>
            </a:p>
          </p:txBody>
        </p:sp>
      </p:grpSp>
      <p:pic>
        <p:nvPicPr>
          <p:cNvPr id="19" name="Picture 18" descr="texas_mark_light.png"/>
          <p:cNvPicPr>
            <a:picLocks noChangeAspect="1"/>
          </p:cNvPicPr>
          <p:nvPr/>
        </p:nvPicPr>
        <p:blipFill>
          <a:blip r:embed="rId5"/>
          <a:stretch>
            <a:fillRect/>
          </a:stretch>
        </p:blipFill>
        <p:spPr>
          <a:xfrm>
            <a:off x="16687800" y="9336024"/>
            <a:ext cx="649224" cy="612648"/>
          </a:xfrm>
          <a:prstGeom prst="rect">
            <a:avLst/>
          </a:prstGeom>
        </p:spPr>
      </p:pic>
    </p:spTree>
    <p:extLst>
      <p:ext uri="{BB962C8B-B14F-4D97-AF65-F5344CB8AC3E}">
        <p14:creationId xmlns:p14="http://schemas.microsoft.com/office/powerpoint/2010/main" val="331629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20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nodeType="afterEffect">
                                  <p:stCondLst>
                                    <p:cond delay="50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3500"/>
                            </p:stCondLst>
                            <p:childTnLst>
                              <p:par>
                                <p:cTn id="14" presetID="1" presetClass="entr" presetSubtype="0" fill="hold" nodeType="afterEffect">
                                  <p:stCondLst>
                                    <p:cond delay="300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EF39A-2A40-9AD4-0C72-C290343B0D8D}"/>
            </a:ext>
          </a:extLst>
        </p:cNvPr>
        <p:cNvGrpSpPr/>
        <p:nvPr/>
      </p:nvGrpSpPr>
      <p:grpSpPr>
        <a:xfrm>
          <a:off x="0" y="0"/>
          <a:ext cx="0" cy="0"/>
          <a:chOff x="0" y="0"/>
          <a:chExt cx="0" cy="0"/>
        </a:xfrm>
      </p:grpSpPr>
      <p:sp>
        <p:nvSpPr>
          <p:cNvPr id="22"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grpSp>
        <p:nvGrpSpPr>
          <p:cNvPr id="10" name="Group 9">
            <a:extLst>
              <a:ext uri="{FF2B5EF4-FFF2-40B4-BE49-F238E27FC236}">
                <a16:creationId xmlns:a16="http://schemas.microsoft.com/office/drawing/2014/main" id="{21046F18-A4BB-6FCB-BBC2-B4B69A716EE6}"/>
              </a:ext>
            </a:extLst>
          </p:cNvPr>
          <p:cNvGrpSpPr/>
          <p:nvPr/>
        </p:nvGrpSpPr>
        <p:grpSpPr>
          <a:xfrm>
            <a:off x="950976" y="1085800"/>
            <a:ext cx="18022836" cy="1155599"/>
            <a:chOff x="950976" y="1085800"/>
            <a:chExt cx="18022836" cy="1155599"/>
          </a:xfrm>
        </p:grpSpPr>
        <p:sp>
          <p:nvSpPr>
            <p:cNvPr id="2" name="Text 0"/>
            <p:cNvSpPr/>
            <p:nvPr/>
          </p:nvSpPr>
          <p:spPr>
            <a:xfrm>
              <a:off x="952453" y="1085800"/>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Introducing the 5-Number Income Statement</a:t>
              </a:r>
              <a:r>
                <a:rPr lang="en-US" sz="4400" b="1" kern="0" spc="-48" dirty="0">
                  <a:solidFill>
                    <a:srgbClr val="142233"/>
                  </a:solidFill>
                  <a:latin typeface="League Spartan" pitchFamily="2" charset="77"/>
                  <a:ea typeface="Arial" pitchFamily="34" charset="-122"/>
                  <a:cs typeface="Arial" pitchFamily="34" charset="-120"/>
                </a:rPr>
                <a:t>™</a:t>
              </a:r>
              <a:endParaRPr lang="en-US" sz="4800" dirty="0">
                <a:latin typeface="League Spartan" pitchFamily="2" charset="77"/>
              </a:endParaRPr>
            </a:p>
          </p:txBody>
        </p:sp>
        <p:sp>
          <p:nvSpPr>
            <p:cNvPr id="18" name="TextBox 17"/>
            <p:cNvSpPr txBox="1"/>
            <p:nvPr/>
          </p:nvSpPr>
          <p:spPr>
            <a:xfrm>
              <a:off x="950976" y="1810512"/>
              <a:ext cx="14264640" cy="430887"/>
            </a:xfrm>
            <a:prstGeom prst="rect">
              <a:avLst/>
            </a:prstGeom>
            <a:noFill/>
          </p:spPr>
          <p:txBody>
            <a:bodyPr wrap="square" lIns="45720" tIns="0" rIns="45720" bIns="0" anchor="t">
              <a:spAutoFit/>
            </a:bodyPr>
            <a:lstStyle/>
            <a:p>
              <a:pPr algn="l"/>
              <a:r>
                <a:rPr sz="2800" b="0" i="0" dirty="0">
                  <a:solidFill>
                    <a:srgbClr val="303B4F"/>
                  </a:solidFill>
                  <a:latin typeface="League Spartan"/>
                </a:rPr>
                <a:t>Forget complicated P&amp;Ls — five numbers tell the real story of how money is made.</a:t>
              </a:r>
            </a:p>
          </p:txBody>
        </p:sp>
      </p:grpSp>
      <p:pic>
        <p:nvPicPr>
          <p:cNvPr id="19" name="Picture 18" descr="image.jpg"/>
          <p:cNvPicPr>
            <a:picLocks noChangeAspect="1"/>
          </p:cNvPicPr>
          <p:nvPr/>
        </p:nvPicPr>
        <p:blipFill>
          <a:blip r:embed="rId3"/>
          <a:stretch>
            <a:fillRect/>
          </a:stretch>
        </p:blipFill>
        <p:spPr>
          <a:xfrm>
            <a:off x="706087" y="3041616"/>
            <a:ext cx="16833609" cy="3876018"/>
          </a:xfrm>
          <a:prstGeom prst="rect">
            <a:avLst/>
          </a:prstGeom>
        </p:spPr>
      </p:pic>
      <p:grpSp>
        <p:nvGrpSpPr>
          <p:cNvPr id="11" name="Group 10">
            <a:extLst>
              <a:ext uri="{FF2B5EF4-FFF2-40B4-BE49-F238E27FC236}">
                <a16:creationId xmlns:a16="http://schemas.microsoft.com/office/drawing/2014/main" id="{6E730D7D-496B-ADC7-3413-77CFFDA88B99}"/>
              </a:ext>
            </a:extLst>
          </p:cNvPr>
          <p:cNvGrpSpPr/>
          <p:nvPr/>
        </p:nvGrpSpPr>
        <p:grpSpPr>
          <a:xfrm>
            <a:off x="1463040" y="8138160"/>
            <a:ext cx="15361920" cy="1188720"/>
            <a:chOff x="1463040" y="8138160"/>
            <a:chExt cx="15361920" cy="1188720"/>
          </a:xfrm>
        </p:grpSpPr>
        <p:sp>
          <p:nvSpPr>
            <p:cNvPr id="9" name="Rounded Rectangle 8">
              <a:extLst>
                <a:ext uri="{FF2B5EF4-FFF2-40B4-BE49-F238E27FC236}">
                  <a16:creationId xmlns:a16="http://schemas.microsoft.com/office/drawing/2014/main" id="{775D001D-4BB5-1857-3ABD-6C981B20D50F}"/>
                </a:ext>
              </a:extLst>
            </p:cNvPr>
            <p:cNvSpPr/>
            <p:nvPr/>
          </p:nvSpPr>
          <p:spPr>
            <a:xfrm>
              <a:off x="1463040" y="8138160"/>
              <a:ext cx="15361920" cy="1188720"/>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1645920" y="8138160"/>
              <a:ext cx="14996159" cy="118872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When everyone understands the 5 numbers, everyone can lead with them.</a:t>
              </a:r>
            </a:p>
            <a:p>
              <a:pPr algn="ctr">
                <a:lnSpc>
                  <a:spcPct val="115000"/>
                </a:lnSpc>
              </a:pPr>
              <a:r>
                <a:rPr sz="2400" b="0" i="1" dirty="0">
                  <a:solidFill>
                    <a:srgbClr val="303B4F"/>
                  </a:solidFill>
                  <a:latin typeface="League Spartan"/>
                </a:rPr>
                <a:t>That's when clarity becomes a competitive edge.</a:t>
              </a:r>
            </a:p>
          </p:txBody>
        </p:sp>
      </p:grpSp>
      <p:grpSp>
        <p:nvGrpSpPr>
          <p:cNvPr id="4" name="Group 3">
            <a:extLst>
              <a:ext uri="{FF2B5EF4-FFF2-40B4-BE49-F238E27FC236}">
                <a16:creationId xmlns:a16="http://schemas.microsoft.com/office/drawing/2014/main" id="{608C5AF2-43CF-1153-FA6A-62D77F361A38}"/>
              </a:ext>
            </a:extLst>
          </p:cNvPr>
          <p:cNvGrpSpPr/>
          <p:nvPr/>
        </p:nvGrpSpPr>
        <p:grpSpPr>
          <a:xfrm>
            <a:off x="16268317" y="692421"/>
            <a:ext cx="1488190" cy="1573283"/>
            <a:chOff x="10058064" y="275395"/>
            <a:chExt cx="768094" cy="812013"/>
          </a:xfrm>
        </p:grpSpPr>
        <p:pic>
          <p:nvPicPr>
            <p:cNvPr id="6" name="Picture 5" descr="data book">
              <a:extLst>
                <a:ext uri="{FF2B5EF4-FFF2-40B4-BE49-F238E27FC236}">
                  <a16:creationId xmlns:a16="http://schemas.microsoft.com/office/drawing/2014/main" id="{BD530721-1BA7-28CC-20FB-46ABC9246E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3641" y="275395"/>
              <a:ext cx="543665" cy="812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Rounded Rectangle 6">
              <a:extLst>
                <a:ext uri="{FF2B5EF4-FFF2-40B4-BE49-F238E27FC236}">
                  <a16:creationId xmlns:a16="http://schemas.microsoft.com/office/drawing/2014/main" id="{ED0360C6-D95C-2675-32A3-85943DC525AD}"/>
                </a:ext>
              </a:extLst>
            </p:cNvPr>
            <p:cNvSpPr/>
            <p:nvPr/>
          </p:nvSpPr>
          <p:spPr>
            <a:xfrm>
              <a:off x="10058064" y="796228"/>
              <a:ext cx="768094" cy="187064"/>
            </a:xfrm>
            <a:prstGeom prst="roundRect">
              <a:avLst>
                <a:gd name="adj" fmla="val 50000"/>
              </a:avLst>
            </a:prstGeom>
            <a:solidFill>
              <a:schemeClr val="bg1"/>
            </a:solidFill>
            <a:ln>
              <a:solidFill>
                <a:srgbClr val="037D6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037A5E"/>
                  </a:solidFill>
                  <a:latin typeface="Montserrat" pitchFamily="2" charset="77"/>
                </a:rPr>
                <a:t>126</a:t>
              </a:r>
            </a:p>
          </p:txBody>
        </p:sp>
        <p:sp>
          <p:nvSpPr>
            <p:cNvPr id="8" name="TextBox 7">
              <a:extLst>
                <a:ext uri="{FF2B5EF4-FFF2-40B4-BE49-F238E27FC236}">
                  <a16:creationId xmlns:a16="http://schemas.microsoft.com/office/drawing/2014/main" id="{B04AB7D9-1FAF-6DD5-CF5A-73C39947D814}"/>
                </a:ext>
              </a:extLst>
            </p:cNvPr>
            <p:cNvSpPr txBox="1"/>
            <p:nvPr/>
          </p:nvSpPr>
          <p:spPr>
            <a:xfrm>
              <a:off x="10114339" y="608800"/>
              <a:ext cx="655544" cy="190622"/>
            </a:xfrm>
            <a:prstGeom prst="rect">
              <a:avLst/>
            </a:prstGeom>
            <a:solidFill>
              <a:srgbClr val="037A5E"/>
            </a:solidFill>
          </p:spPr>
          <p:txBody>
            <a:bodyPr wrap="square" rtlCol="0">
              <a:spAutoFit/>
            </a:bodyPr>
            <a:lstStyle/>
            <a:p>
              <a:pPr algn="ctr">
                <a:buNone/>
              </a:pPr>
              <a:r>
                <a:rPr lang="en-US" b="1" dirty="0">
                  <a:solidFill>
                    <a:schemeClr val="bg1"/>
                  </a:solidFill>
                  <a:latin typeface="Montserrat" pitchFamily="2" charset="77"/>
                </a:rPr>
                <a:t>BOOK</a:t>
              </a:r>
            </a:p>
          </p:txBody>
        </p:sp>
      </p:grpSp>
      <p:pic>
        <p:nvPicPr>
          <p:cNvPr id="23" name="Picture 22" descr="texas_mark_light.png"/>
          <p:cNvPicPr>
            <a:picLocks noChangeAspect="1"/>
          </p:cNvPicPr>
          <p:nvPr/>
        </p:nvPicPr>
        <p:blipFill>
          <a:blip r:embed="rId5"/>
          <a:stretch>
            <a:fillRect/>
          </a:stretch>
        </p:blipFill>
        <p:spPr>
          <a:xfrm>
            <a:off x="16687800" y="9336024"/>
            <a:ext cx="649224" cy="612648"/>
          </a:xfrm>
          <a:prstGeom prst="rect">
            <a:avLst/>
          </a:prstGeom>
        </p:spPr>
      </p:pic>
    </p:spTree>
    <p:extLst>
      <p:ext uri="{BB962C8B-B14F-4D97-AF65-F5344CB8AC3E}">
        <p14:creationId xmlns:p14="http://schemas.microsoft.com/office/powerpoint/2010/main" val="156011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10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2000"/>
                            </p:stCondLst>
                            <p:childTnLst>
                              <p:par>
                                <p:cTn id="11" presetID="9" presetClass="entr" presetSubtype="0" fill="hold" nodeType="afterEffect">
                                  <p:stCondLst>
                                    <p:cond delay="500"/>
                                  </p:stCondLst>
                                  <p:childTnLst>
                                    <p:set>
                                      <p:cBhvr>
                                        <p:cTn id="12" dur="1" fill="hold">
                                          <p:stCondLst>
                                            <p:cond delay="0"/>
                                          </p:stCondLst>
                                        </p:cTn>
                                        <p:tgtEl>
                                          <p:spTgt spid="19"/>
                                        </p:tgtEl>
                                        <p:attrNameLst>
                                          <p:attrName>style.visibility</p:attrName>
                                        </p:attrNameLst>
                                      </p:cBhvr>
                                      <p:to>
                                        <p:strVal val="visible"/>
                                      </p:to>
                                    </p:set>
                                    <p:animEffect transition="in" filter="dissolve">
                                      <p:cBhvr>
                                        <p:cTn id="13" dur="2000"/>
                                        <p:tgtEl>
                                          <p:spTgt spid="19"/>
                                        </p:tgtEl>
                                      </p:cBhvr>
                                    </p:animEffect>
                                  </p:childTnLst>
                                </p:cTn>
                              </p:par>
                            </p:childTnLst>
                          </p:cTn>
                        </p:par>
                        <p:par>
                          <p:cTn id="14" fill="hold">
                            <p:stCondLst>
                              <p:cond delay="4500"/>
                            </p:stCondLst>
                            <p:childTnLst>
                              <p:par>
                                <p:cTn id="15" presetID="1" presetClass="entr" presetSubtype="0" fill="hold" nodeType="afterEffect">
                                  <p:stCondLst>
                                    <p:cond delay="300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B4D86-3A49-D770-9DED-B37DCD3EC3F7}"/>
            </a:ext>
          </a:extLst>
        </p:cNvPr>
        <p:cNvGrpSpPr/>
        <p:nvPr/>
      </p:nvGrpSpPr>
      <p:grpSpPr>
        <a:xfrm>
          <a:off x="0" y="0"/>
          <a:ext cx="0" cy="0"/>
          <a:chOff x="0" y="0"/>
          <a:chExt cx="0" cy="0"/>
        </a:xfrm>
      </p:grpSpPr>
      <p:sp>
        <p:nvSpPr>
          <p:cNvPr id="5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grpSp>
        <p:nvGrpSpPr>
          <p:cNvPr id="4" name="Group 3">
            <a:extLst>
              <a:ext uri="{FF2B5EF4-FFF2-40B4-BE49-F238E27FC236}">
                <a16:creationId xmlns:a16="http://schemas.microsoft.com/office/drawing/2014/main" id="{A010B76C-4E00-158D-EE08-EEB4F82973A2}"/>
              </a:ext>
            </a:extLst>
          </p:cNvPr>
          <p:cNvGrpSpPr/>
          <p:nvPr/>
        </p:nvGrpSpPr>
        <p:grpSpPr>
          <a:xfrm>
            <a:off x="950976" y="753288"/>
            <a:ext cx="15736824" cy="1049074"/>
            <a:chOff x="950976" y="753288"/>
            <a:chExt cx="18022836" cy="1049074"/>
          </a:xfrm>
        </p:grpSpPr>
        <p:sp>
          <p:nvSpPr>
            <p:cNvPr id="2" name="Text 0"/>
            <p:cNvSpPr/>
            <p:nvPr/>
          </p:nvSpPr>
          <p:spPr>
            <a:xfrm>
              <a:off x="952453" y="753288"/>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Five Number Story</a:t>
              </a:r>
              <a:endParaRPr lang="en-US" sz="4800" dirty="0">
                <a:latin typeface="League Spartan" pitchFamily="2" charset="77"/>
              </a:endParaRPr>
            </a:p>
          </p:txBody>
        </p:sp>
        <p:sp>
          <p:nvSpPr>
            <p:cNvPr id="51" name="TextBox 50"/>
            <p:cNvSpPr txBox="1"/>
            <p:nvPr/>
          </p:nvSpPr>
          <p:spPr>
            <a:xfrm>
              <a:off x="950976" y="1433030"/>
              <a:ext cx="14264640" cy="369332"/>
            </a:xfrm>
            <a:prstGeom prst="rect">
              <a:avLst/>
            </a:prstGeom>
            <a:noFill/>
          </p:spPr>
          <p:txBody>
            <a:bodyPr wrap="square" lIns="45720" tIns="0" rIns="45720" bIns="0" anchor="t">
              <a:spAutoFit/>
            </a:bodyPr>
            <a:lstStyle/>
            <a:p>
              <a:pPr algn="l"/>
              <a:r>
                <a:rPr sz="2400" b="0" i="0" dirty="0">
                  <a:solidFill>
                    <a:srgbClr val="303B4F"/>
                  </a:solidFill>
                  <a:latin typeface="League Spartan"/>
                </a:rPr>
                <a:t>You don't need perfect numbers. Just write down your best guess — this is where clarity begins.</a:t>
              </a:r>
            </a:p>
          </p:txBody>
        </p:sp>
      </p:grpSp>
      <p:grpSp>
        <p:nvGrpSpPr>
          <p:cNvPr id="24" name="Group 23">
            <a:extLst>
              <a:ext uri="{FF2B5EF4-FFF2-40B4-BE49-F238E27FC236}">
                <a16:creationId xmlns:a16="http://schemas.microsoft.com/office/drawing/2014/main" id="{F7A18887-86CD-FF29-80D6-CCB2A375B03F}"/>
              </a:ext>
            </a:extLst>
          </p:cNvPr>
          <p:cNvGrpSpPr/>
          <p:nvPr/>
        </p:nvGrpSpPr>
        <p:grpSpPr>
          <a:xfrm>
            <a:off x="2767927" y="8225862"/>
            <a:ext cx="13115423" cy="1064087"/>
            <a:chOff x="2767927" y="8225862"/>
            <a:chExt cx="13115423" cy="1064087"/>
          </a:xfrm>
        </p:grpSpPr>
        <p:sp>
          <p:nvSpPr>
            <p:cNvPr id="9" name="Rounded Rectangle 8">
              <a:extLst>
                <a:ext uri="{FF2B5EF4-FFF2-40B4-BE49-F238E27FC236}">
                  <a16:creationId xmlns:a16="http://schemas.microsoft.com/office/drawing/2014/main" id="{928AB017-FE1C-EADF-43E7-C7B220BF0193}"/>
                </a:ext>
              </a:extLst>
            </p:cNvPr>
            <p:cNvSpPr/>
            <p:nvPr/>
          </p:nvSpPr>
          <p:spPr>
            <a:xfrm>
              <a:off x="2767927" y="8225862"/>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TextBox 53"/>
            <p:cNvSpPr txBox="1"/>
            <p:nvPr/>
          </p:nvSpPr>
          <p:spPr>
            <a:xfrm>
              <a:off x="3537693" y="8295962"/>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This isn't a finance test.</a:t>
              </a:r>
            </a:p>
            <a:p>
              <a:pPr algn="ctr">
                <a:lnSpc>
                  <a:spcPct val="115000"/>
                </a:lnSpc>
              </a:pPr>
              <a:r>
                <a:rPr sz="2400" b="0" i="1" dirty="0">
                  <a:solidFill>
                    <a:srgbClr val="303B4F"/>
                  </a:solidFill>
                  <a:latin typeface="League Spartan"/>
                </a:rPr>
                <a:t>It's a snapshot of how your business creates (or loses) value.</a:t>
              </a:r>
            </a:p>
          </p:txBody>
        </p:sp>
      </p:grpSp>
      <p:graphicFrame>
        <p:nvGraphicFramePr>
          <p:cNvPr id="10" name="Table 9">
            <a:extLst>
              <a:ext uri="{FF2B5EF4-FFF2-40B4-BE49-F238E27FC236}">
                <a16:creationId xmlns:a16="http://schemas.microsoft.com/office/drawing/2014/main" id="{D258A458-1E4E-E85B-B34B-44AA2C268FA7}"/>
              </a:ext>
            </a:extLst>
          </p:cNvPr>
          <p:cNvGraphicFramePr>
            <a:graphicFrameLocks noGrp="1"/>
          </p:cNvGraphicFramePr>
          <p:nvPr>
            <p:extLst>
              <p:ext uri="{D42A27DB-BD31-4B8C-83A1-F6EECF244321}">
                <p14:modId xmlns:p14="http://schemas.microsoft.com/office/powerpoint/2010/main" val="2810804669"/>
              </p:ext>
            </p:extLst>
          </p:nvPr>
        </p:nvGraphicFramePr>
        <p:xfrm>
          <a:off x="705310" y="2532122"/>
          <a:ext cx="16688866" cy="4864267"/>
        </p:xfrm>
        <a:graphic>
          <a:graphicData uri="http://schemas.openxmlformats.org/drawingml/2006/table">
            <a:tbl>
              <a:tblPr firstRow="1" bandRow="1">
                <a:tableStyleId>{5940675A-B579-460E-94D1-54222C63F5DA}</a:tableStyleId>
              </a:tblPr>
              <a:tblGrid>
                <a:gridCol w="1194804">
                  <a:extLst>
                    <a:ext uri="{9D8B030D-6E8A-4147-A177-3AD203B41FA5}">
                      <a16:colId xmlns:a16="http://schemas.microsoft.com/office/drawing/2014/main" val="480018435"/>
                    </a:ext>
                  </a:extLst>
                </a:gridCol>
                <a:gridCol w="4867862">
                  <a:extLst>
                    <a:ext uri="{9D8B030D-6E8A-4147-A177-3AD203B41FA5}">
                      <a16:colId xmlns:a16="http://schemas.microsoft.com/office/drawing/2014/main" val="738973365"/>
                    </a:ext>
                  </a:extLst>
                </a:gridCol>
                <a:gridCol w="5960997">
                  <a:extLst>
                    <a:ext uri="{9D8B030D-6E8A-4147-A177-3AD203B41FA5}">
                      <a16:colId xmlns:a16="http://schemas.microsoft.com/office/drawing/2014/main" val="21084812"/>
                    </a:ext>
                  </a:extLst>
                </a:gridCol>
                <a:gridCol w="3451893">
                  <a:extLst>
                    <a:ext uri="{9D8B030D-6E8A-4147-A177-3AD203B41FA5}">
                      <a16:colId xmlns:a16="http://schemas.microsoft.com/office/drawing/2014/main" val="40626415"/>
                    </a:ext>
                  </a:extLst>
                </a:gridCol>
                <a:gridCol w="1213310">
                  <a:extLst>
                    <a:ext uri="{9D8B030D-6E8A-4147-A177-3AD203B41FA5}">
                      <a16:colId xmlns:a16="http://schemas.microsoft.com/office/drawing/2014/main" val="2565119450"/>
                    </a:ext>
                  </a:extLst>
                </a:gridCol>
              </a:tblGrid>
              <a:tr h="610357">
                <a:tc>
                  <a:txBody>
                    <a:bodyPr/>
                    <a:lstStyle/>
                    <a:p>
                      <a:pPr algn="ctr"/>
                      <a:r>
                        <a:rPr lang="en-US" sz="2500" b="1">
                          <a:solidFill>
                            <a:schemeClr val="bg1"/>
                          </a:solidFill>
                          <a:latin typeface="Montserrat" pitchFamily="2" charset="77"/>
                        </a:rPr>
                        <a:t>#</a:t>
                      </a:r>
                    </a:p>
                  </a:txBody>
                  <a:tcPr marL="145415" marR="145415" marT="72707" marB="72707" anchor="ctr">
                    <a:solidFill>
                      <a:schemeClr val="bg2">
                        <a:lumMod val="75000"/>
                      </a:schemeClr>
                    </a:solidFill>
                  </a:tcPr>
                </a:tc>
                <a:tc>
                  <a:txBody>
                    <a:bodyPr/>
                    <a:lstStyle/>
                    <a:p>
                      <a:pPr algn="ctr"/>
                      <a:r>
                        <a:rPr lang="en-US" sz="2500" b="1">
                          <a:solidFill>
                            <a:schemeClr val="bg1"/>
                          </a:solidFill>
                          <a:latin typeface="Montserrat" pitchFamily="2" charset="77"/>
                        </a:rPr>
                        <a:t>What You’re Estimating</a:t>
                      </a:r>
                    </a:p>
                  </a:txBody>
                  <a:tcPr marL="145415" marR="145415" marT="72707" marB="72707" anchor="ctr">
                    <a:solidFill>
                      <a:schemeClr val="bg2">
                        <a:lumMod val="75000"/>
                      </a:schemeClr>
                    </a:solidFill>
                  </a:tcPr>
                </a:tc>
                <a:tc>
                  <a:txBody>
                    <a:bodyPr/>
                    <a:lstStyle/>
                    <a:p>
                      <a:pPr algn="ctr"/>
                      <a:r>
                        <a:rPr lang="en-US" sz="2500" b="1" i="0">
                          <a:solidFill>
                            <a:schemeClr val="bg1"/>
                          </a:solidFill>
                          <a:latin typeface="Montserrat" pitchFamily="2" charset="77"/>
                        </a:rPr>
                        <a:t>Why it Matters</a:t>
                      </a:r>
                    </a:p>
                  </a:txBody>
                  <a:tcPr marL="145415" marR="145415" marT="72707" marB="72707" anchor="ctr">
                    <a:solidFill>
                      <a:schemeClr val="bg2">
                        <a:lumMod val="75000"/>
                      </a:schemeClr>
                    </a:solidFill>
                  </a:tcPr>
                </a:tc>
                <a:tc>
                  <a:txBody>
                    <a:bodyPr/>
                    <a:lstStyle/>
                    <a:p>
                      <a:pPr algn="ctr"/>
                      <a:r>
                        <a:rPr lang="en-US" sz="2500" b="1" i="0" dirty="0">
                          <a:solidFill>
                            <a:schemeClr val="bg1"/>
                          </a:solidFill>
                          <a:latin typeface="Montserrat" pitchFamily="2" charset="77"/>
                        </a:rPr>
                        <a:t>Your Dollars</a:t>
                      </a:r>
                    </a:p>
                  </a:txBody>
                  <a:tcPr marL="145415" marR="145415" marT="72707" marB="72707" anchor="ctr">
                    <a:solidFill>
                      <a:schemeClr val="bg2">
                        <a:lumMod val="75000"/>
                      </a:schemeClr>
                    </a:solidFill>
                  </a:tcPr>
                </a:tc>
                <a:tc>
                  <a:txBody>
                    <a:bodyPr/>
                    <a:lstStyle/>
                    <a:p>
                      <a:pPr algn="ctr"/>
                      <a:r>
                        <a:rPr lang="en-US" sz="2500" b="1" i="0" dirty="0">
                          <a:solidFill>
                            <a:schemeClr val="bg1"/>
                          </a:solidFill>
                          <a:latin typeface="Montserrat" pitchFamily="2" charset="77"/>
                        </a:rPr>
                        <a:t>%</a:t>
                      </a:r>
                    </a:p>
                  </a:txBody>
                  <a:tcPr marL="145415" marR="145415" marT="72707" marB="72707" anchor="ctr">
                    <a:solidFill>
                      <a:schemeClr val="bg2">
                        <a:lumMod val="75000"/>
                      </a:schemeClr>
                    </a:solidFill>
                  </a:tcPr>
                </a:tc>
                <a:extLst>
                  <a:ext uri="{0D108BD9-81ED-4DB2-BD59-A6C34878D82A}">
                    <a16:rowId xmlns:a16="http://schemas.microsoft.com/office/drawing/2014/main" val="1258392808"/>
                  </a:ext>
                </a:extLst>
              </a:tr>
              <a:tr h="850782">
                <a:tc>
                  <a:txBody>
                    <a:bodyPr/>
                    <a:lstStyle/>
                    <a:p>
                      <a:pPr algn="ctr"/>
                      <a:r>
                        <a:rPr lang="en-US" sz="2500" b="1">
                          <a:latin typeface="Montserrat" pitchFamily="2" charset="77"/>
                        </a:rPr>
                        <a:t>1</a:t>
                      </a:r>
                    </a:p>
                  </a:txBody>
                  <a:tcPr marL="145415" marR="145415" marT="72707" marB="72707" anchor="ctr">
                    <a:noFill/>
                  </a:tcPr>
                </a:tc>
                <a:tc>
                  <a:txBody>
                    <a:bodyPr/>
                    <a:lstStyle/>
                    <a:p>
                      <a:pPr algn="l"/>
                      <a:r>
                        <a:rPr lang="en-US" sz="2500" i="0">
                          <a:latin typeface="Montserrat" pitchFamily="2" charset="77"/>
                        </a:rPr>
                        <a:t>Revenue</a:t>
                      </a:r>
                    </a:p>
                  </a:txBody>
                  <a:tcPr marL="145415" marR="145415" marT="72707" marB="72707" anchor="ctr">
                    <a:noFill/>
                  </a:tcPr>
                </a:tc>
                <a:tc>
                  <a:txBody>
                    <a:bodyPr/>
                    <a:lstStyle/>
                    <a:p>
                      <a:pPr algn="l"/>
                      <a:r>
                        <a:rPr lang="en-US" sz="2500" i="1">
                          <a:latin typeface="Montserrat" pitchFamily="2" charset="77"/>
                        </a:rPr>
                        <a:t>What your customer pays you</a:t>
                      </a: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extLst>
                  <a:ext uri="{0D108BD9-81ED-4DB2-BD59-A6C34878D82A}">
                    <a16:rowId xmlns:a16="http://schemas.microsoft.com/office/drawing/2014/main" val="2468766028"/>
                  </a:ext>
                </a:extLst>
              </a:tr>
              <a:tr h="850782">
                <a:tc>
                  <a:txBody>
                    <a:bodyPr/>
                    <a:lstStyle/>
                    <a:p>
                      <a:pPr algn="ctr"/>
                      <a:r>
                        <a:rPr lang="en-US" sz="2500" b="1">
                          <a:latin typeface="Montserrat" pitchFamily="2" charset="77"/>
                        </a:rPr>
                        <a:t>2</a:t>
                      </a:r>
                    </a:p>
                  </a:txBody>
                  <a:tcPr marL="145415" marR="145415" marT="72707" marB="72707" anchor="ctr">
                    <a:noFill/>
                  </a:tcPr>
                </a:tc>
                <a:tc>
                  <a:txBody>
                    <a:bodyPr/>
                    <a:lstStyle/>
                    <a:p>
                      <a:pPr algn="l"/>
                      <a:r>
                        <a:rPr lang="en-US" sz="2500" i="0">
                          <a:latin typeface="Montserrat" pitchFamily="2" charset="77"/>
                        </a:rPr>
                        <a:t>Directly Variable Cost (DVC)</a:t>
                      </a:r>
                      <a:endParaRPr lang="en-US" sz="2500" i="1">
                        <a:latin typeface="Montserrat" pitchFamily="2" charset="77"/>
                      </a:endParaRPr>
                    </a:p>
                  </a:txBody>
                  <a:tcPr marL="145415" marR="145415" marT="72707" marB="72707" anchor="ctr">
                    <a:noFill/>
                  </a:tcPr>
                </a:tc>
                <a:tc>
                  <a:txBody>
                    <a:bodyPr/>
                    <a:lstStyle/>
                    <a:p>
                      <a:pPr algn="l"/>
                      <a:r>
                        <a:rPr lang="en-US" sz="2500" i="1">
                          <a:latin typeface="Montserrat" pitchFamily="2" charset="77"/>
                        </a:rPr>
                        <a:t>What it costs to fulfill the order</a:t>
                      </a: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extLst>
                  <a:ext uri="{0D108BD9-81ED-4DB2-BD59-A6C34878D82A}">
                    <a16:rowId xmlns:a16="http://schemas.microsoft.com/office/drawing/2014/main" val="3015242106"/>
                  </a:ext>
                </a:extLst>
              </a:tr>
              <a:tr h="850782">
                <a:tc>
                  <a:txBody>
                    <a:bodyPr/>
                    <a:lstStyle/>
                    <a:p>
                      <a:pPr algn="ctr"/>
                      <a:r>
                        <a:rPr lang="en-US" sz="2500" b="1" dirty="0">
                          <a:solidFill>
                            <a:schemeClr val="bg1"/>
                          </a:solidFill>
                          <a:latin typeface="Montserrat" pitchFamily="2" charset="77"/>
                        </a:rPr>
                        <a:t>3</a:t>
                      </a:r>
                    </a:p>
                  </a:txBody>
                  <a:tcPr marL="145415" marR="145415" marT="72707" marB="72707" anchor="ctr">
                    <a:solidFill>
                      <a:schemeClr val="accent1">
                        <a:lumMod val="50000"/>
                      </a:schemeClr>
                    </a:solidFill>
                  </a:tcPr>
                </a:tc>
                <a:tc>
                  <a:txBody>
                    <a:bodyPr/>
                    <a:lstStyle/>
                    <a:p>
                      <a:pPr algn="l"/>
                      <a:r>
                        <a:rPr lang="en-US" sz="2500" i="0" dirty="0">
                          <a:solidFill>
                            <a:schemeClr val="bg1"/>
                          </a:solidFill>
                          <a:latin typeface="Montserrat" pitchFamily="2" charset="77"/>
                        </a:rPr>
                        <a:t>Gross Profit $</a:t>
                      </a:r>
                    </a:p>
                  </a:txBody>
                  <a:tcPr marL="145415" marR="145415" marT="72707" marB="72707" anchor="ctr">
                    <a:solidFill>
                      <a:schemeClr val="accent1">
                        <a:lumMod val="50000"/>
                      </a:schemeClr>
                    </a:solidFill>
                  </a:tcPr>
                </a:tc>
                <a:tc>
                  <a:txBody>
                    <a:bodyPr/>
                    <a:lstStyle/>
                    <a:p>
                      <a:pPr algn="l"/>
                      <a:r>
                        <a:rPr lang="en-US" sz="2500" i="1" dirty="0">
                          <a:solidFill>
                            <a:schemeClr val="bg1"/>
                          </a:solidFill>
                          <a:latin typeface="Montserrat" pitchFamily="2" charset="77"/>
                        </a:rPr>
                        <a:t>What’s left to run your business</a:t>
                      </a: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extLst>
                  <a:ext uri="{0D108BD9-81ED-4DB2-BD59-A6C34878D82A}">
                    <a16:rowId xmlns:a16="http://schemas.microsoft.com/office/drawing/2014/main" val="1930486745"/>
                  </a:ext>
                </a:extLst>
              </a:tr>
              <a:tr h="850782">
                <a:tc>
                  <a:txBody>
                    <a:bodyPr/>
                    <a:lstStyle/>
                    <a:p>
                      <a:pPr algn="ctr"/>
                      <a:r>
                        <a:rPr lang="en-US" sz="2500" b="1" dirty="0">
                          <a:solidFill>
                            <a:schemeClr val="bg1"/>
                          </a:solidFill>
                          <a:latin typeface="Montserrat" pitchFamily="2" charset="77"/>
                        </a:rPr>
                        <a:t>4</a:t>
                      </a:r>
                    </a:p>
                  </a:txBody>
                  <a:tcPr marL="145415" marR="145415" marT="72707" marB="72707" anchor="ctr">
                    <a:solidFill>
                      <a:schemeClr val="accent1">
                        <a:lumMod val="50000"/>
                      </a:schemeClr>
                    </a:solidFill>
                  </a:tcPr>
                </a:tc>
                <a:tc>
                  <a:txBody>
                    <a:bodyPr/>
                    <a:lstStyle/>
                    <a:p>
                      <a:pPr algn="l"/>
                      <a:r>
                        <a:rPr lang="en-US" sz="2500" i="0" dirty="0">
                          <a:solidFill>
                            <a:schemeClr val="bg1"/>
                          </a:solidFill>
                          <a:latin typeface="Montserrat" pitchFamily="2" charset="77"/>
                        </a:rPr>
                        <a:t>Operating Expense (OPEX)</a:t>
                      </a:r>
                    </a:p>
                  </a:txBody>
                  <a:tcPr marL="145415" marR="145415" marT="72707" marB="72707" anchor="ctr">
                    <a:solidFill>
                      <a:schemeClr val="accent1">
                        <a:lumMod val="50000"/>
                      </a:schemeClr>
                    </a:solidFill>
                  </a:tcPr>
                </a:tc>
                <a:tc>
                  <a:txBody>
                    <a:bodyPr/>
                    <a:lstStyle/>
                    <a:p>
                      <a:pPr algn="l"/>
                      <a:r>
                        <a:rPr lang="en-US" sz="2500" i="1" dirty="0">
                          <a:solidFill>
                            <a:schemeClr val="bg1"/>
                          </a:solidFill>
                          <a:latin typeface="Montserrat" pitchFamily="2" charset="77"/>
                        </a:rPr>
                        <a:t>What it costs to keep the lights on</a:t>
                      </a: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extLst>
                  <a:ext uri="{0D108BD9-81ED-4DB2-BD59-A6C34878D82A}">
                    <a16:rowId xmlns:a16="http://schemas.microsoft.com/office/drawing/2014/main" val="2172489245"/>
                  </a:ext>
                </a:extLst>
              </a:tr>
              <a:tr h="850782">
                <a:tc>
                  <a:txBody>
                    <a:bodyPr/>
                    <a:lstStyle/>
                    <a:p>
                      <a:pPr algn="ctr"/>
                      <a:r>
                        <a:rPr lang="en-US" sz="2500" b="1">
                          <a:latin typeface="Montserrat" pitchFamily="2" charset="77"/>
                        </a:rPr>
                        <a:t>5</a:t>
                      </a:r>
                    </a:p>
                  </a:txBody>
                  <a:tcPr marL="145415" marR="145415" marT="72707" marB="72707" anchor="ctr">
                    <a:noFill/>
                  </a:tcPr>
                </a:tc>
                <a:tc>
                  <a:txBody>
                    <a:bodyPr/>
                    <a:lstStyle/>
                    <a:p>
                      <a:pPr algn="l"/>
                      <a:r>
                        <a:rPr lang="en-US" sz="2500" i="0" dirty="0">
                          <a:latin typeface="Montserrat" pitchFamily="2" charset="77"/>
                        </a:rPr>
                        <a:t>Net Operating Income</a:t>
                      </a:r>
                    </a:p>
                  </a:txBody>
                  <a:tcPr marL="145415" marR="145415" marT="72707" marB="72707" anchor="ctr">
                    <a:noFill/>
                  </a:tcPr>
                </a:tc>
                <a:tc>
                  <a:txBody>
                    <a:bodyPr/>
                    <a:lstStyle/>
                    <a:p>
                      <a:pPr algn="l"/>
                      <a:r>
                        <a:rPr lang="en-US" sz="2500" i="1" dirty="0">
                          <a:latin typeface="Montserrat" pitchFamily="2" charset="77"/>
                        </a:rPr>
                        <a:t>What you actually keep</a:t>
                      </a:r>
                    </a:p>
                  </a:txBody>
                  <a:tcPr marL="145415" marR="145415" marT="72707" marB="72707"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latin typeface="Montserrat" pitchFamily="2" charset="77"/>
                      </a:endParaRPr>
                    </a:p>
                  </a:txBody>
                  <a:tcPr marL="145415" marR="145415" marT="72707" marB="72707"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latin typeface="Montserrat" pitchFamily="2" charset="77"/>
                      </a:endParaRPr>
                    </a:p>
                  </a:txBody>
                  <a:tcPr marL="145415" marR="145415" marT="72707" marB="72707" anchor="ctr"/>
                </a:tc>
                <a:extLst>
                  <a:ext uri="{0D108BD9-81ED-4DB2-BD59-A6C34878D82A}">
                    <a16:rowId xmlns:a16="http://schemas.microsoft.com/office/drawing/2014/main" val="1542853448"/>
                  </a:ext>
                </a:extLst>
              </a:tr>
            </a:tbl>
          </a:graphicData>
        </a:graphic>
      </p:graphicFrame>
      <p:sp>
        <p:nvSpPr>
          <p:cNvPr id="11" name="TextBox 10">
            <a:extLst>
              <a:ext uri="{FF2B5EF4-FFF2-40B4-BE49-F238E27FC236}">
                <a16:creationId xmlns:a16="http://schemas.microsoft.com/office/drawing/2014/main" id="{D1DF629D-A012-A46C-5F09-C44867BC5921}"/>
              </a:ext>
            </a:extLst>
          </p:cNvPr>
          <p:cNvSpPr txBox="1"/>
          <p:nvPr/>
        </p:nvSpPr>
        <p:spPr>
          <a:xfrm>
            <a:off x="13462997" y="3234018"/>
            <a:ext cx="191430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$ 10,000</a:t>
            </a:r>
          </a:p>
        </p:txBody>
      </p:sp>
      <p:sp>
        <p:nvSpPr>
          <p:cNvPr id="12" name="TextBox 11">
            <a:extLst>
              <a:ext uri="{FF2B5EF4-FFF2-40B4-BE49-F238E27FC236}">
                <a16:creationId xmlns:a16="http://schemas.microsoft.com/office/drawing/2014/main" id="{4BD0775F-3E18-00E1-2282-9ADB7474207B}"/>
              </a:ext>
            </a:extLst>
          </p:cNvPr>
          <p:cNvSpPr txBox="1"/>
          <p:nvPr/>
        </p:nvSpPr>
        <p:spPr>
          <a:xfrm>
            <a:off x="13469071" y="4133478"/>
            <a:ext cx="194636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5,000</a:t>
            </a:r>
          </a:p>
        </p:txBody>
      </p:sp>
      <p:sp>
        <p:nvSpPr>
          <p:cNvPr id="13" name="TextBox 12">
            <a:extLst>
              <a:ext uri="{FF2B5EF4-FFF2-40B4-BE49-F238E27FC236}">
                <a16:creationId xmlns:a16="http://schemas.microsoft.com/office/drawing/2014/main" id="{6A6096BB-F174-6D9F-E5DE-FB5A42EF1AB8}"/>
              </a:ext>
            </a:extLst>
          </p:cNvPr>
          <p:cNvSpPr txBox="1"/>
          <p:nvPr/>
        </p:nvSpPr>
        <p:spPr>
          <a:xfrm>
            <a:off x="13491661" y="4964255"/>
            <a:ext cx="1946367"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   5,000</a:t>
            </a:r>
          </a:p>
        </p:txBody>
      </p:sp>
      <p:sp>
        <p:nvSpPr>
          <p:cNvPr id="14" name="TextBox 13">
            <a:extLst>
              <a:ext uri="{FF2B5EF4-FFF2-40B4-BE49-F238E27FC236}">
                <a16:creationId xmlns:a16="http://schemas.microsoft.com/office/drawing/2014/main" id="{92C9EECC-1599-EF32-C9A5-2AF166EFF20B}"/>
              </a:ext>
            </a:extLst>
          </p:cNvPr>
          <p:cNvSpPr txBox="1"/>
          <p:nvPr/>
        </p:nvSpPr>
        <p:spPr>
          <a:xfrm>
            <a:off x="13455447" y="5805082"/>
            <a:ext cx="1973617"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   4,000</a:t>
            </a:r>
          </a:p>
        </p:txBody>
      </p:sp>
      <p:sp>
        <p:nvSpPr>
          <p:cNvPr id="15" name="TextBox 14">
            <a:extLst>
              <a:ext uri="{FF2B5EF4-FFF2-40B4-BE49-F238E27FC236}">
                <a16:creationId xmlns:a16="http://schemas.microsoft.com/office/drawing/2014/main" id="{636A8886-4F2C-0372-3E5C-B53BAE6A9C75}"/>
              </a:ext>
            </a:extLst>
          </p:cNvPr>
          <p:cNvSpPr txBox="1"/>
          <p:nvPr/>
        </p:nvSpPr>
        <p:spPr>
          <a:xfrm>
            <a:off x="13462997" y="6645066"/>
            <a:ext cx="190949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1,000</a:t>
            </a:r>
          </a:p>
        </p:txBody>
      </p:sp>
      <p:sp>
        <p:nvSpPr>
          <p:cNvPr id="16" name="TextBox 15">
            <a:extLst>
              <a:ext uri="{FF2B5EF4-FFF2-40B4-BE49-F238E27FC236}">
                <a16:creationId xmlns:a16="http://schemas.microsoft.com/office/drawing/2014/main" id="{CD85F732-9C30-3AA3-9E71-B3B41F8CA0AD}"/>
              </a:ext>
            </a:extLst>
          </p:cNvPr>
          <p:cNvSpPr txBox="1"/>
          <p:nvPr/>
        </p:nvSpPr>
        <p:spPr>
          <a:xfrm>
            <a:off x="16296752" y="3229097"/>
            <a:ext cx="896399"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100</a:t>
            </a:r>
          </a:p>
        </p:txBody>
      </p:sp>
      <p:sp>
        <p:nvSpPr>
          <p:cNvPr id="17" name="TextBox 16">
            <a:extLst>
              <a:ext uri="{FF2B5EF4-FFF2-40B4-BE49-F238E27FC236}">
                <a16:creationId xmlns:a16="http://schemas.microsoft.com/office/drawing/2014/main" id="{F346C137-3B70-DC50-A6A0-040E13361AF2}"/>
              </a:ext>
            </a:extLst>
          </p:cNvPr>
          <p:cNvSpPr txBox="1"/>
          <p:nvPr/>
        </p:nvSpPr>
        <p:spPr>
          <a:xfrm>
            <a:off x="16482845" y="4133478"/>
            <a:ext cx="691215"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50</a:t>
            </a:r>
          </a:p>
        </p:txBody>
      </p:sp>
      <p:sp>
        <p:nvSpPr>
          <p:cNvPr id="18" name="TextBox 17">
            <a:extLst>
              <a:ext uri="{FF2B5EF4-FFF2-40B4-BE49-F238E27FC236}">
                <a16:creationId xmlns:a16="http://schemas.microsoft.com/office/drawing/2014/main" id="{DE484B9B-BC6D-50C8-1EC1-AE2B5DF452DB}"/>
              </a:ext>
            </a:extLst>
          </p:cNvPr>
          <p:cNvSpPr txBox="1"/>
          <p:nvPr/>
        </p:nvSpPr>
        <p:spPr>
          <a:xfrm>
            <a:off x="16482845" y="4966522"/>
            <a:ext cx="691215"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50</a:t>
            </a:r>
          </a:p>
        </p:txBody>
      </p:sp>
      <p:sp>
        <p:nvSpPr>
          <p:cNvPr id="19" name="TextBox 18">
            <a:extLst>
              <a:ext uri="{FF2B5EF4-FFF2-40B4-BE49-F238E27FC236}">
                <a16:creationId xmlns:a16="http://schemas.microsoft.com/office/drawing/2014/main" id="{7DAD5284-5883-3DAF-D266-FC15F50A8FAF}"/>
              </a:ext>
            </a:extLst>
          </p:cNvPr>
          <p:cNvSpPr txBox="1"/>
          <p:nvPr/>
        </p:nvSpPr>
        <p:spPr>
          <a:xfrm>
            <a:off x="16418725" y="5805081"/>
            <a:ext cx="718466"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40</a:t>
            </a:r>
          </a:p>
        </p:txBody>
      </p:sp>
      <p:sp>
        <p:nvSpPr>
          <p:cNvPr id="20" name="TextBox 19">
            <a:extLst>
              <a:ext uri="{FF2B5EF4-FFF2-40B4-BE49-F238E27FC236}">
                <a16:creationId xmlns:a16="http://schemas.microsoft.com/office/drawing/2014/main" id="{0983F4D2-6280-2BA9-88C2-20B5D8D55A9A}"/>
              </a:ext>
            </a:extLst>
          </p:cNvPr>
          <p:cNvSpPr txBox="1"/>
          <p:nvPr/>
        </p:nvSpPr>
        <p:spPr>
          <a:xfrm>
            <a:off x="16482845" y="6643556"/>
            <a:ext cx="654346"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10</a:t>
            </a:r>
          </a:p>
        </p:txBody>
      </p:sp>
      <p:pic>
        <p:nvPicPr>
          <p:cNvPr id="56" name="Picture 55" descr="texas_mark_light.png"/>
          <p:cNvPicPr>
            <a:picLocks noChangeAspect="1"/>
          </p:cNvPicPr>
          <p:nvPr/>
        </p:nvPicPr>
        <p:blipFill>
          <a:blip r:embed="rId3"/>
          <a:stretch>
            <a:fillRect/>
          </a:stretch>
        </p:blipFill>
        <p:spPr>
          <a:xfrm>
            <a:off x="16687800" y="9336024"/>
            <a:ext cx="649224" cy="612648"/>
          </a:xfrm>
          <a:prstGeom prst="rect">
            <a:avLst/>
          </a:prstGeom>
        </p:spPr>
      </p:pic>
      <p:sp>
        <p:nvSpPr>
          <p:cNvPr id="6" name="Rectangle 5">
            <a:extLst>
              <a:ext uri="{FF2B5EF4-FFF2-40B4-BE49-F238E27FC236}">
                <a16:creationId xmlns:a16="http://schemas.microsoft.com/office/drawing/2014/main" id="{0F32144F-55A5-62FB-B64D-EBCD7E0D744E}"/>
              </a:ext>
            </a:extLst>
          </p:cNvPr>
          <p:cNvSpPr/>
          <p:nvPr/>
        </p:nvSpPr>
        <p:spPr>
          <a:xfrm>
            <a:off x="649350" y="3215376"/>
            <a:ext cx="16933340" cy="851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8A9EFB-2D66-0EAC-555E-306C1DCD72D4}"/>
              </a:ext>
            </a:extLst>
          </p:cNvPr>
          <p:cNvSpPr/>
          <p:nvPr/>
        </p:nvSpPr>
        <p:spPr>
          <a:xfrm>
            <a:off x="649350" y="3949033"/>
            <a:ext cx="16933340" cy="792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A641E2D-E4AC-DF49-ADCB-25FAD74E4955}"/>
              </a:ext>
            </a:extLst>
          </p:cNvPr>
          <p:cNvSpPr/>
          <p:nvPr/>
        </p:nvSpPr>
        <p:spPr>
          <a:xfrm>
            <a:off x="649350" y="4670585"/>
            <a:ext cx="16933340" cy="1080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7FE02D4-0D8D-FE08-DAAF-AC482E47A6B7}"/>
              </a:ext>
            </a:extLst>
          </p:cNvPr>
          <p:cNvSpPr/>
          <p:nvPr/>
        </p:nvSpPr>
        <p:spPr>
          <a:xfrm>
            <a:off x="649350" y="5750945"/>
            <a:ext cx="16933340" cy="9670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59AFD0B-AFEC-8BF6-962D-E184CC3F9760}"/>
              </a:ext>
            </a:extLst>
          </p:cNvPr>
          <p:cNvSpPr/>
          <p:nvPr/>
        </p:nvSpPr>
        <p:spPr>
          <a:xfrm>
            <a:off x="615121" y="6623463"/>
            <a:ext cx="16967953" cy="8078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BCD61AB-2CD0-C1B2-E419-F49B60DCFC65}"/>
              </a:ext>
            </a:extLst>
          </p:cNvPr>
          <p:cNvSpPr/>
          <p:nvPr/>
        </p:nvSpPr>
        <p:spPr>
          <a:xfrm>
            <a:off x="615122" y="2411723"/>
            <a:ext cx="16967568" cy="8922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111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hidden"/>
                                      </p:to>
                                    </p:set>
                                  </p:childTnLst>
                                </p:cTn>
                              </p:par>
                            </p:childTnLst>
                          </p:cTn>
                        </p:par>
                        <p:par>
                          <p:cTn id="31" fill="hold">
                            <p:stCondLst>
                              <p:cond delay="0"/>
                            </p:stCondLst>
                            <p:childTnLst>
                              <p:par>
                                <p:cTn id="32" presetID="1" presetClass="entr" presetSubtype="0" fill="hold" nodeType="afterEffect">
                                  <p:stCondLst>
                                    <p:cond delay="300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1"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8"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6375425"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Five Number Income Statement™  —  3 Minutes</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10512414" y="2989328"/>
            <a:ext cx="6518288" cy="4534602"/>
          </a:xfrm>
          <a:prstGeom prst="rect">
            <a:avLst/>
          </a:prstGeom>
          <a:noFill/>
          <a:ln/>
        </p:spPr>
        <p:txBody>
          <a:bodyPr wrap="square" lIns="25400" tIns="25400" rIns="25400" bIns="25400" rtlCol="0" anchor="t">
            <a:normAutofit fontScale="85000" lnSpcReduction="20000"/>
          </a:bodyPr>
          <a:lstStyle/>
          <a:p>
            <a:pPr>
              <a:spcAft>
                <a:spcPts val="2400"/>
              </a:spcAft>
              <a:buClr>
                <a:srgbClr val="FF7900"/>
              </a:buClr>
              <a:buSzPct val="110000"/>
            </a:pPr>
            <a:r>
              <a:rPr lang="en-US" sz="3600" b="1" dirty="0">
                <a:solidFill>
                  <a:srgbClr val="142233"/>
                </a:solidFill>
                <a:latin typeface="League Spartan" pitchFamily="2" charset="77"/>
                <a:ea typeface="Arial" pitchFamily="34" charset="-122"/>
                <a:cs typeface="Arial" pitchFamily="34" charset="-120"/>
              </a:rPr>
              <a:t>Handout, page 1 </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write your five numbers</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Best guess.   This isn't a finance test — it's a snapshot of how your business creates (or loses) value </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Then compare gross margin with the person next to you</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cs typeface="Arial" pitchFamily="34" charset="-120"/>
              </a:rPr>
              <a:t>If you can't estimate within 20%, that's a finding too ;-)</a:t>
            </a:r>
          </a:p>
        </p:txBody>
      </p:sp>
      <p:pic>
        <p:nvPicPr>
          <p:cNvPr id="9" name="Picture 8">
            <a:extLst>
              <a:ext uri="{FF2B5EF4-FFF2-40B4-BE49-F238E27FC236}">
                <a16:creationId xmlns:a16="http://schemas.microsoft.com/office/drawing/2014/main" id="{72726E6A-BA08-CCB2-E8FD-5930B69ED73B}"/>
              </a:ext>
            </a:extLst>
          </p:cNvPr>
          <p:cNvPicPr>
            <a:picLocks noChangeAspect="1"/>
          </p:cNvPicPr>
          <p:nvPr/>
        </p:nvPicPr>
        <p:blipFill>
          <a:blip r:embed="rId3"/>
          <a:stretch>
            <a:fillRect/>
          </a:stretch>
        </p:blipFill>
        <p:spPr>
          <a:xfrm>
            <a:off x="952453" y="2415942"/>
            <a:ext cx="8677333" cy="6651911"/>
          </a:xfrm>
          <a:prstGeom prst="rect">
            <a:avLst/>
          </a:prstGeom>
          <a:ln>
            <a:solidFill>
              <a:schemeClr val="bg1">
                <a:lumMod val="50000"/>
              </a:schemeClr>
            </a:solidFill>
          </a:ln>
        </p:spPr>
      </p:pic>
      <p:sp>
        <p:nvSpPr>
          <p:cNvPr id="10" name="Rounded Rectangle 9">
            <a:extLst>
              <a:ext uri="{FF2B5EF4-FFF2-40B4-BE49-F238E27FC236}">
                <a16:creationId xmlns:a16="http://schemas.microsoft.com/office/drawing/2014/main" id="{0E8552FF-9C97-0654-1636-87C9883921A7}"/>
              </a:ext>
            </a:extLst>
          </p:cNvPr>
          <p:cNvSpPr/>
          <p:nvPr/>
        </p:nvSpPr>
        <p:spPr>
          <a:xfrm>
            <a:off x="757239" y="3143250"/>
            <a:ext cx="6586536" cy="4226759"/>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FEA06CD-C1A8-ADCD-9E0F-74715B705EC0}"/>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dirty="0">
                <a:solidFill>
                  <a:srgbClr val="FFFFFF"/>
                </a:solidFill>
                <a:latin typeface="League Spartan"/>
              </a:rPr>
              <a:t>Handout · Pg </a:t>
            </a:r>
            <a:r>
              <a:rPr lang="en-US" sz="1200" b="1" dirty="0">
                <a:solidFill>
                  <a:srgbClr val="FFFFFF"/>
                </a:solidFill>
                <a:latin typeface="League Spartan"/>
              </a:rPr>
              <a:t>1</a:t>
            </a:r>
            <a:endParaRPr sz="1200" b="1" dirty="0">
              <a:solidFill>
                <a:srgbClr val="FFFFFF"/>
              </a:solidFill>
              <a:latin typeface="League Spartan"/>
            </a:endParaRPr>
          </a:p>
        </p:txBody>
      </p:sp>
      <p:pic>
        <p:nvPicPr>
          <p:cNvPr id="19" name="Picture 18"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grpId="0" nodeType="afterEffect">
                                  <p:stCondLst>
                                    <p:cond delay="3000"/>
                                  </p:stCondLst>
                                  <p:childTnLst>
                                    <p:set>
                                      <p:cBhvr>
                                        <p:cTn id="12" dur="1" fill="hold">
                                          <p:stCondLst>
                                            <p:cond delay="0"/>
                                          </p:stCondLst>
                                        </p:cTn>
                                        <p:tgtEl>
                                          <p:spTgt spid="17">
                                            <p:txEl>
                                              <p:pRg st="0" end="0"/>
                                            </p:txEl>
                                          </p:spTgt>
                                        </p:tgtEl>
                                        <p:attrNameLst>
                                          <p:attrName>style.visibility</p:attrName>
                                        </p:attrNameLst>
                                      </p:cBhvr>
                                      <p:to>
                                        <p:strVal val="visible"/>
                                      </p:to>
                                    </p:set>
                                  </p:childTnLst>
                                </p:cTn>
                              </p:par>
                            </p:childTnLst>
                          </p:cTn>
                        </p:par>
                        <p:par>
                          <p:cTn id="13" fill="hold">
                            <p:stCondLst>
                              <p:cond delay="4500"/>
                            </p:stCondLst>
                            <p:childTnLst>
                              <p:par>
                                <p:cTn id="14" presetID="9" presetClass="entr" presetSubtype="0" fill="hold" nodeType="afterEffect">
                                  <p:stCondLst>
                                    <p:cond delay="100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2000"/>
                                        <p:tgtEl>
                                          <p:spTgt spid="9"/>
                                        </p:tgtEl>
                                      </p:cBhvr>
                                    </p:animEffect>
                                  </p:childTnLst>
                                </p:cTn>
                              </p:par>
                            </p:childTnLst>
                          </p:cTn>
                        </p:par>
                        <p:par>
                          <p:cTn id="17" fill="hold">
                            <p:stCondLst>
                              <p:cond delay="7500"/>
                            </p:stCondLst>
                            <p:childTnLst>
                              <p:par>
                                <p:cTn id="18" presetID="1" presetClass="entr" presetSubtype="0" fill="hold" grpId="0" nodeType="afterEffect">
                                  <p:stCondLst>
                                    <p:cond delay="3000"/>
                                  </p:stCondLst>
                                  <p:childTnLst>
                                    <p:set>
                                      <p:cBhvr>
                                        <p:cTn id="19" dur="1" fill="hold">
                                          <p:stCondLst>
                                            <p:cond delay="0"/>
                                          </p:stCondLst>
                                        </p:cTn>
                                        <p:tgtEl>
                                          <p:spTgt spid="17">
                                            <p:txEl>
                                              <p:pRg st="1" end="1"/>
                                            </p:txEl>
                                          </p:spTgt>
                                        </p:tgtEl>
                                        <p:attrNameLst>
                                          <p:attrName>style.visibility</p:attrName>
                                        </p:attrNameLst>
                                      </p:cBhvr>
                                      <p:to>
                                        <p:strVal val="visible"/>
                                      </p:to>
                                    </p:set>
                                  </p:childTnLst>
                                </p:cTn>
                              </p:par>
                            </p:childTnLst>
                          </p:cTn>
                        </p:par>
                        <p:par>
                          <p:cTn id="20" fill="hold">
                            <p:stCondLst>
                              <p:cond delay="10500"/>
                            </p:stCondLst>
                            <p:childTnLst>
                              <p:par>
                                <p:cTn id="21" presetID="1" presetClass="entr" presetSubtype="0" fill="hold" grpId="0" nodeType="afterEffect">
                                  <p:stCondLst>
                                    <p:cond delay="300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childTnLst>
                          </p:cTn>
                        </p:par>
                        <p:par>
                          <p:cTn id="23" fill="hold">
                            <p:stCondLst>
                              <p:cond delay="13500"/>
                            </p:stCondLst>
                            <p:childTnLst>
                              <p:par>
                                <p:cTn id="24" presetID="1" presetClass="entr" presetSubtype="0" fill="hold" grpId="0" nodeType="afterEffect">
                                  <p:stCondLst>
                                    <p:cond delay="3000"/>
                                  </p:stCondLst>
                                  <p:childTnLst>
                                    <p:set>
                                      <p:cBhvr>
                                        <p:cTn id="25" dur="1" fill="hold">
                                          <p:stCondLst>
                                            <p:cond delay="0"/>
                                          </p:stCondLst>
                                        </p:cTn>
                                        <p:tgtEl>
                                          <p:spTgt spid="17">
                                            <p:txEl>
                                              <p:pRg st="3" end="3"/>
                                            </p:txEl>
                                          </p:spTgt>
                                        </p:tgtEl>
                                        <p:attrNameLst>
                                          <p:attrName>style.visibility</p:attrName>
                                        </p:attrNameLst>
                                      </p:cBhvr>
                                      <p:to>
                                        <p:strVal val="visible"/>
                                      </p:to>
                                    </p:set>
                                  </p:childTnLst>
                                </p:cTn>
                              </p:par>
                            </p:childTnLst>
                          </p:cTn>
                        </p:par>
                        <p:par>
                          <p:cTn id="26" fill="hold">
                            <p:stCondLst>
                              <p:cond delay="16500"/>
                            </p:stCondLst>
                            <p:childTnLst>
                              <p:par>
                                <p:cTn id="27" presetID="1" presetClass="entr" presetSubtype="0" fill="hold" grpId="0" nodeType="afterEffect">
                                  <p:stCondLst>
                                    <p:cond delay="3000"/>
                                  </p:stCondLst>
                                  <p:childTnLst>
                                    <p:set>
                                      <p:cBhvr>
                                        <p:cTn id="28" dur="1" fill="hold">
                                          <p:stCondLst>
                                            <p:cond delay="0"/>
                                          </p:stCondLst>
                                        </p:cTn>
                                        <p:tgtEl>
                                          <p:spTgt spid="17">
                                            <p:txEl>
                                              <p:pRg st="4" end="4"/>
                                            </p:txEl>
                                          </p:spTgt>
                                        </p:tgtEl>
                                        <p:attrNameLst>
                                          <p:attrName>style.visibility</p:attrName>
                                        </p:attrNameLst>
                                      </p:cBhvr>
                                      <p:to>
                                        <p:strVal val="visible"/>
                                      </p:to>
                                    </p:set>
                                  </p:childTnLst>
                                </p:cTn>
                              </p:par>
                            </p:childTnLst>
                          </p:cTn>
                        </p:par>
                        <p:par>
                          <p:cTn id="29" fill="hold">
                            <p:stCondLst>
                              <p:cond delay="19500"/>
                            </p:stCondLst>
                            <p:childTnLst>
                              <p:par>
                                <p:cTn id="30" presetID="1" presetClass="entr" presetSubtype="0" fill="hold" grpId="0" nodeType="afterEffect">
                                  <p:stCondLst>
                                    <p:cond delay="300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uiExpand="1" build="p"/>
      <p:bldP spid="10"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52524" y="4444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Profit Power Ratio</a:t>
            </a:r>
            <a:r>
              <a:rPr lang="en-US" sz="8000" b="1" kern="0" spc="-105" baseline="30000" dirty="0">
                <a:solidFill>
                  <a:srgbClr val="F04E23"/>
                </a:solidFill>
                <a:latin typeface="League Spartan" pitchFamily="2" charset="77"/>
                <a:ea typeface="Arial" pitchFamily="34" charset="-122"/>
                <a:cs typeface="Arial" pitchFamily="34" charset="-120"/>
              </a:rPr>
              <a:t>™</a:t>
            </a:r>
            <a:endParaRPr lang="en-US" sz="10500" baseline="30000" dirty="0">
              <a:latin typeface="League Spartan" pitchFamily="2" charset="77"/>
            </a:endParaRP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E408B-ECEC-93E5-3273-9769F8DB2253}"/>
            </a:ext>
          </a:extLst>
        </p:cNvPr>
        <p:cNvGrpSpPr/>
        <p:nvPr/>
      </p:nvGrpSpPr>
      <p:grpSpPr>
        <a:xfrm>
          <a:off x="0" y="0"/>
          <a:ext cx="0" cy="0"/>
          <a:chOff x="0" y="0"/>
          <a:chExt cx="0" cy="0"/>
        </a:xfrm>
      </p:grpSpPr>
      <p:sp>
        <p:nvSpPr>
          <p:cNvPr id="89"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952454" y="757181"/>
            <a:ext cx="16247416"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Understanding the Game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56" name="TextBox 55"/>
          <p:cNvSpPr txBox="1"/>
          <p:nvPr/>
        </p:nvSpPr>
        <p:spPr>
          <a:xfrm>
            <a:off x="1188720" y="1891665"/>
            <a:ext cx="7863840" cy="430887"/>
          </a:xfrm>
          <a:prstGeom prst="rect">
            <a:avLst/>
          </a:prstGeom>
          <a:noFill/>
        </p:spPr>
        <p:txBody>
          <a:bodyPr wrap="square" lIns="45720" tIns="0" rIns="45720" bIns="0" anchor="t">
            <a:spAutoFit/>
          </a:bodyPr>
          <a:lstStyle/>
          <a:p>
            <a:pPr algn="l"/>
            <a:r>
              <a:rPr sz="2800" b="1" i="0" dirty="0">
                <a:solidFill>
                  <a:srgbClr val="FF7900"/>
                </a:solidFill>
                <a:latin typeface="League Spartan"/>
              </a:rPr>
              <a:t>THE GAME</a:t>
            </a:r>
          </a:p>
        </p:txBody>
      </p:sp>
      <p:sp>
        <p:nvSpPr>
          <p:cNvPr id="57" name="TextBox 56"/>
          <p:cNvSpPr txBox="1"/>
          <p:nvPr/>
        </p:nvSpPr>
        <p:spPr>
          <a:xfrm>
            <a:off x="1188720" y="2413281"/>
            <a:ext cx="7863840" cy="822960"/>
          </a:xfrm>
          <a:prstGeom prst="rect">
            <a:avLst/>
          </a:prstGeom>
          <a:noFill/>
        </p:spPr>
        <p:txBody>
          <a:bodyPr wrap="square" lIns="45720" tIns="0" rIns="45720" bIns="0" anchor="t">
            <a:spAutoFit/>
          </a:bodyPr>
          <a:lstStyle/>
          <a:p>
            <a:pPr algn="l"/>
            <a:r>
              <a:rPr sz="2400" b="1" i="0" dirty="0">
                <a:solidFill>
                  <a:srgbClr val="142233"/>
                </a:solidFill>
                <a:latin typeface="League Spartan"/>
              </a:rPr>
              <a:t>Grow Gross Profit faster than your OPEX.</a:t>
            </a:r>
          </a:p>
        </p:txBody>
      </p:sp>
      <p:sp>
        <p:nvSpPr>
          <p:cNvPr id="59" name="Rectangle 58"/>
          <p:cNvSpPr/>
          <p:nvPr/>
        </p:nvSpPr>
        <p:spPr>
          <a:xfrm>
            <a:off x="9321162" y="2288861"/>
            <a:ext cx="45719" cy="4983020"/>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58400" y="1891665"/>
            <a:ext cx="7315200" cy="430887"/>
          </a:xfrm>
          <a:prstGeom prst="rect">
            <a:avLst/>
          </a:prstGeom>
          <a:noFill/>
        </p:spPr>
        <p:txBody>
          <a:bodyPr wrap="square" lIns="45720" tIns="0" rIns="45720" bIns="0" anchor="t">
            <a:spAutoFit/>
          </a:bodyPr>
          <a:lstStyle/>
          <a:p>
            <a:pPr algn="l"/>
            <a:r>
              <a:rPr sz="2800" b="1" i="0" dirty="0">
                <a:solidFill>
                  <a:srgbClr val="FF7900"/>
                </a:solidFill>
                <a:latin typeface="League Spartan"/>
              </a:rPr>
              <a:t>PROFIT POWER RATIO™</a:t>
            </a:r>
          </a:p>
        </p:txBody>
      </p:sp>
      <p:sp>
        <p:nvSpPr>
          <p:cNvPr id="61" name="TextBox 60"/>
          <p:cNvSpPr txBox="1"/>
          <p:nvPr/>
        </p:nvSpPr>
        <p:spPr>
          <a:xfrm>
            <a:off x="10058400" y="2413281"/>
            <a:ext cx="7315200" cy="731520"/>
          </a:xfrm>
          <a:prstGeom prst="rect">
            <a:avLst/>
          </a:prstGeom>
          <a:noFill/>
        </p:spPr>
        <p:txBody>
          <a:bodyPr wrap="square" lIns="45720" tIns="0" rIns="45720" bIns="0" anchor="t">
            <a:spAutoFit/>
          </a:bodyPr>
          <a:lstStyle/>
          <a:p>
            <a:pPr algn="l"/>
            <a:r>
              <a:rPr sz="2400" b="1" i="0" dirty="0">
                <a:solidFill>
                  <a:srgbClr val="142233"/>
                </a:solidFill>
                <a:latin typeface="League Spartan"/>
              </a:rPr>
              <a:t>Gross Profit  ÷  OPEX</a:t>
            </a:r>
          </a:p>
        </p:txBody>
      </p:sp>
      <p:sp>
        <p:nvSpPr>
          <p:cNvPr id="62" name="TextBox 61"/>
          <p:cNvSpPr txBox="1"/>
          <p:nvPr/>
        </p:nvSpPr>
        <p:spPr>
          <a:xfrm>
            <a:off x="9985463" y="3106258"/>
            <a:ext cx="6661784" cy="430887"/>
          </a:xfrm>
          <a:prstGeom prst="rect">
            <a:avLst/>
          </a:prstGeom>
          <a:noFill/>
        </p:spPr>
        <p:txBody>
          <a:bodyPr wrap="square" lIns="45720" tIns="0" rIns="45720" bIns="0" anchor="t">
            <a:spAutoFit/>
          </a:bodyPr>
          <a:lstStyle/>
          <a:p>
            <a:pPr algn="ctr"/>
            <a:r>
              <a:rPr lang="en-US" sz="2400" b="0" i="0" dirty="0">
                <a:solidFill>
                  <a:srgbClr val="303B4F"/>
                </a:solidFill>
                <a:latin typeface="League Spartan"/>
              </a:rPr>
              <a:t>Candy Store: </a:t>
            </a:r>
            <a:r>
              <a:rPr sz="2400" b="0" i="0" dirty="0">
                <a:solidFill>
                  <a:srgbClr val="303B4F"/>
                </a:solidFill>
                <a:latin typeface="League Spartan"/>
              </a:rPr>
              <a:t>$5,000 GP  ÷  $4,000 OPEX  =  </a:t>
            </a:r>
            <a:r>
              <a:rPr sz="2800" b="1" i="0" dirty="0">
                <a:solidFill>
                  <a:srgbClr val="FF7900"/>
                </a:solidFill>
                <a:latin typeface="League Spartan"/>
              </a:rPr>
              <a:t>1.25</a:t>
            </a:r>
          </a:p>
        </p:txBody>
      </p:sp>
      <p:sp>
        <p:nvSpPr>
          <p:cNvPr id="72" name="TextBox 71"/>
          <p:cNvSpPr txBox="1"/>
          <p:nvPr/>
        </p:nvSpPr>
        <p:spPr>
          <a:xfrm>
            <a:off x="11191951" y="6533217"/>
            <a:ext cx="5029200" cy="738664"/>
          </a:xfrm>
          <a:prstGeom prst="rect">
            <a:avLst/>
          </a:prstGeom>
          <a:noFill/>
        </p:spPr>
        <p:txBody>
          <a:bodyPr wrap="square" lIns="45720" tIns="0" rIns="45720" bIns="0" anchor="t">
            <a:spAutoFit/>
          </a:bodyPr>
          <a:lstStyle/>
          <a:p>
            <a:pPr algn="ctr"/>
            <a:r>
              <a:rPr sz="2400" b="0" i="1" dirty="0">
                <a:solidFill>
                  <a:srgbClr val="303B4F"/>
                </a:solidFill>
                <a:latin typeface="League Spartan"/>
              </a:rPr>
              <a:t>1.0 = breakeven — </a:t>
            </a:r>
            <a:endParaRPr lang="en-US" sz="2400" b="0" i="1" dirty="0">
              <a:solidFill>
                <a:srgbClr val="303B4F"/>
              </a:solidFill>
              <a:latin typeface="League Spartan"/>
            </a:endParaRPr>
          </a:p>
          <a:p>
            <a:pPr algn="ctr"/>
            <a:r>
              <a:rPr sz="2400" b="0" i="1" dirty="0">
                <a:solidFill>
                  <a:srgbClr val="303B4F"/>
                </a:solidFill>
                <a:latin typeface="League Spartan"/>
              </a:rPr>
              <a:t>gross profit exactly covers the nut</a:t>
            </a:r>
          </a:p>
        </p:txBody>
      </p:sp>
      <p:grpSp>
        <p:nvGrpSpPr>
          <p:cNvPr id="29" name="Group 28">
            <a:extLst>
              <a:ext uri="{FF2B5EF4-FFF2-40B4-BE49-F238E27FC236}">
                <a16:creationId xmlns:a16="http://schemas.microsoft.com/office/drawing/2014/main" id="{5B186891-2E16-1283-28A5-91A024D6986B}"/>
              </a:ext>
            </a:extLst>
          </p:cNvPr>
          <p:cNvGrpSpPr/>
          <p:nvPr/>
        </p:nvGrpSpPr>
        <p:grpSpPr>
          <a:xfrm>
            <a:off x="1430680" y="7135192"/>
            <a:ext cx="5694663" cy="478055"/>
            <a:chOff x="999574" y="4793889"/>
            <a:chExt cx="4185615" cy="321825"/>
          </a:xfrm>
        </p:grpSpPr>
        <p:sp>
          <p:nvSpPr>
            <p:cNvPr id="30" name="TextBox 29">
              <a:extLst>
                <a:ext uri="{FF2B5EF4-FFF2-40B4-BE49-F238E27FC236}">
                  <a16:creationId xmlns:a16="http://schemas.microsoft.com/office/drawing/2014/main" id="{4790970A-0873-B6B9-504B-1DC2265ECE67}"/>
                </a:ext>
              </a:extLst>
            </p:cNvPr>
            <p:cNvSpPr txBox="1"/>
            <p:nvPr/>
          </p:nvSpPr>
          <p:spPr>
            <a:xfrm>
              <a:off x="2816060" y="4867081"/>
              <a:ext cx="562246" cy="248633"/>
            </a:xfrm>
            <a:prstGeom prst="rect">
              <a:avLst/>
            </a:prstGeom>
            <a:noFill/>
          </p:spPr>
          <p:txBody>
            <a:bodyPr wrap="none" rtlCol="0">
              <a:spAutoFit/>
            </a:bodyPr>
            <a:lstStyle/>
            <a:p>
              <a:pPr algn="ctr"/>
              <a:r>
                <a:rPr lang="en-US" sz="1800" dirty="0">
                  <a:latin typeface="Montserrat" pitchFamily="2" charset="77"/>
                </a:rPr>
                <a:t>Time</a:t>
              </a:r>
            </a:p>
          </p:txBody>
        </p:sp>
        <p:cxnSp>
          <p:nvCxnSpPr>
            <p:cNvPr id="31" name="Straight Arrow Connector 30">
              <a:extLst>
                <a:ext uri="{FF2B5EF4-FFF2-40B4-BE49-F238E27FC236}">
                  <a16:creationId xmlns:a16="http://schemas.microsoft.com/office/drawing/2014/main" id="{A9BA00B3-94B0-B816-F219-2E396361CA93}"/>
                </a:ext>
              </a:extLst>
            </p:cNvPr>
            <p:cNvCxnSpPr/>
            <p:nvPr/>
          </p:nvCxnSpPr>
          <p:spPr>
            <a:xfrm>
              <a:off x="999574" y="4793889"/>
              <a:ext cx="4185615" cy="0"/>
            </a:xfrm>
            <a:prstGeom prst="straightConnector1">
              <a:avLst/>
            </a:prstGeom>
            <a:ln w="38100">
              <a:solidFill>
                <a:schemeClr val="bg1">
                  <a:lumMod val="65000"/>
                </a:schemeClr>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93488869-118A-393D-BF3B-CF95474386ED}"/>
              </a:ext>
            </a:extLst>
          </p:cNvPr>
          <p:cNvGrpSpPr/>
          <p:nvPr/>
        </p:nvGrpSpPr>
        <p:grpSpPr>
          <a:xfrm>
            <a:off x="914400" y="3537896"/>
            <a:ext cx="534309" cy="3597296"/>
            <a:chOff x="620105" y="2372204"/>
            <a:chExt cx="392721" cy="2421685"/>
          </a:xfrm>
        </p:grpSpPr>
        <p:cxnSp>
          <p:nvCxnSpPr>
            <p:cNvPr id="33" name="Straight Arrow Connector 32">
              <a:extLst>
                <a:ext uri="{FF2B5EF4-FFF2-40B4-BE49-F238E27FC236}">
                  <a16:creationId xmlns:a16="http://schemas.microsoft.com/office/drawing/2014/main" id="{3EFA2DE4-73A8-B535-CE27-D534E47F3A19}"/>
                </a:ext>
              </a:extLst>
            </p:cNvPr>
            <p:cNvCxnSpPr>
              <a:cxnSpLocks/>
            </p:cNvCxnSpPr>
            <p:nvPr/>
          </p:nvCxnSpPr>
          <p:spPr>
            <a:xfrm flipV="1">
              <a:off x="1012826" y="2372204"/>
              <a:ext cx="0" cy="2421685"/>
            </a:xfrm>
            <a:prstGeom prst="straightConnector1">
              <a:avLst/>
            </a:prstGeom>
            <a:ln w="38100">
              <a:solidFill>
                <a:schemeClr val="bg1">
                  <a:lumMod val="6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E1D4BDA-B12A-260A-023D-EE13D19673D8}"/>
                </a:ext>
              </a:extLst>
            </p:cNvPr>
            <p:cNvSpPr txBox="1"/>
            <p:nvPr/>
          </p:nvSpPr>
          <p:spPr>
            <a:xfrm rot="16200000">
              <a:off x="319702" y="3089207"/>
              <a:ext cx="970137" cy="369332"/>
            </a:xfrm>
            <a:prstGeom prst="rect">
              <a:avLst/>
            </a:prstGeom>
            <a:noFill/>
          </p:spPr>
          <p:txBody>
            <a:bodyPr wrap="none" rtlCol="0">
              <a:spAutoFit/>
            </a:bodyPr>
            <a:lstStyle/>
            <a:p>
              <a:pPr algn="l"/>
              <a:r>
                <a:rPr lang="en-US" sz="1800" dirty="0">
                  <a:latin typeface="Montserrat" pitchFamily="2" charset="77"/>
                </a:rPr>
                <a:t>Money</a:t>
              </a:r>
            </a:p>
          </p:txBody>
        </p:sp>
      </p:grpSp>
      <p:grpSp>
        <p:nvGrpSpPr>
          <p:cNvPr id="35" name="Group 34">
            <a:extLst>
              <a:ext uri="{FF2B5EF4-FFF2-40B4-BE49-F238E27FC236}">
                <a16:creationId xmlns:a16="http://schemas.microsoft.com/office/drawing/2014/main" id="{749BC4CC-F467-4A27-C26E-E8789782E609}"/>
              </a:ext>
            </a:extLst>
          </p:cNvPr>
          <p:cNvGrpSpPr/>
          <p:nvPr/>
        </p:nvGrpSpPr>
        <p:grpSpPr>
          <a:xfrm>
            <a:off x="1789825" y="3530544"/>
            <a:ext cx="5973736" cy="2771021"/>
            <a:chOff x="1263548" y="2367255"/>
            <a:chExt cx="4390736" cy="1865440"/>
          </a:xfrm>
        </p:grpSpPr>
        <p:sp>
          <p:nvSpPr>
            <p:cNvPr id="36" name="Freeform 35">
              <a:extLst>
                <a:ext uri="{FF2B5EF4-FFF2-40B4-BE49-F238E27FC236}">
                  <a16:creationId xmlns:a16="http://schemas.microsoft.com/office/drawing/2014/main" id="{78822BBE-1697-7412-4FEB-A10A049D10CE}"/>
                </a:ext>
              </a:extLst>
            </p:cNvPr>
            <p:cNvSpPr/>
            <p:nvPr/>
          </p:nvSpPr>
          <p:spPr>
            <a:xfrm rot="21114843">
              <a:off x="1263548" y="2721947"/>
              <a:ext cx="3195856" cy="1510748"/>
            </a:xfrm>
            <a:custGeom>
              <a:avLst/>
              <a:gdLst>
                <a:gd name="connsiteX0" fmla="*/ 0 w 3195856"/>
                <a:gd name="connsiteY0" fmla="*/ 1510748 h 1510748"/>
                <a:gd name="connsiteX1" fmla="*/ 424070 w 3195856"/>
                <a:gd name="connsiteY1" fmla="*/ 1285461 h 1510748"/>
                <a:gd name="connsiteX2" fmla="*/ 1007166 w 3195856"/>
                <a:gd name="connsiteY2" fmla="*/ 1060174 h 1510748"/>
                <a:gd name="connsiteX3" fmla="*/ 1417983 w 3195856"/>
                <a:gd name="connsiteY3" fmla="*/ 1033669 h 1510748"/>
                <a:gd name="connsiteX4" fmla="*/ 1709531 w 3195856"/>
                <a:gd name="connsiteY4" fmla="*/ 808383 h 1510748"/>
                <a:gd name="connsiteX5" fmla="*/ 1908313 w 3195856"/>
                <a:gd name="connsiteY5" fmla="*/ 768626 h 1510748"/>
                <a:gd name="connsiteX6" fmla="*/ 2252870 w 3195856"/>
                <a:gd name="connsiteY6" fmla="*/ 569843 h 1510748"/>
                <a:gd name="connsiteX7" fmla="*/ 2332383 w 3195856"/>
                <a:gd name="connsiteY7" fmla="*/ 424069 h 1510748"/>
                <a:gd name="connsiteX8" fmla="*/ 2743200 w 3195856"/>
                <a:gd name="connsiteY8" fmla="*/ 225287 h 1510748"/>
                <a:gd name="connsiteX9" fmla="*/ 3127513 w 3195856"/>
                <a:gd name="connsiteY9" fmla="*/ 119269 h 1510748"/>
                <a:gd name="connsiteX10" fmla="*/ 3193774 w 3195856"/>
                <a:gd name="connsiteY10" fmla="*/ 0 h 151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95856" h="1510748">
                  <a:moveTo>
                    <a:pt x="0" y="1510748"/>
                  </a:moveTo>
                  <a:cubicBezTo>
                    <a:pt x="128104" y="1435652"/>
                    <a:pt x="256209" y="1360557"/>
                    <a:pt x="424070" y="1285461"/>
                  </a:cubicBezTo>
                  <a:cubicBezTo>
                    <a:pt x="591931" y="1210365"/>
                    <a:pt x="841514" y="1102139"/>
                    <a:pt x="1007166" y="1060174"/>
                  </a:cubicBezTo>
                  <a:cubicBezTo>
                    <a:pt x="1172818" y="1018209"/>
                    <a:pt x="1300922" y="1075634"/>
                    <a:pt x="1417983" y="1033669"/>
                  </a:cubicBezTo>
                  <a:cubicBezTo>
                    <a:pt x="1535044" y="991704"/>
                    <a:pt x="1627809" y="852557"/>
                    <a:pt x="1709531" y="808383"/>
                  </a:cubicBezTo>
                  <a:cubicBezTo>
                    <a:pt x="1791253" y="764209"/>
                    <a:pt x="1817757" y="808383"/>
                    <a:pt x="1908313" y="768626"/>
                  </a:cubicBezTo>
                  <a:cubicBezTo>
                    <a:pt x="1998870" y="728869"/>
                    <a:pt x="2182192" y="627269"/>
                    <a:pt x="2252870" y="569843"/>
                  </a:cubicBezTo>
                  <a:cubicBezTo>
                    <a:pt x="2323548" y="512417"/>
                    <a:pt x="2250661" y="481495"/>
                    <a:pt x="2332383" y="424069"/>
                  </a:cubicBezTo>
                  <a:cubicBezTo>
                    <a:pt x="2414105" y="366643"/>
                    <a:pt x="2610678" y="276087"/>
                    <a:pt x="2743200" y="225287"/>
                  </a:cubicBezTo>
                  <a:cubicBezTo>
                    <a:pt x="2875722" y="174487"/>
                    <a:pt x="3052417" y="156817"/>
                    <a:pt x="3127513" y="119269"/>
                  </a:cubicBezTo>
                  <a:cubicBezTo>
                    <a:pt x="3202609" y="81721"/>
                    <a:pt x="3198191" y="40860"/>
                    <a:pt x="3193774" y="0"/>
                  </a:cubicBezTo>
                </a:path>
              </a:pathLst>
            </a:custGeom>
            <a:noFill/>
            <a:ln w="28575">
              <a:solidFill>
                <a:srgbClr val="03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7" name="TextBox 36">
              <a:extLst>
                <a:ext uri="{FF2B5EF4-FFF2-40B4-BE49-F238E27FC236}">
                  <a16:creationId xmlns:a16="http://schemas.microsoft.com/office/drawing/2014/main" id="{655AF429-DDDB-17AC-1E80-B0D74816ABDE}"/>
                </a:ext>
              </a:extLst>
            </p:cNvPr>
            <p:cNvSpPr txBox="1"/>
            <p:nvPr/>
          </p:nvSpPr>
          <p:spPr>
            <a:xfrm>
              <a:off x="4262491" y="2367255"/>
              <a:ext cx="1391793" cy="476546"/>
            </a:xfrm>
            <a:prstGeom prst="rect">
              <a:avLst/>
            </a:prstGeom>
            <a:solidFill>
              <a:schemeClr val="bg1"/>
            </a:solidFill>
          </p:spPr>
          <p:txBody>
            <a:bodyPr wrap="square" rtlCol="0">
              <a:spAutoFit/>
            </a:bodyPr>
            <a:lstStyle/>
            <a:p>
              <a:pPr algn="ctr"/>
              <a:r>
                <a:rPr lang="en-US" sz="2000" i="1" dirty="0">
                  <a:solidFill>
                    <a:srgbClr val="037A5E"/>
                  </a:solidFill>
                  <a:latin typeface="Montserrat" pitchFamily="2" charset="77"/>
                </a:rPr>
                <a:t>Gross Profit (GP) $</a:t>
              </a:r>
            </a:p>
          </p:txBody>
        </p:sp>
      </p:grpSp>
      <p:grpSp>
        <p:nvGrpSpPr>
          <p:cNvPr id="38" name="Group 37">
            <a:extLst>
              <a:ext uri="{FF2B5EF4-FFF2-40B4-BE49-F238E27FC236}">
                <a16:creationId xmlns:a16="http://schemas.microsoft.com/office/drawing/2014/main" id="{B541B48A-1960-6A42-4C7C-4989340890CB}"/>
              </a:ext>
            </a:extLst>
          </p:cNvPr>
          <p:cNvGrpSpPr/>
          <p:nvPr/>
        </p:nvGrpSpPr>
        <p:grpSpPr>
          <a:xfrm>
            <a:off x="2253067" y="5193307"/>
            <a:ext cx="4898245" cy="1707678"/>
            <a:chOff x="1604034" y="3486620"/>
            <a:chExt cx="3600243" cy="1149602"/>
          </a:xfrm>
        </p:grpSpPr>
        <p:sp>
          <p:nvSpPr>
            <p:cNvPr id="39" name="TextBox 38">
              <a:extLst>
                <a:ext uri="{FF2B5EF4-FFF2-40B4-BE49-F238E27FC236}">
                  <a16:creationId xmlns:a16="http://schemas.microsoft.com/office/drawing/2014/main" id="{EAC607E9-4ECE-1C45-D4E1-9A629C52153B}"/>
                </a:ext>
              </a:extLst>
            </p:cNvPr>
            <p:cNvSpPr txBox="1"/>
            <p:nvPr/>
          </p:nvSpPr>
          <p:spPr>
            <a:xfrm>
              <a:off x="4407403" y="3486620"/>
              <a:ext cx="796874" cy="269352"/>
            </a:xfrm>
            <a:prstGeom prst="rect">
              <a:avLst/>
            </a:prstGeom>
            <a:solidFill>
              <a:schemeClr val="bg1"/>
            </a:solidFill>
          </p:spPr>
          <p:txBody>
            <a:bodyPr wrap="square" rtlCol="0">
              <a:spAutoFit/>
            </a:bodyPr>
            <a:lstStyle/>
            <a:p>
              <a:pPr algn="ctr"/>
              <a:r>
                <a:rPr lang="en-US" sz="2000" i="1">
                  <a:solidFill>
                    <a:srgbClr val="C00000"/>
                  </a:solidFill>
                  <a:latin typeface="Montserrat" pitchFamily="2" charset="77"/>
                </a:rPr>
                <a:t>OPEX$</a:t>
              </a:r>
            </a:p>
          </p:txBody>
        </p:sp>
        <p:grpSp>
          <p:nvGrpSpPr>
            <p:cNvPr id="40" name="Group 39">
              <a:extLst>
                <a:ext uri="{FF2B5EF4-FFF2-40B4-BE49-F238E27FC236}">
                  <a16:creationId xmlns:a16="http://schemas.microsoft.com/office/drawing/2014/main" id="{C800D5CB-D2D3-6686-17D3-DCE2C4919882}"/>
                </a:ext>
              </a:extLst>
            </p:cNvPr>
            <p:cNvGrpSpPr/>
            <p:nvPr/>
          </p:nvGrpSpPr>
          <p:grpSpPr>
            <a:xfrm>
              <a:off x="1604034" y="3702706"/>
              <a:ext cx="2780416" cy="933516"/>
              <a:chOff x="7370524" y="4004872"/>
              <a:chExt cx="1944665" cy="1021771"/>
            </a:xfrm>
          </p:grpSpPr>
          <p:cxnSp>
            <p:nvCxnSpPr>
              <p:cNvPr id="41" name="Straight Connector 40">
                <a:extLst>
                  <a:ext uri="{FF2B5EF4-FFF2-40B4-BE49-F238E27FC236}">
                    <a16:creationId xmlns:a16="http://schemas.microsoft.com/office/drawing/2014/main" id="{DA5226D9-8FBC-A45A-4B62-985A214CE1DF}"/>
                  </a:ext>
                </a:extLst>
              </p:cNvPr>
              <p:cNvCxnSpPr>
                <a:cxnSpLocks/>
              </p:cNvCxnSpPr>
              <p:nvPr/>
            </p:nvCxnSpPr>
            <p:spPr>
              <a:xfrm>
                <a:off x="7370524" y="5023106"/>
                <a:ext cx="390163"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A136379D-0AD4-555C-3436-D385FC5932C5}"/>
                  </a:ext>
                </a:extLst>
              </p:cNvPr>
              <p:cNvCxnSpPr>
                <a:cxnSpLocks/>
              </p:cNvCxnSpPr>
              <p:nvPr/>
            </p:nvCxnSpPr>
            <p:spPr>
              <a:xfrm flipV="1">
                <a:off x="7754410" y="4854721"/>
                <a:ext cx="0" cy="171922"/>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3" name="Straight Connector 42">
                <a:extLst>
                  <a:ext uri="{FF2B5EF4-FFF2-40B4-BE49-F238E27FC236}">
                    <a16:creationId xmlns:a16="http://schemas.microsoft.com/office/drawing/2014/main" id="{0A3A232D-9A47-4C33-61EC-A4D86262464E}"/>
                  </a:ext>
                </a:extLst>
              </p:cNvPr>
              <p:cNvCxnSpPr>
                <a:cxnSpLocks/>
              </p:cNvCxnSpPr>
              <p:nvPr/>
            </p:nvCxnSpPr>
            <p:spPr>
              <a:xfrm>
                <a:off x="7751803" y="4866637"/>
                <a:ext cx="390163"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4" name="Straight Connector 43">
                <a:extLst>
                  <a:ext uri="{FF2B5EF4-FFF2-40B4-BE49-F238E27FC236}">
                    <a16:creationId xmlns:a16="http://schemas.microsoft.com/office/drawing/2014/main" id="{EEA75682-53CB-9A6B-AEF8-CF87195EBD86}"/>
                  </a:ext>
                </a:extLst>
              </p:cNvPr>
              <p:cNvCxnSpPr>
                <a:cxnSpLocks/>
              </p:cNvCxnSpPr>
              <p:nvPr/>
            </p:nvCxnSpPr>
            <p:spPr>
              <a:xfrm flipV="1">
                <a:off x="8133216" y="4667964"/>
                <a:ext cx="0" cy="20317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B858438-23AE-E61C-F5E2-63C82D3D1864}"/>
                  </a:ext>
                </a:extLst>
              </p:cNvPr>
              <p:cNvCxnSpPr>
                <a:cxnSpLocks/>
              </p:cNvCxnSpPr>
              <p:nvPr/>
            </p:nvCxnSpPr>
            <p:spPr>
              <a:xfrm>
                <a:off x="8133082" y="4681160"/>
                <a:ext cx="226060"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3B050A14-3B42-787D-9B45-898925CFEFDF}"/>
                  </a:ext>
                </a:extLst>
              </p:cNvPr>
              <p:cNvCxnSpPr>
                <a:cxnSpLocks/>
              </p:cNvCxnSpPr>
              <p:nvPr/>
            </p:nvCxnSpPr>
            <p:spPr>
              <a:xfrm flipV="1">
                <a:off x="8350229" y="4477750"/>
                <a:ext cx="0" cy="20317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7" name="Straight Connector 46">
                <a:extLst>
                  <a:ext uri="{FF2B5EF4-FFF2-40B4-BE49-F238E27FC236}">
                    <a16:creationId xmlns:a16="http://schemas.microsoft.com/office/drawing/2014/main" id="{9E94D3F8-D31A-8DDE-F0A5-F66060D0F31A}"/>
                  </a:ext>
                </a:extLst>
              </p:cNvPr>
              <p:cNvCxnSpPr>
                <a:cxnSpLocks/>
              </p:cNvCxnSpPr>
              <p:nvPr/>
            </p:nvCxnSpPr>
            <p:spPr>
              <a:xfrm>
                <a:off x="8350261" y="4489879"/>
                <a:ext cx="365719"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F8DB1042-C550-E8B7-4CE8-97108C623D08}"/>
                  </a:ext>
                </a:extLst>
              </p:cNvPr>
              <p:cNvCxnSpPr>
                <a:cxnSpLocks/>
              </p:cNvCxnSpPr>
              <p:nvPr/>
            </p:nvCxnSpPr>
            <p:spPr>
              <a:xfrm flipV="1">
                <a:off x="8707096" y="4366082"/>
                <a:ext cx="0" cy="129043"/>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9" name="Straight Connector 48">
                <a:extLst>
                  <a:ext uri="{FF2B5EF4-FFF2-40B4-BE49-F238E27FC236}">
                    <a16:creationId xmlns:a16="http://schemas.microsoft.com/office/drawing/2014/main" id="{70A5D9F9-1AD5-81DB-47DB-D2FBB6B29372}"/>
                  </a:ext>
                </a:extLst>
              </p:cNvPr>
              <p:cNvCxnSpPr>
                <a:cxnSpLocks/>
              </p:cNvCxnSpPr>
              <p:nvPr/>
            </p:nvCxnSpPr>
            <p:spPr>
              <a:xfrm>
                <a:off x="8703117" y="4379982"/>
                <a:ext cx="365719"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B74F3F0F-0CED-918E-65C3-FECC34032CC1}"/>
                  </a:ext>
                </a:extLst>
              </p:cNvPr>
              <p:cNvCxnSpPr>
                <a:cxnSpLocks/>
              </p:cNvCxnSpPr>
              <p:nvPr/>
            </p:nvCxnSpPr>
            <p:spPr>
              <a:xfrm>
                <a:off x="9059954" y="4130443"/>
                <a:ext cx="255235"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75" name="Straight Connector 74">
                <a:extLst>
                  <a:ext uri="{FF2B5EF4-FFF2-40B4-BE49-F238E27FC236}">
                    <a16:creationId xmlns:a16="http://schemas.microsoft.com/office/drawing/2014/main" id="{CDFCE282-61FF-68EB-1CAA-D3664818B6EE}"/>
                  </a:ext>
                </a:extLst>
              </p:cNvPr>
              <p:cNvCxnSpPr>
                <a:cxnSpLocks/>
              </p:cNvCxnSpPr>
              <p:nvPr/>
            </p:nvCxnSpPr>
            <p:spPr>
              <a:xfrm flipV="1">
                <a:off x="9059954" y="4116543"/>
                <a:ext cx="0" cy="266915"/>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748FCAAF-F2A0-DB81-C1C7-BC710F8E16F8}"/>
                  </a:ext>
                </a:extLst>
              </p:cNvPr>
              <p:cNvCxnSpPr>
                <a:cxnSpLocks/>
              </p:cNvCxnSpPr>
              <p:nvPr/>
            </p:nvCxnSpPr>
            <p:spPr>
              <a:xfrm flipV="1">
                <a:off x="9306304" y="4004872"/>
                <a:ext cx="0" cy="129043"/>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grpSp>
      </p:grpSp>
      <p:grpSp>
        <p:nvGrpSpPr>
          <p:cNvPr id="78" name="Group 77">
            <a:extLst>
              <a:ext uri="{FF2B5EF4-FFF2-40B4-BE49-F238E27FC236}">
                <a16:creationId xmlns:a16="http://schemas.microsoft.com/office/drawing/2014/main" id="{D8F1B455-0B53-321D-38DB-5D1E0A5E8921}"/>
              </a:ext>
            </a:extLst>
          </p:cNvPr>
          <p:cNvGrpSpPr/>
          <p:nvPr/>
        </p:nvGrpSpPr>
        <p:grpSpPr>
          <a:xfrm>
            <a:off x="13131360" y="4366006"/>
            <a:ext cx="4003627" cy="2001079"/>
            <a:chOff x="9104604" y="3124610"/>
            <a:chExt cx="1962424" cy="980852"/>
          </a:xfrm>
        </p:grpSpPr>
        <p:sp>
          <p:nvSpPr>
            <p:cNvPr id="79" name="Rectangle 78">
              <a:extLst>
                <a:ext uri="{FF2B5EF4-FFF2-40B4-BE49-F238E27FC236}">
                  <a16:creationId xmlns:a16="http://schemas.microsoft.com/office/drawing/2014/main" id="{4156C738-ACE0-D53D-FD5A-9AE32248B30D}"/>
                </a:ext>
              </a:extLst>
            </p:cNvPr>
            <p:cNvSpPr/>
            <p:nvPr/>
          </p:nvSpPr>
          <p:spPr>
            <a:xfrm>
              <a:off x="9104604" y="3124610"/>
              <a:ext cx="1878492" cy="286948"/>
            </a:xfrm>
            <a:prstGeom prst="rect">
              <a:avLst/>
            </a:prstGeom>
            <a:gradFill flip="none" rotWithShape="1">
              <a:gsLst>
                <a:gs pos="0">
                  <a:srgbClr val="FFFF00"/>
                </a:gs>
                <a:gs pos="41000">
                  <a:srgbClr val="80D828"/>
                </a:gs>
                <a:gs pos="100000">
                  <a:srgbClr val="00B050"/>
                </a:gs>
              </a:gsLst>
              <a:lin ang="0" scaled="1"/>
              <a:tileRect/>
            </a:gradFill>
            <a:ln>
              <a:solidFill>
                <a:srgbClr val="18A9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67C04D4C-F620-3BF1-C5BF-8604AFAF00A3}"/>
                </a:ext>
              </a:extLst>
            </p:cNvPr>
            <p:cNvSpPr txBox="1"/>
            <p:nvPr/>
          </p:nvSpPr>
          <p:spPr>
            <a:xfrm>
              <a:off x="9875675" y="3459131"/>
              <a:ext cx="1191353" cy="646331"/>
            </a:xfrm>
            <a:prstGeom prst="rect">
              <a:avLst/>
            </a:prstGeom>
            <a:noFill/>
          </p:spPr>
          <p:txBody>
            <a:bodyPr wrap="none" rtlCol="0">
              <a:spAutoFit/>
            </a:bodyPr>
            <a:lstStyle/>
            <a:p>
              <a:pPr algn="ctr"/>
              <a:r>
                <a:rPr lang="en-US" sz="1800">
                  <a:latin typeface="Montserrat" pitchFamily="2" charset="77"/>
                </a:rPr>
                <a:t>&gt; 1.0</a:t>
              </a:r>
            </a:p>
            <a:p>
              <a:pPr algn="ctr"/>
              <a:r>
                <a:rPr lang="en-US" sz="1800">
                  <a:latin typeface="Montserrat" pitchFamily="2" charset="77"/>
                </a:rPr>
                <a:t>Winning</a:t>
              </a:r>
            </a:p>
          </p:txBody>
        </p:sp>
      </p:grpSp>
      <p:grpSp>
        <p:nvGrpSpPr>
          <p:cNvPr id="81" name="Group 80">
            <a:extLst>
              <a:ext uri="{FF2B5EF4-FFF2-40B4-BE49-F238E27FC236}">
                <a16:creationId xmlns:a16="http://schemas.microsoft.com/office/drawing/2014/main" id="{07AB12A5-4822-F56D-0549-1F6AEF5F92F5}"/>
              </a:ext>
            </a:extLst>
          </p:cNvPr>
          <p:cNvGrpSpPr/>
          <p:nvPr/>
        </p:nvGrpSpPr>
        <p:grpSpPr>
          <a:xfrm>
            <a:off x="9674550" y="4366006"/>
            <a:ext cx="3434689" cy="1984032"/>
            <a:chOff x="7425024" y="3124610"/>
            <a:chExt cx="1683552" cy="972496"/>
          </a:xfrm>
        </p:grpSpPr>
        <p:sp>
          <p:nvSpPr>
            <p:cNvPr id="82" name="Rectangle 81">
              <a:extLst>
                <a:ext uri="{FF2B5EF4-FFF2-40B4-BE49-F238E27FC236}">
                  <a16:creationId xmlns:a16="http://schemas.microsoft.com/office/drawing/2014/main" id="{00627537-6626-4E33-5F51-DD5E01F62A64}"/>
                </a:ext>
              </a:extLst>
            </p:cNvPr>
            <p:cNvSpPr/>
            <p:nvPr/>
          </p:nvSpPr>
          <p:spPr>
            <a:xfrm>
              <a:off x="7797936" y="3124610"/>
              <a:ext cx="1310640" cy="286948"/>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17B231B8-8116-02FA-AF1B-5C240544D4C6}"/>
                </a:ext>
              </a:extLst>
            </p:cNvPr>
            <p:cNvSpPr txBox="1"/>
            <p:nvPr/>
          </p:nvSpPr>
          <p:spPr>
            <a:xfrm>
              <a:off x="7425024" y="3450775"/>
              <a:ext cx="954107" cy="646331"/>
            </a:xfrm>
            <a:prstGeom prst="rect">
              <a:avLst/>
            </a:prstGeom>
            <a:noFill/>
          </p:spPr>
          <p:txBody>
            <a:bodyPr wrap="none" rtlCol="0">
              <a:spAutoFit/>
            </a:bodyPr>
            <a:lstStyle/>
            <a:p>
              <a:pPr algn="ctr"/>
              <a:r>
                <a:rPr lang="en-US" sz="1800" dirty="0">
                  <a:latin typeface="Montserrat" pitchFamily="2" charset="77"/>
                </a:rPr>
                <a:t>&lt; 1.0</a:t>
              </a:r>
            </a:p>
            <a:p>
              <a:pPr algn="ctr"/>
              <a:r>
                <a:rPr lang="en-US" sz="1800" dirty="0">
                  <a:latin typeface="Montserrat" pitchFamily="2" charset="77"/>
                </a:rPr>
                <a:t>Losing</a:t>
              </a:r>
            </a:p>
          </p:txBody>
        </p:sp>
      </p:grpSp>
      <p:grpSp>
        <p:nvGrpSpPr>
          <p:cNvPr id="84" name="Group 83">
            <a:extLst>
              <a:ext uri="{FF2B5EF4-FFF2-40B4-BE49-F238E27FC236}">
                <a16:creationId xmlns:a16="http://schemas.microsoft.com/office/drawing/2014/main" id="{05A05374-C1C6-F073-1D03-A3410BE0DF21}"/>
              </a:ext>
            </a:extLst>
          </p:cNvPr>
          <p:cNvGrpSpPr/>
          <p:nvPr/>
        </p:nvGrpSpPr>
        <p:grpSpPr>
          <a:xfrm>
            <a:off x="11873166" y="4247112"/>
            <a:ext cx="2580966" cy="2683175"/>
            <a:chOff x="8494920" y="3005716"/>
            <a:chExt cx="1265090" cy="1315189"/>
          </a:xfrm>
        </p:grpSpPr>
        <p:sp>
          <p:nvSpPr>
            <p:cNvPr id="85" name="TextBox 84">
              <a:extLst>
                <a:ext uri="{FF2B5EF4-FFF2-40B4-BE49-F238E27FC236}">
                  <a16:creationId xmlns:a16="http://schemas.microsoft.com/office/drawing/2014/main" id="{D85BA026-1568-D239-2199-DBBF3D099096}"/>
                </a:ext>
              </a:extLst>
            </p:cNvPr>
            <p:cNvSpPr txBox="1"/>
            <p:nvPr/>
          </p:nvSpPr>
          <p:spPr>
            <a:xfrm>
              <a:off x="8494920" y="3459131"/>
              <a:ext cx="1265090" cy="861774"/>
            </a:xfrm>
            <a:prstGeom prst="rect">
              <a:avLst/>
            </a:prstGeom>
            <a:noFill/>
          </p:spPr>
          <p:txBody>
            <a:bodyPr wrap="none" rtlCol="0">
              <a:spAutoFit/>
            </a:bodyPr>
            <a:lstStyle/>
            <a:p>
              <a:pPr algn="ctr"/>
              <a:r>
                <a:rPr lang="en-US" sz="1800" dirty="0">
                  <a:latin typeface="Montserrat" pitchFamily="2" charset="77"/>
                </a:rPr>
                <a:t>1.0</a:t>
              </a:r>
            </a:p>
            <a:p>
              <a:pPr algn="ctr"/>
              <a:r>
                <a:rPr lang="en-US" sz="1800" dirty="0">
                  <a:latin typeface="Montserrat" pitchFamily="2" charset="77"/>
                </a:rPr>
                <a:t>Surviving</a:t>
              </a:r>
            </a:p>
            <a:p>
              <a:pPr algn="ctr"/>
              <a:r>
                <a:rPr lang="en-US" i="1" dirty="0">
                  <a:latin typeface="Montserrat" pitchFamily="2" charset="77"/>
                </a:rPr>
                <a:t>Breakeven</a:t>
              </a:r>
            </a:p>
          </p:txBody>
        </p:sp>
        <p:cxnSp>
          <p:nvCxnSpPr>
            <p:cNvPr id="86" name="Straight Connector 85">
              <a:extLst>
                <a:ext uri="{FF2B5EF4-FFF2-40B4-BE49-F238E27FC236}">
                  <a16:creationId xmlns:a16="http://schemas.microsoft.com/office/drawing/2014/main" id="{F40D5709-8148-F756-4400-2E524546A283}"/>
                </a:ext>
              </a:extLst>
            </p:cNvPr>
            <p:cNvCxnSpPr>
              <a:cxnSpLocks/>
            </p:cNvCxnSpPr>
            <p:nvPr/>
          </p:nvCxnSpPr>
          <p:spPr>
            <a:xfrm>
              <a:off x="9106588" y="3005716"/>
              <a:ext cx="0" cy="46696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 name="Group 7">
            <a:extLst>
              <a:ext uri="{FF2B5EF4-FFF2-40B4-BE49-F238E27FC236}">
                <a16:creationId xmlns:a16="http://schemas.microsoft.com/office/drawing/2014/main" id="{4016553A-DD43-A6F7-95DD-1AA4695B08FE}"/>
              </a:ext>
            </a:extLst>
          </p:cNvPr>
          <p:cNvGrpSpPr/>
          <p:nvPr/>
        </p:nvGrpSpPr>
        <p:grpSpPr>
          <a:xfrm>
            <a:off x="2804298" y="8411625"/>
            <a:ext cx="13115423" cy="1064087"/>
            <a:chOff x="2804298" y="8411625"/>
            <a:chExt cx="13115423" cy="1064087"/>
          </a:xfrm>
        </p:grpSpPr>
        <p:sp>
          <p:nvSpPr>
            <p:cNvPr id="87" name="Rounded Rectangle 86">
              <a:extLst>
                <a:ext uri="{FF2B5EF4-FFF2-40B4-BE49-F238E27FC236}">
                  <a16:creationId xmlns:a16="http://schemas.microsoft.com/office/drawing/2014/main" id="{4A525153-C3E1-71E6-D8A1-696BD8DA4164}"/>
                </a:ext>
              </a:extLst>
            </p:cNvPr>
            <p:cNvSpPr/>
            <p:nvPr/>
          </p:nvSpPr>
          <p:spPr>
            <a:xfrm>
              <a:off x="2804298" y="8411625"/>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p:cNvSpPr txBox="1"/>
            <p:nvPr/>
          </p:nvSpPr>
          <p:spPr>
            <a:xfrm>
              <a:off x="3480545" y="8485542"/>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Grow Gross Profit at a MUCH faster rate than OPEX</a:t>
              </a:r>
              <a:r>
                <a:rPr sz="1700" b="1" i="0" dirty="0">
                  <a:solidFill>
                    <a:srgbClr val="142233"/>
                  </a:solidFill>
                  <a:latin typeface="League Spartan"/>
                </a:rPr>
                <a:t>.</a:t>
              </a:r>
            </a:p>
            <a:p>
              <a:pPr algn="ctr">
                <a:lnSpc>
                  <a:spcPct val="115000"/>
                </a:lnSpc>
              </a:pPr>
              <a:r>
                <a:rPr sz="2400" b="0" i="1" dirty="0">
                  <a:solidFill>
                    <a:srgbClr val="303B4F"/>
                  </a:solidFill>
                  <a:latin typeface="League Spartan"/>
                </a:rPr>
                <a:t>If the ratio is the scorecard, this is the game.</a:t>
              </a:r>
            </a:p>
          </p:txBody>
        </p:sp>
        <p:pic>
          <p:nvPicPr>
            <p:cNvPr id="88" name="Picture 87">
              <a:extLst>
                <a:ext uri="{FF2B5EF4-FFF2-40B4-BE49-F238E27FC236}">
                  <a16:creationId xmlns:a16="http://schemas.microsoft.com/office/drawing/2014/main" id="{B0613BC8-5070-98A6-2B89-AC3CC4480C15}"/>
                </a:ext>
              </a:extLst>
            </p:cNvPr>
            <p:cNvPicPr>
              <a:picLocks noChangeAspect="1"/>
            </p:cNvPicPr>
            <p:nvPr/>
          </p:nvPicPr>
          <p:blipFill>
            <a:blip r:embed="rId3"/>
            <a:stretch>
              <a:fillRect/>
            </a:stretch>
          </p:blipFill>
          <p:spPr>
            <a:xfrm>
              <a:off x="3169682" y="8615656"/>
              <a:ext cx="989148" cy="620063"/>
            </a:xfrm>
            <a:prstGeom prst="rect">
              <a:avLst/>
            </a:prstGeom>
          </p:spPr>
        </p:pic>
      </p:grpSp>
      <p:pic>
        <p:nvPicPr>
          <p:cNvPr id="90" name="Picture 89" descr="texas_mark_light.png"/>
          <p:cNvPicPr>
            <a:picLocks noChangeAspect="1"/>
          </p:cNvPicPr>
          <p:nvPr/>
        </p:nvPicPr>
        <p:blipFill>
          <a:blip r:embed="rId4"/>
          <a:stretch>
            <a:fillRect/>
          </a:stretch>
        </p:blipFill>
        <p:spPr>
          <a:xfrm>
            <a:off x="16687800" y="9336024"/>
            <a:ext cx="649224" cy="612648"/>
          </a:xfrm>
          <a:prstGeom prst="rect">
            <a:avLst/>
          </a:prstGeom>
        </p:spPr>
      </p:pic>
    </p:spTree>
    <p:extLst>
      <p:ext uri="{BB962C8B-B14F-4D97-AF65-F5344CB8AC3E}">
        <p14:creationId xmlns:p14="http://schemas.microsoft.com/office/powerpoint/2010/main" val="265049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2000"/>
                                  </p:stCondLst>
                                  <p:childTnLst>
                                    <p:set>
                                      <p:cBhvr>
                                        <p:cTn id="9" dur="1" fill="hold">
                                          <p:stCondLst>
                                            <p:cond delay="0"/>
                                          </p:stCondLst>
                                        </p:cTn>
                                        <p:tgtEl>
                                          <p:spTgt spid="56"/>
                                        </p:tgtEl>
                                        <p:attrNameLst>
                                          <p:attrName>style.visibility</p:attrName>
                                        </p:attrNameLst>
                                      </p:cBhvr>
                                      <p:to>
                                        <p:strVal val="visible"/>
                                      </p:to>
                                    </p:set>
                                  </p:childTnLst>
                                </p:cTn>
                              </p:par>
                            </p:childTnLst>
                          </p:cTn>
                        </p:par>
                        <p:par>
                          <p:cTn id="10" fill="hold">
                            <p:stCondLst>
                              <p:cond delay="3000"/>
                            </p:stCondLst>
                            <p:childTnLst>
                              <p:par>
                                <p:cTn id="11" presetID="9" presetClass="entr" presetSubtype="0" fill="hold" grpId="0" nodeType="afterEffect">
                                  <p:stCondLst>
                                    <p:cond delay="1000"/>
                                  </p:stCondLst>
                                  <p:childTnLst>
                                    <p:set>
                                      <p:cBhvr>
                                        <p:cTn id="12" dur="1" fill="hold">
                                          <p:stCondLst>
                                            <p:cond delay="0"/>
                                          </p:stCondLst>
                                        </p:cTn>
                                        <p:tgtEl>
                                          <p:spTgt spid="57"/>
                                        </p:tgtEl>
                                        <p:attrNameLst>
                                          <p:attrName>style.visibility</p:attrName>
                                        </p:attrNameLst>
                                      </p:cBhvr>
                                      <p:to>
                                        <p:strVal val="visible"/>
                                      </p:to>
                                    </p:set>
                                    <p:animEffect transition="in" filter="dissolve">
                                      <p:cBhvr>
                                        <p:cTn id="13" dur="1000"/>
                                        <p:tgtEl>
                                          <p:spTgt spid="57"/>
                                        </p:tgtEl>
                                      </p:cBhvr>
                                    </p:animEffect>
                                  </p:childTnLst>
                                </p:cTn>
                              </p:par>
                            </p:childTnLst>
                          </p:cTn>
                        </p:par>
                        <p:par>
                          <p:cTn id="14" fill="hold">
                            <p:stCondLst>
                              <p:cond delay="5000"/>
                            </p:stCondLst>
                            <p:childTnLst>
                              <p:par>
                                <p:cTn id="15" presetID="1" presetClass="entr" presetSubtype="0" fill="hold" nodeType="afterEffect">
                                  <p:stCondLst>
                                    <p:cond delay="2000"/>
                                  </p:stCondLst>
                                  <p:childTnLst>
                                    <p:set>
                                      <p:cBhvr>
                                        <p:cTn id="16" dur="1" fill="hold">
                                          <p:stCondLst>
                                            <p:cond delay="0"/>
                                          </p:stCondLst>
                                        </p:cTn>
                                        <p:tgtEl>
                                          <p:spTgt spid="29"/>
                                        </p:tgtEl>
                                        <p:attrNameLst>
                                          <p:attrName>style.visibility</p:attrName>
                                        </p:attrNameLst>
                                      </p:cBhvr>
                                      <p:to>
                                        <p:strVal val="visible"/>
                                      </p:to>
                                    </p:set>
                                  </p:childTnLst>
                                </p:cTn>
                              </p:par>
                            </p:childTnLst>
                          </p:cTn>
                        </p:par>
                        <p:par>
                          <p:cTn id="17" fill="hold">
                            <p:stCondLst>
                              <p:cond delay="7000"/>
                            </p:stCondLst>
                            <p:childTnLst>
                              <p:par>
                                <p:cTn id="18" presetID="1" presetClass="entr" presetSubtype="0" fill="hold" nodeType="afterEffect">
                                  <p:stCondLst>
                                    <p:cond delay="2000"/>
                                  </p:stCondLst>
                                  <p:childTnLst>
                                    <p:set>
                                      <p:cBhvr>
                                        <p:cTn id="19" dur="1" fill="hold">
                                          <p:stCondLst>
                                            <p:cond delay="0"/>
                                          </p:stCondLst>
                                        </p:cTn>
                                        <p:tgtEl>
                                          <p:spTgt spid="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1000"/>
                                  </p:stCondLst>
                                  <p:childTnLst>
                                    <p:set>
                                      <p:cBhvr>
                                        <p:cTn id="23" dur="1" fill="hold">
                                          <p:stCondLst>
                                            <p:cond delay="0"/>
                                          </p:stCondLst>
                                        </p:cTn>
                                        <p:tgtEl>
                                          <p:spTgt spid="38"/>
                                        </p:tgtEl>
                                        <p:attrNameLst>
                                          <p:attrName>style.visibility</p:attrName>
                                        </p:attrNameLst>
                                      </p:cBhvr>
                                      <p:to>
                                        <p:strVal val="visible"/>
                                      </p:to>
                                    </p:set>
                                    <p:animEffect transition="in" filter="dissolve">
                                      <p:cBhvr>
                                        <p:cTn id="24" dur="20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1000"/>
                                  </p:stCondLst>
                                  <p:childTnLst>
                                    <p:set>
                                      <p:cBhvr>
                                        <p:cTn id="28" dur="1" fill="hold">
                                          <p:stCondLst>
                                            <p:cond delay="0"/>
                                          </p:stCondLst>
                                        </p:cTn>
                                        <p:tgtEl>
                                          <p:spTgt spid="35"/>
                                        </p:tgtEl>
                                        <p:attrNameLst>
                                          <p:attrName>style.visibility</p:attrName>
                                        </p:attrNameLst>
                                      </p:cBhvr>
                                      <p:to>
                                        <p:strVal val="visible"/>
                                      </p:to>
                                    </p:set>
                                    <p:animEffect transition="in" filter="dissolve">
                                      <p:cBhvr>
                                        <p:cTn id="29" dur="2000"/>
                                        <p:tgtEl>
                                          <p:spTgt spid="3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1500"/>
                                  </p:stCondLst>
                                  <p:childTnLst>
                                    <p:set>
                                      <p:cBhvr>
                                        <p:cTn id="33" dur="1" fill="hold">
                                          <p:stCondLst>
                                            <p:cond delay="0"/>
                                          </p:stCondLst>
                                        </p:cTn>
                                        <p:tgtEl>
                                          <p:spTgt spid="59"/>
                                        </p:tgtEl>
                                        <p:attrNameLst>
                                          <p:attrName>style.visibility</p:attrName>
                                        </p:attrNameLst>
                                      </p:cBhvr>
                                      <p:to>
                                        <p:strVal val="visible"/>
                                      </p:to>
                                    </p:set>
                                  </p:childTnLst>
                                </p:cTn>
                              </p:par>
                            </p:childTnLst>
                          </p:cTn>
                        </p:par>
                        <p:par>
                          <p:cTn id="34" fill="hold">
                            <p:stCondLst>
                              <p:cond delay="1500"/>
                            </p:stCondLst>
                            <p:childTnLst>
                              <p:par>
                                <p:cTn id="35" presetID="1" presetClass="entr" presetSubtype="0" fill="hold" grpId="0" nodeType="afterEffect">
                                  <p:stCondLst>
                                    <p:cond delay="500"/>
                                  </p:stCondLst>
                                  <p:childTnLst>
                                    <p:set>
                                      <p:cBhvr>
                                        <p:cTn id="36" dur="1" fill="hold">
                                          <p:stCondLst>
                                            <p:cond delay="0"/>
                                          </p:stCondLst>
                                        </p:cTn>
                                        <p:tgtEl>
                                          <p:spTgt spid="60"/>
                                        </p:tgtEl>
                                        <p:attrNameLst>
                                          <p:attrName>style.visibility</p:attrName>
                                        </p:attrNameLst>
                                      </p:cBhvr>
                                      <p:to>
                                        <p:strVal val="visible"/>
                                      </p:to>
                                    </p:set>
                                  </p:childTnLst>
                                </p:cTn>
                              </p:par>
                            </p:childTnLst>
                          </p:cTn>
                        </p:par>
                        <p:par>
                          <p:cTn id="37" fill="hold">
                            <p:stCondLst>
                              <p:cond delay="2000"/>
                            </p:stCondLst>
                            <p:childTnLst>
                              <p:par>
                                <p:cTn id="38" presetID="1" presetClass="entr" presetSubtype="0" fill="hold" grpId="0" nodeType="afterEffect">
                                  <p:stCondLst>
                                    <p:cond delay="2000"/>
                                  </p:stCondLst>
                                  <p:childTnLst>
                                    <p:set>
                                      <p:cBhvr>
                                        <p:cTn id="39" dur="1" fill="hold">
                                          <p:stCondLst>
                                            <p:cond delay="0"/>
                                          </p:stCondLst>
                                        </p:cTn>
                                        <p:tgtEl>
                                          <p:spTgt spid="6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1000"/>
                                  </p:stCondLst>
                                  <p:childTnLst>
                                    <p:set>
                                      <p:cBhvr>
                                        <p:cTn id="43" dur="1" fill="hold">
                                          <p:stCondLst>
                                            <p:cond delay="0"/>
                                          </p:stCondLst>
                                        </p:cTn>
                                        <p:tgtEl>
                                          <p:spTgt spid="62"/>
                                        </p:tgtEl>
                                        <p:attrNameLst>
                                          <p:attrName>style.visibility</p:attrName>
                                        </p:attrNameLst>
                                      </p:cBhvr>
                                      <p:to>
                                        <p:strVal val="visible"/>
                                      </p:to>
                                    </p:set>
                                    <p:animEffect transition="in" filter="blinds(horizontal)">
                                      <p:cBhvr>
                                        <p:cTn id="44" dur="1000"/>
                                        <p:tgtEl>
                                          <p:spTgt spid="62"/>
                                        </p:tgtEl>
                                      </p:cBhvr>
                                    </p:animEffect>
                                  </p:childTnLst>
                                </p:cTn>
                              </p:par>
                            </p:childTnLst>
                          </p:cTn>
                        </p:par>
                        <p:par>
                          <p:cTn id="45" fill="hold">
                            <p:stCondLst>
                              <p:cond delay="2000"/>
                            </p:stCondLst>
                            <p:childTnLst>
                              <p:par>
                                <p:cTn id="46" presetID="5" presetClass="entr" presetSubtype="10" fill="hold" nodeType="afterEffect">
                                  <p:stCondLst>
                                    <p:cond delay="500"/>
                                  </p:stCondLst>
                                  <p:childTnLst>
                                    <p:set>
                                      <p:cBhvr>
                                        <p:cTn id="47" dur="1" fill="hold">
                                          <p:stCondLst>
                                            <p:cond delay="0"/>
                                          </p:stCondLst>
                                        </p:cTn>
                                        <p:tgtEl>
                                          <p:spTgt spid="81"/>
                                        </p:tgtEl>
                                        <p:attrNameLst>
                                          <p:attrName>style.visibility</p:attrName>
                                        </p:attrNameLst>
                                      </p:cBhvr>
                                      <p:to>
                                        <p:strVal val="visible"/>
                                      </p:to>
                                    </p:set>
                                    <p:animEffect transition="in" filter="checkerboard(across)">
                                      <p:cBhvr>
                                        <p:cTn id="48" dur="1000"/>
                                        <p:tgtEl>
                                          <p:spTgt spid="81"/>
                                        </p:tgtEl>
                                      </p:cBhvr>
                                    </p:animEffect>
                                  </p:childTnLst>
                                </p:cTn>
                              </p:par>
                            </p:childTnLst>
                          </p:cTn>
                        </p:par>
                        <p:par>
                          <p:cTn id="49" fill="hold">
                            <p:stCondLst>
                              <p:cond delay="3500"/>
                            </p:stCondLst>
                            <p:childTnLst>
                              <p:par>
                                <p:cTn id="50" presetID="5" presetClass="entr" presetSubtype="10" fill="hold" nodeType="afterEffect">
                                  <p:stCondLst>
                                    <p:cond delay="500"/>
                                  </p:stCondLst>
                                  <p:childTnLst>
                                    <p:set>
                                      <p:cBhvr>
                                        <p:cTn id="51" dur="1" fill="hold">
                                          <p:stCondLst>
                                            <p:cond delay="0"/>
                                          </p:stCondLst>
                                        </p:cTn>
                                        <p:tgtEl>
                                          <p:spTgt spid="84"/>
                                        </p:tgtEl>
                                        <p:attrNameLst>
                                          <p:attrName>style.visibility</p:attrName>
                                        </p:attrNameLst>
                                      </p:cBhvr>
                                      <p:to>
                                        <p:strVal val="visible"/>
                                      </p:to>
                                    </p:set>
                                    <p:animEffect transition="in" filter="checkerboard(across)">
                                      <p:cBhvr>
                                        <p:cTn id="52" dur="1000"/>
                                        <p:tgtEl>
                                          <p:spTgt spid="84"/>
                                        </p:tgtEl>
                                      </p:cBhvr>
                                    </p:animEffect>
                                  </p:childTnLst>
                                </p:cTn>
                              </p:par>
                            </p:childTnLst>
                          </p:cTn>
                        </p:par>
                        <p:par>
                          <p:cTn id="53" fill="hold">
                            <p:stCondLst>
                              <p:cond delay="5000"/>
                            </p:stCondLst>
                            <p:childTnLst>
                              <p:par>
                                <p:cTn id="54" presetID="5" presetClass="entr" presetSubtype="10" fill="hold" nodeType="afterEffect">
                                  <p:stCondLst>
                                    <p:cond delay="500"/>
                                  </p:stCondLst>
                                  <p:childTnLst>
                                    <p:set>
                                      <p:cBhvr>
                                        <p:cTn id="55" dur="1" fill="hold">
                                          <p:stCondLst>
                                            <p:cond delay="0"/>
                                          </p:stCondLst>
                                        </p:cTn>
                                        <p:tgtEl>
                                          <p:spTgt spid="78"/>
                                        </p:tgtEl>
                                        <p:attrNameLst>
                                          <p:attrName>style.visibility</p:attrName>
                                        </p:attrNameLst>
                                      </p:cBhvr>
                                      <p:to>
                                        <p:strVal val="visible"/>
                                      </p:to>
                                    </p:set>
                                    <p:animEffect transition="in" filter="checkerboard(across)">
                                      <p:cBhvr>
                                        <p:cTn id="56" dur="1000"/>
                                        <p:tgtEl>
                                          <p:spTgt spid="78"/>
                                        </p:tgtEl>
                                      </p:cBhvr>
                                    </p:animEffect>
                                  </p:childTnLst>
                                </p:cTn>
                              </p:par>
                            </p:childTnLst>
                          </p:cTn>
                        </p:par>
                        <p:par>
                          <p:cTn id="57" fill="hold">
                            <p:stCondLst>
                              <p:cond delay="6500"/>
                            </p:stCondLst>
                            <p:childTnLst>
                              <p:par>
                                <p:cTn id="58" presetID="9" presetClass="entr" presetSubtype="0" fill="hold" grpId="0" nodeType="afterEffect">
                                  <p:stCondLst>
                                    <p:cond delay="500"/>
                                  </p:stCondLst>
                                  <p:childTnLst>
                                    <p:set>
                                      <p:cBhvr>
                                        <p:cTn id="59" dur="1" fill="hold">
                                          <p:stCondLst>
                                            <p:cond delay="0"/>
                                          </p:stCondLst>
                                        </p:cTn>
                                        <p:tgtEl>
                                          <p:spTgt spid="72"/>
                                        </p:tgtEl>
                                        <p:attrNameLst>
                                          <p:attrName>style.visibility</p:attrName>
                                        </p:attrNameLst>
                                      </p:cBhvr>
                                      <p:to>
                                        <p:strVal val="visible"/>
                                      </p:to>
                                    </p:set>
                                    <p:animEffect transition="in" filter="dissolve">
                                      <p:cBhvr>
                                        <p:cTn id="60" dur="1000"/>
                                        <p:tgtEl>
                                          <p:spTgt spid="72"/>
                                        </p:tgtEl>
                                      </p:cBhvr>
                                    </p:animEffect>
                                  </p:childTnLst>
                                </p:cTn>
                              </p:par>
                            </p:childTnLst>
                          </p:cTn>
                        </p:par>
                        <p:par>
                          <p:cTn id="61" fill="hold">
                            <p:stCondLst>
                              <p:cond delay="8000"/>
                            </p:stCondLst>
                            <p:childTnLst>
                              <p:par>
                                <p:cTn id="62" presetID="3" presetClass="entr" presetSubtype="10" fill="hold" nodeType="afterEffect">
                                  <p:stCondLst>
                                    <p:cond delay="500"/>
                                  </p:stCondLst>
                                  <p:childTnLst>
                                    <p:set>
                                      <p:cBhvr>
                                        <p:cTn id="63" dur="1" fill="hold">
                                          <p:stCondLst>
                                            <p:cond delay="0"/>
                                          </p:stCondLst>
                                        </p:cTn>
                                        <p:tgtEl>
                                          <p:spTgt spid="8"/>
                                        </p:tgtEl>
                                        <p:attrNameLst>
                                          <p:attrName>style.visibility</p:attrName>
                                        </p:attrNameLst>
                                      </p:cBhvr>
                                      <p:to>
                                        <p:strVal val="visible"/>
                                      </p:to>
                                    </p:set>
                                    <p:animEffect transition="in" filter="blinds(horizontal)">
                                      <p:cBhvr>
                                        <p:cTn id="6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6" grpId="0"/>
      <p:bldP spid="57" grpId="0"/>
      <p:bldP spid="59" grpId="0" animBg="1"/>
      <p:bldP spid="60" grpId="0"/>
      <p:bldP spid="61" grpId="0"/>
      <p:bldP spid="62" grpId="0"/>
      <p:bldP spid="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960120" y="713232"/>
            <a:ext cx="16322040" cy="276999"/>
          </a:xfrm>
          <a:prstGeom prst="rect">
            <a:avLst/>
          </a:prstGeom>
          <a:noFill/>
        </p:spPr>
        <p:txBody>
          <a:bodyPr wrap="square" lIns="0" tIns="0" rIns="0" bIns="0" anchor="t">
            <a:spAutoFit/>
          </a:bodyPr>
          <a:lstStyle/>
          <a:p>
            <a:pPr algn="l">
              <a:lnSpc>
                <a:spcPct val="100000"/>
              </a:lnSpc>
            </a:pPr>
            <a:r>
              <a:rPr b="1" spc="450" dirty="0">
                <a:solidFill>
                  <a:srgbClr val="FF7900"/>
                </a:solidFill>
                <a:latin typeface="League Spartan"/>
              </a:rPr>
              <a:t>THE PROFIT POWER RATIO  ·  WHAT STRENGTH LOOKS LIKE</a:t>
            </a:r>
          </a:p>
        </p:txBody>
      </p:sp>
      <p:sp>
        <p:nvSpPr>
          <p:cNvPr id="3" name="TextBox 2"/>
          <p:cNvSpPr txBox="1"/>
          <p:nvPr/>
        </p:nvSpPr>
        <p:spPr>
          <a:xfrm>
            <a:off x="960120" y="1207009"/>
            <a:ext cx="16322040" cy="738664"/>
          </a:xfrm>
          <a:prstGeom prst="rect">
            <a:avLst/>
          </a:prstGeom>
          <a:noFill/>
        </p:spPr>
        <p:txBody>
          <a:bodyPr wrap="square" lIns="0" tIns="0" rIns="0" bIns="0" anchor="t">
            <a:spAutoFit/>
          </a:bodyPr>
          <a:lstStyle/>
          <a:p>
            <a:pPr algn="l">
              <a:lnSpc>
                <a:spcPct val="100000"/>
              </a:lnSpc>
            </a:pPr>
            <a:r>
              <a:rPr sz="4800" b="1" dirty="0">
                <a:solidFill>
                  <a:srgbClr val="142233"/>
                </a:solidFill>
                <a:latin typeface="League Spartan"/>
              </a:rPr>
              <a:t>Gross </a:t>
            </a:r>
            <a:r>
              <a:rPr lang="en-US" sz="4800" b="1" dirty="0">
                <a:solidFill>
                  <a:srgbClr val="142233"/>
                </a:solidFill>
                <a:latin typeface="League Spartan"/>
              </a:rPr>
              <a:t>P</a:t>
            </a:r>
            <a:r>
              <a:rPr sz="4800" b="1" dirty="0">
                <a:solidFill>
                  <a:srgbClr val="142233"/>
                </a:solidFill>
                <a:latin typeface="League Spartan"/>
              </a:rPr>
              <a:t>rofit </a:t>
            </a:r>
            <a:r>
              <a:rPr lang="en-US" sz="4800" b="1" dirty="0">
                <a:solidFill>
                  <a:srgbClr val="142233"/>
                </a:solidFill>
                <a:latin typeface="League Spartan"/>
              </a:rPr>
              <a:t>MUST O</a:t>
            </a:r>
            <a:r>
              <a:rPr sz="4800" b="1" dirty="0">
                <a:solidFill>
                  <a:srgbClr val="142233"/>
                </a:solidFill>
                <a:latin typeface="League Spartan"/>
              </a:rPr>
              <a:t>utrun OPEX.</a:t>
            </a:r>
          </a:p>
        </p:txBody>
      </p:sp>
      <p:sp>
        <p:nvSpPr>
          <p:cNvPr id="4" name="TextBox 3"/>
          <p:cNvSpPr txBox="1"/>
          <p:nvPr/>
        </p:nvSpPr>
        <p:spPr>
          <a:xfrm>
            <a:off x="960120" y="1967162"/>
            <a:ext cx="15910560" cy="399789"/>
          </a:xfrm>
          <a:prstGeom prst="rect">
            <a:avLst/>
          </a:prstGeom>
          <a:noFill/>
        </p:spPr>
        <p:txBody>
          <a:bodyPr wrap="square" lIns="0" tIns="0" rIns="0" bIns="0" anchor="t">
            <a:spAutoFit/>
          </a:bodyPr>
          <a:lstStyle/>
          <a:p>
            <a:pPr algn="l">
              <a:lnSpc>
                <a:spcPct val="115000"/>
              </a:lnSpc>
            </a:pPr>
            <a:r>
              <a:rPr sz="2400" dirty="0">
                <a:solidFill>
                  <a:srgbClr val="303B4F"/>
                </a:solidFill>
                <a:latin typeface="League Spartan"/>
              </a:rPr>
              <a:t>Both lines can rise and the company still weaken. What matters is the gap between them — and whether it is widening.</a:t>
            </a:r>
          </a:p>
        </p:txBody>
      </p:sp>
      <p:sp>
        <p:nvSpPr>
          <p:cNvPr id="5" name="Rounded Rectangle 4"/>
          <p:cNvSpPr/>
          <p:nvPr/>
        </p:nvSpPr>
        <p:spPr>
          <a:xfrm>
            <a:off x="960120" y="2858476"/>
            <a:ext cx="9902952"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cxnSp>
        <p:nvCxnSpPr>
          <p:cNvPr id="7" name="Connector 6"/>
          <p:cNvCxnSpPr/>
          <p:nvPr/>
        </p:nvCxnSpPr>
        <p:spPr>
          <a:xfrm flipV="1">
            <a:off x="2263140" y="5732802"/>
            <a:ext cx="1659636" cy="261153"/>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922776" y="5471649"/>
            <a:ext cx="1659636" cy="261153"/>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582412" y="5145209"/>
            <a:ext cx="1659636" cy="326441"/>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242048" y="4753480"/>
            <a:ext cx="1659636" cy="391728"/>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901684" y="4296462"/>
            <a:ext cx="1659636" cy="457019"/>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63140" y="5993955"/>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922776" y="5863379"/>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582412" y="5732802"/>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242048" y="5602226"/>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901684" y="5471649"/>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28382" y="5148367"/>
            <a:ext cx="1269517" cy="484748"/>
          </a:xfrm>
          <a:prstGeom prst="rect">
            <a:avLst/>
          </a:prstGeom>
          <a:noFill/>
        </p:spPr>
        <p:txBody>
          <a:bodyPr wrap="square" lIns="0" tIns="0" rIns="0" bIns="0" anchor="t">
            <a:spAutoFit/>
          </a:bodyPr>
          <a:lstStyle/>
          <a:p>
            <a:pPr algn="r">
              <a:lnSpc>
                <a:spcPct val="100000"/>
              </a:lnSpc>
            </a:pPr>
            <a:r>
              <a:rPr sz="1575" b="1" spc="150" dirty="0">
                <a:solidFill>
                  <a:srgbClr val="1F9E66"/>
                </a:solidFill>
                <a:latin typeface="League Spartan"/>
              </a:rPr>
              <a:t>GROSS PROFIT</a:t>
            </a:r>
          </a:p>
        </p:txBody>
      </p:sp>
      <p:sp>
        <p:nvSpPr>
          <p:cNvPr id="18" name="TextBox 17"/>
          <p:cNvSpPr txBox="1"/>
          <p:nvPr/>
        </p:nvSpPr>
        <p:spPr>
          <a:xfrm>
            <a:off x="1628382" y="6346595"/>
            <a:ext cx="993848" cy="242374"/>
          </a:xfrm>
          <a:prstGeom prst="rect">
            <a:avLst/>
          </a:prstGeom>
          <a:noFill/>
        </p:spPr>
        <p:txBody>
          <a:bodyPr wrap="square" lIns="0" tIns="0" rIns="0" bIns="0" anchor="t">
            <a:spAutoFit/>
          </a:bodyPr>
          <a:lstStyle/>
          <a:p>
            <a:pPr algn="r">
              <a:lnSpc>
                <a:spcPct val="100000"/>
              </a:lnSpc>
            </a:pPr>
            <a:r>
              <a:rPr sz="1575" b="1" spc="150" dirty="0">
                <a:solidFill>
                  <a:srgbClr val="FF7900"/>
                </a:solidFill>
                <a:latin typeface="League Spartan"/>
              </a:rPr>
              <a:t>OPEX</a:t>
            </a:r>
          </a:p>
        </p:txBody>
      </p:sp>
      <p:sp>
        <p:nvSpPr>
          <p:cNvPr id="19" name="TextBox 18"/>
          <p:cNvSpPr txBox="1"/>
          <p:nvPr/>
        </p:nvSpPr>
        <p:spPr>
          <a:xfrm>
            <a:off x="1399032" y="3269956"/>
            <a:ext cx="5486400" cy="242374"/>
          </a:xfrm>
          <a:prstGeom prst="rect">
            <a:avLst/>
          </a:prstGeom>
          <a:noFill/>
        </p:spPr>
        <p:txBody>
          <a:bodyPr wrap="square" lIns="0" tIns="0" rIns="0" bIns="0" anchor="t">
            <a:spAutoFit/>
          </a:bodyPr>
          <a:lstStyle/>
          <a:p>
            <a:pPr algn="l">
              <a:lnSpc>
                <a:spcPct val="100000"/>
              </a:lnSpc>
            </a:pPr>
            <a:r>
              <a:rPr sz="1575" b="1" spc="300" dirty="0">
                <a:solidFill>
                  <a:srgbClr val="303B4F"/>
                </a:solidFill>
                <a:latin typeface="League Spartan"/>
              </a:rPr>
              <a:t>THE WIDENING GAP  ·  24 MONTHS</a:t>
            </a:r>
          </a:p>
        </p:txBody>
      </p:sp>
      <p:grpSp>
        <p:nvGrpSpPr>
          <p:cNvPr id="42" name="Group 41">
            <a:extLst>
              <a:ext uri="{FF2B5EF4-FFF2-40B4-BE49-F238E27FC236}">
                <a16:creationId xmlns:a16="http://schemas.microsoft.com/office/drawing/2014/main" id="{A53A27CA-DB0D-49ED-2F07-5B1A641DFBE0}"/>
              </a:ext>
            </a:extLst>
          </p:cNvPr>
          <p:cNvGrpSpPr/>
          <p:nvPr/>
        </p:nvGrpSpPr>
        <p:grpSpPr>
          <a:xfrm>
            <a:off x="2263140" y="6973276"/>
            <a:ext cx="8298180" cy="699856"/>
            <a:chOff x="2263140" y="6973276"/>
            <a:chExt cx="8298180" cy="699856"/>
          </a:xfrm>
        </p:grpSpPr>
        <p:sp>
          <p:nvSpPr>
            <p:cNvPr id="6" name="Rectangle 5"/>
            <p:cNvSpPr/>
            <p:nvPr/>
          </p:nvSpPr>
          <p:spPr>
            <a:xfrm>
              <a:off x="2263140" y="6973276"/>
              <a:ext cx="8298180" cy="27432"/>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2263140" y="7165301"/>
              <a:ext cx="5486400" cy="507831"/>
            </a:xfrm>
            <a:prstGeom prst="rect">
              <a:avLst/>
            </a:prstGeom>
            <a:noFill/>
          </p:spPr>
          <p:txBody>
            <a:bodyPr wrap="square" lIns="0" tIns="0" rIns="0" bIns="0" anchor="t">
              <a:spAutoFit/>
            </a:bodyPr>
            <a:lstStyle/>
            <a:p>
              <a:pPr algn="l">
                <a:lnSpc>
                  <a:spcPct val="100000"/>
                </a:lnSpc>
              </a:pPr>
              <a:r>
                <a:rPr sz="1650">
                  <a:solidFill>
                    <a:srgbClr val="303B4F"/>
                  </a:solidFill>
                  <a:latin typeface="League Spartan"/>
                </a:rPr>
                <a:t>Every month the gap widens, PPR rises — and each new dollar buys more strength.</a:t>
              </a:r>
            </a:p>
          </p:txBody>
        </p:sp>
      </p:grpSp>
      <p:sp>
        <p:nvSpPr>
          <p:cNvPr id="21" name="TextBox 20"/>
          <p:cNvSpPr txBox="1"/>
          <p:nvPr/>
        </p:nvSpPr>
        <p:spPr>
          <a:xfrm>
            <a:off x="11270730" y="2930580"/>
            <a:ext cx="5554980" cy="415498"/>
          </a:xfrm>
          <a:prstGeom prst="rect">
            <a:avLst/>
          </a:prstGeom>
          <a:noFill/>
        </p:spPr>
        <p:txBody>
          <a:bodyPr wrap="square" lIns="0" tIns="0" rIns="0" bIns="0" anchor="t">
            <a:spAutoFit/>
          </a:bodyPr>
          <a:lstStyle/>
          <a:p>
            <a:pPr algn="l">
              <a:lnSpc>
                <a:spcPct val="100000"/>
              </a:lnSpc>
            </a:pPr>
            <a:r>
              <a:rPr sz="2700" b="1" dirty="0">
                <a:solidFill>
                  <a:srgbClr val="142233"/>
                </a:solidFill>
                <a:latin typeface="League Spartan"/>
              </a:rPr>
              <a:t>How to read it</a:t>
            </a:r>
          </a:p>
        </p:txBody>
      </p:sp>
      <p:grpSp>
        <p:nvGrpSpPr>
          <p:cNvPr id="35" name="Group 34">
            <a:extLst>
              <a:ext uri="{FF2B5EF4-FFF2-40B4-BE49-F238E27FC236}">
                <a16:creationId xmlns:a16="http://schemas.microsoft.com/office/drawing/2014/main" id="{D1F579BA-2F9D-62B5-F8A3-506BC90B5B9A}"/>
              </a:ext>
            </a:extLst>
          </p:cNvPr>
          <p:cNvGrpSpPr/>
          <p:nvPr/>
        </p:nvGrpSpPr>
        <p:grpSpPr>
          <a:xfrm>
            <a:off x="11700498" y="3570660"/>
            <a:ext cx="6053328" cy="822960"/>
            <a:chOff x="11700498" y="3570660"/>
            <a:chExt cx="6053328" cy="822960"/>
          </a:xfrm>
        </p:grpSpPr>
        <p:sp>
          <p:nvSpPr>
            <p:cNvPr id="22" name="Oval 21"/>
            <p:cNvSpPr/>
            <p:nvPr/>
          </p:nvSpPr>
          <p:spPr>
            <a:xfrm>
              <a:off x="11700498" y="3680388"/>
              <a:ext cx="164592" cy="164592"/>
            </a:xfrm>
            <a:prstGeom prst="ellipse">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TextBox 22"/>
            <p:cNvSpPr txBox="1"/>
            <p:nvPr/>
          </p:nvSpPr>
          <p:spPr>
            <a:xfrm>
              <a:off x="12084546" y="3570660"/>
              <a:ext cx="5074920" cy="365760"/>
            </a:xfrm>
            <a:prstGeom prst="rect">
              <a:avLst/>
            </a:prstGeom>
            <a:noFill/>
          </p:spPr>
          <p:txBody>
            <a:bodyPr wrap="square" lIns="0" tIns="0" rIns="0" bIns="0" anchor="t">
              <a:spAutoFit/>
            </a:bodyPr>
            <a:lstStyle/>
            <a:p>
              <a:pPr algn="l">
                <a:lnSpc>
                  <a:spcPct val="100000"/>
                </a:lnSpc>
              </a:pPr>
              <a:r>
                <a:rPr sz="2400" b="1" dirty="0">
                  <a:solidFill>
                    <a:srgbClr val="142233"/>
                  </a:solidFill>
                  <a:latin typeface="League Spartan"/>
                </a:rPr>
                <a:t>Both lines rising</a:t>
              </a:r>
            </a:p>
          </p:txBody>
        </p:sp>
        <p:sp>
          <p:nvSpPr>
            <p:cNvPr id="24" name="TextBox 23"/>
            <p:cNvSpPr txBox="1"/>
            <p:nvPr/>
          </p:nvSpPr>
          <p:spPr>
            <a:xfrm>
              <a:off x="12084546" y="398214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Normal — growth costs money. OPEX should climb.</a:t>
              </a:r>
            </a:p>
          </p:txBody>
        </p:sp>
      </p:grpSp>
      <p:grpSp>
        <p:nvGrpSpPr>
          <p:cNvPr id="39" name="Group 38">
            <a:extLst>
              <a:ext uri="{FF2B5EF4-FFF2-40B4-BE49-F238E27FC236}">
                <a16:creationId xmlns:a16="http://schemas.microsoft.com/office/drawing/2014/main" id="{16659D91-7DA1-2C5D-491A-F2637589619A}"/>
              </a:ext>
            </a:extLst>
          </p:cNvPr>
          <p:cNvGrpSpPr/>
          <p:nvPr/>
        </p:nvGrpSpPr>
        <p:grpSpPr>
          <a:xfrm>
            <a:off x="11700498" y="4622220"/>
            <a:ext cx="6053328" cy="822960"/>
            <a:chOff x="11700498" y="4622220"/>
            <a:chExt cx="6053328" cy="822960"/>
          </a:xfrm>
        </p:grpSpPr>
        <p:sp>
          <p:nvSpPr>
            <p:cNvPr id="25" name="Oval 24"/>
            <p:cNvSpPr/>
            <p:nvPr/>
          </p:nvSpPr>
          <p:spPr>
            <a:xfrm>
              <a:off x="11700498" y="4731948"/>
              <a:ext cx="164592" cy="164592"/>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12084546" y="4622220"/>
              <a:ext cx="5074920" cy="365760"/>
            </a:xfrm>
            <a:prstGeom prst="rect">
              <a:avLst/>
            </a:prstGeom>
            <a:noFill/>
          </p:spPr>
          <p:txBody>
            <a:bodyPr wrap="square" lIns="0" tIns="0" rIns="0" bIns="0" anchor="t">
              <a:spAutoFit/>
            </a:bodyPr>
            <a:lstStyle/>
            <a:p>
              <a:pPr algn="l">
                <a:lnSpc>
                  <a:spcPct val="100000"/>
                </a:lnSpc>
              </a:pPr>
              <a:r>
                <a:rPr sz="2400" b="1" dirty="0">
                  <a:solidFill>
                    <a:srgbClr val="142233"/>
                  </a:solidFill>
                  <a:latin typeface="League Spartan"/>
                </a:rPr>
                <a:t>Gap widening</a:t>
              </a:r>
            </a:p>
          </p:txBody>
        </p:sp>
        <p:sp>
          <p:nvSpPr>
            <p:cNvPr id="27" name="TextBox 26"/>
            <p:cNvSpPr txBox="1"/>
            <p:nvPr/>
          </p:nvSpPr>
          <p:spPr>
            <a:xfrm>
              <a:off x="12084546" y="5033700"/>
              <a:ext cx="5669280" cy="411480"/>
            </a:xfrm>
            <a:prstGeom prst="rect">
              <a:avLst/>
            </a:prstGeom>
            <a:noFill/>
          </p:spPr>
          <p:txBody>
            <a:bodyPr wrap="square" lIns="0" tIns="0" rIns="0" bIns="0" anchor="t">
              <a:spAutoFit/>
            </a:bodyPr>
            <a:lstStyle/>
            <a:p>
              <a:pPr algn="l">
                <a:lnSpc>
                  <a:spcPct val="120000"/>
                </a:lnSpc>
              </a:pPr>
              <a:r>
                <a:rPr sz="2000">
                  <a:solidFill>
                    <a:srgbClr val="303B4F"/>
                  </a:solidFill>
                  <a:latin typeface="League Spartan"/>
                </a:rPr>
                <a:t>PPR climbing. Growth is buying strength.</a:t>
              </a:r>
            </a:p>
          </p:txBody>
        </p:sp>
      </p:grpSp>
      <p:grpSp>
        <p:nvGrpSpPr>
          <p:cNvPr id="40" name="Group 39">
            <a:extLst>
              <a:ext uri="{FF2B5EF4-FFF2-40B4-BE49-F238E27FC236}">
                <a16:creationId xmlns:a16="http://schemas.microsoft.com/office/drawing/2014/main" id="{D3857804-D699-BCDF-E4FC-F38C9E6B779E}"/>
              </a:ext>
            </a:extLst>
          </p:cNvPr>
          <p:cNvGrpSpPr/>
          <p:nvPr/>
        </p:nvGrpSpPr>
        <p:grpSpPr>
          <a:xfrm>
            <a:off x="11700498" y="5673780"/>
            <a:ext cx="6053328" cy="822960"/>
            <a:chOff x="11700498" y="5673780"/>
            <a:chExt cx="6053328" cy="822960"/>
          </a:xfrm>
        </p:grpSpPr>
        <p:sp>
          <p:nvSpPr>
            <p:cNvPr id="28" name="Oval 27"/>
            <p:cNvSpPr/>
            <p:nvPr/>
          </p:nvSpPr>
          <p:spPr>
            <a:xfrm>
              <a:off x="11700498" y="5783508"/>
              <a:ext cx="164592" cy="164592"/>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12084546" y="5673780"/>
              <a:ext cx="5074920" cy="365760"/>
            </a:xfrm>
            <a:prstGeom prst="rect">
              <a:avLst/>
            </a:prstGeom>
            <a:noFill/>
          </p:spPr>
          <p:txBody>
            <a:bodyPr wrap="square" lIns="0" tIns="0" rIns="0" bIns="0" anchor="t">
              <a:spAutoFit/>
            </a:bodyPr>
            <a:lstStyle/>
            <a:p>
              <a:pPr algn="l">
                <a:lnSpc>
                  <a:spcPct val="100000"/>
                </a:lnSpc>
              </a:pPr>
              <a:r>
                <a:rPr sz="2400" b="1" dirty="0">
                  <a:solidFill>
                    <a:srgbClr val="142233"/>
                  </a:solidFill>
                  <a:latin typeface="League Spartan"/>
                </a:rPr>
                <a:t>Lines converging</a:t>
              </a:r>
            </a:p>
          </p:txBody>
        </p:sp>
        <p:sp>
          <p:nvSpPr>
            <p:cNvPr id="30" name="TextBox 29"/>
            <p:cNvSpPr txBox="1"/>
            <p:nvPr/>
          </p:nvSpPr>
          <p:spPr>
            <a:xfrm>
              <a:off x="12084546" y="608526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PPR falling. Bigger — and more fragile.</a:t>
              </a:r>
            </a:p>
          </p:txBody>
        </p:sp>
      </p:grpSp>
      <p:grpSp>
        <p:nvGrpSpPr>
          <p:cNvPr id="41" name="Group 40">
            <a:extLst>
              <a:ext uri="{FF2B5EF4-FFF2-40B4-BE49-F238E27FC236}">
                <a16:creationId xmlns:a16="http://schemas.microsoft.com/office/drawing/2014/main" id="{AB7D852A-3AC5-B5B7-3CA1-872F76CA10AD}"/>
              </a:ext>
            </a:extLst>
          </p:cNvPr>
          <p:cNvGrpSpPr/>
          <p:nvPr/>
        </p:nvGrpSpPr>
        <p:grpSpPr>
          <a:xfrm>
            <a:off x="11700498" y="6725340"/>
            <a:ext cx="6053328" cy="822960"/>
            <a:chOff x="11700498" y="6725340"/>
            <a:chExt cx="6053328" cy="822960"/>
          </a:xfrm>
        </p:grpSpPr>
        <p:sp>
          <p:nvSpPr>
            <p:cNvPr id="31" name="Oval 30"/>
            <p:cNvSpPr/>
            <p:nvPr/>
          </p:nvSpPr>
          <p:spPr>
            <a:xfrm>
              <a:off x="11700498" y="6835068"/>
              <a:ext cx="164592" cy="164592"/>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TextBox 31"/>
            <p:cNvSpPr txBox="1"/>
            <p:nvPr/>
          </p:nvSpPr>
          <p:spPr>
            <a:xfrm>
              <a:off x="12084546" y="6725340"/>
              <a:ext cx="5074920" cy="365760"/>
            </a:xfrm>
            <a:prstGeom prst="rect">
              <a:avLst/>
            </a:prstGeom>
            <a:noFill/>
          </p:spPr>
          <p:txBody>
            <a:bodyPr wrap="square" lIns="0" tIns="0" rIns="0" bIns="0" anchor="t">
              <a:spAutoFit/>
            </a:bodyPr>
            <a:lstStyle/>
            <a:p>
              <a:pPr algn="l">
                <a:lnSpc>
                  <a:spcPct val="100000"/>
                </a:lnSpc>
              </a:pPr>
              <a:r>
                <a:rPr sz="2400" b="1" dirty="0">
                  <a:solidFill>
                    <a:srgbClr val="142233"/>
                  </a:solidFill>
                  <a:latin typeface="League Spartan"/>
                </a:rPr>
                <a:t>Lines crossed</a:t>
              </a:r>
            </a:p>
          </p:txBody>
        </p:sp>
        <p:sp>
          <p:nvSpPr>
            <p:cNvPr id="33" name="TextBox 32"/>
            <p:cNvSpPr txBox="1"/>
            <p:nvPr/>
          </p:nvSpPr>
          <p:spPr>
            <a:xfrm>
              <a:off x="12084546" y="713682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PPR below 1.0. It costs more to run than it keeps.</a:t>
              </a:r>
            </a:p>
          </p:txBody>
        </p:sp>
      </p:grpSp>
      <p:sp>
        <p:nvSpPr>
          <p:cNvPr id="34" name="Rounded Rectangle 33"/>
          <p:cNvSpPr/>
          <p:nvPr/>
        </p:nvSpPr>
        <p:spPr>
          <a:xfrm>
            <a:off x="1211580" y="8291188"/>
            <a:ext cx="15407640" cy="822960"/>
          </a:xfrm>
          <a:prstGeom prst="roundRect">
            <a:avLst>
              <a:gd name="adj" fmla="val 1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l"/>
            <a:r>
              <a:rPr sz="1875" b="1" dirty="0">
                <a:solidFill>
                  <a:srgbClr val="FFC72C"/>
                </a:solidFill>
                <a:latin typeface="League Spartan"/>
              </a:rPr>
              <a:t>The workshop version.  </a:t>
            </a:r>
            <a:r>
              <a:rPr sz="1875" dirty="0">
                <a:solidFill>
                  <a:srgbClr val="E5E8EB"/>
                </a:solidFill>
                <a:latin typeface="League Spartan"/>
              </a:rPr>
              <a:t>This is the picture from UNSTOPPABLE — the same one leaders draw on a whiteboard when the penny drops. </a:t>
            </a:r>
            <a:endParaRPr lang="en-US" sz="1875" dirty="0">
              <a:solidFill>
                <a:srgbClr val="E5E8EB"/>
              </a:solidFill>
              <a:latin typeface="League Spartan"/>
            </a:endParaRPr>
          </a:p>
          <a:p>
            <a:r>
              <a:rPr lang="en-US" sz="1875" dirty="0">
                <a:solidFill>
                  <a:srgbClr val="E5E8EB"/>
                </a:solidFill>
                <a:latin typeface="League Spartan"/>
              </a:rPr>
              <a:t>In a few minutes, you'll draw it from your own two numbers.</a:t>
            </a:r>
            <a:endParaRPr sz="1875" dirty="0">
              <a:solidFill>
                <a:srgbClr val="E5E8EB"/>
              </a:solidFill>
              <a:latin typeface="League Spartan"/>
            </a:endParaRPr>
          </a:p>
        </p:txBody>
      </p:sp>
      <p:sp>
        <p:nvSpPr>
          <p:cNvPr id="36"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38" name="Picture 37" descr="texas_mark_light.png"/>
          <p:cNvPicPr>
            <a:picLocks noChangeAspect="1"/>
          </p:cNvPicPr>
          <p:nvPr/>
        </p:nvPicPr>
        <p:blipFill>
          <a:blip r:embed="rId3"/>
          <a:stretch>
            <a:fillRect/>
          </a:stretch>
        </p:blipFill>
        <p:spPr>
          <a:xfrm>
            <a:off x="16687800" y="9336024"/>
            <a:ext cx="649224" cy="612648"/>
          </a:xfrm>
          <a:prstGeom prst="rect">
            <a:avLst/>
          </a:prstGeom>
        </p:spPr>
      </p:pic>
      <p:sp>
        <p:nvSpPr>
          <p:cNvPr id="43" name="Text 2">
            <a:extLst>
              <a:ext uri="{FF2B5EF4-FFF2-40B4-BE49-F238E27FC236}">
                <a16:creationId xmlns:a16="http://schemas.microsoft.com/office/drawing/2014/main" id="{8C35CDE8-1D0A-33B7-61D4-D57487D8896B}"/>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200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3000"/>
                            </p:stCondLst>
                            <p:childTnLst>
                              <p:par>
                                <p:cTn id="11" presetID="9" presetClass="entr" presetSubtype="0" fill="hold" grpId="0" nodeType="after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1000"/>
                                        <p:tgtEl>
                                          <p:spTgt spid="4"/>
                                        </p:tgtEl>
                                      </p:cBhvr>
                                    </p:animEffect>
                                  </p:childTnLst>
                                </p:cTn>
                              </p:par>
                            </p:childTnLst>
                          </p:cTn>
                        </p:par>
                        <p:par>
                          <p:cTn id="14" fill="hold">
                            <p:stCondLst>
                              <p:cond delay="4500"/>
                            </p:stCondLst>
                            <p:childTnLst>
                              <p:par>
                                <p:cTn id="15" presetID="1" presetClass="entr" presetSubtype="0" fill="hold" grpId="0" nodeType="afterEffect">
                                  <p:stCondLst>
                                    <p:cond delay="500"/>
                                  </p:stCondLst>
                                  <p:childTnLst>
                                    <p:set>
                                      <p:cBhvr>
                                        <p:cTn id="16" dur="1" fill="hold">
                                          <p:stCondLst>
                                            <p:cond delay="0"/>
                                          </p:stCondLst>
                                        </p:cTn>
                                        <p:tgtEl>
                                          <p:spTgt spid="5"/>
                                        </p:tgtEl>
                                        <p:attrNameLst>
                                          <p:attrName>style.visibility</p:attrName>
                                        </p:attrNameLst>
                                      </p:cBhvr>
                                      <p:to>
                                        <p:strVal val="visible"/>
                                      </p:to>
                                    </p:set>
                                  </p:childTnLst>
                                </p:cTn>
                              </p:par>
                            </p:childTnLst>
                          </p:cTn>
                        </p:par>
                        <p:par>
                          <p:cTn id="17" fill="hold">
                            <p:stCondLst>
                              <p:cond delay="5000"/>
                            </p:stCondLst>
                            <p:childTnLst>
                              <p:par>
                                <p:cTn id="18" presetID="1" presetClass="entr" presetSubtype="0" fill="hold" grpId="0" nodeType="afterEffect">
                                  <p:stCondLst>
                                    <p:cond delay="1000"/>
                                  </p:stCondLst>
                                  <p:childTnLst>
                                    <p:set>
                                      <p:cBhvr>
                                        <p:cTn id="19" dur="1" fill="hold">
                                          <p:stCondLst>
                                            <p:cond delay="0"/>
                                          </p:stCondLst>
                                        </p:cTn>
                                        <p:tgtEl>
                                          <p:spTgt spid="19"/>
                                        </p:tgtEl>
                                        <p:attrNameLst>
                                          <p:attrName>style.visibility</p:attrName>
                                        </p:attrNameLst>
                                      </p:cBhvr>
                                      <p:to>
                                        <p:strVal val="visible"/>
                                      </p:to>
                                    </p:set>
                                  </p:childTnLst>
                                </p:cTn>
                              </p:par>
                            </p:childTnLst>
                          </p:cTn>
                        </p:par>
                        <p:par>
                          <p:cTn id="20" fill="hold">
                            <p:stCondLst>
                              <p:cond delay="6000"/>
                            </p:stCondLst>
                            <p:childTnLst>
                              <p:par>
                                <p:cTn id="21" presetID="9" presetClass="entr" presetSubtype="0" fill="hold" nodeType="afterEffect">
                                  <p:stCondLst>
                                    <p:cond delay="500"/>
                                  </p:stCondLst>
                                  <p:childTnLst>
                                    <p:set>
                                      <p:cBhvr>
                                        <p:cTn id="22" dur="1" fill="hold">
                                          <p:stCondLst>
                                            <p:cond delay="0"/>
                                          </p:stCondLst>
                                        </p:cTn>
                                        <p:tgtEl>
                                          <p:spTgt spid="12"/>
                                        </p:tgtEl>
                                        <p:attrNameLst>
                                          <p:attrName>style.visibility</p:attrName>
                                        </p:attrNameLst>
                                      </p:cBhvr>
                                      <p:to>
                                        <p:strVal val="visible"/>
                                      </p:to>
                                    </p:set>
                                    <p:animEffect transition="in" filter="dissolve">
                                      <p:cBhvr>
                                        <p:cTn id="23" dur="1000"/>
                                        <p:tgtEl>
                                          <p:spTgt spid="12"/>
                                        </p:tgtEl>
                                      </p:cBhvr>
                                    </p:animEffect>
                                  </p:childTnLst>
                                </p:cTn>
                              </p:par>
                            </p:childTnLst>
                          </p:cTn>
                        </p:par>
                        <p:par>
                          <p:cTn id="24" fill="hold">
                            <p:stCondLst>
                              <p:cond delay="7500"/>
                            </p:stCondLst>
                            <p:childTnLst>
                              <p:par>
                                <p:cTn id="25" presetID="9"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1000"/>
                                        <p:tgtEl>
                                          <p:spTgt spid="18"/>
                                        </p:tgtEl>
                                      </p:cBhvr>
                                    </p:animEffect>
                                  </p:childTnLst>
                                </p:cTn>
                              </p:par>
                            </p:childTnLst>
                          </p:cTn>
                        </p:par>
                        <p:par>
                          <p:cTn id="28" fill="hold">
                            <p:stCondLst>
                              <p:cond delay="8500"/>
                            </p:stCondLst>
                            <p:childTnLst>
                              <p:par>
                                <p:cTn id="29" presetID="9"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dissolve">
                                      <p:cBhvr>
                                        <p:cTn id="31" dur="1000"/>
                                        <p:tgtEl>
                                          <p:spTgt spid="7"/>
                                        </p:tgtEl>
                                      </p:cBhvr>
                                    </p:animEffect>
                                  </p:childTnLst>
                                </p:cTn>
                              </p:par>
                            </p:childTnLst>
                          </p:cTn>
                        </p:par>
                        <p:par>
                          <p:cTn id="32" fill="hold">
                            <p:stCondLst>
                              <p:cond delay="9500"/>
                            </p:stCondLst>
                            <p:childTnLst>
                              <p:par>
                                <p:cTn id="33" presetID="9" presetClass="entr" presetSubtype="0" fill="hold" grpId="0" nodeType="afterEffect">
                                  <p:stCondLst>
                                    <p:cond delay="500"/>
                                  </p:stCondLst>
                                  <p:childTnLst>
                                    <p:set>
                                      <p:cBhvr>
                                        <p:cTn id="34" dur="1" fill="hold">
                                          <p:stCondLst>
                                            <p:cond delay="0"/>
                                          </p:stCondLst>
                                        </p:cTn>
                                        <p:tgtEl>
                                          <p:spTgt spid="17"/>
                                        </p:tgtEl>
                                        <p:attrNameLst>
                                          <p:attrName>style.visibility</p:attrName>
                                        </p:attrNameLst>
                                      </p:cBhvr>
                                      <p:to>
                                        <p:strVal val="visible"/>
                                      </p:to>
                                    </p:set>
                                    <p:animEffect transition="in" filter="dissolve">
                                      <p:cBhvr>
                                        <p:cTn id="35" dur="1000"/>
                                        <p:tgtEl>
                                          <p:spTgt spid="17"/>
                                        </p:tgtEl>
                                      </p:cBhvr>
                                    </p:animEffect>
                                  </p:childTnLst>
                                </p:cTn>
                              </p:par>
                            </p:childTnLst>
                          </p:cTn>
                        </p:par>
                        <p:par>
                          <p:cTn id="36" fill="hold">
                            <p:stCondLst>
                              <p:cond delay="11000"/>
                            </p:stCondLst>
                            <p:childTnLst>
                              <p:par>
                                <p:cTn id="37" presetID="9" presetClass="entr" presetSubtype="0" fill="hold" nodeType="afterEffect">
                                  <p:stCondLst>
                                    <p:cond delay="50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childTnLst>
                          </p:cTn>
                        </p:par>
                        <p:par>
                          <p:cTn id="40" fill="hold">
                            <p:stCondLst>
                              <p:cond delay="12000"/>
                            </p:stCondLst>
                            <p:childTnLst>
                              <p:par>
                                <p:cTn id="41" presetID="9" presetClass="entr" presetSubtype="0" fill="hold" nodeType="afterEffect">
                                  <p:stCondLst>
                                    <p:cond delay="500"/>
                                  </p:stCondLst>
                                  <p:childTnLst>
                                    <p:set>
                                      <p:cBhvr>
                                        <p:cTn id="42" dur="1" fill="hold">
                                          <p:stCondLst>
                                            <p:cond delay="0"/>
                                          </p:stCondLst>
                                        </p:cTn>
                                        <p:tgtEl>
                                          <p:spTgt spid="8"/>
                                        </p:tgtEl>
                                        <p:attrNameLst>
                                          <p:attrName>style.visibility</p:attrName>
                                        </p:attrNameLst>
                                      </p:cBhvr>
                                      <p:to>
                                        <p:strVal val="visible"/>
                                      </p:to>
                                    </p:set>
                                    <p:animEffect transition="in" filter="dissolve">
                                      <p:cBhvr>
                                        <p:cTn id="43" dur="500"/>
                                        <p:tgtEl>
                                          <p:spTgt spid="8"/>
                                        </p:tgtEl>
                                      </p:cBhvr>
                                    </p:animEffect>
                                  </p:childTnLst>
                                </p:cTn>
                              </p:par>
                            </p:childTnLst>
                          </p:cTn>
                        </p:par>
                        <p:par>
                          <p:cTn id="44" fill="hold">
                            <p:stCondLst>
                              <p:cond delay="13000"/>
                            </p:stCondLst>
                            <p:childTnLst>
                              <p:par>
                                <p:cTn id="45" presetID="9" presetClass="entr" presetSubtype="0" fill="hold" nodeType="afterEffect">
                                  <p:stCondLst>
                                    <p:cond delay="500"/>
                                  </p:stCondLst>
                                  <p:childTnLst>
                                    <p:set>
                                      <p:cBhvr>
                                        <p:cTn id="46" dur="1" fill="hold">
                                          <p:stCondLst>
                                            <p:cond delay="0"/>
                                          </p:stCondLst>
                                        </p:cTn>
                                        <p:tgtEl>
                                          <p:spTgt spid="14"/>
                                        </p:tgtEl>
                                        <p:attrNameLst>
                                          <p:attrName>style.visibility</p:attrName>
                                        </p:attrNameLst>
                                      </p:cBhvr>
                                      <p:to>
                                        <p:strVal val="visible"/>
                                      </p:to>
                                    </p:set>
                                    <p:animEffect transition="in" filter="dissolve">
                                      <p:cBhvr>
                                        <p:cTn id="47" dur="500"/>
                                        <p:tgtEl>
                                          <p:spTgt spid="14"/>
                                        </p:tgtEl>
                                      </p:cBhvr>
                                    </p:animEffect>
                                  </p:childTnLst>
                                </p:cTn>
                              </p:par>
                            </p:childTnLst>
                          </p:cTn>
                        </p:par>
                        <p:par>
                          <p:cTn id="48" fill="hold">
                            <p:stCondLst>
                              <p:cond delay="14000"/>
                            </p:stCondLst>
                            <p:childTnLst>
                              <p:par>
                                <p:cTn id="49" presetID="9" presetClass="entr" presetSubtype="0" fill="hold" nodeType="afterEffect">
                                  <p:stCondLst>
                                    <p:cond delay="500"/>
                                  </p:stCondLst>
                                  <p:childTnLst>
                                    <p:set>
                                      <p:cBhvr>
                                        <p:cTn id="50" dur="1" fill="hold">
                                          <p:stCondLst>
                                            <p:cond delay="0"/>
                                          </p:stCondLst>
                                        </p:cTn>
                                        <p:tgtEl>
                                          <p:spTgt spid="9"/>
                                        </p:tgtEl>
                                        <p:attrNameLst>
                                          <p:attrName>style.visibility</p:attrName>
                                        </p:attrNameLst>
                                      </p:cBhvr>
                                      <p:to>
                                        <p:strVal val="visible"/>
                                      </p:to>
                                    </p:set>
                                    <p:animEffect transition="in" filter="dissolve">
                                      <p:cBhvr>
                                        <p:cTn id="51" dur="500"/>
                                        <p:tgtEl>
                                          <p:spTgt spid="9"/>
                                        </p:tgtEl>
                                      </p:cBhvr>
                                    </p:animEffect>
                                  </p:childTnLst>
                                </p:cTn>
                              </p:par>
                            </p:childTnLst>
                          </p:cTn>
                        </p:par>
                        <p:par>
                          <p:cTn id="52" fill="hold">
                            <p:stCondLst>
                              <p:cond delay="15000"/>
                            </p:stCondLst>
                            <p:childTnLst>
                              <p:par>
                                <p:cTn id="53" presetID="9" presetClass="entr" presetSubtype="0" fill="hold" nodeType="afterEffect">
                                  <p:stCondLst>
                                    <p:cond delay="500"/>
                                  </p:stCondLst>
                                  <p:childTnLst>
                                    <p:set>
                                      <p:cBhvr>
                                        <p:cTn id="54" dur="1" fill="hold">
                                          <p:stCondLst>
                                            <p:cond delay="0"/>
                                          </p:stCondLst>
                                        </p:cTn>
                                        <p:tgtEl>
                                          <p:spTgt spid="15"/>
                                        </p:tgtEl>
                                        <p:attrNameLst>
                                          <p:attrName>style.visibility</p:attrName>
                                        </p:attrNameLst>
                                      </p:cBhvr>
                                      <p:to>
                                        <p:strVal val="visible"/>
                                      </p:to>
                                    </p:set>
                                    <p:animEffect transition="in" filter="dissolve">
                                      <p:cBhvr>
                                        <p:cTn id="55" dur="500"/>
                                        <p:tgtEl>
                                          <p:spTgt spid="15"/>
                                        </p:tgtEl>
                                      </p:cBhvr>
                                    </p:animEffect>
                                  </p:childTnLst>
                                </p:cTn>
                              </p:par>
                            </p:childTnLst>
                          </p:cTn>
                        </p:par>
                        <p:par>
                          <p:cTn id="56" fill="hold">
                            <p:stCondLst>
                              <p:cond delay="16000"/>
                            </p:stCondLst>
                            <p:childTnLst>
                              <p:par>
                                <p:cTn id="57" presetID="9" presetClass="entr" presetSubtype="0" fill="hold" nodeType="afterEffect">
                                  <p:stCondLst>
                                    <p:cond delay="500"/>
                                  </p:stCondLst>
                                  <p:childTnLst>
                                    <p:set>
                                      <p:cBhvr>
                                        <p:cTn id="58" dur="1" fill="hold">
                                          <p:stCondLst>
                                            <p:cond delay="0"/>
                                          </p:stCondLst>
                                        </p:cTn>
                                        <p:tgtEl>
                                          <p:spTgt spid="10"/>
                                        </p:tgtEl>
                                        <p:attrNameLst>
                                          <p:attrName>style.visibility</p:attrName>
                                        </p:attrNameLst>
                                      </p:cBhvr>
                                      <p:to>
                                        <p:strVal val="visible"/>
                                      </p:to>
                                    </p:set>
                                    <p:animEffect transition="in" filter="dissolve">
                                      <p:cBhvr>
                                        <p:cTn id="59" dur="500"/>
                                        <p:tgtEl>
                                          <p:spTgt spid="10"/>
                                        </p:tgtEl>
                                      </p:cBhvr>
                                    </p:animEffect>
                                  </p:childTnLst>
                                </p:cTn>
                              </p:par>
                            </p:childTnLst>
                          </p:cTn>
                        </p:par>
                        <p:par>
                          <p:cTn id="60" fill="hold">
                            <p:stCondLst>
                              <p:cond delay="17000"/>
                            </p:stCondLst>
                            <p:childTnLst>
                              <p:par>
                                <p:cTn id="61" presetID="9" presetClass="entr" presetSubtype="0" fill="hold" nodeType="afterEffect">
                                  <p:stCondLst>
                                    <p:cond delay="500"/>
                                  </p:stCondLst>
                                  <p:childTnLst>
                                    <p:set>
                                      <p:cBhvr>
                                        <p:cTn id="62" dur="1" fill="hold">
                                          <p:stCondLst>
                                            <p:cond delay="0"/>
                                          </p:stCondLst>
                                        </p:cTn>
                                        <p:tgtEl>
                                          <p:spTgt spid="16"/>
                                        </p:tgtEl>
                                        <p:attrNameLst>
                                          <p:attrName>style.visibility</p:attrName>
                                        </p:attrNameLst>
                                      </p:cBhvr>
                                      <p:to>
                                        <p:strVal val="visible"/>
                                      </p:to>
                                    </p:set>
                                    <p:animEffect transition="in" filter="dissolve">
                                      <p:cBhvr>
                                        <p:cTn id="63" dur="500"/>
                                        <p:tgtEl>
                                          <p:spTgt spid="16"/>
                                        </p:tgtEl>
                                      </p:cBhvr>
                                    </p:animEffect>
                                  </p:childTnLst>
                                </p:cTn>
                              </p:par>
                            </p:childTnLst>
                          </p:cTn>
                        </p:par>
                        <p:par>
                          <p:cTn id="64" fill="hold">
                            <p:stCondLst>
                              <p:cond delay="18000"/>
                            </p:stCondLst>
                            <p:childTnLst>
                              <p:par>
                                <p:cTn id="65" presetID="9" presetClass="entr" presetSubtype="0" fill="hold" nodeType="afterEffect">
                                  <p:stCondLst>
                                    <p:cond delay="500"/>
                                  </p:stCondLst>
                                  <p:childTnLst>
                                    <p:set>
                                      <p:cBhvr>
                                        <p:cTn id="66" dur="1" fill="hold">
                                          <p:stCondLst>
                                            <p:cond delay="0"/>
                                          </p:stCondLst>
                                        </p:cTn>
                                        <p:tgtEl>
                                          <p:spTgt spid="11"/>
                                        </p:tgtEl>
                                        <p:attrNameLst>
                                          <p:attrName>style.visibility</p:attrName>
                                        </p:attrNameLst>
                                      </p:cBhvr>
                                      <p:to>
                                        <p:strVal val="visible"/>
                                      </p:to>
                                    </p:set>
                                    <p:animEffect transition="in" filter="dissolve">
                                      <p:cBhvr>
                                        <p:cTn id="67" dur="500"/>
                                        <p:tgtEl>
                                          <p:spTgt spid="11"/>
                                        </p:tgtEl>
                                      </p:cBhvr>
                                    </p:animEffect>
                                  </p:childTnLst>
                                </p:cTn>
                              </p:par>
                            </p:childTnLst>
                          </p:cTn>
                        </p:par>
                        <p:par>
                          <p:cTn id="68" fill="hold">
                            <p:stCondLst>
                              <p:cond delay="19000"/>
                            </p:stCondLst>
                            <p:childTnLst>
                              <p:par>
                                <p:cTn id="69" presetID="5" presetClass="entr" presetSubtype="10" fill="hold" nodeType="afterEffect">
                                  <p:stCondLst>
                                    <p:cond delay="500"/>
                                  </p:stCondLst>
                                  <p:childTnLst>
                                    <p:set>
                                      <p:cBhvr>
                                        <p:cTn id="70" dur="1" fill="hold">
                                          <p:stCondLst>
                                            <p:cond delay="0"/>
                                          </p:stCondLst>
                                        </p:cTn>
                                        <p:tgtEl>
                                          <p:spTgt spid="42"/>
                                        </p:tgtEl>
                                        <p:attrNameLst>
                                          <p:attrName>style.visibility</p:attrName>
                                        </p:attrNameLst>
                                      </p:cBhvr>
                                      <p:to>
                                        <p:strVal val="visible"/>
                                      </p:to>
                                    </p:set>
                                    <p:animEffect transition="in" filter="checkerboard(across)">
                                      <p:cBhvr>
                                        <p:cTn id="71" dur="1000"/>
                                        <p:tgtEl>
                                          <p:spTgt spid="42"/>
                                        </p:tgtEl>
                                      </p:cBhvr>
                                    </p:animEffect>
                                  </p:childTnLst>
                                </p:cTn>
                              </p:par>
                            </p:childTnLst>
                          </p:cTn>
                        </p:par>
                        <p:par>
                          <p:cTn id="72" fill="hold">
                            <p:stCondLst>
                              <p:cond delay="20500"/>
                            </p:stCondLst>
                            <p:childTnLst>
                              <p:par>
                                <p:cTn id="73" presetID="1" presetClass="entr" presetSubtype="0" fill="hold" grpId="0" nodeType="afterEffect">
                                  <p:stCondLst>
                                    <p:cond delay="1000"/>
                                  </p:stCondLst>
                                  <p:childTnLst>
                                    <p:set>
                                      <p:cBhvr>
                                        <p:cTn id="74" dur="1" fill="hold">
                                          <p:stCondLst>
                                            <p:cond delay="0"/>
                                          </p:stCondLst>
                                        </p:cTn>
                                        <p:tgtEl>
                                          <p:spTgt spid="21"/>
                                        </p:tgtEl>
                                        <p:attrNameLst>
                                          <p:attrName>style.visibility</p:attrName>
                                        </p:attrNameLst>
                                      </p:cBhvr>
                                      <p:to>
                                        <p:strVal val="visible"/>
                                      </p:to>
                                    </p:set>
                                  </p:childTnLst>
                                </p:cTn>
                              </p:par>
                            </p:childTnLst>
                          </p:cTn>
                        </p:par>
                        <p:par>
                          <p:cTn id="75" fill="hold">
                            <p:stCondLst>
                              <p:cond delay="21500"/>
                            </p:stCondLst>
                            <p:childTnLst>
                              <p:par>
                                <p:cTn id="76" presetID="9" presetClass="entr" presetSubtype="0" fill="hold" nodeType="afterEffect">
                                  <p:stCondLst>
                                    <p:cond delay="1000"/>
                                  </p:stCondLst>
                                  <p:childTnLst>
                                    <p:set>
                                      <p:cBhvr>
                                        <p:cTn id="77" dur="1" fill="hold">
                                          <p:stCondLst>
                                            <p:cond delay="0"/>
                                          </p:stCondLst>
                                        </p:cTn>
                                        <p:tgtEl>
                                          <p:spTgt spid="35"/>
                                        </p:tgtEl>
                                        <p:attrNameLst>
                                          <p:attrName>style.visibility</p:attrName>
                                        </p:attrNameLst>
                                      </p:cBhvr>
                                      <p:to>
                                        <p:strVal val="visible"/>
                                      </p:to>
                                    </p:set>
                                    <p:animEffect transition="in" filter="dissolve">
                                      <p:cBhvr>
                                        <p:cTn id="78" dur="500"/>
                                        <p:tgtEl>
                                          <p:spTgt spid="35"/>
                                        </p:tgtEl>
                                      </p:cBhvr>
                                    </p:animEffect>
                                  </p:childTnLst>
                                </p:cTn>
                              </p:par>
                            </p:childTnLst>
                          </p:cTn>
                        </p:par>
                        <p:par>
                          <p:cTn id="79" fill="hold">
                            <p:stCondLst>
                              <p:cond delay="23000"/>
                            </p:stCondLst>
                            <p:childTnLst>
                              <p:par>
                                <p:cTn id="80" presetID="9" presetClass="entr" presetSubtype="0" fill="hold" nodeType="afterEffect">
                                  <p:stCondLst>
                                    <p:cond delay="1000"/>
                                  </p:stCondLst>
                                  <p:childTnLst>
                                    <p:set>
                                      <p:cBhvr>
                                        <p:cTn id="81" dur="1" fill="hold">
                                          <p:stCondLst>
                                            <p:cond delay="0"/>
                                          </p:stCondLst>
                                        </p:cTn>
                                        <p:tgtEl>
                                          <p:spTgt spid="39"/>
                                        </p:tgtEl>
                                        <p:attrNameLst>
                                          <p:attrName>style.visibility</p:attrName>
                                        </p:attrNameLst>
                                      </p:cBhvr>
                                      <p:to>
                                        <p:strVal val="visible"/>
                                      </p:to>
                                    </p:set>
                                    <p:animEffect transition="in" filter="dissolve">
                                      <p:cBhvr>
                                        <p:cTn id="82" dur="500"/>
                                        <p:tgtEl>
                                          <p:spTgt spid="39"/>
                                        </p:tgtEl>
                                      </p:cBhvr>
                                    </p:animEffect>
                                  </p:childTnLst>
                                </p:cTn>
                              </p:par>
                            </p:childTnLst>
                          </p:cTn>
                        </p:par>
                        <p:par>
                          <p:cTn id="83" fill="hold">
                            <p:stCondLst>
                              <p:cond delay="24500"/>
                            </p:stCondLst>
                            <p:childTnLst>
                              <p:par>
                                <p:cTn id="84" presetID="9" presetClass="entr" presetSubtype="0" fill="hold" nodeType="afterEffect">
                                  <p:stCondLst>
                                    <p:cond delay="1000"/>
                                  </p:stCondLst>
                                  <p:childTnLst>
                                    <p:set>
                                      <p:cBhvr>
                                        <p:cTn id="85" dur="1" fill="hold">
                                          <p:stCondLst>
                                            <p:cond delay="0"/>
                                          </p:stCondLst>
                                        </p:cTn>
                                        <p:tgtEl>
                                          <p:spTgt spid="40"/>
                                        </p:tgtEl>
                                        <p:attrNameLst>
                                          <p:attrName>style.visibility</p:attrName>
                                        </p:attrNameLst>
                                      </p:cBhvr>
                                      <p:to>
                                        <p:strVal val="visible"/>
                                      </p:to>
                                    </p:set>
                                    <p:animEffect transition="in" filter="dissolve">
                                      <p:cBhvr>
                                        <p:cTn id="86" dur="500"/>
                                        <p:tgtEl>
                                          <p:spTgt spid="40"/>
                                        </p:tgtEl>
                                      </p:cBhvr>
                                    </p:animEffect>
                                  </p:childTnLst>
                                </p:cTn>
                              </p:par>
                            </p:childTnLst>
                          </p:cTn>
                        </p:par>
                        <p:par>
                          <p:cTn id="87" fill="hold">
                            <p:stCondLst>
                              <p:cond delay="26000"/>
                            </p:stCondLst>
                            <p:childTnLst>
                              <p:par>
                                <p:cTn id="88" presetID="9" presetClass="entr" presetSubtype="0" fill="hold" nodeType="afterEffect">
                                  <p:stCondLst>
                                    <p:cond delay="1000"/>
                                  </p:stCondLst>
                                  <p:childTnLst>
                                    <p:set>
                                      <p:cBhvr>
                                        <p:cTn id="89" dur="1" fill="hold">
                                          <p:stCondLst>
                                            <p:cond delay="0"/>
                                          </p:stCondLst>
                                        </p:cTn>
                                        <p:tgtEl>
                                          <p:spTgt spid="41"/>
                                        </p:tgtEl>
                                        <p:attrNameLst>
                                          <p:attrName>style.visibility</p:attrName>
                                        </p:attrNameLst>
                                      </p:cBhvr>
                                      <p:to>
                                        <p:strVal val="visible"/>
                                      </p:to>
                                    </p:set>
                                    <p:animEffect transition="in" filter="dissolve">
                                      <p:cBhvr>
                                        <p:cTn id="90" dur="500"/>
                                        <p:tgtEl>
                                          <p:spTgt spid="41"/>
                                        </p:tgtEl>
                                      </p:cBhvr>
                                    </p:animEffect>
                                  </p:childTnLst>
                                </p:cTn>
                              </p:par>
                            </p:childTnLst>
                          </p:cTn>
                        </p:par>
                        <p:par>
                          <p:cTn id="91" fill="hold">
                            <p:stCondLst>
                              <p:cond delay="27500"/>
                            </p:stCondLst>
                            <p:childTnLst>
                              <p:par>
                                <p:cTn id="92" presetID="3" presetClass="entr" presetSubtype="10" fill="hold" grpId="0" nodeType="afterEffect">
                                  <p:stCondLst>
                                    <p:cond delay="500"/>
                                  </p:stCondLst>
                                  <p:childTnLst>
                                    <p:set>
                                      <p:cBhvr>
                                        <p:cTn id="93" dur="1" fill="hold">
                                          <p:stCondLst>
                                            <p:cond delay="0"/>
                                          </p:stCondLst>
                                        </p:cTn>
                                        <p:tgtEl>
                                          <p:spTgt spid="34"/>
                                        </p:tgtEl>
                                        <p:attrNameLst>
                                          <p:attrName>style.visibility</p:attrName>
                                        </p:attrNameLst>
                                      </p:cBhvr>
                                      <p:to>
                                        <p:strVal val="visible"/>
                                      </p:to>
                                    </p:set>
                                    <p:animEffect transition="in" filter="blinds(horizontal)">
                                      <p:cBhvr>
                                        <p:cTn id="94"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17" grpId="0"/>
      <p:bldP spid="18" grpId="0"/>
      <p:bldP spid="19" grpId="0"/>
      <p:bldP spid="21" grpId="0"/>
      <p:bldP spid="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7A36-ED30-0BF7-EE91-2A83B802B3AF}"/>
            </a:ext>
          </a:extLst>
        </p:cNvPr>
        <p:cNvGrpSpPr/>
        <p:nvPr/>
      </p:nvGrpSpPr>
      <p:grpSpPr>
        <a:xfrm>
          <a:off x="0" y="0"/>
          <a:ext cx="0" cy="0"/>
          <a:chOff x="0" y="0"/>
          <a:chExt cx="0" cy="0"/>
        </a:xfrm>
      </p:grpSpPr>
      <p:sp>
        <p:nvSpPr>
          <p:cNvPr id="32"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950976" y="529526"/>
            <a:ext cx="15388303"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Profit Power Ratio™ = Profit Leverage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17" name="TextBox 16"/>
          <p:cNvSpPr txBox="1"/>
          <p:nvPr/>
        </p:nvSpPr>
        <p:spPr>
          <a:xfrm>
            <a:off x="1019556" y="1301298"/>
            <a:ext cx="14264640" cy="430887"/>
          </a:xfrm>
          <a:prstGeom prst="rect">
            <a:avLst/>
          </a:prstGeom>
          <a:noFill/>
        </p:spPr>
        <p:txBody>
          <a:bodyPr wrap="square" lIns="45720" tIns="0" rIns="45720" bIns="0" anchor="t">
            <a:spAutoFit/>
          </a:bodyPr>
          <a:lstStyle/>
          <a:p>
            <a:pPr algn="l"/>
            <a:r>
              <a:rPr sz="2800" b="0" i="1" dirty="0">
                <a:solidFill>
                  <a:srgbClr val="303B4F"/>
                </a:solidFill>
                <a:latin typeface="League Spartan"/>
              </a:rPr>
              <a:t>Three uses of the ratio</a:t>
            </a:r>
          </a:p>
        </p:txBody>
      </p:sp>
      <p:grpSp>
        <p:nvGrpSpPr>
          <p:cNvPr id="4" name="Group 3">
            <a:extLst>
              <a:ext uri="{FF2B5EF4-FFF2-40B4-BE49-F238E27FC236}">
                <a16:creationId xmlns:a16="http://schemas.microsoft.com/office/drawing/2014/main" id="{2930A32A-7297-F902-CBF8-C34D07EDD3C6}"/>
              </a:ext>
            </a:extLst>
          </p:cNvPr>
          <p:cNvGrpSpPr/>
          <p:nvPr/>
        </p:nvGrpSpPr>
        <p:grpSpPr>
          <a:xfrm>
            <a:off x="1252330" y="2433148"/>
            <a:ext cx="4293704" cy="5232881"/>
            <a:chOff x="768626" y="1595594"/>
            <a:chExt cx="2862469" cy="3488587"/>
          </a:xfrm>
        </p:grpSpPr>
        <p:sp>
          <p:nvSpPr>
            <p:cNvPr id="6" name="Google Shape;266;p12">
              <a:extLst>
                <a:ext uri="{FF2B5EF4-FFF2-40B4-BE49-F238E27FC236}">
                  <a16:creationId xmlns:a16="http://schemas.microsoft.com/office/drawing/2014/main" id="{7FA22801-3F9B-ABAE-F9C4-1B058BFCA6FD}"/>
                </a:ext>
              </a:extLst>
            </p:cNvPr>
            <p:cNvSpPr txBox="1">
              <a:spLocks/>
            </p:cNvSpPr>
            <p:nvPr/>
          </p:nvSpPr>
          <p:spPr>
            <a:xfrm>
              <a:off x="768626" y="3316313"/>
              <a:ext cx="2862469"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a:solidFill>
                    <a:schemeClr val="tx1"/>
                  </a:solidFill>
                  <a:latin typeface="Montserrat" pitchFamily="2" charset="77"/>
                </a:rPr>
                <a:t>1- Track Progress.</a:t>
              </a:r>
            </a:p>
            <a:p>
              <a:pPr marL="19050" indent="-19050">
                <a:lnSpc>
                  <a:spcPct val="125000"/>
                </a:lnSpc>
                <a:spcBef>
                  <a:spcPts val="900"/>
                </a:spcBef>
                <a:buSzPts val="2400"/>
              </a:pPr>
              <a:r>
                <a:rPr lang="en-US" sz="2700" i="1">
                  <a:solidFill>
                    <a:schemeClr val="tx1"/>
                  </a:solidFill>
                  <a:latin typeface="Montserrat" pitchFamily="2" charset="77"/>
                </a:rPr>
                <a:t>Quarter-over-quarter gains = smart action compounding.</a:t>
              </a:r>
            </a:p>
            <a:p>
              <a:pPr marL="269082" indent="-269082"/>
              <a:endParaRPr lang="en-US" sz="2700">
                <a:solidFill>
                  <a:schemeClr val="tx1"/>
                </a:solidFill>
                <a:latin typeface="Montserrat" pitchFamily="2" charset="77"/>
              </a:endParaRPr>
            </a:p>
          </p:txBody>
        </p:sp>
        <p:pic>
          <p:nvPicPr>
            <p:cNvPr id="7" name="Picture 6">
              <a:extLst>
                <a:ext uri="{FF2B5EF4-FFF2-40B4-BE49-F238E27FC236}">
                  <a16:creationId xmlns:a16="http://schemas.microsoft.com/office/drawing/2014/main" id="{E683A640-00C1-0091-9028-96AAA0D1F802}"/>
                </a:ext>
              </a:extLst>
            </p:cNvPr>
            <p:cNvPicPr>
              <a:picLocks noChangeAspect="1"/>
            </p:cNvPicPr>
            <p:nvPr/>
          </p:nvPicPr>
          <p:blipFill>
            <a:blip r:embed="rId3"/>
            <a:stretch>
              <a:fillRect/>
            </a:stretch>
          </p:blipFill>
          <p:spPr>
            <a:xfrm>
              <a:off x="1228386" y="1595594"/>
              <a:ext cx="1942948" cy="1497543"/>
            </a:xfrm>
            <a:prstGeom prst="rect">
              <a:avLst/>
            </a:prstGeom>
          </p:spPr>
        </p:pic>
      </p:grpSp>
      <p:grpSp>
        <p:nvGrpSpPr>
          <p:cNvPr id="8" name="Group 7">
            <a:extLst>
              <a:ext uri="{FF2B5EF4-FFF2-40B4-BE49-F238E27FC236}">
                <a16:creationId xmlns:a16="http://schemas.microsoft.com/office/drawing/2014/main" id="{477BF452-41EE-74AF-D4DF-E13C0A3DB7C7}"/>
              </a:ext>
            </a:extLst>
          </p:cNvPr>
          <p:cNvGrpSpPr/>
          <p:nvPr/>
        </p:nvGrpSpPr>
        <p:grpSpPr>
          <a:xfrm>
            <a:off x="6886058" y="2673854"/>
            <a:ext cx="4827140" cy="4992174"/>
            <a:chOff x="4471271" y="1756065"/>
            <a:chExt cx="3218093" cy="3328116"/>
          </a:xfrm>
        </p:grpSpPr>
        <p:sp>
          <p:nvSpPr>
            <p:cNvPr id="9" name="Google Shape;266;p12">
              <a:extLst>
                <a:ext uri="{FF2B5EF4-FFF2-40B4-BE49-F238E27FC236}">
                  <a16:creationId xmlns:a16="http://schemas.microsoft.com/office/drawing/2014/main" id="{87F009DF-B681-EC95-F1FB-2B8001CE6677}"/>
                </a:ext>
              </a:extLst>
            </p:cNvPr>
            <p:cNvSpPr txBox="1">
              <a:spLocks/>
            </p:cNvSpPr>
            <p:nvPr/>
          </p:nvSpPr>
          <p:spPr>
            <a:xfrm>
              <a:off x="4471271" y="3316313"/>
              <a:ext cx="3218093"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dirty="0">
                  <a:solidFill>
                    <a:schemeClr val="tx1"/>
                  </a:solidFill>
                  <a:latin typeface="Montserrat" pitchFamily="2" charset="77"/>
                </a:rPr>
                <a:t>2- Decide on Spend.</a:t>
              </a:r>
            </a:p>
            <a:p>
              <a:pPr marL="19050" indent="-19050">
                <a:lnSpc>
                  <a:spcPct val="125000"/>
                </a:lnSpc>
                <a:spcBef>
                  <a:spcPts val="900"/>
                </a:spcBef>
                <a:buSzPts val="2400"/>
              </a:pPr>
              <a:r>
                <a:rPr lang="en-US" sz="2700" i="1" dirty="0">
                  <a:solidFill>
                    <a:schemeClr val="tx1"/>
                  </a:solidFill>
                  <a:latin typeface="Montserrat" pitchFamily="2" charset="77"/>
                </a:rPr>
                <a:t>Will the new OPEX grow GP faster than cost?</a:t>
              </a:r>
              <a:endParaRPr lang="en-US" sz="2700" dirty="0">
                <a:solidFill>
                  <a:schemeClr val="tx1"/>
                </a:solidFill>
                <a:latin typeface="Montserrat" pitchFamily="2" charset="77"/>
              </a:endParaRPr>
            </a:p>
          </p:txBody>
        </p:sp>
        <p:pic>
          <p:nvPicPr>
            <p:cNvPr id="10" name="Picture 9">
              <a:extLst>
                <a:ext uri="{FF2B5EF4-FFF2-40B4-BE49-F238E27FC236}">
                  <a16:creationId xmlns:a16="http://schemas.microsoft.com/office/drawing/2014/main" id="{19726FA0-6D31-171E-2297-EC8C2C95D79D}"/>
                </a:ext>
              </a:extLst>
            </p:cNvPr>
            <p:cNvPicPr>
              <a:picLocks noChangeAspect="1"/>
            </p:cNvPicPr>
            <p:nvPr/>
          </p:nvPicPr>
          <p:blipFill>
            <a:blip r:embed="rId4"/>
            <a:stretch>
              <a:fillRect/>
            </a:stretch>
          </p:blipFill>
          <p:spPr>
            <a:xfrm>
              <a:off x="5073862" y="1756065"/>
              <a:ext cx="2012911" cy="1319884"/>
            </a:xfrm>
            <a:prstGeom prst="rect">
              <a:avLst/>
            </a:prstGeom>
          </p:spPr>
        </p:pic>
      </p:grpSp>
      <p:grpSp>
        <p:nvGrpSpPr>
          <p:cNvPr id="11" name="Group 10">
            <a:extLst>
              <a:ext uri="{FF2B5EF4-FFF2-40B4-BE49-F238E27FC236}">
                <a16:creationId xmlns:a16="http://schemas.microsoft.com/office/drawing/2014/main" id="{4C9152EE-12EB-818E-4A82-264A792FB294}"/>
              </a:ext>
            </a:extLst>
          </p:cNvPr>
          <p:cNvGrpSpPr/>
          <p:nvPr/>
        </p:nvGrpSpPr>
        <p:grpSpPr>
          <a:xfrm>
            <a:off x="12896055" y="2849374"/>
            <a:ext cx="4068504" cy="4816655"/>
            <a:chOff x="8426331" y="1873078"/>
            <a:chExt cx="2712336" cy="3211103"/>
          </a:xfrm>
        </p:grpSpPr>
        <p:sp>
          <p:nvSpPr>
            <p:cNvPr id="12" name="Google Shape;266;p12">
              <a:extLst>
                <a:ext uri="{FF2B5EF4-FFF2-40B4-BE49-F238E27FC236}">
                  <a16:creationId xmlns:a16="http://schemas.microsoft.com/office/drawing/2014/main" id="{EF0B4FE7-EB2A-652A-EC58-5EA5371C307D}"/>
                </a:ext>
              </a:extLst>
            </p:cNvPr>
            <p:cNvSpPr txBox="1">
              <a:spLocks/>
            </p:cNvSpPr>
            <p:nvPr/>
          </p:nvSpPr>
          <p:spPr>
            <a:xfrm>
              <a:off x="8426331" y="3316313"/>
              <a:ext cx="2712336"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a:solidFill>
                    <a:schemeClr val="tx1"/>
                  </a:solidFill>
                  <a:latin typeface="Montserrat" pitchFamily="2" charset="77"/>
                </a:rPr>
                <a:t>3- Align the Team.</a:t>
              </a:r>
            </a:p>
            <a:p>
              <a:pPr marL="19050" indent="-19050">
                <a:lnSpc>
                  <a:spcPct val="125000"/>
                </a:lnSpc>
                <a:spcBef>
                  <a:spcPts val="900"/>
                </a:spcBef>
                <a:buSzPts val="2400"/>
              </a:pPr>
              <a:r>
                <a:rPr lang="en-US" sz="2700" i="1">
                  <a:solidFill>
                    <a:schemeClr val="tx1"/>
                  </a:solidFill>
                  <a:latin typeface="Montserrat" pitchFamily="2" charset="77"/>
                </a:rPr>
                <a:t>One number.                    Total focus.</a:t>
              </a:r>
              <a:endParaRPr lang="en-US" sz="2700">
                <a:solidFill>
                  <a:schemeClr val="tx1"/>
                </a:solidFill>
                <a:latin typeface="Montserrat" pitchFamily="2" charset="77"/>
              </a:endParaRPr>
            </a:p>
          </p:txBody>
        </p:sp>
        <p:pic>
          <p:nvPicPr>
            <p:cNvPr id="13" name="Picture 12">
              <a:extLst>
                <a:ext uri="{FF2B5EF4-FFF2-40B4-BE49-F238E27FC236}">
                  <a16:creationId xmlns:a16="http://schemas.microsoft.com/office/drawing/2014/main" id="{411308D1-D4C6-4B6E-3B96-219CFDF2E6AE}"/>
                </a:ext>
              </a:extLst>
            </p:cNvPr>
            <p:cNvPicPr>
              <a:picLocks noChangeAspect="1"/>
            </p:cNvPicPr>
            <p:nvPr/>
          </p:nvPicPr>
          <p:blipFill>
            <a:blip r:embed="rId5"/>
            <a:stretch>
              <a:fillRect/>
            </a:stretch>
          </p:blipFill>
          <p:spPr>
            <a:xfrm>
              <a:off x="8513972" y="1873078"/>
              <a:ext cx="2537054" cy="1078248"/>
            </a:xfrm>
            <a:prstGeom prst="rect">
              <a:avLst/>
            </a:prstGeom>
          </p:spPr>
        </p:pic>
      </p:grpSp>
      <p:grpSp>
        <p:nvGrpSpPr>
          <p:cNvPr id="15" name="Group 14">
            <a:extLst>
              <a:ext uri="{FF2B5EF4-FFF2-40B4-BE49-F238E27FC236}">
                <a16:creationId xmlns:a16="http://schemas.microsoft.com/office/drawing/2014/main" id="{97D27ED3-9F71-A1D9-9A83-8DB092AD2D5F}"/>
              </a:ext>
            </a:extLst>
          </p:cNvPr>
          <p:cNvGrpSpPr/>
          <p:nvPr/>
        </p:nvGrpSpPr>
        <p:grpSpPr>
          <a:xfrm>
            <a:off x="2804298" y="7924679"/>
            <a:ext cx="13115423" cy="1064087"/>
            <a:chOff x="2804298" y="7924679"/>
            <a:chExt cx="13115423" cy="1064087"/>
          </a:xfrm>
        </p:grpSpPr>
        <p:sp>
          <p:nvSpPr>
            <p:cNvPr id="14" name="Rounded Rectangle 13">
              <a:extLst>
                <a:ext uri="{FF2B5EF4-FFF2-40B4-BE49-F238E27FC236}">
                  <a16:creationId xmlns:a16="http://schemas.microsoft.com/office/drawing/2014/main" id="{584ED409-83BC-EB8E-C0DB-DB96CC8FEF2B}"/>
                </a:ext>
              </a:extLst>
            </p:cNvPr>
            <p:cNvSpPr/>
            <p:nvPr/>
          </p:nvSpPr>
          <p:spPr>
            <a:xfrm>
              <a:off x="2804298" y="7924679"/>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p:cNvSpPr txBox="1"/>
            <p:nvPr/>
          </p:nvSpPr>
          <p:spPr>
            <a:xfrm>
              <a:off x="3509121" y="7988630"/>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One number to rule them all.</a:t>
              </a:r>
            </a:p>
            <a:p>
              <a:pPr algn="ctr">
                <a:lnSpc>
                  <a:spcPct val="115000"/>
                </a:lnSpc>
              </a:pPr>
              <a:r>
                <a:rPr sz="2400" b="0" i="1" dirty="0">
                  <a:solidFill>
                    <a:srgbClr val="303B4F"/>
                  </a:solidFill>
                  <a:latin typeface="League Spartan"/>
                </a:rPr>
                <a:t>Alignment isn't accidental — it's designed.</a:t>
              </a:r>
            </a:p>
          </p:txBody>
        </p:sp>
      </p:grpSp>
      <p:pic>
        <p:nvPicPr>
          <p:cNvPr id="33" name="Picture 32" descr="texas_mark_light.png"/>
          <p:cNvPicPr>
            <a:picLocks noChangeAspect="1"/>
          </p:cNvPicPr>
          <p:nvPr/>
        </p:nvPicPr>
        <p:blipFill>
          <a:blip r:embed="rId6"/>
          <a:stretch>
            <a:fillRect/>
          </a:stretch>
        </p:blipFill>
        <p:spPr>
          <a:xfrm>
            <a:off x="16687800" y="9336024"/>
            <a:ext cx="649224" cy="612648"/>
          </a:xfrm>
          <a:prstGeom prst="rect">
            <a:avLst/>
          </a:prstGeom>
        </p:spPr>
      </p:pic>
    </p:spTree>
    <p:extLst>
      <p:ext uri="{BB962C8B-B14F-4D97-AF65-F5344CB8AC3E}">
        <p14:creationId xmlns:p14="http://schemas.microsoft.com/office/powerpoint/2010/main" val="345026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1000"/>
                            </p:stCondLst>
                            <p:childTnLst>
                              <p:par>
                                <p:cTn id="8" presetID="9" presetClass="entr" presetSubtype="0" fill="hold" grpId="0" nodeType="afterEffect">
                                  <p:stCondLst>
                                    <p:cond delay="50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1000"/>
                                        <p:tgtEl>
                                          <p:spTgt spid="17"/>
                                        </p:tgtEl>
                                      </p:cBhvr>
                                    </p:animEffect>
                                  </p:childTnLst>
                                </p:cTn>
                              </p:par>
                            </p:childTnLst>
                          </p:cTn>
                        </p:par>
                        <p:par>
                          <p:cTn id="11" fill="hold">
                            <p:stCondLst>
                              <p:cond delay="2500"/>
                            </p:stCondLst>
                            <p:childTnLst>
                              <p:par>
                                <p:cTn id="12" presetID="9" presetClass="entr" presetSubtype="0" fill="hold" nodeType="after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1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50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par>
                          <p:cTn id="25" fill="hold">
                            <p:stCondLst>
                              <p:cond delay="1500"/>
                            </p:stCondLst>
                            <p:childTnLst>
                              <p:par>
                                <p:cTn id="26" presetID="3" presetClass="entr" presetSubtype="10" fill="hold" nodeType="afterEffect">
                                  <p:stCondLst>
                                    <p:cond delay="50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C00B-19B7-B06F-58D2-25E6C71EE59D}"/>
            </a:ext>
          </a:extLst>
        </p:cNvPr>
        <p:cNvGrpSpPr/>
        <p:nvPr/>
      </p:nvGrpSpPr>
      <p:grpSpPr>
        <a:xfrm>
          <a:off x="0" y="0"/>
          <a:ext cx="0" cy="0"/>
          <a:chOff x="0" y="0"/>
          <a:chExt cx="0" cy="0"/>
        </a:xfrm>
      </p:grpSpPr>
      <p:sp>
        <p:nvSpPr>
          <p:cNvPr id="18"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Profit Power Ratio™—  3 Minutes</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lnSpcReduction="10000"/>
          </a:bodyPr>
          <a:lstStyle/>
          <a:p>
            <a:pPr>
              <a:spcAft>
                <a:spcPts val="2400"/>
              </a:spcAft>
              <a:buClr>
                <a:srgbClr val="FF7900"/>
              </a:buClr>
              <a:buSzPct val="110000"/>
            </a:pPr>
            <a:r>
              <a:rPr lang="en-US" sz="3600" b="1" dirty="0">
                <a:solidFill>
                  <a:srgbClr val="142233"/>
                </a:solidFill>
                <a:latin typeface="League Spartan" pitchFamily="2" charset="77"/>
                <a:ea typeface="Arial" pitchFamily="34" charset="-122"/>
                <a:cs typeface="Arial" pitchFamily="34" charset="-120"/>
              </a:rPr>
              <a:t>Handout, page 1 —</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Your Gross Profit ÷ your OPEX — this year and last</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Handout, page 1 — calculate both</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Assess:</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Above 1.0 — </a:t>
            </a:r>
            <a:r>
              <a:rPr lang="en-US" sz="3200" b="1" dirty="0">
                <a:solidFill>
                  <a:srgbClr val="00B050"/>
                </a:solidFill>
                <a:latin typeface="League Spartan" pitchFamily="2" charset="77"/>
                <a:ea typeface="Arial" pitchFamily="34" charset="-122"/>
                <a:cs typeface="Arial" pitchFamily="34" charset="-120"/>
              </a:rPr>
              <a:t>winning.   </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Around 1.0 — </a:t>
            </a:r>
            <a:r>
              <a:rPr lang="en-US" sz="3200" b="1" dirty="0">
                <a:solidFill>
                  <a:schemeClr val="accent4">
                    <a:lumMod val="60000"/>
                    <a:lumOff val="40000"/>
                  </a:schemeClr>
                </a:solidFill>
                <a:latin typeface="League Spartan" pitchFamily="2" charset="77"/>
                <a:ea typeface="Arial" pitchFamily="34" charset="-122"/>
                <a:cs typeface="Arial" pitchFamily="34" charset="-120"/>
              </a:rPr>
              <a:t>surviving.   </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Below 1.0 — </a:t>
            </a:r>
            <a:r>
              <a:rPr lang="en-US" sz="3200" b="1" dirty="0">
                <a:solidFill>
                  <a:srgbClr val="FF0000"/>
                </a:solidFill>
                <a:latin typeface="League Spartan" pitchFamily="2" charset="77"/>
                <a:ea typeface="Arial" pitchFamily="34" charset="-122"/>
                <a:cs typeface="Arial" pitchFamily="34" charset="-120"/>
              </a:rPr>
              <a:t>losing.</a:t>
            </a:r>
          </a:p>
        </p:txBody>
      </p:sp>
      <p:pic>
        <p:nvPicPr>
          <p:cNvPr id="9" name="Picture 8">
            <a:extLst>
              <a:ext uri="{FF2B5EF4-FFF2-40B4-BE49-F238E27FC236}">
                <a16:creationId xmlns:a16="http://schemas.microsoft.com/office/drawing/2014/main" id="{437E9F9C-B26A-1A0D-6A2E-2C6CF4DA60E6}"/>
              </a:ext>
            </a:extLst>
          </p:cNvPr>
          <p:cNvPicPr>
            <a:picLocks noChangeAspect="1"/>
          </p:cNvPicPr>
          <p:nvPr/>
        </p:nvPicPr>
        <p:blipFill>
          <a:blip r:embed="rId3"/>
          <a:stretch>
            <a:fillRect/>
          </a:stretch>
        </p:blipFill>
        <p:spPr>
          <a:xfrm>
            <a:off x="952453" y="2415942"/>
            <a:ext cx="8677333" cy="6651911"/>
          </a:xfrm>
          <a:prstGeom prst="rect">
            <a:avLst/>
          </a:prstGeom>
          <a:ln>
            <a:solidFill>
              <a:schemeClr val="bg1">
                <a:lumMod val="50000"/>
              </a:schemeClr>
            </a:solidFill>
          </a:ln>
        </p:spPr>
      </p:pic>
      <p:sp>
        <p:nvSpPr>
          <p:cNvPr id="10" name="Rounded Rectangle 9">
            <a:extLst>
              <a:ext uri="{FF2B5EF4-FFF2-40B4-BE49-F238E27FC236}">
                <a16:creationId xmlns:a16="http://schemas.microsoft.com/office/drawing/2014/main" id="{305C8AAF-7A04-180B-224D-606D0FCDEFC2}"/>
              </a:ext>
            </a:extLst>
          </p:cNvPr>
          <p:cNvSpPr/>
          <p:nvPr/>
        </p:nvSpPr>
        <p:spPr>
          <a:xfrm>
            <a:off x="6686549" y="3143250"/>
            <a:ext cx="3286125" cy="4226759"/>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7E78E3C-5DBC-17CF-3E53-70A3534E8848}"/>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dirty="0">
                <a:solidFill>
                  <a:srgbClr val="FFFFFF"/>
                </a:solidFill>
                <a:latin typeface="League Spartan"/>
              </a:rPr>
              <a:t>Handout · Pg </a:t>
            </a:r>
            <a:r>
              <a:rPr lang="en-US" sz="1200" b="1" dirty="0">
                <a:solidFill>
                  <a:srgbClr val="FFFFFF"/>
                </a:solidFill>
                <a:latin typeface="League Spartan"/>
              </a:rPr>
              <a:t>1</a:t>
            </a:r>
            <a:endParaRPr sz="1200" b="1" dirty="0">
              <a:solidFill>
                <a:srgbClr val="FFFFFF"/>
              </a:solidFill>
              <a:latin typeface="League Spartan"/>
            </a:endParaRPr>
          </a:p>
        </p:txBody>
      </p:sp>
      <p:pic>
        <p:nvPicPr>
          <p:cNvPr id="19" name="Picture 18" descr="texas_mark_light.png"/>
          <p:cNvPicPr>
            <a:picLocks noChangeAspect="1"/>
          </p:cNvPicPr>
          <p:nvPr/>
        </p:nvPicPr>
        <p:blipFill>
          <a:blip r:embed="rId4"/>
          <a:stretch>
            <a:fillRect/>
          </a:stretch>
        </p:blipFill>
        <p:spPr>
          <a:xfrm>
            <a:off x="16687858" y="9334388"/>
            <a:ext cx="647649" cy="609744"/>
          </a:xfrm>
          <a:prstGeom prst="rect">
            <a:avLst/>
          </a:prstGeom>
        </p:spPr>
      </p:pic>
      <p:sp>
        <p:nvSpPr>
          <p:cNvPr id="5" name="TextBox 4">
            <a:extLst>
              <a:ext uri="{FF2B5EF4-FFF2-40B4-BE49-F238E27FC236}">
                <a16:creationId xmlns:a16="http://schemas.microsoft.com/office/drawing/2014/main" id="{A58A3519-BC59-D777-B376-6A6EFBA7654C}"/>
              </a:ext>
            </a:extLst>
          </p:cNvPr>
          <p:cNvSpPr txBox="1"/>
          <p:nvPr/>
        </p:nvSpPr>
        <p:spPr>
          <a:xfrm>
            <a:off x="11008882" y="8302972"/>
            <a:ext cx="4639412" cy="584775"/>
          </a:xfrm>
          <a:prstGeom prst="rect">
            <a:avLst/>
          </a:prstGeom>
          <a:noFill/>
        </p:spPr>
        <p:txBody>
          <a:bodyPr wrap="none" rtlCol="0">
            <a:spAutoFit/>
          </a:bodyPr>
          <a:lstStyle/>
          <a:p>
            <a:r>
              <a:rPr lang="en-US" sz="3200" b="1" dirty="0">
                <a:solidFill>
                  <a:srgbClr val="00B050"/>
                </a:solidFill>
                <a:latin typeface="Montserrat" pitchFamily="2" charset="77"/>
              </a:rPr>
              <a:t>How Are You Doing?</a:t>
            </a:r>
          </a:p>
        </p:txBody>
      </p:sp>
    </p:spTree>
    <p:extLst>
      <p:ext uri="{BB962C8B-B14F-4D97-AF65-F5344CB8AC3E}">
        <p14:creationId xmlns:p14="http://schemas.microsoft.com/office/powerpoint/2010/main" val="302971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1000"/>
                            </p:stCondLst>
                            <p:childTnLst>
                              <p:par>
                                <p:cTn id="11" presetID="5" presetClass="entr" presetSubtype="10" fill="hold" nodeType="after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checkerboard(across)">
                                      <p:cBhvr>
                                        <p:cTn id="13" dur="1000"/>
                                        <p:tgtEl>
                                          <p:spTgt spid="9"/>
                                        </p:tgtEl>
                                      </p:cBhvr>
                                    </p:animEffect>
                                  </p:childTnLst>
                                </p:cTn>
                              </p:par>
                            </p:childTnLst>
                          </p:cTn>
                        </p:par>
                        <p:par>
                          <p:cTn id="14" fill="hold">
                            <p:stCondLst>
                              <p:cond delay="2500"/>
                            </p:stCondLst>
                            <p:childTnLst>
                              <p:par>
                                <p:cTn id="15" presetID="1" presetClass="entr" presetSubtype="0" fill="hold" grpId="0" nodeType="afterEffect">
                                  <p:stCondLst>
                                    <p:cond delay="50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100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1000"/>
                                  </p:stCondLst>
                                  <p:childTnLst>
                                    <p:set>
                                      <p:cBhvr>
                                        <p:cTn id="2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1000"/>
                                  </p:stCondLst>
                                  <p:childTnLst>
                                    <p:set>
                                      <p:cBhvr>
                                        <p:cTn id="2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1000"/>
                                  </p:stCondLst>
                                  <p:childTnLst>
                                    <p:set>
                                      <p:cBhvr>
                                        <p:cTn id="3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1000"/>
                                  </p:stCondLst>
                                  <p:childTnLst>
                                    <p:set>
                                      <p:cBhvr>
                                        <p:cTn id="3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1000"/>
                                  </p:stCondLst>
                                  <p:childTnLst>
                                    <p:set>
                                      <p:cBhvr>
                                        <p:cTn id="4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1000"/>
                                  </p:stCondLst>
                                  <p:childTnLst>
                                    <p:set>
                                      <p:cBhvr>
                                        <p:cTn id="44" dur="1" fill="hold">
                                          <p:stCondLst>
                                            <p:cond delay="0"/>
                                          </p:stCondLst>
                                        </p:cTn>
                                        <p:tgtEl>
                                          <p:spTgt spid="17">
                                            <p:txEl>
                                              <p:pRg st="6" end="6"/>
                                            </p:txEl>
                                          </p:spTgt>
                                        </p:tgtEl>
                                        <p:attrNameLst>
                                          <p:attrName>style.visibility</p:attrName>
                                        </p:attrNameLst>
                                      </p:cBhvr>
                                      <p:to>
                                        <p:strVal val="visible"/>
                                      </p:to>
                                    </p:set>
                                  </p:childTnLst>
                                </p:cTn>
                              </p:par>
                            </p:childTnLst>
                          </p:cTn>
                        </p:par>
                        <p:par>
                          <p:cTn id="45" fill="hold">
                            <p:stCondLst>
                              <p:cond delay="1000"/>
                            </p:stCondLst>
                            <p:childTnLst>
                              <p:par>
                                <p:cTn id="46" presetID="9" presetClass="entr" presetSubtype="0" fill="hold" grpId="0" nodeType="afterEffect">
                                  <p:stCondLst>
                                    <p:cond delay="500"/>
                                  </p:stCondLst>
                                  <p:childTnLst>
                                    <p:set>
                                      <p:cBhvr>
                                        <p:cTn id="47" dur="1" fill="hold">
                                          <p:stCondLst>
                                            <p:cond delay="0"/>
                                          </p:stCondLst>
                                        </p:cTn>
                                        <p:tgtEl>
                                          <p:spTgt spid="5"/>
                                        </p:tgtEl>
                                        <p:attrNameLst>
                                          <p:attrName>style.visibility</p:attrName>
                                        </p:attrNameLst>
                                      </p:cBhvr>
                                      <p:to>
                                        <p:strVal val="visible"/>
                                      </p:to>
                                    </p:set>
                                    <p:animEffect transition="in" filter="dissolve">
                                      <p:cBhvr>
                                        <p:cTn id="4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4" grpId="0" animBg="1"/>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960120" y="627296"/>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PROFIT POWER RATIO</a:t>
            </a:r>
          </a:p>
        </p:txBody>
      </p:sp>
      <p:sp>
        <p:nvSpPr>
          <p:cNvPr id="3" name="TextBox 2"/>
          <p:cNvSpPr txBox="1"/>
          <p:nvPr/>
        </p:nvSpPr>
        <p:spPr>
          <a:xfrm>
            <a:off x="960120" y="1251210"/>
            <a:ext cx="16322040" cy="692497"/>
          </a:xfrm>
          <a:prstGeom prst="rect">
            <a:avLst/>
          </a:prstGeom>
          <a:noFill/>
        </p:spPr>
        <p:txBody>
          <a:bodyPr wrap="square" lIns="0" tIns="0" rIns="0" bIns="0" anchor="t">
            <a:spAutoFit/>
          </a:bodyPr>
          <a:lstStyle/>
          <a:p>
            <a:pPr algn="l">
              <a:lnSpc>
                <a:spcPct val="100000"/>
              </a:lnSpc>
            </a:pPr>
            <a:r>
              <a:rPr sz="4500" b="1" dirty="0">
                <a:latin typeface="League Spartan"/>
              </a:rPr>
              <a:t>One gauge, one trend, every page.</a:t>
            </a:r>
          </a:p>
        </p:txBody>
      </p:sp>
      <p:grpSp>
        <p:nvGrpSpPr>
          <p:cNvPr id="61" name="Group 60">
            <a:extLst>
              <a:ext uri="{FF2B5EF4-FFF2-40B4-BE49-F238E27FC236}">
                <a16:creationId xmlns:a16="http://schemas.microsoft.com/office/drawing/2014/main" id="{C3FB1F7C-5A8F-04FB-FDC6-CAF48CA97FD4}"/>
              </a:ext>
            </a:extLst>
          </p:cNvPr>
          <p:cNvGrpSpPr/>
          <p:nvPr/>
        </p:nvGrpSpPr>
        <p:grpSpPr>
          <a:xfrm>
            <a:off x="960120" y="2383149"/>
            <a:ext cx="5897880" cy="5102352"/>
            <a:chOff x="960120" y="2383149"/>
            <a:chExt cx="5897880" cy="5102352"/>
          </a:xfrm>
        </p:grpSpPr>
        <p:sp>
          <p:nvSpPr>
            <p:cNvPr id="5" name="Rounded Rectangle 4"/>
            <p:cNvSpPr/>
            <p:nvPr/>
          </p:nvSpPr>
          <p:spPr>
            <a:xfrm>
              <a:off x="960120" y="2383149"/>
              <a:ext cx="5897880"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399032" y="2794629"/>
              <a:ext cx="4937760" cy="242374"/>
            </a:xfrm>
            <a:prstGeom prst="rect">
              <a:avLst/>
            </a:prstGeom>
            <a:noFill/>
          </p:spPr>
          <p:txBody>
            <a:bodyPr wrap="square" lIns="0" tIns="0" rIns="0" bIns="0" anchor="t">
              <a:spAutoFit/>
            </a:bodyPr>
            <a:lstStyle/>
            <a:p>
              <a:pPr algn="l">
                <a:lnSpc>
                  <a:spcPct val="100000"/>
                </a:lnSpc>
              </a:pPr>
              <a:r>
                <a:rPr sz="1575" b="1" spc="300">
                  <a:solidFill>
                    <a:srgbClr val="303B4F"/>
                  </a:solidFill>
                  <a:latin typeface="League Spartan"/>
                </a:rPr>
                <a:t>THE GAUGE</a:t>
              </a:r>
            </a:p>
          </p:txBody>
        </p:sp>
        <p:sp>
          <p:nvSpPr>
            <p:cNvPr id="7" name="Oval 6"/>
            <p:cNvSpPr/>
            <p:nvPr/>
          </p:nvSpPr>
          <p:spPr>
            <a:xfrm>
              <a:off x="2091690" y="544867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Oval 7"/>
            <p:cNvSpPr/>
            <p:nvPr/>
          </p:nvSpPr>
          <p:spPr>
            <a:xfrm>
              <a:off x="2095968" y="532620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2108777" y="520433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Oval 9"/>
            <p:cNvSpPr/>
            <p:nvPr/>
          </p:nvSpPr>
          <p:spPr>
            <a:xfrm>
              <a:off x="2130056" y="508365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Oval 10"/>
            <p:cNvSpPr/>
            <p:nvPr/>
          </p:nvSpPr>
          <p:spPr>
            <a:xfrm>
              <a:off x="2159702" y="4964753"/>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2197569" y="4848207"/>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2243475" y="473458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Oval 13"/>
            <p:cNvSpPr/>
            <p:nvPr/>
          </p:nvSpPr>
          <p:spPr>
            <a:xfrm>
              <a:off x="2297193" y="462444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2358465" y="4518323"/>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Oval 15"/>
            <p:cNvSpPr/>
            <p:nvPr/>
          </p:nvSpPr>
          <p:spPr>
            <a:xfrm>
              <a:off x="2426990" y="4416731"/>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Oval 16"/>
            <p:cNvSpPr/>
            <p:nvPr/>
          </p:nvSpPr>
          <p:spPr>
            <a:xfrm>
              <a:off x="2502435" y="432016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2584431" y="4229099"/>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2672582" y="414397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Oval 19"/>
            <p:cNvSpPr/>
            <p:nvPr/>
          </p:nvSpPr>
          <p:spPr>
            <a:xfrm>
              <a:off x="2766455" y="406520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2865593" y="399317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Oval 21"/>
            <p:cNvSpPr/>
            <p:nvPr/>
          </p:nvSpPr>
          <p:spPr>
            <a:xfrm>
              <a:off x="2969516" y="3928239"/>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Oval 22"/>
            <p:cNvSpPr/>
            <p:nvPr/>
          </p:nvSpPr>
          <p:spPr>
            <a:xfrm>
              <a:off x="3077714" y="387070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Oval 23"/>
            <p:cNvSpPr/>
            <p:nvPr/>
          </p:nvSpPr>
          <p:spPr>
            <a:xfrm>
              <a:off x="3189662" y="382086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3304814" y="377895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Oval 25"/>
            <p:cNvSpPr/>
            <p:nvPr/>
          </p:nvSpPr>
          <p:spPr>
            <a:xfrm>
              <a:off x="3422609" y="3745176"/>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3542474" y="3719699"/>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Oval 27"/>
            <p:cNvSpPr/>
            <p:nvPr/>
          </p:nvSpPr>
          <p:spPr>
            <a:xfrm>
              <a:off x="3663824" y="3702644"/>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Oval 28"/>
            <p:cNvSpPr/>
            <p:nvPr/>
          </p:nvSpPr>
          <p:spPr>
            <a:xfrm>
              <a:off x="3786068" y="3694095"/>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Oval 29"/>
            <p:cNvSpPr/>
            <p:nvPr/>
          </p:nvSpPr>
          <p:spPr>
            <a:xfrm>
              <a:off x="3908609" y="3694095"/>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4030853" y="3702644"/>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Oval 31"/>
            <p:cNvSpPr/>
            <p:nvPr/>
          </p:nvSpPr>
          <p:spPr>
            <a:xfrm>
              <a:off x="4152203" y="371969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4272068" y="374517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Oval 33"/>
            <p:cNvSpPr/>
            <p:nvPr/>
          </p:nvSpPr>
          <p:spPr>
            <a:xfrm>
              <a:off x="4389863" y="377895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5" name="Oval 34"/>
            <p:cNvSpPr/>
            <p:nvPr/>
          </p:nvSpPr>
          <p:spPr>
            <a:xfrm>
              <a:off x="4505015" y="382086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Oval 35"/>
            <p:cNvSpPr/>
            <p:nvPr/>
          </p:nvSpPr>
          <p:spPr>
            <a:xfrm>
              <a:off x="4616963" y="387070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4725162" y="392823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Oval 37"/>
            <p:cNvSpPr/>
            <p:nvPr/>
          </p:nvSpPr>
          <p:spPr>
            <a:xfrm>
              <a:off x="4829084" y="399317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928222" y="406520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Oval 39"/>
            <p:cNvSpPr/>
            <p:nvPr/>
          </p:nvSpPr>
          <p:spPr>
            <a:xfrm>
              <a:off x="5022095" y="414397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Oval 40"/>
            <p:cNvSpPr/>
            <p:nvPr/>
          </p:nvSpPr>
          <p:spPr>
            <a:xfrm>
              <a:off x="5110245" y="422909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Oval 41"/>
            <p:cNvSpPr/>
            <p:nvPr/>
          </p:nvSpPr>
          <p:spPr>
            <a:xfrm>
              <a:off x="5192241" y="432016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5267687" y="4416731"/>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Oval 43"/>
            <p:cNvSpPr/>
            <p:nvPr/>
          </p:nvSpPr>
          <p:spPr>
            <a:xfrm>
              <a:off x="5336211" y="4518323"/>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5397483" y="462444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Oval 45"/>
            <p:cNvSpPr/>
            <p:nvPr/>
          </p:nvSpPr>
          <p:spPr>
            <a:xfrm>
              <a:off x="5451201" y="473458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5497107" y="4848207"/>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Oval 47"/>
            <p:cNvSpPr/>
            <p:nvPr/>
          </p:nvSpPr>
          <p:spPr>
            <a:xfrm>
              <a:off x="5534975" y="4964753"/>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5564621" y="508365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Oval 49"/>
            <p:cNvSpPr/>
            <p:nvPr/>
          </p:nvSpPr>
          <p:spPr>
            <a:xfrm>
              <a:off x="5585900" y="520433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598708" y="532620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Oval 51"/>
            <p:cNvSpPr/>
            <p:nvPr/>
          </p:nvSpPr>
          <p:spPr>
            <a:xfrm>
              <a:off x="5602986" y="544867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cxnSp>
          <p:nvCxnSpPr>
            <p:cNvPr id="53" name="Connector 52"/>
            <p:cNvCxnSpPr/>
            <p:nvPr/>
          </p:nvCxnSpPr>
          <p:spPr>
            <a:xfrm flipV="1">
              <a:off x="3909060" y="4371917"/>
              <a:ext cx="625884" cy="1138479"/>
            </a:xfrm>
            <a:prstGeom prst="line">
              <a:avLst/>
            </a:prstGeom>
            <a:ln w="50800">
              <a:solidFill>
                <a:srgbClr val="142233"/>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3771900" y="5373236"/>
              <a:ext cx="274320" cy="274320"/>
            </a:xfrm>
            <a:prstGeom prst="ellipse">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960120" y="5757284"/>
              <a:ext cx="5897880" cy="1015663"/>
            </a:xfrm>
            <a:prstGeom prst="rect">
              <a:avLst/>
            </a:prstGeom>
            <a:noFill/>
          </p:spPr>
          <p:txBody>
            <a:bodyPr wrap="square" lIns="0" tIns="0" rIns="0" bIns="0" anchor="t">
              <a:spAutoFit/>
            </a:bodyPr>
            <a:lstStyle/>
            <a:p>
              <a:pPr algn="ctr">
                <a:lnSpc>
                  <a:spcPct val="100000"/>
                </a:lnSpc>
              </a:pPr>
              <a:r>
                <a:rPr sz="6600" b="1">
                  <a:solidFill>
                    <a:srgbClr val="142233"/>
                  </a:solidFill>
                  <a:latin typeface="League Spartan"/>
                </a:rPr>
                <a:t>1.42</a:t>
              </a:r>
            </a:p>
          </p:txBody>
        </p:sp>
        <p:sp>
          <p:nvSpPr>
            <p:cNvPr id="56" name="TextBox 55"/>
            <p:cNvSpPr txBox="1"/>
            <p:nvPr/>
          </p:nvSpPr>
          <p:spPr>
            <a:xfrm>
              <a:off x="960120" y="6689972"/>
              <a:ext cx="5897880" cy="276999"/>
            </a:xfrm>
            <a:prstGeom prst="rect">
              <a:avLst/>
            </a:prstGeom>
            <a:noFill/>
          </p:spPr>
          <p:txBody>
            <a:bodyPr wrap="square" lIns="0" tIns="0" rIns="0" bIns="0" anchor="t">
              <a:spAutoFit/>
            </a:bodyPr>
            <a:lstStyle/>
            <a:p>
              <a:pPr algn="ctr">
                <a:lnSpc>
                  <a:spcPct val="100000"/>
                </a:lnSpc>
              </a:pPr>
              <a:r>
                <a:rPr b="1">
                  <a:solidFill>
                    <a:srgbClr val="1F9E66"/>
                  </a:solidFill>
                  <a:latin typeface="League Spartan"/>
                </a:rPr>
                <a:t>above 1.0 · getting stronger</a:t>
              </a:r>
            </a:p>
          </p:txBody>
        </p:sp>
        <p:sp>
          <p:nvSpPr>
            <p:cNvPr id="57" name="TextBox 56"/>
            <p:cNvSpPr txBox="1"/>
            <p:nvPr/>
          </p:nvSpPr>
          <p:spPr>
            <a:xfrm>
              <a:off x="1577340" y="5537828"/>
              <a:ext cx="822960" cy="219291"/>
            </a:xfrm>
            <a:prstGeom prst="rect">
              <a:avLst/>
            </a:prstGeom>
            <a:noFill/>
          </p:spPr>
          <p:txBody>
            <a:bodyPr wrap="square" lIns="0" tIns="0" rIns="0" bIns="0" anchor="t">
              <a:spAutoFit/>
            </a:bodyPr>
            <a:lstStyle/>
            <a:p>
              <a:pPr algn="l">
                <a:lnSpc>
                  <a:spcPct val="100000"/>
                </a:lnSpc>
              </a:pPr>
              <a:r>
                <a:rPr sz="1425">
                  <a:solidFill>
                    <a:srgbClr val="303B4F"/>
                  </a:solidFill>
                  <a:latin typeface="League Spartan"/>
                </a:rPr>
                <a:t>0.5</a:t>
              </a:r>
            </a:p>
          </p:txBody>
        </p:sp>
        <p:sp>
          <p:nvSpPr>
            <p:cNvPr id="58" name="TextBox 57"/>
            <p:cNvSpPr txBox="1"/>
            <p:nvPr/>
          </p:nvSpPr>
          <p:spPr>
            <a:xfrm>
              <a:off x="5458968" y="5537828"/>
              <a:ext cx="822960" cy="219291"/>
            </a:xfrm>
            <a:prstGeom prst="rect">
              <a:avLst/>
            </a:prstGeom>
            <a:noFill/>
          </p:spPr>
          <p:txBody>
            <a:bodyPr wrap="square" lIns="0" tIns="0" rIns="0" bIns="0" anchor="t">
              <a:spAutoFit/>
            </a:bodyPr>
            <a:lstStyle/>
            <a:p>
              <a:pPr algn="r">
                <a:lnSpc>
                  <a:spcPct val="100000"/>
                </a:lnSpc>
              </a:pPr>
              <a:r>
                <a:rPr sz="1425">
                  <a:solidFill>
                    <a:srgbClr val="303B4F"/>
                  </a:solidFill>
                  <a:latin typeface="League Spartan"/>
                </a:rPr>
                <a:t>2.0</a:t>
              </a:r>
            </a:p>
          </p:txBody>
        </p:sp>
      </p:grpSp>
      <p:sp>
        <p:nvSpPr>
          <p:cNvPr id="76" name="TextBox 75"/>
          <p:cNvSpPr txBox="1"/>
          <p:nvPr/>
        </p:nvSpPr>
        <p:spPr>
          <a:xfrm>
            <a:off x="13441680" y="2254046"/>
            <a:ext cx="3771900" cy="415498"/>
          </a:xfrm>
          <a:prstGeom prst="rect">
            <a:avLst/>
          </a:prstGeom>
          <a:noFill/>
        </p:spPr>
        <p:txBody>
          <a:bodyPr wrap="square" lIns="0" tIns="0" rIns="0" bIns="0" anchor="t">
            <a:spAutoFit/>
          </a:bodyPr>
          <a:lstStyle/>
          <a:p>
            <a:pPr algn="l">
              <a:lnSpc>
                <a:spcPct val="100000"/>
              </a:lnSpc>
            </a:pPr>
            <a:r>
              <a:rPr sz="2700" b="1" dirty="0">
                <a:latin typeface="League Spartan"/>
              </a:rPr>
              <a:t>What's on it</a:t>
            </a:r>
          </a:p>
        </p:txBody>
      </p:sp>
      <p:grpSp>
        <p:nvGrpSpPr>
          <p:cNvPr id="63" name="Group 62">
            <a:extLst>
              <a:ext uri="{FF2B5EF4-FFF2-40B4-BE49-F238E27FC236}">
                <a16:creationId xmlns:a16="http://schemas.microsoft.com/office/drawing/2014/main" id="{16F6E881-9CF8-0059-F688-8A04430E0F6C}"/>
              </a:ext>
            </a:extLst>
          </p:cNvPr>
          <p:cNvGrpSpPr/>
          <p:nvPr/>
        </p:nvGrpSpPr>
        <p:grpSpPr>
          <a:xfrm>
            <a:off x="13715257" y="2859181"/>
            <a:ext cx="3771900" cy="950420"/>
            <a:chOff x="13715257" y="2859181"/>
            <a:chExt cx="3771900" cy="950420"/>
          </a:xfrm>
        </p:grpSpPr>
        <p:sp>
          <p:nvSpPr>
            <p:cNvPr id="77" name="TextBox 76"/>
            <p:cNvSpPr txBox="1"/>
            <p:nvPr/>
          </p:nvSpPr>
          <p:spPr>
            <a:xfrm>
              <a:off x="13715257" y="2859181"/>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Always visible</a:t>
              </a:r>
            </a:p>
          </p:txBody>
        </p:sp>
        <p:sp>
          <p:nvSpPr>
            <p:cNvPr id="78" name="TextBox 77"/>
            <p:cNvSpPr txBox="1"/>
            <p:nvPr/>
          </p:nvSpPr>
          <p:spPr>
            <a:xfrm>
              <a:off x="13715257" y="3197510"/>
              <a:ext cx="3771900" cy="612091"/>
            </a:xfrm>
            <a:prstGeom prst="rect">
              <a:avLst/>
            </a:prstGeom>
            <a:noFill/>
          </p:spPr>
          <p:txBody>
            <a:bodyPr wrap="square" lIns="0" tIns="0" rIns="0" bIns="0" anchor="t">
              <a:spAutoFit/>
            </a:bodyPr>
            <a:lstStyle/>
            <a:p>
              <a:pPr algn="l">
                <a:lnSpc>
                  <a:spcPct val="120000"/>
                </a:lnSpc>
              </a:pPr>
              <a:r>
                <a:rPr sz="1725" dirty="0">
                  <a:solidFill>
                    <a:srgbClr val="303B4F"/>
                  </a:solidFill>
                  <a:latin typeface="League Spartan"/>
                </a:rPr>
                <a:t>Header of every page — leader, dashboard, Atlas.</a:t>
              </a:r>
            </a:p>
          </p:txBody>
        </p:sp>
      </p:grpSp>
      <p:grpSp>
        <p:nvGrpSpPr>
          <p:cNvPr id="64" name="Group 63">
            <a:extLst>
              <a:ext uri="{FF2B5EF4-FFF2-40B4-BE49-F238E27FC236}">
                <a16:creationId xmlns:a16="http://schemas.microsoft.com/office/drawing/2014/main" id="{EF493296-5DE2-7CFC-96C2-8CBAB89B22F3}"/>
              </a:ext>
            </a:extLst>
          </p:cNvPr>
          <p:cNvGrpSpPr/>
          <p:nvPr/>
        </p:nvGrpSpPr>
        <p:grpSpPr>
          <a:xfrm>
            <a:off x="13715257" y="4102765"/>
            <a:ext cx="3771900" cy="932132"/>
            <a:chOff x="13715257" y="4102765"/>
            <a:chExt cx="3771900" cy="932132"/>
          </a:xfrm>
        </p:grpSpPr>
        <p:sp>
          <p:nvSpPr>
            <p:cNvPr id="79" name="TextBox 78"/>
            <p:cNvSpPr txBox="1"/>
            <p:nvPr/>
          </p:nvSpPr>
          <p:spPr>
            <a:xfrm>
              <a:off x="13715257" y="4102765"/>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Reading and direction</a:t>
              </a:r>
            </a:p>
          </p:txBody>
        </p:sp>
        <p:sp>
          <p:nvSpPr>
            <p:cNvPr id="80" name="TextBox 79"/>
            <p:cNvSpPr txBox="1"/>
            <p:nvPr/>
          </p:nvSpPr>
          <p:spPr>
            <a:xfrm>
              <a:off x="13715257" y="4422806"/>
              <a:ext cx="3771900" cy="612091"/>
            </a:xfrm>
            <a:prstGeom prst="rect">
              <a:avLst/>
            </a:prstGeom>
            <a:noFill/>
          </p:spPr>
          <p:txBody>
            <a:bodyPr wrap="square" lIns="0" tIns="0" rIns="0" bIns="0" anchor="t">
              <a:spAutoFit/>
            </a:bodyPr>
            <a:lstStyle/>
            <a:p>
              <a:pPr algn="l">
                <a:lnSpc>
                  <a:spcPct val="120000"/>
                </a:lnSpc>
              </a:pPr>
              <a:r>
                <a:rPr sz="1725" dirty="0">
                  <a:solidFill>
                    <a:srgbClr val="303B4F"/>
                  </a:solidFill>
                  <a:latin typeface="League Spartan"/>
                </a:rPr>
                <a:t>The number, and whether it is climbing.</a:t>
              </a:r>
            </a:p>
          </p:txBody>
        </p:sp>
      </p:grpSp>
      <p:grpSp>
        <p:nvGrpSpPr>
          <p:cNvPr id="65" name="Group 64">
            <a:extLst>
              <a:ext uri="{FF2B5EF4-FFF2-40B4-BE49-F238E27FC236}">
                <a16:creationId xmlns:a16="http://schemas.microsoft.com/office/drawing/2014/main" id="{0680938A-12BD-AFFE-4BDB-293E09193077}"/>
              </a:ext>
            </a:extLst>
          </p:cNvPr>
          <p:cNvGrpSpPr/>
          <p:nvPr/>
        </p:nvGrpSpPr>
        <p:grpSpPr>
          <a:xfrm>
            <a:off x="13715257" y="5133489"/>
            <a:ext cx="3771900" cy="913844"/>
            <a:chOff x="13715257" y="5133489"/>
            <a:chExt cx="3771900" cy="913844"/>
          </a:xfrm>
        </p:grpSpPr>
        <p:sp>
          <p:nvSpPr>
            <p:cNvPr id="81" name="TextBox 80"/>
            <p:cNvSpPr txBox="1"/>
            <p:nvPr/>
          </p:nvSpPr>
          <p:spPr>
            <a:xfrm>
              <a:off x="13715257" y="5133489"/>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One click to the levers</a:t>
              </a:r>
            </a:p>
          </p:txBody>
        </p:sp>
        <p:sp>
          <p:nvSpPr>
            <p:cNvPr id="82" name="TextBox 81"/>
            <p:cNvSpPr txBox="1"/>
            <p:nvPr/>
          </p:nvSpPr>
          <p:spPr>
            <a:xfrm>
              <a:off x="13715257" y="5435242"/>
              <a:ext cx="3771900" cy="612091"/>
            </a:xfrm>
            <a:prstGeom prst="rect">
              <a:avLst/>
            </a:prstGeom>
            <a:noFill/>
          </p:spPr>
          <p:txBody>
            <a:bodyPr wrap="square" lIns="0" tIns="0" rIns="0" bIns="0" anchor="t">
              <a:spAutoFit/>
            </a:bodyPr>
            <a:lstStyle/>
            <a:p>
              <a:pPr algn="l">
                <a:lnSpc>
                  <a:spcPct val="120000"/>
                </a:lnSpc>
              </a:pPr>
              <a:r>
                <a:rPr sz="1725">
                  <a:solidFill>
                    <a:srgbClr val="303B4F"/>
                  </a:solidFill>
                  <a:latin typeface="League Spartan"/>
                </a:rPr>
                <a:t>Tap it and Power of X opens on the same numbers.</a:t>
              </a:r>
            </a:p>
          </p:txBody>
        </p:sp>
      </p:grpSp>
      <p:grpSp>
        <p:nvGrpSpPr>
          <p:cNvPr id="66" name="Group 65">
            <a:extLst>
              <a:ext uri="{FF2B5EF4-FFF2-40B4-BE49-F238E27FC236}">
                <a16:creationId xmlns:a16="http://schemas.microsoft.com/office/drawing/2014/main" id="{10513981-2A6E-28BE-DA44-1FB833F5A688}"/>
              </a:ext>
            </a:extLst>
          </p:cNvPr>
          <p:cNvGrpSpPr/>
          <p:nvPr/>
        </p:nvGrpSpPr>
        <p:grpSpPr>
          <a:xfrm>
            <a:off x="13715257" y="6315613"/>
            <a:ext cx="3771900" cy="858980"/>
            <a:chOff x="13715257" y="6315613"/>
            <a:chExt cx="3771900" cy="858980"/>
          </a:xfrm>
        </p:grpSpPr>
        <p:sp>
          <p:nvSpPr>
            <p:cNvPr id="83" name="TextBox 82"/>
            <p:cNvSpPr txBox="1"/>
            <p:nvPr/>
          </p:nvSpPr>
          <p:spPr>
            <a:xfrm>
              <a:off x="13715257" y="6315613"/>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Color is meaning</a:t>
              </a:r>
            </a:p>
          </p:txBody>
        </p:sp>
        <p:sp>
          <p:nvSpPr>
            <p:cNvPr id="84" name="TextBox 83"/>
            <p:cNvSpPr txBox="1"/>
            <p:nvPr/>
          </p:nvSpPr>
          <p:spPr>
            <a:xfrm>
              <a:off x="13715257" y="6562502"/>
              <a:ext cx="3771900" cy="612091"/>
            </a:xfrm>
            <a:prstGeom prst="rect">
              <a:avLst/>
            </a:prstGeom>
            <a:noFill/>
          </p:spPr>
          <p:txBody>
            <a:bodyPr wrap="square" lIns="0" tIns="0" rIns="0" bIns="0" anchor="t">
              <a:spAutoFit/>
            </a:bodyPr>
            <a:lstStyle/>
            <a:p>
              <a:pPr algn="l">
                <a:lnSpc>
                  <a:spcPct val="120000"/>
                </a:lnSpc>
              </a:pPr>
              <a:r>
                <a:rPr sz="1725">
                  <a:solidFill>
                    <a:srgbClr val="303B4F"/>
                  </a:solidFill>
                  <a:latin typeface="League Spartan"/>
                </a:rPr>
                <a:t>Green above 1.0, yellow near it, orange below.</a:t>
              </a:r>
            </a:p>
          </p:txBody>
        </p:sp>
      </p:grpSp>
      <p:sp>
        <p:nvSpPr>
          <p:cNvPr id="85" name="Rounded Rectangle 84"/>
          <p:cNvSpPr/>
          <p:nvPr/>
        </p:nvSpPr>
        <p:spPr>
          <a:xfrm>
            <a:off x="960120" y="8233104"/>
            <a:ext cx="16595613" cy="822960"/>
          </a:xfrm>
          <a:prstGeom prst="roundRect">
            <a:avLst>
              <a:gd name="adj" fmla="val 1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l"/>
            <a:r>
              <a:rPr sz="2800" b="1" dirty="0">
                <a:solidFill>
                  <a:schemeClr val="tx1"/>
                </a:solidFill>
                <a:latin typeface="League Spartan"/>
              </a:rPr>
              <a:t>The gauge and the trend are one component, fed by the same computed PPR — one number, on every page</a:t>
            </a:r>
            <a:r>
              <a:rPr sz="2400" b="1" dirty="0">
                <a:solidFill>
                  <a:schemeClr val="tx1"/>
                </a:solidFill>
                <a:latin typeface="League Spartan"/>
              </a:rPr>
              <a:t>.</a:t>
            </a:r>
          </a:p>
        </p:txBody>
      </p:sp>
      <p:grpSp>
        <p:nvGrpSpPr>
          <p:cNvPr id="62" name="Group 61">
            <a:extLst>
              <a:ext uri="{FF2B5EF4-FFF2-40B4-BE49-F238E27FC236}">
                <a16:creationId xmlns:a16="http://schemas.microsoft.com/office/drawing/2014/main" id="{921E5D3A-ECAA-7DD1-440D-F5EB631E8C71}"/>
              </a:ext>
            </a:extLst>
          </p:cNvPr>
          <p:cNvGrpSpPr/>
          <p:nvPr/>
        </p:nvGrpSpPr>
        <p:grpSpPr>
          <a:xfrm>
            <a:off x="7200900" y="2383149"/>
            <a:ext cx="5897880" cy="5102352"/>
            <a:chOff x="7200900" y="2383149"/>
            <a:chExt cx="5897880" cy="5102352"/>
          </a:xfrm>
        </p:grpSpPr>
        <p:sp>
          <p:nvSpPr>
            <p:cNvPr id="59" name="Rounded Rectangle 58"/>
            <p:cNvSpPr/>
            <p:nvPr/>
          </p:nvSpPr>
          <p:spPr>
            <a:xfrm>
              <a:off x="7200900" y="2383149"/>
              <a:ext cx="5897880"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9" name="TextBox 88"/>
            <p:cNvSpPr txBox="1"/>
            <p:nvPr/>
          </p:nvSpPr>
          <p:spPr>
            <a:xfrm>
              <a:off x="7639812" y="2794629"/>
              <a:ext cx="4937760" cy="242374"/>
            </a:xfrm>
            <a:prstGeom prst="rect">
              <a:avLst/>
            </a:prstGeom>
            <a:noFill/>
          </p:spPr>
          <p:txBody>
            <a:bodyPr wrap="square" lIns="0" tIns="0" rIns="0" bIns="0">
              <a:spAutoFit/>
            </a:bodyPr>
            <a:lstStyle/>
            <a:p>
              <a:pPr>
                <a:lnSpc>
                  <a:spcPct val="100000"/>
                </a:lnSpc>
              </a:pPr>
              <a:r>
                <a:rPr sz="1575" b="1" spc="300">
                  <a:solidFill>
                    <a:srgbClr val="303B4F"/>
                  </a:solidFill>
                  <a:latin typeface="League Spartan"/>
                </a:rPr>
                <a:t>THE TREND  ·  24 MONTHS</a:t>
              </a:r>
            </a:p>
          </p:txBody>
        </p:sp>
        <p:sp>
          <p:nvSpPr>
            <p:cNvPr id="90" name="Rectangle 89"/>
            <p:cNvSpPr/>
            <p:nvPr/>
          </p:nvSpPr>
          <p:spPr>
            <a:xfrm>
              <a:off x="7776972" y="4994675"/>
              <a:ext cx="4745736" cy="20574"/>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7776972" y="4638059"/>
              <a:ext cx="1645920" cy="230832"/>
            </a:xfrm>
            <a:prstGeom prst="rect">
              <a:avLst/>
            </a:prstGeom>
            <a:noFill/>
          </p:spPr>
          <p:txBody>
            <a:bodyPr wrap="square" lIns="0" tIns="0" rIns="0" bIns="0">
              <a:spAutoFit/>
            </a:bodyPr>
            <a:lstStyle/>
            <a:p>
              <a:pPr>
                <a:lnSpc>
                  <a:spcPct val="100000"/>
                </a:lnSpc>
              </a:pPr>
              <a:r>
                <a:rPr sz="1500" b="1">
                  <a:solidFill>
                    <a:srgbClr val="303B4F"/>
                  </a:solidFill>
                  <a:latin typeface="League Spartan"/>
                </a:rPr>
                <a:t>1.0</a:t>
              </a:r>
            </a:p>
          </p:txBody>
        </p:sp>
        <p:cxnSp>
          <p:nvCxnSpPr>
            <p:cNvPr id="92" name="Connector 91"/>
            <p:cNvCxnSpPr/>
            <p:nvPr/>
          </p:nvCxnSpPr>
          <p:spPr>
            <a:xfrm flipV="1">
              <a:off x="7776973" y="5414386"/>
              <a:ext cx="206336" cy="74066"/>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983308" y="5414385"/>
              <a:ext cx="206337" cy="9875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189645" y="5365007"/>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95980" y="5365007"/>
              <a:ext cx="206337"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602318" y="5290942"/>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808653" y="5216874"/>
              <a:ext cx="206337"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014990" y="5216874"/>
              <a:ext cx="206336"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9221325" y="5266252"/>
              <a:ext cx="206337" cy="49379"/>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427662" y="5167498"/>
              <a:ext cx="206337"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634000" y="5093430"/>
              <a:ext cx="206336"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9840335" y="5093430"/>
              <a:ext cx="206337"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0046672" y="5019363"/>
              <a:ext cx="206336"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0253007" y="4945298"/>
              <a:ext cx="206337" cy="74066"/>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459345" y="4945298"/>
              <a:ext cx="206336"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0665680" y="4871231"/>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0872017" y="4747787"/>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078354" y="4747787"/>
              <a:ext cx="206336" cy="49379"/>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1284689" y="4673721"/>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1491027" y="4550277"/>
              <a:ext cx="206336"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697362" y="4550277"/>
              <a:ext cx="206337"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1903699" y="4451522"/>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2110034" y="4303390"/>
              <a:ext cx="206337"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2316371" y="4155255"/>
              <a:ext cx="206337" cy="14813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12412980" y="4045527"/>
              <a:ext cx="219456" cy="219456"/>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TextBox 115"/>
            <p:cNvSpPr txBox="1"/>
            <p:nvPr/>
          </p:nvSpPr>
          <p:spPr>
            <a:xfrm>
              <a:off x="7776972" y="6305926"/>
              <a:ext cx="4800600" cy="612091"/>
            </a:xfrm>
            <a:prstGeom prst="rect">
              <a:avLst/>
            </a:prstGeom>
            <a:noFill/>
          </p:spPr>
          <p:txBody>
            <a:bodyPr wrap="square" lIns="0" tIns="0" rIns="0" bIns="0">
              <a:spAutoFit/>
            </a:bodyPr>
            <a:lstStyle/>
            <a:p>
              <a:pPr>
                <a:lnSpc>
                  <a:spcPct val="120000"/>
                </a:lnSpc>
              </a:pPr>
              <a:r>
                <a:rPr sz="1725">
                  <a:solidFill>
                    <a:srgbClr val="303B4F"/>
                  </a:solidFill>
                  <a:latin typeface="League Spartan"/>
                </a:rPr>
                <a:t>Twenty-four months of PPR, monthly — the same window Atlas already holds.</a:t>
              </a:r>
            </a:p>
          </p:txBody>
        </p:sp>
      </p:grpSp>
      <p:sp>
        <p:nvSpPr>
          <p:cNvPr id="4"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119" name="Picture 118" descr="texas_mark_light.png"/>
          <p:cNvPicPr>
            <a:picLocks noChangeAspect="1"/>
          </p:cNvPicPr>
          <p:nvPr/>
        </p:nvPicPr>
        <p:blipFill>
          <a:blip r:embed="rId3"/>
          <a:stretch>
            <a:fillRect/>
          </a:stretch>
        </p:blipFill>
        <p:spPr>
          <a:xfrm>
            <a:off x="16687800" y="9336024"/>
            <a:ext cx="649224" cy="612648"/>
          </a:xfrm>
          <a:prstGeom prst="rect">
            <a:avLst/>
          </a:prstGeom>
        </p:spPr>
      </p:pic>
      <p:sp>
        <p:nvSpPr>
          <p:cNvPr id="60" name="Text 2">
            <a:extLst>
              <a:ext uri="{FF2B5EF4-FFF2-40B4-BE49-F238E27FC236}">
                <a16:creationId xmlns:a16="http://schemas.microsoft.com/office/drawing/2014/main" id="{626301E8-3A44-43BA-6D66-82948F9B4FF3}"/>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2000"/>
                            </p:stCondLst>
                            <p:childTnLst>
                              <p:par>
                                <p:cTn id="11" presetID="5" presetClass="entr" presetSubtype="10" fill="hold" nodeType="afterEffect">
                                  <p:stCondLst>
                                    <p:cond delay="500"/>
                                  </p:stCondLst>
                                  <p:childTnLst>
                                    <p:set>
                                      <p:cBhvr>
                                        <p:cTn id="12" dur="1" fill="hold">
                                          <p:stCondLst>
                                            <p:cond delay="0"/>
                                          </p:stCondLst>
                                        </p:cTn>
                                        <p:tgtEl>
                                          <p:spTgt spid="61"/>
                                        </p:tgtEl>
                                        <p:attrNameLst>
                                          <p:attrName>style.visibility</p:attrName>
                                        </p:attrNameLst>
                                      </p:cBhvr>
                                      <p:to>
                                        <p:strVal val="visible"/>
                                      </p:to>
                                    </p:set>
                                    <p:animEffect transition="in" filter="checkerboard(across)">
                                      <p:cBhvr>
                                        <p:cTn id="13" dur="1000"/>
                                        <p:tgtEl>
                                          <p:spTgt spid="61"/>
                                        </p:tgtEl>
                                      </p:cBhvr>
                                    </p:animEffect>
                                  </p:childTnLst>
                                </p:cTn>
                              </p:par>
                            </p:childTnLst>
                          </p:cTn>
                        </p:par>
                        <p:par>
                          <p:cTn id="14" fill="hold">
                            <p:stCondLst>
                              <p:cond delay="3500"/>
                            </p:stCondLst>
                            <p:childTnLst>
                              <p:par>
                                <p:cTn id="15" presetID="5" presetClass="entr" presetSubtype="10" fill="hold" nodeType="afterEffect">
                                  <p:stCondLst>
                                    <p:cond delay="500"/>
                                  </p:stCondLst>
                                  <p:childTnLst>
                                    <p:set>
                                      <p:cBhvr>
                                        <p:cTn id="16" dur="1" fill="hold">
                                          <p:stCondLst>
                                            <p:cond delay="0"/>
                                          </p:stCondLst>
                                        </p:cTn>
                                        <p:tgtEl>
                                          <p:spTgt spid="62"/>
                                        </p:tgtEl>
                                        <p:attrNameLst>
                                          <p:attrName>style.visibility</p:attrName>
                                        </p:attrNameLst>
                                      </p:cBhvr>
                                      <p:to>
                                        <p:strVal val="visible"/>
                                      </p:to>
                                    </p:set>
                                    <p:animEffect transition="in" filter="checkerboard(across)">
                                      <p:cBhvr>
                                        <p:cTn id="17" dur="1000"/>
                                        <p:tgtEl>
                                          <p:spTgt spid="62"/>
                                        </p:tgtEl>
                                      </p:cBhvr>
                                    </p:animEffect>
                                  </p:childTnLst>
                                </p:cTn>
                              </p:par>
                            </p:childTnLst>
                          </p:cTn>
                        </p:par>
                        <p:par>
                          <p:cTn id="18" fill="hold">
                            <p:stCondLst>
                              <p:cond delay="5000"/>
                            </p:stCondLst>
                            <p:childTnLst>
                              <p:par>
                                <p:cTn id="19" presetID="1" presetClass="entr" presetSubtype="0" fill="hold" grpId="0" nodeType="afterEffect">
                                  <p:stCondLst>
                                    <p:cond delay="500"/>
                                  </p:stCondLst>
                                  <p:childTnLst>
                                    <p:set>
                                      <p:cBhvr>
                                        <p:cTn id="20" dur="1" fill="hold">
                                          <p:stCondLst>
                                            <p:cond delay="0"/>
                                          </p:stCondLst>
                                        </p:cTn>
                                        <p:tgtEl>
                                          <p:spTgt spid="76"/>
                                        </p:tgtEl>
                                        <p:attrNameLst>
                                          <p:attrName>style.visibility</p:attrName>
                                        </p:attrNameLst>
                                      </p:cBhvr>
                                      <p:to>
                                        <p:strVal val="visible"/>
                                      </p:to>
                                    </p:set>
                                  </p:childTnLst>
                                </p:cTn>
                              </p:par>
                            </p:childTnLst>
                          </p:cTn>
                        </p:par>
                        <p:par>
                          <p:cTn id="21" fill="hold">
                            <p:stCondLst>
                              <p:cond delay="5500"/>
                            </p:stCondLst>
                            <p:childTnLst>
                              <p:par>
                                <p:cTn id="22" presetID="1" presetClass="entr" presetSubtype="0" fill="hold" nodeType="afterEffect">
                                  <p:stCondLst>
                                    <p:cond delay="1000"/>
                                  </p:stCondLst>
                                  <p:childTnLst>
                                    <p:set>
                                      <p:cBhvr>
                                        <p:cTn id="23" dur="1" fill="hold">
                                          <p:stCondLst>
                                            <p:cond delay="0"/>
                                          </p:stCondLst>
                                        </p:cTn>
                                        <p:tgtEl>
                                          <p:spTgt spid="63"/>
                                        </p:tgtEl>
                                        <p:attrNameLst>
                                          <p:attrName>style.visibility</p:attrName>
                                        </p:attrNameLst>
                                      </p:cBhvr>
                                      <p:to>
                                        <p:strVal val="visible"/>
                                      </p:to>
                                    </p:set>
                                  </p:childTnLst>
                                </p:cTn>
                              </p:par>
                            </p:childTnLst>
                          </p:cTn>
                        </p:par>
                        <p:par>
                          <p:cTn id="24" fill="hold">
                            <p:stCondLst>
                              <p:cond delay="6500"/>
                            </p:stCondLst>
                            <p:childTnLst>
                              <p:par>
                                <p:cTn id="25" presetID="1" presetClass="entr" presetSubtype="0" fill="hold" nodeType="afterEffect">
                                  <p:stCondLst>
                                    <p:cond delay="1000"/>
                                  </p:stCondLst>
                                  <p:childTnLst>
                                    <p:set>
                                      <p:cBhvr>
                                        <p:cTn id="26" dur="1" fill="hold">
                                          <p:stCondLst>
                                            <p:cond delay="0"/>
                                          </p:stCondLst>
                                        </p:cTn>
                                        <p:tgtEl>
                                          <p:spTgt spid="64"/>
                                        </p:tgtEl>
                                        <p:attrNameLst>
                                          <p:attrName>style.visibility</p:attrName>
                                        </p:attrNameLst>
                                      </p:cBhvr>
                                      <p:to>
                                        <p:strVal val="visible"/>
                                      </p:to>
                                    </p:set>
                                  </p:childTnLst>
                                </p:cTn>
                              </p:par>
                            </p:childTnLst>
                          </p:cTn>
                        </p:par>
                        <p:par>
                          <p:cTn id="27" fill="hold">
                            <p:stCondLst>
                              <p:cond delay="7500"/>
                            </p:stCondLst>
                            <p:childTnLst>
                              <p:par>
                                <p:cTn id="28" presetID="1" presetClass="entr" presetSubtype="0" fill="hold" nodeType="afterEffect">
                                  <p:stCondLst>
                                    <p:cond delay="1000"/>
                                  </p:stCondLst>
                                  <p:childTnLst>
                                    <p:set>
                                      <p:cBhvr>
                                        <p:cTn id="29" dur="1" fill="hold">
                                          <p:stCondLst>
                                            <p:cond delay="0"/>
                                          </p:stCondLst>
                                        </p:cTn>
                                        <p:tgtEl>
                                          <p:spTgt spid="65"/>
                                        </p:tgtEl>
                                        <p:attrNameLst>
                                          <p:attrName>style.visibility</p:attrName>
                                        </p:attrNameLst>
                                      </p:cBhvr>
                                      <p:to>
                                        <p:strVal val="visible"/>
                                      </p:to>
                                    </p:set>
                                  </p:childTnLst>
                                </p:cTn>
                              </p:par>
                            </p:childTnLst>
                          </p:cTn>
                        </p:par>
                        <p:par>
                          <p:cTn id="30" fill="hold">
                            <p:stCondLst>
                              <p:cond delay="8500"/>
                            </p:stCondLst>
                            <p:childTnLst>
                              <p:par>
                                <p:cTn id="31" presetID="1" presetClass="entr" presetSubtype="0" fill="hold" nodeType="afterEffect">
                                  <p:stCondLst>
                                    <p:cond delay="1000"/>
                                  </p:stCondLst>
                                  <p:childTnLst>
                                    <p:set>
                                      <p:cBhvr>
                                        <p:cTn id="32" dur="1" fill="hold">
                                          <p:stCondLst>
                                            <p:cond delay="0"/>
                                          </p:stCondLst>
                                        </p:cTn>
                                        <p:tgtEl>
                                          <p:spTgt spid="66"/>
                                        </p:tgtEl>
                                        <p:attrNameLst>
                                          <p:attrName>style.visibility</p:attrName>
                                        </p:attrNameLst>
                                      </p:cBhvr>
                                      <p:to>
                                        <p:strVal val="visible"/>
                                      </p:to>
                                    </p:set>
                                  </p:childTnLst>
                                </p:cTn>
                              </p:par>
                            </p:childTnLst>
                          </p:cTn>
                        </p:par>
                        <p:par>
                          <p:cTn id="33" fill="hold">
                            <p:stCondLst>
                              <p:cond delay="9500"/>
                            </p:stCondLst>
                            <p:childTnLst>
                              <p:par>
                                <p:cTn id="34" presetID="3" presetClass="entr" presetSubtype="10" fill="hold" grpId="0" nodeType="afterEffect">
                                  <p:stCondLst>
                                    <p:cond delay="500"/>
                                  </p:stCondLst>
                                  <p:childTnLst>
                                    <p:set>
                                      <p:cBhvr>
                                        <p:cTn id="35" dur="1" fill="hold">
                                          <p:stCondLst>
                                            <p:cond delay="0"/>
                                          </p:stCondLst>
                                        </p:cTn>
                                        <p:tgtEl>
                                          <p:spTgt spid="85"/>
                                        </p:tgtEl>
                                        <p:attrNameLst>
                                          <p:attrName>style.visibility</p:attrName>
                                        </p:attrNameLst>
                                      </p:cBhvr>
                                      <p:to>
                                        <p:strVal val="visible"/>
                                      </p:to>
                                    </p:set>
                                    <p:animEffect transition="in" filter="blinds(horizontal)">
                                      <p:cBhvr>
                                        <p:cTn id="36"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6" grpId="0"/>
      <p:bldP spid="8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Power of X™</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a:bodyPr>
          <a:lstStyle/>
          <a:p>
            <a:pPr marL="0" indent="0" algn="l">
              <a:lnSpc>
                <a:spcPct val="88629"/>
              </a:lnSpc>
              <a:buNone/>
            </a:pPr>
            <a:r>
              <a:rPr lang="en-US" sz="8000" b="1" kern="0" spc="-105" dirty="0">
                <a:solidFill>
                  <a:srgbClr val="F04E23"/>
                </a:solidFill>
                <a:latin typeface="League Spartan" pitchFamily="2" charset="77"/>
                <a:cs typeface="Arial" pitchFamily="34" charset="-120"/>
              </a:rPr>
              <a:t>Learning The Seven Power Moves</a:t>
            </a: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03D5-2DBC-0390-8A94-67845EA2EA2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611D30-DB00-6186-9DE7-FC6332D95E4B}"/>
              </a:ext>
            </a:extLst>
          </p:cNvPr>
          <p:cNvSpPr/>
          <p:nvPr/>
        </p:nvSpPr>
        <p:spPr>
          <a:xfrm>
            <a:off x="0" y="23"/>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A94BE269-D4CF-9BDB-1146-5563519A376E}"/>
              </a:ext>
            </a:extLst>
          </p:cNvPr>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a:extLst>
              <a:ext uri="{FF2B5EF4-FFF2-40B4-BE49-F238E27FC236}">
                <a16:creationId xmlns:a16="http://schemas.microsoft.com/office/drawing/2014/main" id="{BACF87AC-9954-2D29-4375-AC94B63435AF}"/>
              </a:ext>
            </a:extLst>
          </p:cNvPr>
          <p:cNvSpPr/>
          <p:nvPr/>
        </p:nvSpPr>
        <p:spPr>
          <a:xfrm>
            <a:off x="1523950" y="4141116"/>
            <a:ext cx="10235233" cy="1903067"/>
          </a:xfrm>
          <a:prstGeom prst="rect">
            <a:avLst/>
          </a:prstGeom>
          <a:noFill/>
          <a:ln/>
        </p:spPr>
        <p:txBody>
          <a:bodyPr wrap="square" lIns="25400" tIns="25400" rIns="25400" bIns="25400" rtlCol="0" anchor="t">
            <a:normAutofit/>
          </a:bodyPr>
          <a:lstStyle/>
          <a:p>
            <a:pPr marL="0" indent="0" algn="l">
              <a:lnSpc>
                <a:spcPct val="108768"/>
              </a:lnSpc>
              <a:buNone/>
            </a:pPr>
            <a:r>
              <a:rPr lang="en-US" sz="3600" b="1" kern="0" spc="-21" dirty="0">
                <a:solidFill>
                  <a:srgbClr val="FFFFFF"/>
                </a:solidFill>
                <a:latin typeface="League Spartan" pitchFamily="2" charset="77"/>
                <a:ea typeface="Arial" pitchFamily="34" charset="-122"/>
                <a:cs typeface="Arial" pitchFamily="34" charset="-120"/>
              </a:rPr>
              <a:t>You do not need any lever to move 10%. </a:t>
            </a:r>
          </a:p>
          <a:p>
            <a:pPr marL="0" indent="0" algn="l">
              <a:lnSpc>
                <a:spcPct val="108768"/>
              </a:lnSpc>
              <a:buNone/>
            </a:pPr>
            <a:r>
              <a:rPr lang="en-US" sz="3600" b="1" kern="0" spc="-21" dirty="0">
                <a:solidFill>
                  <a:srgbClr val="FFFFFF"/>
                </a:solidFill>
                <a:latin typeface="League Spartan" pitchFamily="2" charset="77"/>
                <a:ea typeface="Arial" pitchFamily="34" charset="-122"/>
                <a:cs typeface="Arial" pitchFamily="34" charset="-120"/>
              </a:rPr>
              <a:t>You need to know which lever, moved 1%, deliberately, and held, does the most good.</a:t>
            </a:r>
            <a:endParaRPr lang="en-US" sz="3600" dirty="0">
              <a:latin typeface="League Spartan" pitchFamily="2" charset="77"/>
            </a:endParaRPr>
          </a:p>
        </p:txBody>
      </p:sp>
      <p:sp>
        <p:nvSpPr>
          <p:cNvPr id="5" name="Text 3">
            <a:extLst>
              <a:ext uri="{FF2B5EF4-FFF2-40B4-BE49-F238E27FC236}">
                <a16:creationId xmlns:a16="http://schemas.microsoft.com/office/drawing/2014/main" id="{C7BD865F-7084-E0C4-1277-2F50BE9F72C7}"/>
              </a:ext>
            </a:extLst>
          </p:cNvPr>
          <p:cNvSpPr/>
          <p:nvPr/>
        </p:nvSpPr>
        <p:spPr>
          <a:xfrm>
            <a:off x="1913192" y="6192286"/>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a:extLst>
              <a:ext uri="{FF2B5EF4-FFF2-40B4-BE49-F238E27FC236}">
                <a16:creationId xmlns:a16="http://schemas.microsoft.com/office/drawing/2014/main" id="{65D61617-D0BF-4CD2-35CB-25E2D9979862}"/>
              </a:ext>
            </a:extLst>
          </p:cNvPr>
          <p:cNvSpPr/>
          <p:nvPr/>
        </p:nvSpPr>
        <p:spPr>
          <a:xfrm>
            <a:off x="1913192" y="6678413"/>
            <a:ext cx="8695944" cy="337918"/>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Power of X · Book Two, Clarus Leadership Series</a:t>
            </a:r>
            <a:endParaRPr lang="en-US" sz="2550" dirty="0">
              <a:latin typeface="League Spartan" pitchFamily="2" charset="77"/>
            </a:endParaRPr>
          </a:p>
        </p:txBody>
      </p:sp>
      <p:sp>
        <p:nvSpPr>
          <p:cNvPr id="7" name="Text 5">
            <a:extLst>
              <a:ext uri="{FF2B5EF4-FFF2-40B4-BE49-F238E27FC236}">
                <a16:creationId xmlns:a16="http://schemas.microsoft.com/office/drawing/2014/main" id="{5D7CDD96-EAFC-1600-ECD2-AE105CB9BD00}"/>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8" name="Picture 7" descr="image.png"/>
          <p:cNvPicPr>
            <a:picLocks noChangeAspect="1"/>
          </p:cNvPicPr>
          <p:nvPr/>
        </p:nvPicPr>
        <p:blipFill>
          <a:blip r:embed="rId3"/>
          <a:stretch>
            <a:fillRect/>
          </a:stretch>
        </p:blipFill>
        <p:spPr>
          <a:xfrm>
            <a:off x="13202205" y="1636081"/>
            <a:ext cx="4383397" cy="7014837"/>
          </a:xfrm>
          <a:prstGeom prst="rect">
            <a:avLst/>
          </a:prstGeom>
          <a:solidFill>
            <a:schemeClr val="bg1"/>
          </a:solidFill>
          <a:ln>
            <a:solidFill>
              <a:schemeClr val="bg1"/>
            </a:solidFill>
          </a:ln>
        </p:spPr>
      </p:pic>
    </p:spTree>
    <p:extLst>
      <p:ext uri="{BB962C8B-B14F-4D97-AF65-F5344CB8AC3E}">
        <p14:creationId xmlns:p14="http://schemas.microsoft.com/office/powerpoint/2010/main" val="189379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2000"/>
                                        <p:tgtEl>
                                          <p:spTgt spid="4"/>
                                        </p:tgtEl>
                                      </p:cBhvr>
                                    </p:animEffect>
                                  </p:childTnLst>
                                </p:cTn>
                              </p:par>
                            </p:childTnLst>
                          </p:cTn>
                        </p:par>
                        <p:par>
                          <p:cTn id="8" fill="hold">
                            <p:stCondLst>
                              <p:cond delay="3000"/>
                            </p:stCondLst>
                            <p:childTnLst>
                              <p:par>
                                <p:cTn id="9" presetID="1" presetClass="entr" presetSubtype="0" fill="hold" grpId="0" nodeType="afterEffect">
                                  <p:stCondLst>
                                    <p:cond delay="200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500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5000"/>
                            </p:stCondLst>
                            <p:childTnLst>
                              <p:par>
                                <p:cTn id="15" presetID="5" presetClass="entr" presetSubtype="10" fill="hold" nodeType="afterEffect">
                                  <p:stCondLst>
                                    <p:cond delay="50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952453" y="786384"/>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Power of X™</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16" name="TextBox 15"/>
          <p:cNvSpPr txBox="1"/>
          <p:nvPr/>
        </p:nvSpPr>
        <p:spPr>
          <a:xfrm>
            <a:off x="950976" y="1452848"/>
            <a:ext cx="15544800" cy="548640"/>
          </a:xfrm>
          <a:prstGeom prst="rect">
            <a:avLst/>
          </a:prstGeom>
          <a:noFill/>
        </p:spPr>
        <p:txBody>
          <a:bodyPr wrap="square" lIns="45720" tIns="0" rIns="45720" bIns="0" anchor="t">
            <a:spAutoFit/>
          </a:bodyPr>
          <a:lstStyle/>
          <a:p>
            <a:pPr algn="l"/>
            <a:r>
              <a:rPr sz="2200" b="0" i="1" dirty="0">
                <a:solidFill>
                  <a:srgbClr val="303B4F"/>
                </a:solidFill>
                <a:latin typeface="League Spartan"/>
              </a:rPr>
              <a:t>Fundamentals at work — the seven moves that make you stronger, not just bigger</a:t>
            </a:r>
          </a:p>
        </p:txBody>
      </p:sp>
      <p:grpSp>
        <p:nvGrpSpPr>
          <p:cNvPr id="26" name="Group 25">
            <a:extLst>
              <a:ext uri="{FF2B5EF4-FFF2-40B4-BE49-F238E27FC236}">
                <a16:creationId xmlns:a16="http://schemas.microsoft.com/office/drawing/2014/main" id="{EC9DBC2B-2AAE-E8E7-45A8-6C7470D25D99}"/>
              </a:ext>
            </a:extLst>
          </p:cNvPr>
          <p:cNvGrpSpPr/>
          <p:nvPr/>
        </p:nvGrpSpPr>
        <p:grpSpPr>
          <a:xfrm>
            <a:off x="914400" y="7461504"/>
            <a:ext cx="16459200" cy="566928"/>
            <a:chOff x="914400" y="7461504"/>
            <a:chExt cx="16459200" cy="566928"/>
          </a:xfrm>
        </p:grpSpPr>
        <p:sp>
          <p:nvSpPr>
            <p:cNvPr id="62" name="Rounded Rectangle 61"/>
            <p:cNvSpPr/>
            <p:nvPr/>
          </p:nvSpPr>
          <p:spPr>
            <a:xfrm>
              <a:off x="914400" y="7461504"/>
              <a:ext cx="16459200" cy="566928"/>
            </a:xfrm>
            <a:prstGeom prst="roundRect">
              <a:avLst>
                <a:gd name="adj" fmla="val 3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4400" y="7542014"/>
              <a:ext cx="16459200" cy="369332"/>
            </a:xfrm>
            <a:prstGeom prst="rect">
              <a:avLst/>
            </a:prstGeom>
            <a:noFill/>
          </p:spPr>
          <p:txBody>
            <a:bodyPr wrap="square" lIns="45720" tIns="0" rIns="45720" bIns="0" anchor="ctr">
              <a:spAutoFit/>
            </a:bodyPr>
            <a:lstStyle/>
            <a:p>
              <a:pPr algn="ctr"/>
              <a:r>
                <a:rPr sz="2000" b="1" i="0" dirty="0">
                  <a:solidFill>
                    <a:srgbClr val="FF7900"/>
                  </a:solidFill>
                  <a:latin typeface="League Spartan"/>
                </a:rPr>
                <a:t>THE FOUNDATION   ·   </a:t>
              </a:r>
              <a:r>
                <a:rPr sz="2400" b="1" i="0" dirty="0">
                  <a:solidFill>
                    <a:srgbClr val="FFFFFF"/>
                  </a:solidFill>
                  <a:latin typeface="League Spartan"/>
                </a:rPr>
                <a:t>Just 1% More   ·   Cover Your Nut   ·   </a:t>
              </a:r>
              <a:r>
                <a:rPr sz="2000" b="0" i="1" dirty="0">
                  <a:solidFill>
                    <a:srgbClr val="E5E8EB"/>
                  </a:solidFill>
                  <a:latin typeface="League Spartan"/>
                </a:rPr>
                <a:t>below it, no dial is worth pulling</a:t>
              </a:r>
            </a:p>
          </p:txBody>
        </p:sp>
      </p:grpSp>
      <p:grpSp>
        <p:nvGrpSpPr>
          <p:cNvPr id="31" name="Group 30">
            <a:extLst>
              <a:ext uri="{FF2B5EF4-FFF2-40B4-BE49-F238E27FC236}">
                <a16:creationId xmlns:a16="http://schemas.microsoft.com/office/drawing/2014/main" id="{D5204BBF-F815-B115-BC1C-25172DFFD996}"/>
              </a:ext>
            </a:extLst>
          </p:cNvPr>
          <p:cNvGrpSpPr/>
          <p:nvPr/>
        </p:nvGrpSpPr>
        <p:grpSpPr>
          <a:xfrm>
            <a:off x="2011680" y="8092439"/>
            <a:ext cx="14264640" cy="1417320"/>
            <a:chOff x="2011680" y="8092439"/>
            <a:chExt cx="14264640" cy="1417320"/>
          </a:xfrm>
        </p:grpSpPr>
        <p:sp>
          <p:nvSpPr>
            <p:cNvPr id="64" name="Rectangle 63"/>
            <p:cNvSpPr/>
            <p:nvPr/>
          </p:nvSpPr>
          <p:spPr>
            <a:xfrm>
              <a:off x="2011680" y="8238744"/>
              <a:ext cx="14264640" cy="118414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194560" y="8092439"/>
              <a:ext cx="13898880" cy="1417320"/>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The Power of X™ is your margin and momentum engine.</a:t>
              </a:r>
            </a:p>
            <a:p>
              <a:pPr algn="ctr">
                <a:lnSpc>
                  <a:spcPct val="110000"/>
                </a:lnSpc>
              </a:pPr>
              <a:r>
                <a:rPr sz="2400" b="0" i="1" dirty="0">
                  <a:solidFill>
                    <a:srgbClr val="303B4F"/>
                  </a:solidFill>
                  <a:latin typeface="League Spartan"/>
                </a:rPr>
                <a:t>Pick the move with the most leverage — run it hard. Then repeat.</a:t>
              </a:r>
            </a:p>
          </p:txBody>
        </p:sp>
      </p:grpSp>
      <p:sp>
        <p:nvSpPr>
          <p:cNvPr id="4" name="TextBox 3">
            <a:extLst>
              <a:ext uri="{FF2B5EF4-FFF2-40B4-BE49-F238E27FC236}">
                <a16:creationId xmlns:a16="http://schemas.microsoft.com/office/drawing/2014/main" id="{4507482B-11D7-0C00-E8BF-30BC56C6880F}"/>
              </a:ext>
            </a:extLst>
          </p:cNvPr>
          <p:cNvSpPr txBox="1"/>
          <p:nvPr/>
        </p:nvSpPr>
        <p:spPr>
          <a:xfrm>
            <a:off x="960120" y="279824"/>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a:t>
            </a:r>
            <a:r>
              <a:rPr lang="en-US" b="1" spc="450" dirty="0">
                <a:solidFill>
                  <a:srgbClr val="FF7900"/>
                </a:solidFill>
                <a:latin typeface="League Spartan"/>
              </a:rPr>
              <a:t>POWER OF X</a:t>
            </a:r>
            <a:endParaRPr b="1" spc="450" dirty="0">
              <a:solidFill>
                <a:srgbClr val="FF7900"/>
              </a:solidFill>
              <a:latin typeface="League Spartan"/>
            </a:endParaRPr>
          </a:p>
        </p:txBody>
      </p:sp>
      <p:pic>
        <p:nvPicPr>
          <p:cNvPr id="67" name="Picture 66" descr="texas_mark_light.png"/>
          <p:cNvPicPr>
            <a:picLocks noChangeAspect="1"/>
          </p:cNvPicPr>
          <p:nvPr/>
        </p:nvPicPr>
        <p:blipFill>
          <a:blip r:embed="rId3"/>
          <a:stretch>
            <a:fillRect/>
          </a:stretch>
        </p:blipFill>
        <p:spPr>
          <a:xfrm>
            <a:off x="16687800" y="9336024"/>
            <a:ext cx="649224" cy="612648"/>
          </a:xfrm>
          <a:prstGeom prst="rect">
            <a:avLst/>
          </a:prstGeom>
        </p:spPr>
      </p:pic>
      <p:grpSp>
        <p:nvGrpSpPr>
          <p:cNvPr id="8" name="Group 7">
            <a:extLst>
              <a:ext uri="{FF2B5EF4-FFF2-40B4-BE49-F238E27FC236}">
                <a16:creationId xmlns:a16="http://schemas.microsoft.com/office/drawing/2014/main" id="{47F619F9-045A-49AE-E5DC-9C1FBE400AE6}"/>
              </a:ext>
            </a:extLst>
          </p:cNvPr>
          <p:cNvGrpSpPr/>
          <p:nvPr/>
        </p:nvGrpSpPr>
        <p:grpSpPr>
          <a:xfrm>
            <a:off x="914400" y="2066544"/>
            <a:ext cx="8142656" cy="5249834"/>
            <a:chOff x="914400" y="2066544"/>
            <a:chExt cx="8142656" cy="5249834"/>
          </a:xfrm>
        </p:grpSpPr>
        <p:sp>
          <p:nvSpPr>
            <p:cNvPr id="17" name="Rounded Rectangle 16"/>
            <p:cNvSpPr/>
            <p:nvPr/>
          </p:nvSpPr>
          <p:spPr>
            <a:xfrm>
              <a:off x="918896" y="2424338"/>
              <a:ext cx="8138160" cy="4892040"/>
            </a:xfrm>
            <a:prstGeom prst="roundRect">
              <a:avLst>
                <a:gd name="adj" fmla="val 4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 y="2478024"/>
              <a:ext cx="8138160" cy="36576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4400" y="2066544"/>
              <a:ext cx="8138160" cy="777240"/>
            </a:xfrm>
            <a:prstGeom prst="roundRect">
              <a:avLst>
                <a:gd name="adj" fmla="val 25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2270498"/>
              <a:ext cx="7498080" cy="369332"/>
            </a:xfrm>
            <a:prstGeom prst="rect">
              <a:avLst/>
            </a:prstGeom>
            <a:noFill/>
          </p:spPr>
          <p:txBody>
            <a:bodyPr wrap="square" lIns="45720" tIns="0" rIns="45720" bIns="0" anchor="ctr">
              <a:spAutoFit/>
            </a:bodyPr>
            <a:lstStyle/>
            <a:p>
              <a:pPr algn="l"/>
              <a:r>
                <a:rPr sz="2400" b="1" i="0" dirty="0">
                  <a:solidFill>
                    <a:srgbClr val="FFFFFF"/>
                  </a:solidFill>
                  <a:latin typeface="League Spartan"/>
                </a:rPr>
                <a:t>PROFIT POWER RATIO™  ·  4 profit drivers</a:t>
              </a:r>
            </a:p>
          </p:txBody>
        </p:sp>
      </p:grpSp>
      <p:grpSp>
        <p:nvGrpSpPr>
          <p:cNvPr id="10" name="Group 9">
            <a:extLst>
              <a:ext uri="{FF2B5EF4-FFF2-40B4-BE49-F238E27FC236}">
                <a16:creationId xmlns:a16="http://schemas.microsoft.com/office/drawing/2014/main" id="{18C7F752-CF0D-34C7-F06D-1D5D8A7BC7F4}"/>
              </a:ext>
            </a:extLst>
          </p:cNvPr>
          <p:cNvGrpSpPr/>
          <p:nvPr/>
        </p:nvGrpSpPr>
        <p:grpSpPr>
          <a:xfrm>
            <a:off x="1234440" y="3136392"/>
            <a:ext cx="5001768" cy="731520"/>
            <a:chOff x="1234440" y="3136392"/>
            <a:chExt cx="5001768" cy="731520"/>
          </a:xfrm>
        </p:grpSpPr>
        <p:sp>
          <p:nvSpPr>
            <p:cNvPr id="22" name="Oval 21"/>
            <p:cNvSpPr/>
            <p:nvPr/>
          </p:nvSpPr>
          <p:spPr>
            <a:xfrm>
              <a:off x="1234440" y="313639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3255931"/>
              <a:ext cx="731520" cy="492443"/>
            </a:xfrm>
            <a:prstGeom prst="rect">
              <a:avLst/>
            </a:prstGeom>
            <a:noFill/>
          </p:spPr>
          <p:txBody>
            <a:bodyPr wrap="square" lIns="45720" tIns="0" rIns="45720" bIns="0" anchor="ctr">
              <a:spAutoFit/>
            </a:bodyPr>
            <a:lstStyle/>
            <a:p>
              <a:pPr algn="ctr"/>
              <a:r>
                <a:rPr sz="3200" b="1" i="0" dirty="0">
                  <a:solidFill>
                    <a:srgbClr val="FFFFFF"/>
                  </a:solidFill>
                  <a:latin typeface="League Spartan"/>
                </a:rPr>
                <a:t>1</a:t>
              </a:r>
            </a:p>
          </p:txBody>
        </p:sp>
        <p:pic>
          <p:nvPicPr>
            <p:cNvPr id="24" name="Picture 23" descr="icon_price.png"/>
            <p:cNvPicPr>
              <a:picLocks noChangeAspect="1"/>
            </p:cNvPicPr>
            <p:nvPr/>
          </p:nvPicPr>
          <p:blipFill>
            <a:blip r:embed="rId4"/>
            <a:stretch>
              <a:fillRect/>
            </a:stretch>
          </p:blipFill>
          <p:spPr>
            <a:xfrm>
              <a:off x="5596128" y="3182112"/>
              <a:ext cx="640080" cy="640080"/>
            </a:xfrm>
            <a:prstGeom prst="rect">
              <a:avLst/>
            </a:prstGeom>
          </p:spPr>
        </p:pic>
        <p:sp>
          <p:nvSpPr>
            <p:cNvPr id="25" name="TextBox 24"/>
            <p:cNvSpPr txBox="1"/>
            <p:nvPr/>
          </p:nvSpPr>
          <p:spPr>
            <a:xfrm>
              <a:off x="2240280" y="3273552"/>
              <a:ext cx="3191256"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Increase Price</a:t>
              </a:r>
            </a:p>
          </p:txBody>
        </p:sp>
      </p:grpSp>
      <p:grpSp>
        <p:nvGrpSpPr>
          <p:cNvPr id="11" name="Group 10">
            <a:extLst>
              <a:ext uri="{FF2B5EF4-FFF2-40B4-BE49-F238E27FC236}">
                <a16:creationId xmlns:a16="http://schemas.microsoft.com/office/drawing/2014/main" id="{ED29A49E-DDD6-26ED-29C3-5A499660D677}"/>
              </a:ext>
            </a:extLst>
          </p:cNvPr>
          <p:cNvGrpSpPr/>
          <p:nvPr/>
        </p:nvGrpSpPr>
        <p:grpSpPr>
          <a:xfrm>
            <a:off x="1234440" y="4119372"/>
            <a:ext cx="5001768" cy="731520"/>
            <a:chOff x="1234440" y="4119372"/>
            <a:chExt cx="5001768" cy="731520"/>
          </a:xfrm>
        </p:grpSpPr>
        <p:sp>
          <p:nvSpPr>
            <p:cNvPr id="27" name="Oval 26"/>
            <p:cNvSpPr/>
            <p:nvPr/>
          </p:nvSpPr>
          <p:spPr>
            <a:xfrm>
              <a:off x="1234440" y="411937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34440" y="4238911"/>
              <a:ext cx="731520" cy="492443"/>
            </a:xfrm>
            <a:prstGeom prst="rect">
              <a:avLst/>
            </a:prstGeom>
            <a:noFill/>
          </p:spPr>
          <p:txBody>
            <a:bodyPr wrap="square" lIns="45720" tIns="0" rIns="45720" bIns="0" anchor="ctr">
              <a:spAutoFit/>
            </a:bodyPr>
            <a:lstStyle/>
            <a:p>
              <a:pPr algn="ctr"/>
              <a:r>
                <a:rPr sz="3200" b="1" i="0" dirty="0">
                  <a:solidFill>
                    <a:srgbClr val="FFFFFF"/>
                  </a:solidFill>
                  <a:latin typeface="League Spartan"/>
                </a:rPr>
                <a:t>2</a:t>
              </a:r>
            </a:p>
          </p:txBody>
        </p:sp>
        <p:pic>
          <p:nvPicPr>
            <p:cNvPr id="29" name="Picture 28" descr="icon_volume.png"/>
            <p:cNvPicPr>
              <a:picLocks noChangeAspect="1"/>
            </p:cNvPicPr>
            <p:nvPr/>
          </p:nvPicPr>
          <p:blipFill>
            <a:blip r:embed="rId5"/>
            <a:stretch>
              <a:fillRect/>
            </a:stretch>
          </p:blipFill>
          <p:spPr>
            <a:xfrm>
              <a:off x="5596128" y="4165092"/>
              <a:ext cx="640080" cy="640080"/>
            </a:xfrm>
            <a:prstGeom prst="rect">
              <a:avLst/>
            </a:prstGeom>
          </p:spPr>
        </p:pic>
        <p:sp>
          <p:nvSpPr>
            <p:cNvPr id="30" name="TextBox 29"/>
            <p:cNvSpPr txBox="1"/>
            <p:nvPr/>
          </p:nvSpPr>
          <p:spPr>
            <a:xfrm>
              <a:off x="2240280" y="4256532"/>
              <a:ext cx="3191256" cy="492443"/>
            </a:xfrm>
            <a:prstGeom prst="rect">
              <a:avLst/>
            </a:prstGeom>
            <a:noFill/>
          </p:spPr>
          <p:txBody>
            <a:bodyPr wrap="square" lIns="45720" tIns="0" rIns="45720" bIns="0" anchor="t">
              <a:spAutoFit/>
            </a:bodyPr>
            <a:lstStyle/>
            <a:p>
              <a:pPr algn="l"/>
              <a:r>
                <a:rPr sz="3200" b="1" i="0">
                  <a:solidFill>
                    <a:srgbClr val="142233"/>
                  </a:solidFill>
                  <a:latin typeface="League Spartan"/>
                </a:rPr>
                <a:t>Increase Volume</a:t>
              </a:r>
            </a:p>
          </p:txBody>
        </p:sp>
      </p:grpSp>
      <p:grpSp>
        <p:nvGrpSpPr>
          <p:cNvPr id="12" name="Group 11">
            <a:extLst>
              <a:ext uri="{FF2B5EF4-FFF2-40B4-BE49-F238E27FC236}">
                <a16:creationId xmlns:a16="http://schemas.microsoft.com/office/drawing/2014/main" id="{98B86034-CCCF-9EE3-9D85-FABBBBE06A1D}"/>
              </a:ext>
            </a:extLst>
          </p:cNvPr>
          <p:cNvGrpSpPr/>
          <p:nvPr/>
        </p:nvGrpSpPr>
        <p:grpSpPr>
          <a:xfrm>
            <a:off x="1234440" y="5102352"/>
            <a:ext cx="5001768" cy="731520"/>
            <a:chOff x="1234440" y="5102352"/>
            <a:chExt cx="5001768" cy="731520"/>
          </a:xfrm>
        </p:grpSpPr>
        <p:sp>
          <p:nvSpPr>
            <p:cNvPr id="32" name="Oval 31"/>
            <p:cNvSpPr/>
            <p:nvPr/>
          </p:nvSpPr>
          <p:spPr>
            <a:xfrm>
              <a:off x="1234440" y="510235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34440" y="5252669"/>
              <a:ext cx="731520" cy="430887"/>
            </a:xfrm>
            <a:prstGeom prst="rect">
              <a:avLst/>
            </a:prstGeom>
            <a:noFill/>
          </p:spPr>
          <p:txBody>
            <a:bodyPr wrap="square" lIns="45720" tIns="0" rIns="45720" bIns="0" anchor="ctr">
              <a:spAutoFit/>
            </a:bodyPr>
            <a:lstStyle/>
            <a:p>
              <a:pPr algn="ctr"/>
              <a:r>
                <a:rPr sz="2800" b="1" i="0" dirty="0">
                  <a:solidFill>
                    <a:srgbClr val="FFFFFF"/>
                  </a:solidFill>
                  <a:latin typeface="League Spartan"/>
                </a:rPr>
                <a:t>3</a:t>
              </a:r>
            </a:p>
          </p:txBody>
        </p:sp>
        <p:pic>
          <p:nvPicPr>
            <p:cNvPr id="34" name="Picture 33" descr="icon_dvc.png"/>
            <p:cNvPicPr>
              <a:picLocks noChangeAspect="1"/>
            </p:cNvPicPr>
            <p:nvPr/>
          </p:nvPicPr>
          <p:blipFill>
            <a:blip r:embed="rId6"/>
            <a:stretch>
              <a:fillRect/>
            </a:stretch>
          </p:blipFill>
          <p:spPr>
            <a:xfrm>
              <a:off x="5596128" y="5148072"/>
              <a:ext cx="640080" cy="640080"/>
            </a:xfrm>
            <a:prstGeom prst="rect">
              <a:avLst/>
            </a:prstGeom>
          </p:spPr>
        </p:pic>
        <p:sp>
          <p:nvSpPr>
            <p:cNvPr id="35" name="TextBox 34"/>
            <p:cNvSpPr txBox="1"/>
            <p:nvPr/>
          </p:nvSpPr>
          <p:spPr>
            <a:xfrm>
              <a:off x="2240280" y="5239512"/>
              <a:ext cx="3191256"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Reduce DVC</a:t>
              </a:r>
            </a:p>
          </p:txBody>
        </p:sp>
      </p:grpSp>
      <p:grpSp>
        <p:nvGrpSpPr>
          <p:cNvPr id="13" name="Group 12">
            <a:extLst>
              <a:ext uri="{FF2B5EF4-FFF2-40B4-BE49-F238E27FC236}">
                <a16:creationId xmlns:a16="http://schemas.microsoft.com/office/drawing/2014/main" id="{6A217C00-3E30-D579-3B3A-3124DD6B62C9}"/>
              </a:ext>
            </a:extLst>
          </p:cNvPr>
          <p:cNvGrpSpPr/>
          <p:nvPr/>
        </p:nvGrpSpPr>
        <p:grpSpPr>
          <a:xfrm>
            <a:off x="1234440" y="6085332"/>
            <a:ext cx="5001768" cy="731520"/>
            <a:chOff x="1234440" y="6085332"/>
            <a:chExt cx="5001768" cy="731520"/>
          </a:xfrm>
        </p:grpSpPr>
        <p:sp>
          <p:nvSpPr>
            <p:cNvPr id="37" name="Oval 36"/>
            <p:cNvSpPr/>
            <p:nvPr/>
          </p:nvSpPr>
          <p:spPr>
            <a:xfrm>
              <a:off x="1234440" y="608533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234440" y="6235649"/>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4</a:t>
              </a:r>
            </a:p>
          </p:txBody>
        </p:sp>
        <p:pic>
          <p:nvPicPr>
            <p:cNvPr id="39" name="Picture 38" descr="icon_opex.png"/>
            <p:cNvPicPr>
              <a:picLocks noChangeAspect="1"/>
            </p:cNvPicPr>
            <p:nvPr/>
          </p:nvPicPr>
          <p:blipFill>
            <a:blip r:embed="rId7"/>
            <a:stretch>
              <a:fillRect/>
            </a:stretch>
          </p:blipFill>
          <p:spPr>
            <a:xfrm>
              <a:off x="5596128" y="6131052"/>
              <a:ext cx="640080" cy="640080"/>
            </a:xfrm>
            <a:prstGeom prst="rect">
              <a:avLst/>
            </a:prstGeom>
          </p:spPr>
        </p:pic>
        <p:sp>
          <p:nvSpPr>
            <p:cNvPr id="40" name="TextBox 39"/>
            <p:cNvSpPr txBox="1"/>
            <p:nvPr/>
          </p:nvSpPr>
          <p:spPr>
            <a:xfrm>
              <a:off x="2240280" y="6222492"/>
              <a:ext cx="3191256"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Reduce OPEX</a:t>
              </a:r>
            </a:p>
          </p:txBody>
        </p:sp>
      </p:grpSp>
      <p:grpSp>
        <p:nvGrpSpPr>
          <p:cNvPr id="9" name="Group 8">
            <a:extLst>
              <a:ext uri="{FF2B5EF4-FFF2-40B4-BE49-F238E27FC236}">
                <a16:creationId xmlns:a16="http://schemas.microsoft.com/office/drawing/2014/main" id="{E31BCD55-7CF3-7500-DBFE-DF97AE1A3631}"/>
              </a:ext>
            </a:extLst>
          </p:cNvPr>
          <p:cNvGrpSpPr/>
          <p:nvPr/>
        </p:nvGrpSpPr>
        <p:grpSpPr>
          <a:xfrm>
            <a:off x="9235440" y="2066544"/>
            <a:ext cx="8138160" cy="5249834"/>
            <a:chOff x="9235440" y="2066544"/>
            <a:chExt cx="8138160" cy="5249834"/>
          </a:xfrm>
        </p:grpSpPr>
        <p:sp>
          <p:nvSpPr>
            <p:cNvPr id="42" name="Rounded Rectangle 41"/>
            <p:cNvSpPr/>
            <p:nvPr/>
          </p:nvSpPr>
          <p:spPr>
            <a:xfrm>
              <a:off x="9235440" y="2066544"/>
              <a:ext cx="8138160" cy="5249834"/>
            </a:xfrm>
            <a:prstGeom prst="roundRect">
              <a:avLst>
                <a:gd name="adj" fmla="val 4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35440" y="2478024"/>
              <a:ext cx="8138160" cy="365760"/>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235440" y="2066544"/>
              <a:ext cx="8138160" cy="777240"/>
            </a:xfrm>
            <a:prstGeom prst="roundRect">
              <a:avLst>
                <a:gd name="adj" fmla="val 25000"/>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555480" y="2270498"/>
              <a:ext cx="7498080" cy="369332"/>
            </a:xfrm>
            <a:prstGeom prst="rect">
              <a:avLst/>
            </a:prstGeom>
            <a:noFill/>
          </p:spPr>
          <p:txBody>
            <a:bodyPr wrap="square" lIns="45720" tIns="0" rIns="45720" bIns="0" anchor="ctr">
              <a:spAutoFit/>
            </a:bodyPr>
            <a:lstStyle/>
            <a:p>
              <a:pPr algn="l"/>
              <a:r>
                <a:rPr sz="2400" b="1" i="0">
                  <a:solidFill>
                    <a:srgbClr val="FFFFFF"/>
                  </a:solidFill>
                  <a:latin typeface="League Spartan"/>
                </a:rPr>
                <a:t>CASH CONVERSION  ·  3 cash levers</a:t>
              </a:r>
            </a:p>
          </p:txBody>
        </p:sp>
      </p:grpSp>
      <p:grpSp>
        <p:nvGrpSpPr>
          <p:cNvPr id="14" name="Group 13">
            <a:extLst>
              <a:ext uri="{FF2B5EF4-FFF2-40B4-BE49-F238E27FC236}">
                <a16:creationId xmlns:a16="http://schemas.microsoft.com/office/drawing/2014/main" id="{D440FE0F-4D79-319F-E600-F3367FE1ED1A}"/>
              </a:ext>
            </a:extLst>
          </p:cNvPr>
          <p:cNvGrpSpPr/>
          <p:nvPr/>
        </p:nvGrpSpPr>
        <p:grpSpPr>
          <a:xfrm>
            <a:off x="9555480" y="3136392"/>
            <a:ext cx="7123176" cy="731520"/>
            <a:chOff x="9555480" y="3136392"/>
            <a:chExt cx="7123176" cy="731520"/>
          </a:xfrm>
        </p:grpSpPr>
        <p:sp>
          <p:nvSpPr>
            <p:cNvPr id="47" name="Oval 46"/>
            <p:cNvSpPr/>
            <p:nvPr/>
          </p:nvSpPr>
          <p:spPr>
            <a:xfrm>
              <a:off x="9555480" y="313639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555480" y="3286709"/>
              <a:ext cx="731520" cy="430887"/>
            </a:xfrm>
            <a:prstGeom prst="rect">
              <a:avLst/>
            </a:prstGeom>
            <a:noFill/>
          </p:spPr>
          <p:txBody>
            <a:bodyPr wrap="square" lIns="45720" tIns="0" rIns="45720" bIns="0" anchor="ctr">
              <a:spAutoFit/>
            </a:bodyPr>
            <a:lstStyle/>
            <a:p>
              <a:pPr algn="ctr"/>
              <a:r>
                <a:rPr sz="2800" b="1" i="0" dirty="0">
                  <a:solidFill>
                    <a:srgbClr val="FFFFFF"/>
                  </a:solidFill>
                  <a:latin typeface="League Spartan"/>
                </a:rPr>
                <a:t>5</a:t>
              </a:r>
            </a:p>
          </p:txBody>
        </p:sp>
        <p:pic>
          <p:nvPicPr>
            <p:cNvPr id="49" name="Picture 48" descr="icon_dso.png"/>
            <p:cNvPicPr>
              <a:picLocks noChangeAspect="1"/>
            </p:cNvPicPr>
            <p:nvPr/>
          </p:nvPicPr>
          <p:blipFill>
            <a:blip r:embed="rId8"/>
            <a:stretch>
              <a:fillRect/>
            </a:stretch>
          </p:blipFill>
          <p:spPr>
            <a:xfrm>
              <a:off x="16038576" y="3182112"/>
              <a:ext cx="640080" cy="640080"/>
            </a:xfrm>
            <a:prstGeom prst="rect">
              <a:avLst/>
            </a:prstGeom>
          </p:spPr>
        </p:pic>
        <p:sp>
          <p:nvSpPr>
            <p:cNvPr id="50" name="TextBox 49"/>
            <p:cNvSpPr txBox="1"/>
            <p:nvPr/>
          </p:nvSpPr>
          <p:spPr>
            <a:xfrm>
              <a:off x="10451592" y="3273552"/>
              <a:ext cx="5760720"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DSO — Collect Faster</a:t>
              </a:r>
            </a:p>
          </p:txBody>
        </p:sp>
      </p:grpSp>
      <p:grpSp>
        <p:nvGrpSpPr>
          <p:cNvPr id="15" name="Group 14">
            <a:extLst>
              <a:ext uri="{FF2B5EF4-FFF2-40B4-BE49-F238E27FC236}">
                <a16:creationId xmlns:a16="http://schemas.microsoft.com/office/drawing/2014/main" id="{30E385AE-083D-D074-CE11-E66164EBF3D3}"/>
              </a:ext>
            </a:extLst>
          </p:cNvPr>
          <p:cNvGrpSpPr/>
          <p:nvPr/>
        </p:nvGrpSpPr>
        <p:grpSpPr>
          <a:xfrm>
            <a:off x="9555480" y="4443984"/>
            <a:ext cx="7123176" cy="731520"/>
            <a:chOff x="9555480" y="4443984"/>
            <a:chExt cx="7123176" cy="731520"/>
          </a:xfrm>
        </p:grpSpPr>
        <p:sp>
          <p:nvSpPr>
            <p:cNvPr id="52" name="Oval 51"/>
            <p:cNvSpPr/>
            <p:nvPr/>
          </p:nvSpPr>
          <p:spPr>
            <a:xfrm>
              <a:off x="9555480" y="4443984"/>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55480" y="4594301"/>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6</a:t>
              </a:r>
            </a:p>
          </p:txBody>
        </p:sp>
        <p:pic>
          <p:nvPicPr>
            <p:cNvPr id="54" name="Picture 53" descr="icon_dpo.png"/>
            <p:cNvPicPr>
              <a:picLocks noChangeAspect="1"/>
            </p:cNvPicPr>
            <p:nvPr/>
          </p:nvPicPr>
          <p:blipFill>
            <a:blip r:embed="rId9"/>
            <a:stretch>
              <a:fillRect/>
            </a:stretch>
          </p:blipFill>
          <p:spPr>
            <a:xfrm>
              <a:off x="16038576" y="4489703"/>
              <a:ext cx="640080" cy="640080"/>
            </a:xfrm>
            <a:prstGeom prst="rect">
              <a:avLst/>
            </a:prstGeom>
          </p:spPr>
        </p:pic>
        <p:sp>
          <p:nvSpPr>
            <p:cNvPr id="55" name="TextBox 54"/>
            <p:cNvSpPr txBox="1"/>
            <p:nvPr/>
          </p:nvSpPr>
          <p:spPr>
            <a:xfrm>
              <a:off x="10451592" y="4581143"/>
              <a:ext cx="5760720" cy="492443"/>
            </a:xfrm>
            <a:prstGeom prst="rect">
              <a:avLst/>
            </a:prstGeom>
            <a:noFill/>
          </p:spPr>
          <p:txBody>
            <a:bodyPr wrap="square" lIns="45720" tIns="0" rIns="45720" bIns="0" anchor="t">
              <a:spAutoFit/>
            </a:bodyPr>
            <a:lstStyle/>
            <a:p>
              <a:pPr algn="l"/>
              <a:r>
                <a:rPr sz="3200" b="1" i="0">
                  <a:solidFill>
                    <a:srgbClr val="142233"/>
                  </a:solidFill>
                  <a:latin typeface="League Spartan"/>
                </a:rPr>
                <a:t>DPO — Hold Cash Longer</a:t>
              </a:r>
            </a:p>
          </p:txBody>
        </p:sp>
      </p:grpSp>
      <p:grpSp>
        <p:nvGrpSpPr>
          <p:cNvPr id="21" name="Group 20">
            <a:extLst>
              <a:ext uri="{FF2B5EF4-FFF2-40B4-BE49-F238E27FC236}">
                <a16:creationId xmlns:a16="http://schemas.microsoft.com/office/drawing/2014/main" id="{AD140532-BB58-41F7-58A3-206C3EA78D4F}"/>
              </a:ext>
            </a:extLst>
          </p:cNvPr>
          <p:cNvGrpSpPr/>
          <p:nvPr/>
        </p:nvGrpSpPr>
        <p:grpSpPr>
          <a:xfrm>
            <a:off x="9555480" y="5751575"/>
            <a:ext cx="7123176" cy="731520"/>
            <a:chOff x="9555480" y="5751575"/>
            <a:chExt cx="7123176" cy="731520"/>
          </a:xfrm>
        </p:grpSpPr>
        <p:sp>
          <p:nvSpPr>
            <p:cNvPr id="57" name="Oval 56"/>
            <p:cNvSpPr/>
            <p:nvPr/>
          </p:nvSpPr>
          <p:spPr>
            <a:xfrm>
              <a:off x="9555480" y="5751575"/>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55480" y="5901892"/>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7</a:t>
              </a:r>
            </a:p>
          </p:txBody>
        </p:sp>
        <p:pic>
          <p:nvPicPr>
            <p:cNvPr id="59" name="Picture 58" descr="icon_dio.png"/>
            <p:cNvPicPr>
              <a:picLocks noChangeAspect="1"/>
            </p:cNvPicPr>
            <p:nvPr/>
          </p:nvPicPr>
          <p:blipFill>
            <a:blip r:embed="rId10"/>
            <a:stretch>
              <a:fillRect/>
            </a:stretch>
          </p:blipFill>
          <p:spPr>
            <a:xfrm>
              <a:off x="16038576" y="5797295"/>
              <a:ext cx="640080" cy="640080"/>
            </a:xfrm>
            <a:prstGeom prst="rect">
              <a:avLst/>
            </a:prstGeom>
          </p:spPr>
        </p:pic>
        <p:sp>
          <p:nvSpPr>
            <p:cNvPr id="60" name="TextBox 59"/>
            <p:cNvSpPr txBox="1"/>
            <p:nvPr/>
          </p:nvSpPr>
          <p:spPr>
            <a:xfrm>
              <a:off x="10451592" y="5888735"/>
              <a:ext cx="5760720"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DIO — Move Inventory Faster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50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2500"/>
                            </p:stCondLst>
                            <p:childTnLst>
                              <p:par>
                                <p:cTn id="14" presetID="5" presetClass="entr" presetSubtype="10" fill="hold" nodeType="afterEffect">
                                  <p:stCondLst>
                                    <p:cond delay="50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1000"/>
                                        <p:tgtEl>
                                          <p:spTgt spid="8"/>
                                        </p:tgtEl>
                                      </p:cBhvr>
                                    </p:animEffect>
                                  </p:childTnLst>
                                </p:cTn>
                              </p:par>
                            </p:childTnLst>
                          </p:cTn>
                        </p:par>
                        <p:par>
                          <p:cTn id="17" fill="hold">
                            <p:stCondLst>
                              <p:cond delay="4000"/>
                            </p:stCondLst>
                            <p:childTnLst>
                              <p:par>
                                <p:cTn id="18" presetID="5" presetClass="entr" presetSubtype="10" fill="hold" nodeType="afterEffect">
                                  <p:stCondLst>
                                    <p:cond delay="500"/>
                                  </p:stCondLst>
                                  <p:childTnLst>
                                    <p:set>
                                      <p:cBhvr>
                                        <p:cTn id="19" dur="1" fill="hold">
                                          <p:stCondLst>
                                            <p:cond delay="0"/>
                                          </p:stCondLst>
                                        </p:cTn>
                                        <p:tgtEl>
                                          <p:spTgt spid="9"/>
                                        </p:tgtEl>
                                        <p:attrNameLst>
                                          <p:attrName>style.visibility</p:attrName>
                                        </p:attrNameLst>
                                      </p:cBhvr>
                                      <p:to>
                                        <p:strVal val="visible"/>
                                      </p:to>
                                    </p:set>
                                    <p:animEffect transition="in" filter="checkerboard(across)">
                                      <p:cBhvr>
                                        <p:cTn id="20" dur="1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50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50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50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50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500"/>
                                  </p:stCondLst>
                                  <p:childTnLst>
                                    <p:set>
                                      <p:cBhvr>
                                        <p:cTn id="49" dur="1" fill="hold">
                                          <p:stCondLst>
                                            <p:cond delay="0"/>
                                          </p:stCondLst>
                                        </p:cTn>
                                        <p:tgtEl>
                                          <p:spTgt spid="15"/>
                                        </p:tgtEl>
                                        <p:attrNameLst>
                                          <p:attrName>style.visibility</p:attrName>
                                        </p:attrNameLst>
                                      </p:cBhvr>
                                      <p:to>
                                        <p:strVal val="visible"/>
                                      </p:to>
                                    </p:set>
                                    <p:animEffect transition="in" filter="blinds(horizontal)">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500"/>
                                  </p:stCondLst>
                                  <p:childTnLst>
                                    <p:set>
                                      <p:cBhvr>
                                        <p:cTn id="54" dur="1" fill="hold">
                                          <p:stCondLst>
                                            <p:cond delay="0"/>
                                          </p:stCondLst>
                                        </p:cTn>
                                        <p:tgtEl>
                                          <p:spTgt spid="21"/>
                                        </p:tgtEl>
                                        <p:attrNameLst>
                                          <p:attrName>style.visibility</p:attrName>
                                        </p:attrNameLst>
                                      </p:cBhvr>
                                      <p:to>
                                        <p:strVal val="visible"/>
                                      </p:to>
                                    </p:set>
                                    <p:animEffect transition="in" filter="blinds(horizontal)">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500"/>
                                  </p:stCondLst>
                                  <p:childTnLst>
                                    <p:set>
                                      <p:cBhvr>
                                        <p:cTn id="59" dur="1" fill="hold">
                                          <p:stCondLst>
                                            <p:cond delay="0"/>
                                          </p:stCondLst>
                                        </p:cTn>
                                        <p:tgtEl>
                                          <p:spTgt spid="26"/>
                                        </p:tgtEl>
                                        <p:attrNameLst>
                                          <p:attrName>style.visibility</p:attrName>
                                        </p:attrNameLst>
                                      </p:cBhvr>
                                      <p:to>
                                        <p:strVal val="visible"/>
                                      </p:to>
                                    </p:set>
                                    <p:animEffect transition="in" filter="blinds(horizontal)">
                                      <p:cBhvr>
                                        <p:cTn id="60" dur="1000"/>
                                        <p:tgtEl>
                                          <p:spTgt spid="26"/>
                                        </p:tgtEl>
                                      </p:cBhvr>
                                    </p:animEffect>
                                  </p:childTnLst>
                                </p:cTn>
                              </p:par>
                            </p:childTnLst>
                          </p:cTn>
                        </p:par>
                        <p:par>
                          <p:cTn id="61" fill="hold">
                            <p:stCondLst>
                              <p:cond delay="1500"/>
                            </p:stCondLst>
                            <p:childTnLst>
                              <p:par>
                                <p:cTn id="62" presetID="3" presetClass="entr" presetSubtype="10" fill="hold" nodeType="afterEffect">
                                  <p:stCondLst>
                                    <p:cond delay="500"/>
                                  </p:stCondLst>
                                  <p:childTnLst>
                                    <p:set>
                                      <p:cBhvr>
                                        <p:cTn id="63" dur="1" fill="hold">
                                          <p:stCondLst>
                                            <p:cond delay="0"/>
                                          </p:stCondLst>
                                        </p:cTn>
                                        <p:tgtEl>
                                          <p:spTgt spid="31"/>
                                        </p:tgtEl>
                                        <p:attrNameLst>
                                          <p:attrName>style.visibility</p:attrName>
                                        </p:attrNameLst>
                                      </p:cBhvr>
                                      <p:to>
                                        <p:strVal val="visible"/>
                                      </p:to>
                                    </p:set>
                                    <p:animEffect transition="in" filter="blinds(horizontal)">
                                      <p:cBhvr>
                                        <p:cTn id="6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hp2-2.png"/>
          <p:cNvPicPr>
            <a:picLocks noChangeAspect="1"/>
          </p:cNvPicPr>
          <p:nvPr/>
        </p:nvPicPr>
        <p:blipFill>
          <a:blip r:embed="rId3"/>
          <a:stretch>
            <a:fillRect/>
          </a:stretch>
        </p:blipFill>
        <p:spPr>
          <a:xfrm>
            <a:off x="950976" y="2414016"/>
            <a:ext cx="8677656" cy="6647688"/>
          </a:xfrm>
          <a:prstGeom prst="rect">
            <a:avLst/>
          </a:prstGeom>
        </p:spPr>
      </p:pic>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4" y="1219147"/>
            <a:ext cx="13543036"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7 Power Moves  —  Handout, Page 2</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a:bodyPr>
          <a:lstStyle/>
          <a:p>
            <a:pPr>
              <a:spcAft>
                <a:spcPts val="2400"/>
              </a:spcAft>
              <a:buClr>
                <a:srgbClr val="FF7900"/>
              </a:buClr>
              <a:buSzPct val="110000"/>
            </a:pPr>
            <a:r>
              <a:rPr lang="en-US" sz="3600" b="1" dirty="0">
                <a:latin typeface="League Spartan" pitchFamily="2" charset="77"/>
                <a:ea typeface="Arial" pitchFamily="34" charset="-122"/>
                <a:cs typeface="Arial" pitchFamily="34" charset="-120"/>
              </a:rPr>
              <a:t>Handout, page 2 — seven moves, the math for each one</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We'll walk through all seven, one at a time</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As we go: run the math on YOUR numbers — best guess</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Write the $ in the box. We rank them at the end.</a:t>
            </a:r>
          </a:p>
        </p:txBody>
      </p:sp>
      <p:sp>
        <p:nvSpPr>
          <p:cNvPr id="10" name="Rounded Rectangle 9">
            <a:extLst>
              <a:ext uri="{FF2B5EF4-FFF2-40B4-BE49-F238E27FC236}">
                <a16:creationId xmlns:a16="http://schemas.microsoft.com/office/drawing/2014/main" id="{305C8AAF-7A04-180B-224D-606D0FCDEFC2}"/>
              </a:ext>
            </a:extLst>
          </p:cNvPr>
          <p:cNvSpPr/>
          <p:nvPr/>
        </p:nvSpPr>
        <p:spPr>
          <a:xfrm>
            <a:off x="687420" y="3332339"/>
            <a:ext cx="9131585" cy="3969493"/>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2733C519-4375-CF92-B993-C92F74959C61}"/>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pic>
        <p:nvPicPr>
          <p:cNvPr id="20" name="Picture 19"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2000"/>
                            </p:stCondLst>
                            <p:childTnLst>
                              <p:par>
                                <p:cTn id="11" presetID="5" presetClass="entr" presetSubtype="10" fill="hold" nodeType="afterEffect">
                                  <p:stCondLst>
                                    <p:cond delay="50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2000"/>
                                        <p:tgtEl>
                                          <p:spTgt spid="18"/>
                                        </p:tgtEl>
                                      </p:cBhvr>
                                    </p:animEffect>
                                  </p:childTnLst>
                                </p:cTn>
                              </p:par>
                            </p:childTnLst>
                          </p:cTn>
                        </p:par>
                        <p:par>
                          <p:cTn id="14" fill="hold">
                            <p:stCondLst>
                              <p:cond delay="4500"/>
                            </p:stCondLst>
                            <p:childTnLst>
                              <p:par>
                                <p:cTn id="15" presetID="1" presetClass="entr" presetSubtype="0" fill="hold" grpId="0" nodeType="afterEffect">
                                  <p:stCondLst>
                                    <p:cond delay="200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6500"/>
                            </p:stCondLst>
                            <p:childTnLst>
                              <p:par>
                                <p:cTn id="18" presetID="1" presetClass="entr" presetSubtype="0" fill="hold" nodeType="afterEffect">
                                  <p:stCondLst>
                                    <p:cond delay="2000"/>
                                  </p:stCondLst>
                                  <p:childTnLst>
                                    <p:set>
                                      <p:cBhvr>
                                        <p:cTn id="19" dur="1" fill="hold">
                                          <p:stCondLst>
                                            <p:cond delay="0"/>
                                          </p:stCondLst>
                                        </p:cTn>
                                        <p:tgtEl>
                                          <p:spTgt spid="17">
                                            <p:txEl>
                                              <p:pRg st="0" end="0"/>
                                            </p:txEl>
                                          </p:spTgt>
                                        </p:tgtEl>
                                        <p:attrNameLst>
                                          <p:attrName>style.visibility</p:attrName>
                                        </p:attrNameLst>
                                      </p:cBhvr>
                                      <p:to>
                                        <p:strVal val="visible"/>
                                      </p:to>
                                    </p:set>
                                  </p:childTnLst>
                                </p:cTn>
                              </p:par>
                            </p:childTnLst>
                          </p:cTn>
                        </p:par>
                        <p:par>
                          <p:cTn id="20" fill="hold">
                            <p:stCondLst>
                              <p:cond delay="8500"/>
                            </p:stCondLst>
                            <p:childTnLst>
                              <p:par>
                                <p:cTn id="21" presetID="1" presetClass="entr" presetSubtype="0" fill="hold" nodeType="afterEffect">
                                  <p:stCondLst>
                                    <p:cond delay="2000"/>
                                  </p:stCondLst>
                                  <p:childTnLst>
                                    <p:set>
                                      <p:cBhvr>
                                        <p:cTn id="22" dur="1" fill="hold">
                                          <p:stCondLst>
                                            <p:cond delay="0"/>
                                          </p:stCondLst>
                                        </p:cTn>
                                        <p:tgtEl>
                                          <p:spTgt spid="17">
                                            <p:txEl>
                                              <p:pRg st="1" end="1"/>
                                            </p:txEl>
                                          </p:spTgt>
                                        </p:tgtEl>
                                        <p:attrNameLst>
                                          <p:attrName>style.visibility</p:attrName>
                                        </p:attrNameLst>
                                      </p:cBhvr>
                                      <p:to>
                                        <p:strVal val="visible"/>
                                      </p:to>
                                    </p:set>
                                  </p:childTnLst>
                                </p:cTn>
                              </p:par>
                            </p:childTnLst>
                          </p:cTn>
                        </p:par>
                        <p:par>
                          <p:cTn id="23" fill="hold">
                            <p:stCondLst>
                              <p:cond delay="10500"/>
                            </p:stCondLst>
                            <p:childTnLst>
                              <p:par>
                                <p:cTn id="24" presetID="1" presetClass="entr" presetSubtype="0" fill="hold" nodeType="afterEffect">
                                  <p:stCondLst>
                                    <p:cond delay="2000"/>
                                  </p:stCondLst>
                                  <p:childTnLst>
                                    <p:set>
                                      <p:cBhvr>
                                        <p:cTn id="25" dur="1" fill="hold">
                                          <p:stCondLst>
                                            <p:cond delay="0"/>
                                          </p:stCondLst>
                                        </p:cTn>
                                        <p:tgtEl>
                                          <p:spTgt spid="17">
                                            <p:txEl>
                                              <p:pRg st="2" end="2"/>
                                            </p:txEl>
                                          </p:spTgt>
                                        </p:tgtEl>
                                        <p:attrNameLst>
                                          <p:attrName>style.visibility</p:attrName>
                                        </p:attrNameLst>
                                      </p:cBhvr>
                                      <p:to>
                                        <p:strVal val="visible"/>
                                      </p:to>
                                    </p:set>
                                  </p:childTnLst>
                                </p:cTn>
                              </p:par>
                            </p:childTnLst>
                          </p:cTn>
                        </p:par>
                        <p:par>
                          <p:cTn id="26" fill="hold">
                            <p:stCondLst>
                              <p:cond delay="12500"/>
                            </p:stCondLst>
                            <p:childTnLst>
                              <p:par>
                                <p:cTn id="27" presetID="1" presetClass="entr" presetSubtype="0" fill="hold" nodeType="afterEffect">
                                  <p:stCondLst>
                                    <p:cond delay="2000"/>
                                  </p:stCondLst>
                                  <p:childTnLst>
                                    <p:set>
                                      <p:cBhvr>
                                        <p:cTn id="2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FE09002F-F946-A669-2C29-682E67F753E0}"/>
              </a:ext>
            </a:extLst>
          </p:cNvPr>
          <p:cNvGrpSpPr/>
          <p:nvPr/>
        </p:nvGrpSpPr>
        <p:grpSpPr>
          <a:xfrm>
            <a:off x="1271016" y="2606040"/>
            <a:ext cx="8138159" cy="3246120"/>
            <a:chOff x="1271016" y="2606040"/>
            <a:chExt cx="8138159" cy="3246120"/>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dirty="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Raise the price. Stop giving it away. Every dollar of price is a dollar of gross profit — no cost attached to it.</a:t>
              </a:r>
            </a:p>
          </p:txBody>
        </p:sp>
      </p:grpSp>
      <p:grpSp>
        <p:nvGrpSpPr>
          <p:cNvPr id="38" name="Group 37">
            <a:extLst>
              <a:ext uri="{FF2B5EF4-FFF2-40B4-BE49-F238E27FC236}">
                <a16:creationId xmlns:a16="http://schemas.microsoft.com/office/drawing/2014/main" id="{7680571B-581E-96EB-28CB-C61FD995981F}"/>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dirty="0">
                  <a:solidFill>
                    <a:srgbClr val="142233"/>
                  </a:solidFill>
                  <a:latin typeface="League Spartan"/>
                </a:rPr>
                <a:t>The hardest gearing of all seven — and the only dial with no undo.</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B1836550-8659-C07D-27AA-7B68B154F552}"/>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$10M BUSINESS, 50% MARGIN</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dirty="0">
                  <a:solidFill>
                    <a:srgbClr val="FFFFFF"/>
                  </a:solidFill>
                  <a:latin typeface="League Spartan"/>
                </a:rPr>
                <a:t>+1% price</a:t>
              </a:r>
              <a:r>
                <a:rPr sz="2200" b="0" i="0" dirty="0">
                  <a:solidFill>
                    <a:srgbClr val="E5E8EB"/>
                  </a:solidFill>
                  <a:latin typeface="League Spartan"/>
                </a:rPr>
                <a:t>  ×  $10M revenue</a:t>
              </a:r>
            </a:p>
            <a:p>
              <a:pPr algn="l">
                <a:lnSpc>
                  <a:spcPct val="130000"/>
                </a:lnSpc>
              </a:pPr>
              <a:r>
                <a:rPr sz="3200" b="1" i="0" dirty="0">
                  <a:solidFill>
                    <a:srgbClr val="FF7900"/>
                  </a:solidFill>
                  <a:latin typeface="League Spartan"/>
                </a:rPr>
                <a:t>= +$100,000</a:t>
              </a:r>
              <a:r>
                <a:rPr sz="2200" b="0" i="0" dirty="0">
                  <a:solidFill>
                    <a:srgbClr val="E5E8EB"/>
                  </a:solidFill>
                  <a:latin typeface="League Spartan"/>
                </a:rPr>
                <a:t> gross profit — 100% drops through</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THREE PLAYS</a:t>
            </a:r>
          </a:p>
        </p:txBody>
      </p:sp>
      <p:grpSp>
        <p:nvGrpSpPr>
          <p:cNvPr id="46" name="Group 45">
            <a:extLst>
              <a:ext uri="{FF2B5EF4-FFF2-40B4-BE49-F238E27FC236}">
                <a16:creationId xmlns:a16="http://schemas.microsoft.com/office/drawing/2014/main" id="{A2FB41FB-BF4E-798F-CCD4-39791685002A}"/>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dirty="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Be bold</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Annual rate review. Tiered pricing. Sell outcomes, not hours.</a:t>
              </a:r>
            </a:p>
          </p:txBody>
        </p:sp>
      </p:grpSp>
      <p:grpSp>
        <p:nvGrpSpPr>
          <p:cNvPr id="47" name="Group 46">
            <a:extLst>
              <a:ext uri="{FF2B5EF4-FFF2-40B4-BE49-F238E27FC236}">
                <a16:creationId xmlns:a16="http://schemas.microsoft.com/office/drawing/2014/main" id="{4A53ECC9-C61E-AA73-5E34-73083362CF5C}"/>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Fix the leaks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Kill the low-value discounts. Put an approval on every exception.</a:t>
              </a:r>
            </a:p>
          </p:txBody>
        </p:sp>
      </p:grpSp>
      <p:grpSp>
        <p:nvGrpSpPr>
          <p:cNvPr id="42" name="Group 41">
            <a:extLst>
              <a:ext uri="{FF2B5EF4-FFF2-40B4-BE49-F238E27FC236}">
                <a16:creationId xmlns:a16="http://schemas.microsoft.com/office/drawing/2014/main" id="{3852F2D2-28DC-12A8-9CD8-AF96DE5B33D0}"/>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Prove the value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If you can prove it, you can price it.</a:t>
              </a:r>
            </a:p>
          </p:txBody>
        </p:sp>
      </p:grpSp>
      <p:grpSp>
        <p:nvGrpSpPr>
          <p:cNvPr id="43" name="Group 42">
            <a:extLst>
              <a:ext uri="{FF2B5EF4-FFF2-40B4-BE49-F238E27FC236}">
                <a16:creationId xmlns:a16="http://schemas.microsoft.com/office/drawing/2014/main" id="{A246734F-8F42-C516-8207-0C12CA786E23}"/>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One unit of courage buys three units of strength.</a:t>
              </a:r>
            </a:p>
            <a:p>
              <a:pPr algn="ctr">
                <a:lnSpc>
                  <a:spcPct val="110000"/>
                </a:lnSpc>
              </a:pPr>
              <a:r>
                <a:rPr sz="2400" b="0" i="1" dirty="0">
                  <a:solidFill>
                    <a:srgbClr val="303B4F"/>
                  </a:solidFill>
                  <a:latin typeface="League Spartan"/>
                </a:rPr>
                <a:t>Deep dive coming — the excuses, the math, and the tables.</a:t>
              </a:r>
            </a:p>
          </p:txBody>
        </p:sp>
      </p:grpSp>
      <p:grpSp>
        <p:nvGrpSpPr>
          <p:cNvPr id="45" name="Group 44">
            <a:extLst>
              <a:ext uri="{FF2B5EF4-FFF2-40B4-BE49-F238E27FC236}">
                <a16:creationId xmlns:a16="http://schemas.microsoft.com/office/drawing/2014/main" id="{E460C4FC-6E69-0F73-4F78-7363FCE70146}"/>
              </a:ext>
            </a:extLst>
          </p:cNvPr>
          <p:cNvGrpSpPr/>
          <p:nvPr/>
        </p:nvGrpSpPr>
        <p:grpSpPr>
          <a:xfrm>
            <a:off x="950976" y="758952"/>
            <a:ext cx="17291304" cy="1181076"/>
            <a:chOff x="950976" y="758952"/>
            <a:chExt cx="17291304" cy="1181076"/>
          </a:xfrm>
        </p:grpSpPr>
        <p:grpSp>
          <p:nvGrpSpPr>
            <p:cNvPr id="4" name="Group 3">
              <a:extLst>
                <a:ext uri="{FF2B5EF4-FFF2-40B4-BE49-F238E27FC236}">
                  <a16:creationId xmlns:a16="http://schemas.microsoft.com/office/drawing/2014/main" id="{36970102-96AD-6812-B833-496A6FB623BB}"/>
                </a:ext>
              </a:extLst>
            </p:cNvPr>
            <p:cNvGrpSpPr/>
            <p:nvPr/>
          </p:nvGrpSpPr>
          <p:grpSpPr>
            <a:xfrm>
              <a:off x="950976" y="758952"/>
              <a:ext cx="17291304" cy="1181076"/>
              <a:chOff x="950976" y="758952"/>
              <a:chExt cx="17291304" cy="118107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Increase Price</a:t>
                </a:r>
                <a:endParaRPr lang="en-US" sz="4800" dirty="0">
                  <a:latin typeface="League Spartan" pitchFamily="2" charset="77"/>
                </a:endParaRPr>
              </a:p>
            </p:txBody>
          </p:sp>
          <p:sp>
            <p:nvSpPr>
              <p:cNvPr id="6" name="TextBox 5"/>
              <p:cNvSpPr txBox="1"/>
              <p:nvPr/>
            </p:nvSpPr>
            <p:spPr>
              <a:xfrm>
                <a:off x="1965960" y="148282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Be bold  ·  Fix the leaks</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1</a:t>
                </a:r>
              </a:p>
            </p:txBody>
          </p:sp>
        </p:gr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1000"/>
                                        <p:tgtEl>
                                          <p:spTgt spid="7"/>
                                        </p:tgtEl>
                                      </p:cBhvr>
                                    </p:animEffect>
                                  </p:childTnLst>
                                </p:cTn>
                              </p:par>
                            </p:childTnLst>
                          </p:cTn>
                        </p:par>
                        <p:par>
                          <p:cTn id="11" fill="hold">
                            <p:stCondLst>
                              <p:cond delay="2000"/>
                            </p:stCondLst>
                            <p:childTnLst>
                              <p:par>
                                <p:cTn id="12" presetID="5" presetClass="entr" presetSubtype="5"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1000"/>
                                        <p:tgtEl>
                                          <p:spTgt spid="15"/>
                                        </p:tgtEl>
                                      </p:cBhvr>
                                    </p:animEffect>
                                  </p:childTnLst>
                                </p:cTn>
                              </p:par>
                            </p:childTnLst>
                          </p:cTn>
                        </p:par>
                        <p:par>
                          <p:cTn id="15" fill="hold">
                            <p:stCondLst>
                              <p:cond delay="3000"/>
                            </p:stCondLst>
                            <p:childTnLst>
                              <p:par>
                                <p:cTn id="16" presetID="5" presetClass="entr" presetSubtype="5"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1000"/>
                                        <p:tgtEl>
                                          <p:spTgt spid="18"/>
                                        </p:tgtEl>
                                      </p:cBhvr>
                                    </p:animEffect>
                                  </p:childTnLst>
                                </p:cTn>
                              </p:par>
                            </p:childTnLst>
                          </p:cTn>
                        </p:par>
                        <p:par>
                          <p:cTn id="19" fill="hold">
                            <p:stCondLst>
                              <p:cond delay="40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10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100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1000"/>
                                  </p:stCondLst>
                                  <p:childTnLst>
                                    <p:set>
                                      <p:cBhvr>
                                        <p:cTn id="36" dur="1" fill="hold">
                                          <p:stCondLst>
                                            <p:cond delay="0"/>
                                          </p:stCondLst>
                                        </p:cTn>
                                        <p:tgtEl>
                                          <p:spTgt spid="19"/>
                                        </p:tgtEl>
                                        <p:attrNameLst>
                                          <p:attrName>style.visibility</p:attrName>
                                        </p:attrNameLst>
                                      </p:cBhvr>
                                      <p:to>
                                        <p:strVal val="visible"/>
                                      </p:to>
                                    </p:set>
                                  </p:childTnLst>
                                </p:cTn>
                              </p:par>
                            </p:childTnLst>
                          </p:cTn>
                        </p:par>
                        <p:par>
                          <p:cTn id="37" fill="hold">
                            <p:stCondLst>
                              <p:cond delay="1000"/>
                            </p:stCondLst>
                            <p:childTnLst>
                              <p:par>
                                <p:cTn id="38" presetID="3" presetClass="entr" presetSubtype="10" fill="hold" nodeType="afterEffect">
                                  <p:stCondLst>
                                    <p:cond delay="2000"/>
                                  </p:stCondLst>
                                  <p:childTnLst>
                                    <p:set>
                                      <p:cBhvr>
                                        <p:cTn id="39" dur="1" fill="hold">
                                          <p:stCondLst>
                                            <p:cond delay="0"/>
                                          </p:stCondLst>
                                        </p:cTn>
                                        <p:tgtEl>
                                          <p:spTgt spid="46"/>
                                        </p:tgtEl>
                                        <p:attrNameLst>
                                          <p:attrName>style.visibility</p:attrName>
                                        </p:attrNameLst>
                                      </p:cBhvr>
                                      <p:to>
                                        <p:strVal val="visible"/>
                                      </p:to>
                                    </p:set>
                                    <p:animEffect transition="in" filter="blinds(horizontal)">
                                      <p:cBhvr>
                                        <p:cTn id="40" dur="500"/>
                                        <p:tgtEl>
                                          <p:spTgt spid="46"/>
                                        </p:tgtEl>
                                      </p:cBhvr>
                                    </p:animEffect>
                                  </p:childTnLst>
                                </p:cTn>
                              </p:par>
                            </p:childTnLst>
                          </p:cTn>
                        </p:par>
                        <p:par>
                          <p:cTn id="41" fill="hold">
                            <p:stCondLst>
                              <p:cond delay="3500"/>
                            </p:stCondLst>
                            <p:childTnLst>
                              <p:par>
                                <p:cTn id="42" presetID="3" presetClass="entr" presetSubtype="10" fill="hold" nodeType="afterEffect">
                                  <p:stCondLst>
                                    <p:cond delay="2000"/>
                                  </p:stCondLst>
                                  <p:childTnLst>
                                    <p:set>
                                      <p:cBhvr>
                                        <p:cTn id="43" dur="1" fill="hold">
                                          <p:stCondLst>
                                            <p:cond delay="0"/>
                                          </p:stCondLst>
                                        </p:cTn>
                                        <p:tgtEl>
                                          <p:spTgt spid="47"/>
                                        </p:tgtEl>
                                        <p:attrNameLst>
                                          <p:attrName>style.visibility</p:attrName>
                                        </p:attrNameLst>
                                      </p:cBhvr>
                                      <p:to>
                                        <p:strVal val="visible"/>
                                      </p:to>
                                    </p:set>
                                    <p:animEffect transition="in" filter="blinds(horizontal)">
                                      <p:cBhvr>
                                        <p:cTn id="44" dur="500"/>
                                        <p:tgtEl>
                                          <p:spTgt spid="47"/>
                                        </p:tgtEl>
                                      </p:cBhvr>
                                    </p:animEffect>
                                  </p:childTnLst>
                                </p:cTn>
                              </p:par>
                            </p:childTnLst>
                          </p:cTn>
                        </p:par>
                        <p:par>
                          <p:cTn id="45" fill="hold">
                            <p:stCondLst>
                              <p:cond delay="6000"/>
                            </p:stCondLst>
                            <p:childTnLst>
                              <p:par>
                                <p:cTn id="46" presetID="3" presetClass="entr" presetSubtype="10" fill="hold" nodeType="afterEffect">
                                  <p:stCondLst>
                                    <p:cond delay="2000"/>
                                  </p:stCondLst>
                                  <p:childTnLst>
                                    <p:set>
                                      <p:cBhvr>
                                        <p:cTn id="47" dur="1" fill="hold">
                                          <p:stCondLst>
                                            <p:cond delay="0"/>
                                          </p:stCondLst>
                                        </p:cTn>
                                        <p:tgtEl>
                                          <p:spTgt spid="42"/>
                                        </p:tgtEl>
                                        <p:attrNameLst>
                                          <p:attrName>style.visibility</p:attrName>
                                        </p:attrNameLst>
                                      </p:cBhvr>
                                      <p:to>
                                        <p:strVal val="visible"/>
                                      </p:to>
                                    </p:set>
                                    <p:animEffect transition="in" filter="blinds(horizontal)">
                                      <p:cBhvr>
                                        <p:cTn id="48" dur="500"/>
                                        <p:tgtEl>
                                          <p:spTgt spid="42"/>
                                        </p:tgtEl>
                                      </p:cBhvr>
                                    </p:animEffect>
                                  </p:childTnLst>
                                </p:cTn>
                              </p:par>
                            </p:childTnLst>
                          </p:cTn>
                        </p:par>
                        <p:par>
                          <p:cTn id="49" fill="hold">
                            <p:stCondLst>
                              <p:cond delay="8500"/>
                            </p:stCondLst>
                            <p:childTnLst>
                              <p:par>
                                <p:cTn id="50" presetID="3" presetClass="entr" presetSubtype="10" fill="hold" nodeType="afterEffect">
                                  <p:stCondLst>
                                    <p:cond delay="2000"/>
                                  </p:stCondLst>
                                  <p:childTnLst>
                                    <p:set>
                                      <p:cBhvr>
                                        <p:cTn id="51" dur="1" fill="hold">
                                          <p:stCondLst>
                                            <p:cond delay="0"/>
                                          </p:stCondLst>
                                        </p:cTn>
                                        <p:tgtEl>
                                          <p:spTgt spid="43"/>
                                        </p:tgtEl>
                                        <p:attrNameLst>
                                          <p:attrName>style.visibility</p:attrName>
                                        </p:attrNameLst>
                                      </p:cBhvr>
                                      <p:to>
                                        <p:strVal val="visible"/>
                                      </p:to>
                                    </p:set>
                                    <p:animEffect transition="in" filter="blinds(horizontal)">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130B9651-4480-7A20-911C-BF58DD25987F}"/>
              </a:ext>
            </a:extLst>
          </p:cNvPr>
          <p:cNvGrpSpPr/>
          <p:nvPr/>
        </p:nvGrpSpPr>
        <p:grpSpPr>
          <a:xfrm>
            <a:off x="1271016" y="2606040"/>
            <a:ext cx="8138159" cy="2381984"/>
            <a:chOff x="1271016" y="2606040"/>
            <a:chExt cx="8138159" cy="2381984"/>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dirty="0">
                  <a:solidFill>
                    <a:srgbClr val="FF7900"/>
                  </a:solidFill>
                  <a:latin typeface="League Spartan"/>
                </a:rPr>
                <a:t>THE MOVE</a:t>
              </a:r>
            </a:p>
          </p:txBody>
        </p:sp>
        <p:sp>
          <p:nvSpPr>
            <p:cNvPr id="12" name="TextBox 11"/>
            <p:cNvSpPr txBox="1"/>
            <p:nvPr/>
          </p:nvSpPr>
          <p:spPr>
            <a:xfrm>
              <a:off x="1271016" y="3566160"/>
              <a:ext cx="7223759" cy="1421864"/>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Revenue = Customers × Units × Price. </a:t>
              </a:r>
              <a:endParaRPr lang="en-US" sz="2800" b="0" i="0" dirty="0">
                <a:solidFill>
                  <a:srgbClr val="142233"/>
                </a:solidFill>
                <a:latin typeface="League Spartan"/>
              </a:endParaRPr>
            </a:p>
            <a:p>
              <a:pPr algn="l">
                <a:lnSpc>
                  <a:spcPct val="112000"/>
                </a:lnSpc>
              </a:pPr>
              <a:r>
                <a:rPr sz="2800" b="0" i="0" dirty="0">
                  <a:solidFill>
                    <a:srgbClr val="142233"/>
                  </a:solidFill>
                  <a:latin typeface="League Spartan"/>
                </a:rPr>
                <a:t>You don't grow revenue — you grow one of the three things that produce it.</a:t>
              </a:r>
            </a:p>
          </p:txBody>
        </p:sp>
      </p:grpSp>
      <p:grpSp>
        <p:nvGrpSpPr>
          <p:cNvPr id="38" name="Group 37">
            <a:extLst>
              <a:ext uri="{FF2B5EF4-FFF2-40B4-BE49-F238E27FC236}">
                <a16:creationId xmlns:a16="http://schemas.microsoft.com/office/drawing/2014/main" id="{4846227F-C8A6-B267-B30E-26197A68FA33}"/>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Small moves on three levers, multiplied, equal big revenue.</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942A4478-F66B-5177-5FB1-24F486C7A213}"/>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THREE SMALL MOVES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100 × 5 × $500</a:t>
              </a:r>
              <a:r>
                <a:rPr sz="2200" b="0" i="0">
                  <a:solidFill>
                    <a:srgbClr val="E5E8EB"/>
                  </a:solidFill>
                  <a:latin typeface="League Spartan"/>
                </a:rPr>
                <a:t>  =  $250,000 today</a:t>
              </a:r>
            </a:p>
            <a:p>
              <a:pPr algn="l">
                <a:lnSpc>
                  <a:spcPct val="130000"/>
                </a:lnSpc>
              </a:pPr>
              <a:r>
                <a:rPr sz="3200" b="1" i="0">
                  <a:solidFill>
                    <a:srgbClr val="FF7900"/>
                  </a:solidFill>
                  <a:latin typeface="League Spartan"/>
                </a:rPr>
                <a:t>120 × 6 × $550</a:t>
              </a:r>
              <a:r>
                <a:rPr sz="2200" b="0" i="0">
                  <a:solidFill>
                    <a:srgbClr val="E5E8EB"/>
                  </a:solidFill>
                  <a:latin typeface="League Spartan"/>
                </a:rPr>
                <a:t>  =  $396,000   →  +58%</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grpSp>
        <p:nvGrpSpPr>
          <p:cNvPr id="40" name="Group 39">
            <a:extLst>
              <a:ext uri="{FF2B5EF4-FFF2-40B4-BE49-F238E27FC236}">
                <a16:creationId xmlns:a16="http://schemas.microsoft.com/office/drawing/2014/main" id="{E1F6F89F-9BB7-4010-9922-3A4CE5F80D48}"/>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Customers</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Win-back calls. Referrals. The list of people who bought once.</a:t>
              </a:r>
            </a:p>
          </p:txBody>
        </p:sp>
      </p:grpSp>
      <p:grpSp>
        <p:nvGrpSpPr>
          <p:cNvPr id="41" name="Group 40">
            <a:extLst>
              <a:ext uri="{FF2B5EF4-FFF2-40B4-BE49-F238E27FC236}">
                <a16:creationId xmlns:a16="http://schemas.microsoft.com/office/drawing/2014/main" id="{26837AFC-35F3-04CB-B87B-3CD051492225}"/>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Units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Cross-sell and bundle — they buy the rest of it from someone.</a:t>
              </a:r>
            </a:p>
          </p:txBody>
        </p:sp>
      </p:grpSp>
      <p:grpSp>
        <p:nvGrpSpPr>
          <p:cNvPr id="42" name="Group 41">
            <a:extLst>
              <a:ext uri="{FF2B5EF4-FFF2-40B4-BE49-F238E27FC236}">
                <a16:creationId xmlns:a16="http://schemas.microsoft.com/office/drawing/2014/main" id="{DF7D76B3-0491-C054-DDA0-ADA1DB52A076}"/>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Customer share first</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Mine the base before you chase. New × new is a startup play.</a:t>
              </a:r>
            </a:p>
          </p:txBody>
        </p:sp>
      </p:grpSp>
      <p:grpSp>
        <p:nvGrpSpPr>
          <p:cNvPr id="43" name="Group 42">
            <a:extLst>
              <a:ext uri="{FF2B5EF4-FFF2-40B4-BE49-F238E27FC236}">
                <a16:creationId xmlns:a16="http://schemas.microsoft.com/office/drawing/2014/main" id="{EFEF8BD8-0A1C-CF79-6A51-84AF19C8DAD4}"/>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The cheapest dollar to earn is the next one from a customer who already trusts you.</a:t>
              </a:r>
            </a:p>
            <a:p>
              <a:pPr algn="ctr">
                <a:lnSpc>
                  <a:spcPct val="110000"/>
                </a:lnSpc>
              </a:pPr>
              <a:r>
                <a:rPr sz="2400" b="0" i="1" dirty="0">
                  <a:solidFill>
                    <a:srgbClr val="303B4F"/>
                  </a:solidFill>
                  <a:latin typeface="League Spartan"/>
                </a:rPr>
                <a:t>Customer share first. Market share second.</a:t>
              </a:r>
            </a:p>
          </p:txBody>
        </p:sp>
      </p:grpSp>
      <p:grpSp>
        <p:nvGrpSpPr>
          <p:cNvPr id="4" name="Group 3">
            <a:extLst>
              <a:ext uri="{FF2B5EF4-FFF2-40B4-BE49-F238E27FC236}">
                <a16:creationId xmlns:a16="http://schemas.microsoft.com/office/drawing/2014/main" id="{E548570E-178E-D53D-0D47-A62BA506DC65}"/>
              </a:ext>
            </a:extLst>
          </p:cNvPr>
          <p:cNvGrpSpPr/>
          <p:nvPr/>
        </p:nvGrpSpPr>
        <p:grpSpPr>
          <a:xfrm>
            <a:off x="950976" y="758952"/>
            <a:ext cx="17291304" cy="1076146"/>
            <a:chOff x="950976" y="758952"/>
            <a:chExt cx="17291304" cy="107614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2 — Increase Volume</a:t>
              </a:r>
              <a:endParaRPr lang="en-US" sz="4800" dirty="0">
                <a:latin typeface="League Spartan" pitchFamily="2" charset="77"/>
              </a:endParaRPr>
            </a:p>
          </p:txBody>
        </p:sp>
        <p:sp>
          <p:nvSpPr>
            <p:cNvPr id="6" name="TextBox 5"/>
            <p:cNvSpPr txBox="1"/>
            <p:nvPr/>
          </p:nvSpPr>
          <p:spPr>
            <a:xfrm>
              <a:off x="1965960" y="137789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Find the drivers  ·  Mine the gold</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2</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1000"/>
                                        <p:tgtEl>
                                          <p:spTgt spid="7"/>
                                        </p:tgtEl>
                                      </p:cBhvr>
                                    </p:animEffect>
                                  </p:childTnLst>
                                </p:cTn>
                              </p:par>
                            </p:childTnLst>
                          </p:cTn>
                        </p:par>
                        <p:par>
                          <p:cTn id="11" fill="hold">
                            <p:stCondLst>
                              <p:cond delay="2500"/>
                            </p:stCondLst>
                            <p:childTnLst>
                              <p:par>
                                <p:cTn id="12" presetID="5" presetClass="entr" presetSubtype="5" fill="hold" grpId="0" nodeType="afterEffect">
                                  <p:stCondLst>
                                    <p:cond delay="50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1000"/>
                                        <p:tgtEl>
                                          <p:spTgt spid="15"/>
                                        </p:tgtEl>
                                      </p:cBhvr>
                                    </p:animEffect>
                                  </p:childTnLst>
                                </p:cTn>
                              </p:par>
                            </p:childTnLst>
                          </p:cTn>
                        </p:par>
                        <p:par>
                          <p:cTn id="15" fill="hold">
                            <p:stCondLst>
                              <p:cond delay="4000"/>
                            </p:stCondLst>
                            <p:childTnLst>
                              <p:par>
                                <p:cTn id="16" presetID="5" presetClass="entr" presetSubtype="5" fill="hold" grpId="0" nodeType="afterEffect">
                                  <p:stCondLst>
                                    <p:cond delay="50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1000"/>
                                        <p:tgtEl>
                                          <p:spTgt spid="18"/>
                                        </p:tgtEl>
                                      </p:cBhvr>
                                    </p:animEffect>
                                  </p:childTnLst>
                                </p:cTn>
                              </p:par>
                            </p:childTnLst>
                          </p:cTn>
                        </p:par>
                        <p:par>
                          <p:cTn id="19" fill="hold">
                            <p:stCondLst>
                              <p:cond delay="55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5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10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50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10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50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1000"/>
                                        <p:tgtEl>
                                          <p:spTgt spid="19"/>
                                        </p:tgtEl>
                                      </p:cBhvr>
                                    </p:animEffect>
                                  </p:childTnLst>
                                </p:cTn>
                              </p:par>
                            </p:childTnLst>
                          </p:cTn>
                        </p:par>
                        <p:par>
                          <p:cTn id="38" fill="hold">
                            <p:stCondLst>
                              <p:cond delay="1500"/>
                            </p:stCondLst>
                            <p:childTnLst>
                              <p:par>
                                <p:cTn id="39" presetID="3" presetClass="entr" presetSubtype="10" fill="hold" nodeType="afterEffect">
                                  <p:stCondLst>
                                    <p:cond delay="500"/>
                                  </p:stCondLst>
                                  <p:childTnLst>
                                    <p:set>
                                      <p:cBhvr>
                                        <p:cTn id="40" dur="1" fill="hold">
                                          <p:stCondLst>
                                            <p:cond delay="0"/>
                                          </p:stCondLst>
                                        </p:cTn>
                                        <p:tgtEl>
                                          <p:spTgt spid="40"/>
                                        </p:tgtEl>
                                        <p:attrNameLst>
                                          <p:attrName>style.visibility</p:attrName>
                                        </p:attrNameLst>
                                      </p:cBhvr>
                                      <p:to>
                                        <p:strVal val="visible"/>
                                      </p:to>
                                    </p:set>
                                    <p:animEffect transition="in" filter="blinds(horizontal)">
                                      <p:cBhvr>
                                        <p:cTn id="41" dur="1000"/>
                                        <p:tgtEl>
                                          <p:spTgt spid="40"/>
                                        </p:tgtEl>
                                      </p:cBhvr>
                                    </p:animEffect>
                                  </p:childTnLst>
                                </p:cTn>
                              </p:par>
                            </p:childTnLst>
                          </p:cTn>
                        </p:par>
                        <p:par>
                          <p:cTn id="42" fill="hold">
                            <p:stCondLst>
                              <p:cond delay="3000"/>
                            </p:stCondLst>
                            <p:childTnLst>
                              <p:par>
                                <p:cTn id="43" presetID="3" presetClass="entr" presetSubtype="10" fill="hold" nodeType="afterEffect">
                                  <p:stCondLst>
                                    <p:cond delay="500"/>
                                  </p:stCondLst>
                                  <p:childTnLst>
                                    <p:set>
                                      <p:cBhvr>
                                        <p:cTn id="44" dur="1" fill="hold">
                                          <p:stCondLst>
                                            <p:cond delay="0"/>
                                          </p:stCondLst>
                                        </p:cTn>
                                        <p:tgtEl>
                                          <p:spTgt spid="41"/>
                                        </p:tgtEl>
                                        <p:attrNameLst>
                                          <p:attrName>style.visibility</p:attrName>
                                        </p:attrNameLst>
                                      </p:cBhvr>
                                      <p:to>
                                        <p:strVal val="visible"/>
                                      </p:to>
                                    </p:set>
                                    <p:animEffect transition="in" filter="blinds(horizontal)">
                                      <p:cBhvr>
                                        <p:cTn id="45" dur="1000"/>
                                        <p:tgtEl>
                                          <p:spTgt spid="41"/>
                                        </p:tgtEl>
                                      </p:cBhvr>
                                    </p:animEffect>
                                  </p:childTnLst>
                                </p:cTn>
                              </p:par>
                            </p:childTnLst>
                          </p:cTn>
                        </p:par>
                        <p:par>
                          <p:cTn id="46" fill="hold">
                            <p:stCondLst>
                              <p:cond delay="4500"/>
                            </p:stCondLst>
                            <p:childTnLst>
                              <p:par>
                                <p:cTn id="47" presetID="3" presetClass="entr" presetSubtype="10" fill="hold" nodeType="afterEffect">
                                  <p:stCondLst>
                                    <p:cond delay="500"/>
                                  </p:stCondLst>
                                  <p:childTnLst>
                                    <p:set>
                                      <p:cBhvr>
                                        <p:cTn id="48" dur="1" fill="hold">
                                          <p:stCondLst>
                                            <p:cond delay="0"/>
                                          </p:stCondLst>
                                        </p:cTn>
                                        <p:tgtEl>
                                          <p:spTgt spid="42"/>
                                        </p:tgtEl>
                                        <p:attrNameLst>
                                          <p:attrName>style.visibility</p:attrName>
                                        </p:attrNameLst>
                                      </p:cBhvr>
                                      <p:to>
                                        <p:strVal val="visible"/>
                                      </p:to>
                                    </p:set>
                                    <p:animEffect transition="in" filter="blinds(horizontal)">
                                      <p:cBhvr>
                                        <p:cTn id="49" dur="1000"/>
                                        <p:tgtEl>
                                          <p:spTgt spid="42"/>
                                        </p:tgtEl>
                                      </p:cBhvr>
                                    </p:animEffect>
                                  </p:childTnLst>
                                </p:cTn>
                              </p:par>
                            </p:childTnLst>
                          </p:cTn>
                        </p:par>
                        <p:par>
                          <p:cTn id="50" fill="hold">
                            <p:stCondLst>
                              <p:cond delay="6000"/>
                            </p:stCondLst>
                            <p:childTnLst>
                              <p:par>
                                <p:cTn id="51" presetID="3" presetClass="entr" presetSubtype="10" fill="hold" nodeType="afterEffect">
                                  <p:stCondLst>
                                    <p:cond delay="500"/>
                                  </p:stCondLst>
                                  <p:childTnLst>
                                    <p:set>
                                      <p:cBhvr>
                                        <p:cTn id="52" dur="1" fill="hold">
                                          <p:stCondLst>
                                            <p:cond delay="0"/>
                                          </p:stCondLst>
                                        </p:cTn>
                                        <p:tgtEl>
                                          <p:spTgt spid="43"/>
                                        </p:tgtEl>
                                        <p:attrNameLst>
                                          <p:attrName>style.visibility</p:attrName>
                                        </p:attrNameLst>
                                      </p:cBhvr>
                                      <p:to>
                                        <p:strVal val="visible"/>
                                      </p:to>
                                    </p:set>
                                    <p:animEffect transition="in" filter="blinds(horizontal)">
                                      <p:cBhvr>
                                        <p:cTn id="53"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49F9F5DD-7A00-2BF3-A0CF-FD858DE02ABD}"/>
              </a:ext>
            </a:extLst>
          </p:cNvPr>
          <p:cNvGrpSpPr/>
          <p:nvPr/>
        </p:nvGrpSpPr>
        <p:grpSpPr>
          <a:xfrm>
            <a:off x="1271016" y="2606040"/>
            <a:ext cx="8138159" cy="3246120"/>
            <a:chOff x="1271016" y="2606040"/>
            <a:chExt cx="8138159" cy="3246120"/>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Directly variable costs move with every sale — and waste hides inside them: overproduction, defects, waiting, motion, over-processing.</a:t>
              </a:r>
            </a:p>
          </p:txBody>
        </p:sp>
      </p:grpSp>
      <p:grpSp>
        <p:nvGrpSpPr>
          <p:cNvPr id="38" name="Group 37">
            <a:extLst>
              <a:ext uri="{FF2B5EF4-FFF2-40B4-BE49-F238E27FC236}">
                <a16:creationId xmlns:a16="http://schemas.microsoft.com/office/drawing/2014/main" id="{4E2ABE5C-5B75-8875-8EC5-D2FF1595DEC1}"/>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Most companies can find 5% in waste, rework, and avoidable expense.</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8C0544AA-1698-2AD0-5CF9-E44B6D8E5947}"/>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$10M BUSINESS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dirty="0">
                  <a:solidFill>
                    <a:srgbClr val="FFFFFF"/>
                  </a:solidFill>
                  <a:latin typeface="League Spartan"/>
                </a:rPr>
                <a:t>$10M revenue</a:t>
              </a:r>
              <a:r>
                <a:rPr sz="2200" b="0" i="0" dirty="0">
                  <a:solidFill>
                    <a:srgbClr val="E5E8EB"/>
                  </a:solidFill>
                  <a:latin typeface="League Spartan"/>
                </a:rPr>
                <a:t>  ×  5% waste</a:t>
              </a:r>
            </a:p>
            <a:p>
              <a:pPr algn="l">
                <a:lnSpc>
                  <a:spcPct val="130000"/>
                </a:lnSpc>
              </a:pPr>
              <a:r>
                <a:rPr sz="3200" b="1" i="0" dirty="0">
                  <a:solidFill>
                    <a:srgbClr val="FF7900"/>
                  </a:solidFill>
                  <a:latin typeface="League Spartan"/>
                </a:rPr>
                <a:t>= +$500,000</a:t>
              </a:r>
              <a:r>
                <a:rPr sz="2200" b="0" i="0" dirty="0">
                  <a:solidFill>
                    <a:srgbClr val="E5E8EB"/>
                  </a:solidFill>
                  <a:latin typeface="League Spartan"/>
                </a:rPr>
                <a:t> gross profit — same customers, same price</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THREE PLAYS</a:t>
            </a:r>
          </a:p>
        </p:txBody>
      </p:sp>
      <p:grpSp>
        <p:nvGrpSpPr>
          <p:cNvPr id="40" name="Group 39">
            <a:extLst>
              <a:ext uri="{FF2B5EF4-FFF2-40B4-BE49-F238E27FC236}">
                <a16:creationId xmlns:a16="http://schemas.microsoft.com/office/drawing/2014/main" id="{668AA7E5-788B-E199-49A2-D587F5B301E0}"/>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Spot it. Name it.</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dirty="0">
                  <a:solidFill>
                    <a:srgbClr val="303B4F"/>
                  </a:solidFill>
                  <a:latin typeface="League Spartan"/>
                </a:rPr>
                <a:t>Eight kinds of waste. You can't fix what you haven't found.</a:t>
              </a:r>
            </a:p>
          </p:txBody>
        </p:sp>
      </p:grpSp>
      <p:grpSp>
        <p:nvGrpSpPr>
          <p:cNvPr id="41" name="Group 40">
            <a:extLst>
              <a:ext uri="{FF2B5EF4-FFF2-40B4-BE49-F238E27FC236}">
                <a16:creationId xmlns:a16="http://schemas.microsoft.com/office/drawing/2014/main" id="{863CDBC3-B28B-0A1D-0E4F-EBA1F5A9C1EE}"/>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Cut the leaks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Low-margin SKUs. Returns. Re-bid the inputs and the freight.</a:t>
              </a:r>
            </a:p>
          </p:txBody>
        </p:sp>
      </p:grpSp>
      <p:grpSp>
        <p:nvGrpSpPr>
          <p:cNvPr id="42" name="Group 41">
            <a:extLst>
              <a:ext uri="{FF2B5EF4-FFF2-40B4-BE49-F238E27FC236}">
                <a16:creationId xmlns:a16="http://schemas.microsoft.com/office/drawing/2014/main" id="{105E2DA8-F86D-A442-B3BD-7CA690C7A438}"/>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Simplify</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Fewer steps. Better tools. Do it once, right.</a:t>
              </a:r>
            </a:p>
          </p:txBody>
        </p:sp>
      </p:grpSp>
      <p:grpSp>
        <p:nvGrpSpPr>
          <p:cNvPr id="43" name="Group 42">
            <a:extLst>
              <a:ext uri="{FF2B5EF4-FFF2-40B4-BE49-F238E27FC236}">
                <a16:creationId xmlns:a16="http://schemas.microsoft.com/office/drawing/2014/main" id="{EE54520A-C6A9-3B0D-672A-E228DE83BF4C}"/>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Waste steals margin — even if you don't see it.</a:t>
              </a:r>
            </a:p>
            <a:p>
              <a:pPr algn="ctr">
                <a:lnSpc>
                  <a:spcPct val="110000"/>
                </a:lnSpc>
              </a:pPr>
              <a:r>
                <a:rPr sz="2400" b="0" i="1" dirty="0">
                  <a:solidFill>
                    <a:srgbClr val="303B4F"/>
                  </a:solidFill>
                  <a:latin typeface="League Spartan"/>
                </a:rPr>
                <a:t>Start with the big ones hiding in plain sight.</a:t>
              </a:r>
            </a:p>
          </p:txBody>
        </p:sp>
      </p:grpSp>
      <p:grpSp>
        <p:nvGrpSpPr>
          <p:cNvPr id="4" name="Group 3">
            <a:extLst>
              <a:ext uri="{FF2B5EF4-FFF2-40B4-BE49-F238E27FC236}">
                <a16:creationId xmlns:a16="http://schemas.microsoft.com/office/drawing/2014/main" id="{D9FD475D-FB53-186A-A620-FBFCAB8F0DBB}"/>
              </a:ext>
            </a:extLst>
          </p:cNvPr>
          <p:cNvGrpSpPr/>
          <p:nvPr/>
        </p:nvGrpSpPr>
        <p:grpSpPr>
          <a:xfrm>
            <a:off x="950976" y="758952"/>
            <a:ext cx="17291304" cy="1106126"/>
            <a:chOff x="950976" y="758952"/>
            <a:chExt cx="17291304" cy="110612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3 — Reduce DVC</a:t>
              </a:r>
              <a:endParaRPr lang="en-US" sz="4800" dirty="0">
                <a:latin typeface="League Spartan" pitchFamily="2" charset="77"/>
              </a:endParaRPr>
            </a:p>
          </p:txBody>
        </p:sp>
        <p:sp>
          <p:nvSpPr>
            <p:cNvPr id="6" name="TextBox 5"/>
            <p:cNvSpPr txBox="1"/>
            <p:nvPr/>
          </p:nvSpPr>
          <p:spPr>
            <a:xfrm>
              <a:off x="1965960" y="140787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Remove waste</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3</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1000"/>
                                        <p:tgtEl>
                                          <p:spTgt spid="7"/>
                                        </p:tgtEl>
                                      </p:cBhvr>
                                    </p:animEffect>
                                  </p:childTnLst>
                                </p:cTn>
                              </p:par>
                              <p:par>
                                <p:cTn id="11" presetID="5" presetClass="entr" presetSubtype="5"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checkerboard(down)">
                                      <p:cBhvr>
                                        <p:cTn id="13" dur="1000"/>
                                        <p:tgtEl>
                                          <p:spTgt spid="15"/>
                                        </p:tgtEl>
                                      </p:cBhvr>
                                    </p:animEffect>
                                  </p:childTnLst>
                                </p:cTn>
                              </p:par>
                              <p:par>
                                <p:cTn id="14" presetID="5" presetClass="entr" presetSubtype="5"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checkerboard(down)">
                                      <p:cBhvr>
                                        <p:cTn id="16" dur="1000"/>
                                        <p:tgtEl>
                                          <p:spTgt spid="18"/>
                                        </p:tgtEl>
                                      </p:cBhvr>
                                    </p:animEffect>
                                  </p:childTnLst>
                                </p:cTn>
                              </p:par>
                            </p:childTnLst>
                          </p:cTn>
                        </p:par>
                        <p:par>
                          <p:cTn id="17" fill="hold">
                            <p:stCondLst>
                              <p:cond delay="2000"/>
                            </p:stCondLst>
                            <p:childTnLst>
                              <p:par>
                                <p:cTn id="18" presetID="9" presetClass="entr" presetSubtype="0" fill="hold" nodeType="afterEffect">
                                  <p:stCondLst>
                                    <p:cond delay="1000"/>
                                  </p:stCondLst>
                                  <p:childTnLst>
                                    <p:set>
                                      <p:cBhvr>
                                        <p:cTn id="19" dur="1" fill="hold">
                                          <p:stCondLst>
                                            <p:cond delay="0"/>
                                          </p:stCondLst>
                                        </p:cTn>
                                        <p:tgtEl>
                                          <p:spTgt spid="37"/>
                                        </p:tgtEl>
                                        <p:attrNameLst>
                                          <p:attrName>style.visibility</p:attrName>
                                        </p:attrNameLst>
                                      </p:cBhvr>
                                      <p:to>
                                        <p:strVal val="visible"/>
                                      </p:to>
                                    </p:set>
                                    <p:animEffect transition="in" filter="dissolve">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100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100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par>
                          <p:cTn id="35" fill="hold">
                            <p:stCondLst>
                              <p:cond delay="0"/>
                            </p:stCondLst>
                            <p:childTnLst>
                              <p:par>
                                <p:cTn id="36" presetID="3" presetClass="entr" presetSubtype="10" fill="hold" nodeType="afterEffect">
                                  <p:stCondLst>
                                    <p:cond delay="2000"/>
                                  </p:stCondLst>
                                  <p:childTnLst>
                                    <p:set>
                                      <p:cBhvr>
                                        <p:cTn id="37" dur="1" fill="hold">
                                          <p:stCondLst>
                                            <p:cond delay="0"/>
                                          </p:stCondLst>
                                        </p:cTn>
                                        <p:tgtEl>
                                          <p:spTgt spid="40"/>
                                        </p:tgtEl>
                                        <p:attrNameLst>
                                          <p:attrName>style.visibility</p:attrName>
                                        </p:attrNameLst>
                                      </p:cBhvr>
                                      <p:to>
                                        <p:strVal val="visible"/>
                                      </p:to>
                                    </p:set>
                                    <p:animEffect transition="in" filter="blinds(horizontal)">
                                      <p:cBhvr>
                                        <p:cTn id="38" dur="500"/>
                                        <p:tgtEl>
                                          <p:spTgt spid="40"/>
                                        </p:tgtEl>
                                      </p:cBhvr>
                                    </p:animEffect>
                                  </p:childTnLst>
                                </p:cTn>
                              </p:par>
                            </p:childTnLst>
                          </p:cTn>
                        </p:par>
                        <p:par>
                          <p:cTn id="39" fill="hold">
                            <p:stCondLst>
                              <p:cond delay="2500"/>
                            </p:stCondLst>
                            <p:childTnLst>
                              <p:par>
                                <p:cTn id="40" presetID="3" presetClass="entr" presetSubtype="10" fill="hold" nodeType="afterEffect">
                                  <p:stCondLst>
                                    <p:cond delay="2000"/>
                                  </p:stCondLst>
                                  <p:childTnLst>
                                    <p:set>
                                      <p:cBhvr>
                                        <p:cTn id="41" dur="1" fill="hold">
                                          <p:stCondLst>
                                            <p:cond delay="0"/>
                                          </p:stCondLst>
                                        </p:cTn>
                                        <p:tgtEl>
                                          <p:spTgt spid="41"/>
                                        </p:tgtEl>
                                        <p:attrNameLst>
                                          <p:attrName>style.visibility</p:attrName>
                                        </p:attrNameLst>
                                      </p:cBhvr>
                                      <p:to>
                                        <p:strVal val="visible"/>
                                      </p:to>
                                    </p:set>
                                    <p:animEffect transition="in" filter="blinds(horizontal)">
                                      <p:cBhvr>
                                        <p:cTn id="42" dur="500"/>
                                        <p:tgtEl>
                                          <p:spTgt spid="41"/>
                                        </p:tgtEl>
                                      </p:cBhvr>
                                    </p:animEffect>
                                  </p:childTnLst>
                                </p:cTn>
                              </p:par>
                            </p:childTnLst>
                          </p:cTn>
                        </p:par>
                        <p:par>
                          <p:cTn id="43" fill="hold">
                            <p:stCondLst>
                              <p:cond delay="5000"/>
                            </p:stCondLst>
                            <p:childTnLst>
                              <p:par>
                                <p:cTn id="44" presetID="3" presetClass="entr" presetSubtype="10" fill="hold" nodeType="afterEffect">
                                  <p:stCondLst>
                                    <p:cond delay="2000"/>
                                  </p:stCondLst>
                                  <p:childTnLst>
                                    <p:set>
                                      <p:cBhvr>
                                        <p:cTn id="45" dur="1" fill="hold">
                                          <p:stCondLst>
                                            <p:cond delay="0"/>
                                          </p:stCondLst>
                                        </p:cTn>
                                        <p:tgtEl>
                                          <p:spTgt spid="42"/>
                                        </p:tgtEl>
                                        <p:attrNameLst>
                                          <p:attrName>style.visibility</p:attrName>
                                        </p:attrNameLst>
                                      </p:cBhvr>
                                      <p:to>
                                        <p:strVal val="visible"/>
                                      </p:to>
                                    </p:set>
                                    <p:animEffect transition="in" filter="blinds(horizontal)">
                                      <p:cBhvr>
                                        <p:cTn id="46" dur="500"/>
                                        <p:tgtEl>
                                          <p:spTgt spid="42"/>
                                        </p:tgtEl>
                                      </p:cBhvr>
                                    </p:animEffect>
                                  </p:childTnLst>
                                </p:cTn>
                              </p:par>
                            </p:childTnLst>
                          </p:cTn>
                        </p:par>
                        <p:par>
                          <p:cTn id="47" fill="hold">
                            <p:stCondLst>
                              <p:cond delay="7500"/>
                            </p:stCondLst>
                            <p:childTnLst>
                              <p:par>
                                <p:cTn id="48" presetID="3" presetClass="entr" presetSubtype="10" fill="hold" nodeType="afterEffect">
                                  <p:stCondLst>
                                    <p:cond delay="2000"/>
                                  </p:stCondLst>
                                  <p:childTnLst>
                                    <p:set>
                                      <p:cBhvr>
                                        <p:cTn id="49" dur="1" fill="hold">
                                          <p:stCondLst>
                                            <p:cond delay="0"/>
                                          </p:stCondLst>
                                        </p:cTn>
                                        <p:tgtEl>
                                          <p:spTgt spid="43"/>
                                        </p:tgtEl>
                                        <p:attrNameLst>
                                          <p:attrName>style.visibility</p:attrName>
                                        </p:attrNameLst>
                                      </p:cBhvr>
                                      <p:to>
                                        <p:strVal val="visible"/>
                                      </p:to>
                                    </p:set>
                                    <p:animEffect transition="in" filter="blinds(horizontal)">
                                      <p:cBhvr>
                                        <p:cTn id="5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3949FC25-39CF-5845-E73B-AF2F8255A9E7}"/>
              </a:ext>
            </a:extLst>
          </p:cNvPr>
          <p:cNvGrpSpPr/>
          <p:nvPr/>
        </p:nvGrpSpPr>
        <p:grpSpPr>
          <a:xfrm>
            <a:off x="1271016" y="2606040"/>
            <a:ext cx="8138159" cy="3246120"/>
            <a:chOff x="1271016" y="2606040"/>
            <a:chExt cx="8138159" cy="3246120"/>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The nut. Roles, tools, layers, and recurring spend the business no longer needs — it creeps in a little every month.</a:t>
              </a:r>
            </a:p>
          </p:txBody>
        </p:sp>
      </p:grpSp>
      <p:grpSp>
        <p:nvGrpSpPr>
          <p:cNvPr id="38" name="Group 37">
            <a:extLst>
              <a:ext uri="{FF2B5EF4-FFF2-40B4-BE49-F238E27FC236}">
                <a16:creationId xmlns:a16="http://schemas.microsoft.com/office/drawing/2014/main" id="{57565057-1254-525E-CFD1-40B60DF7FB86}"/>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Every OPEX dollar cut is a net-income dollar — and it shrinks the bottom of the fraction.</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B4D4BCE0-1B53-49C9-1C5F-CB785E8A611B}"/>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$4M OPEX</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$4M OPEX</a:t>
              </a:r>
              <a:r>
                <a:rPr sz="2200" b="0" i="0">
                  <a:solidFill>
                    <a:srgbClr val="E5E8EB"/>
                  </a:solidFill>
                  <a:latin typeface="League Spartan"/>
                </a:rPr>
                <a:t>  ×  5% savings</a:t>
              </a:r>
            </a:p>
            <a:p>
              <a:pPr algn="l">
                <a:lnSpc>
                  <a:spcPct val="130000"/>
                </a:lnSpc>
              </a:pPr>
              <a:r>
                <a:rPr sz="3200" b="1" i="0">
                  <a:solidFill>
                    <a:srgbClr val="FF7900"/>
                  </a:solidFill>
                  <a:latin typeface="League Spartan"/>
                </a:rPr>
                <a:t>= +$200,000</a:t>
              </a:r>
              <a:r>
                <a:rPr sz="2200" b="0" i="0">
                  <a:solidFill>
                    <a:srgbClr val="E5E8EB"/>
                  </a:solidFill>
                  <a:latin typeface="League Spartan"/>
                </a:rPr>
                <a:t> net income  ·  PPR 1.25  →  1.32</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grpSp>
        <p:nvGrpSpPr>
          <p:cNvPr id="41" name="Group 40">
            <a:extLst>
              <a:ext uri="{FF2B5EF4-FFF2-40B4-BE49-F238E27FC236}">
                <a16:creationId xmlns:a16="http://schemas.microsoft.com/office/drawing/2014/main" id="{EC61B804-3585-48A8-187F-2066C4C4C406}"/>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Expense creep</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Subscriptions, contracts, vendors — re-bid the top ten.</a:t>
              </a:r>
            </a:p>
          </p:txBody>
        </p:sp>
      </p:grpSp>
      <p:grpSp>
        <p:nvGrpSpPr>
          <p:cNvPr id="42" name="Group 41">
            <a:extLst>
              <a:ext uri="{FF2B5EF4-FFF2-40B4-BE49-F238E27FC236}">
                <a16:creationId xmlns:a16="http://schemas.microsoft.com/office/drawing/2014/main" id="{7BA9E5B9-B09A-25C8-B6A3-54E44D2264EF}"/>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Redundancy</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Underused tools. Overlapping roles. Layers that add no speed.</a:t>
              </a:r>
            </a:p>
          </p:txBody>
        </p:sp>
      </p:grpSp>
      <p:grpSp>
        <p:nvGrpSpPr>
          <p:cNvPr id="43" name="Group 42">
            <a:extLst>
              <a:ext uri="{FF2B5EF4-FFF2-40B4-BE49-F238E27FC236}">
                <a16:creationId xmlns:a16="http://schemas.microsoft.com/office/drawing/2014/main" id="{F2C5B61F-202F-2AE8-BE29-0696E03AA3EC}"/>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Delegate &amp; elevate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The right people in the right seats — then get out of the way.</a:t>
              </a:r>
            </a:p>
          </p:txBody>
        </p:sp>
      </p:grpSp>
      <p:grpSp>
        <p:nvGrpSpPr>
          <p:cNvPr id="40" name="Group 39">
            <a:extLst>
              <a:ext uri="{FF2B5EF4-FFF2-40B4-BE49-F238E27FC236}">
                <a16:creationId xmlns:a16="http://schemas.microsoft.com/office/drawing/2014/main" id="{398C843E-C031-654E-5377-1FF7169B3A13}"/>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OPEX is the weight you carry up the mountain.</a:t>
              </a:r>
            </a:p>
            <a:p>
              <a:pPr algn="ctr">
                <a:lnSpc>
                  <a:spcPct val="110000"/>
                </a:lnSpc>
              </a:pPr>
              <a:r>
                <a:rPr sz="2400" b="0" i="1">
                  <a:solidFill>
                    <a:srgbClr val="303B4F"/>
                  </a:solidFill>
                  <a:latin typeface="League Spartan"/>
                </a:rPr>
                <a:t>Cut the invisible cost — and reinvest where it counts.</a:t>
              </a:r>
            </a:p>
          </p:txBody>
        </p:sp>
      </p:grpSp>
      <p:grpSp>
        <p:nvGrpSpPr>
          <p:cNvPr id="4" name="Group 3">
            <a:extLst>
              <a:ext uri="{FF2B5EF4-FFF2-40B4-BE49-F238E27FC236}">
                <a16:creationId xmlns:a16="http://schemas.microsoft.com/office/drawing/2014/main" id="{B6019EF5-D90A-AC6B-287F-C5FE3167642B}"/>
              </a:ext>
            </a:extLst>
          </p:cNvPr>
          <p:cNvGrpSpPr/>
          <p:nvPr/>
        </p:nvGrpSpPr>
        <p:grpSpPr>
          <a:xfrm>
            <a:off x="950976" y="758952"/>
            <a:ext cx="17291304" cy="1121116"/>
            <a:chOff x="950976" y="758952"/>
            <a:chExt cx="17291304" cy="112111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4 — Reduce OPEX</a:t>
              </a:r>
              <a:endParaRPr lang="en-US" sz="4800" dirty="0">
                <a:latin typeface="League Spartan" pitchFamily="2" charset="77"/>
              </a:endParaRPr>
            </a:p>
          </p:txBody>
        </p:sp>
        <p:sp>
          <p:nvSpPr>
            <p:cNvPr id="6" name="TextBox 5"/>
            <p:cNvSpPr txBox="1"/>
            <p:nvPr/>
          </p:nvSpPr>
          <p:spPr>
            <a:xfrm>
              <a:off x="1965960" y="142286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Get lean</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4</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1000"/>
                                        <p:tgtEl>
                                          <p:spTgt spid="7"/>
                                        </p:tgtEl>
                                      </p:cBhvr>
                                    </p:animEffect>
                                  </p:childTnLst>
                                </p:cTn>
                              </p:par>
                            </p:childTnLst>
                          </p:cTn>
                        </p:par>
                        <p:par>
                          <p:cTn id="11" fill="hold">
                            <p:stCondLst>
                              <p:cond delay="2000"/>
                            </p:stCondLst>
                            <p:childTnLst>
                              <p:par>
                                <p:cTn id="12" presetID="5" presetClass="entr" presetSubtype="5"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1000"/>
                                        <p:tgtEl>
                                          <p:spTgt spid="15"/>
                                        </p:tgtEl>
                                      </p:cBhvr>
                                    </p:animEffect>
                                  </p:childTnLst>
                                </p:cTn>
                              </p:par>
                            </p:childTnLst>
                          </p:cTn>
                        </p:par>
                        <p:par>
                          <p:cTn id="15" fill="hold">
                            <p:stCondLst>
                              <p:cond delay="3000"/>
                            </p:stCondLst>
                            <p:childTnLst>
                              <p:par>
                                <p:cTn id="16" presetID="5" presetClass="entr" presetSubtype="5"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1000"/>
                                        <p:tgtEl>
                                          <p:spTgt spid="18"/>
                                        </p:tgtEl>
                                      </p:cBhvr>
                                    </p:animEffect>
                                  </p:childTnLst>
                                </p:cTn>
                              </p:par>
                            </p:childTnLst>
                          </p:cTn>
                        </p:par>
                        <p:par>
                          <p:cTn id="19" fill="hold">
                            <p:stCondLst>
                              <p:cond delay="40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10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100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par>
                          <p:cTn id="38" fill="hold">
                            <p:stCondLst>
                              <p:cond delay="1500"/>
                            </p:stCondLst>
                            <p:childTnLst>
                              <p:par>
                                <p:cTn id="39" presetID="3" presetClass="entr" presetSubtype="10" fill="hold" nodeType="afterEffect">
                                  <p:stCondLst>
                                    <p:cond delay="2000"/>
                                  </p:stCondLst>
                                  <p:childTnLst>
                                    <p:set>
                                      <p:cBhvr>
                                        <p:cTn id="40" dur="1" fill="hold">
                                          <p:stCondLst>
                                            <p:cond delay="0"/>
                                          </p:stCondLst>
                                        </p:cTn>
                                        <p:tgtEl>
                                          <p:spTgt spid="41"/>
                                        </p:tgtEl>
                                        <p:attrNameLst>
                                          <p:attrName>style.visibility</p:attrName>
                                        </p:attrNameLst>
                                      </p:cBhvr>
                                      <p:to>
                                        <p:strVal val="visible"/>
                                      </p:to>
                                    </p:set>
                                    <p:animEffect transition="in" filter="blinds(horizontal)">
                                      <p:cBhvr>
                                        <p:cTn id="41" dur="500"/>
                                        <p:tgtEl>
                                          <p:spTgt spid="41"/>
                                        </p:tgtEl>
                                      </p:cBhvr>
                                    </p:animEffect>
                                  </p:childTnLst>
                                </p:cTn>
                              </p:par>
                            </p:childTnLst>
                          </p:cTn>
                        </p:par>
                        <p:par>
                          <p:cTn id="42" fill="hold">
                            <p:stCondLst>
                              <p:cond delay="4000"/>
                            </p:stCondLst>
                            <p:childTnLst>
                              <p:par>
                                <p:cTn id="43" presetID="3" presetClass="entr" presetSubtype="10" fill="hold" nodeType="afterEffect">
                                  <p:stCondLst>
                                    <p:cond delay="2000"/>
                                  </p:stCondLst>
                                  <p:childTnLst>
                                    <p:set>
                                      <p:cBhvr>
                                        <p:cTn id="44" dur="1" fill="hold">
                                          <p:stCondLst>
                                            <p:cond delay="0"/>
                                          </p:stCondLst>
                                        </p:cTn>
                                        <p:tgtEl>
                                          <p:spTgt spid="42"/>
                                        </p:tgtEl>
                                        <p:attrNameLst>
                                          <p:attrName>style.visibility</p:attrName>
                                        </p:attrNameLst>
                                      </p:cBhvr>
                                      <p:to>
                                        <p:strVal val="visible"/>
                                      </p:to>
                                    </p:set>
                                    <p:animEffect transition="in" filter="blinds(horizontal)">
                                      <p:cBhvr>
                                        <p:cTn id="45" dur="500"/>
                                        <p:tgtEl>
                                          <p:spTgt spid="42"/>
                                        </p:tgtEl>
                                      </p:cBhvr>
                                    </p:animEffect>
                                  </p:childTnLst>
                                </p:cTn>
                              </p:par>
                            </p:childTnLst>
                          </p:cTn>
                        </p:par>
                        <p:par>
                          <p:cTn id="46" fill="hold">
                            <p:stCondLst>
                              <p:cond delay="6500"/>
                            </p:stCondLst>
                            <p:childTnLst>
                              <p:par>
                                <p:cTn id="47" presetID="3" presetClass="entr" presetSubtype="10" fill="hold" nodeType="afterEffect">
                                  <p:stCondLst>
                                    <p:cond delay="2000"/>
                                  </p:stCondLst>
                                  <p:childTnLst>
                                    <p:set>
                                      <p:cBhvr>
                                        <p:cTn id="48" dur="1" fill="hold">
                                          <p:stCondLst>
                                            <p:cond delay="0"/>
                                          </p:stCondLst>
                                        </p:cTn>
                                        <p:tgtEl>
                                          <p:spTgt spid="43"/>
                                        </p:tgtEl>
                                        <p:attrNameLst>
                                          <p:attrName>style.visibility</p:attrName>
                                        </p:attrNameLst>
                                      </p:cBhvr>
                                      <p:to>
                                        <p:strVal val="visible"/>
                                      </p:to>
                                    </p:set>
                                    <p:animEffect transition="in" filter="blinds(horizontal)">
                                      <p:cBhvr>
                                        <p:cTn id="49" dur="500"/>
                                        <p:tgtEl>
                                          <p:spTgt spid="43"/>
                                        </p:tgtEl>
                                      </p:cBhvr>
                                    </p:animEffect>
                                  </p:childTnLst>
                                </p:cTn>
                              </p:par>
                            </p:childTnLst>
                          </p:cTn>
                        </p:par>
                        <p:par>
                          <p:cTn id="50" fill="hold">
                            <p:stCondLst>
                              <p:cond delay="9000"/>
                            </p:stCondLst>
                            <p:childTnLst>
                              <p:par>
                                <p:cTn id="51" presetID="3" presetClass="entr" presetSubtype="10" fill="hold" nodeType="afterEffect">
                                  <p:stCondLst>
                                    <p:cond delay="2000"/>
                                  </p:stCondLst>
                                  <p:childTnLst>
                                    <p:set>
                                      <p:cBhvr>
                                        <p:cTn id="52" dur="1" fill="hold">
                                          <p:stCondLst>
                                            <p:cond delay="0"/>
                                          </p:stCondLst>
                                        </p:cTn>
                                        <p:tgtEl>
                                          <p:spTgt spid="40"/>
                                        </p:tgtEl>
                                        <p:attrNameLst>
                                          <p:attrName>style.visibility</p:attrName>
                                        </p:attrNameLst>
                                      </p:cBhvr>
                                      <p:to>
                                        <p:strVal val="visible"/>
                                      </p:to>
                                    </p:set>
                                    <p:animEffect transition="in" filter="blinds(horizontal)">
                                      <p:cBhvr>
                                        <p:cTn id="5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79E7F62C-6470-6FA3-FE96-5028F91C5761}"/>
              </a:ext>
            </a:extLst>
          </p:cNvPr>
          <p:cNvGrpSpPr/>
          <p:nvPr/>
        </p:nvGrpSpPr>
        <p:grpSpPr>
          <a:xfrm>
            <a:off x="1271016" y="2606040"/>
            <a:ext cx="8138159" cy="3246120"/>
            <a:chOff x="1271016" y="2606040"/>
            <a:chExt cx="8138159" cy="3246120"/>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How long your money sits in your customers' accounts. The sale is on the P&amp;L — the cash isn't in the bank.</a:t>
              </a:r>
            </a:p>
          </p:txBody>
        </p:sp>
      </p:grpSp>
      <p:grpSp>
        <p:nvGrpSpPr>
          <p:cNvPr id="38" name="Group 37">
            <a:extLst>
              <a:ext uri="{FF2B5EF4-FFF2-40B4-BE49-F238E27FC236}">
                <a16:creationId xmlns:a16="http://schemas.microsoft.com/office/drawing/2014/main" id="{00F03642-824A-33B3-5C33-6A634E5EF82D}"/>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dirty="0">
                  <a:solidFill>
                    <a:srgbClr val="142233"/>
                  </a:solidFill>
                  <a:latin typeface="League Spartan"/>
                </a:rPr>
                <a:t>Every day of DSO is cash trapped in A/R — and a line of credit you're paying for.</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1E210948-4D61-1CE4-E4D2-51EF21ABA662}"/>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$10M BUSINESS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dirty="0">
                  <a:solidFill>
                    <a:srgbClr val="FFFFFF"/>
                  </a:solidFill>
                  <a:latin typeface="League Spartan"/>
                </a:rPr>
                <a:t>$1.2M A/R ÷ $10M × 365</a:t>
              </a:r>
              <a:r>
                <a:rPr sz="2200" b="0" i="0" dirty="0">
                  <a:solidFill>
                    <a:srgbClr val="E5E8EB"/>
                  </a:solidFill>
                  <a:latin typeface="League Spartan"/>
                </a:rPr>
                <a:t>  =  43.8 days</a:t>
              </a:r>
            </a:p>
            <a:p>
              <a:pPr algn="l">
                <a:lnSpc>
                  <a:spcPct val="130000"/>
                </a:lnSpc>
              </a:pPr>
              <a:r>
                <a:rPr sz="3200" b="1" i="0" dirty="0">
                  <a:solidFill>
                    <a:srgbClr val="FF7900"/>
                  </a:solidFill>
                  <a:latin typeface="League Spartan"/>
                </a:rPr>
                <a:t>Cut 5 days × $27,400/day</a:t>
              </a:r>
              <a:r>
                <a:rPr sz="2200" b="0" i="0" dirty="0">
                  <a:solidFill>
                    <a:srgbClr val="E5E8EB"/>
                  </a:solidFill>
                  <a:latin typeface="League Spartan"/>
                </a:rPr>
                <a:t>  =  $137,000 released</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grpSp>
        <p:nvGrpSpPr>
          <p:cNvPr id="40" name="Group 39">
            <a:extLst>
              <a:ext uri="{FF2B5EF4-FFF2-40B4-BE49-F238E27FC236}">
                <a16:creationId xmlns:a16="http://schemas.microsoft.com/office/drawing/2014/main" id="{E8AEAF6D-F226-4B1B-5277-9FDAED8FFB1B}"/>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Invoice fast</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dirty="0">
                  <a:solidFill>
                    <a:srgbClr val="303B4F"/>
                  </a:solidFill>
                  <a:latin typeface="League Spartan"/>
                </a:rPr>
                <a:t>Bill the day you ship. No 'invoice run' on Fridays.</a:t>
              </a:r>
            </a:p>
          </p:txBody>
        </p:sp>
      </p:grpSp>
      <p:grpSp>
        <p:nvGrpSpPr>
          <p:cNvPr id="41" name="Group 40">
            <a:extLst>
              <a:ext uri="{FF2B5EF4-FFF2-40B4-BE49-F238E27FC236}">
                <a16:creationId xmlns:a16="http://schemas.microsoft.com/office/drawing/2014/main" id="{A776D754-C682-D527-D7B2-CD1D287E6416}"/>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Terms tight</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NET 45 → NET 30. Deposits. Progress billing.</a:t>
              </a:r>
            </a:p>
          </p:txBody>
        </p:sp>
      </p:grpSp>
      <p:grpSp>
        <p:nvGrpSpPr>
          <p:cNvPr id="42" name="Group 41">
            <a:extLst>
              <a:ext uri="{FF2B5EF4-FFF2-40B4-BE49-F238E27FC236}">
                <a16:creationId xmlns:a16="http://schemas.microsoft.com/office/drawing/2014/main" id="{0260BCF3-4137-6E49-F2CF-10C0C1910004}"/>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Collect early</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Friendly reminder at 7 days. Live call at 30. Escalate at 45.</a:t>
              </a:r>
            </a:p>
          </p:txBody>
        </p:sp>
      </p:grpSp>
      <p:grpSp>
        <p:nvGrpSpPr>
          <p:cNvPr id="43" name="Group 42">
            <a:extLst>
              <a:ext uri="{FF2B5EF4-FFF2-40B4-BE49-F238E27FC236}">
                <a16:creationId xmlns:a16="http://schemas.microsoft.com/office/drawing/2014/main" id="{225B0511-551F-57D8-129F-7BDBA0C28BDE}"/>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The sale isn't real until the cash is in the bank.</a:t>
              </a:r>
            </a:p>
            <a:p>
              <a:pPr algn="ctr">
                <a:lnSpc>
                  <a:spcPct val="110000"/>
                </a:lnSpc>
              </a:pPr>
              <a:r>
                <a:rPr sz="2400" b="0" i="1" dirty="0">
                  <a:solidFill>
                    <a:srgbClr val="303B4F"/>
                  </a:solidFill>
                  <a:latin typeface="League Spartan"/>
                </a:rPr>
                <a:t>Pick one play. Run it 60 days. Watch DSO drop.</a:t>
              </a:r>
            </a:p>
          </p:txBody>
        </p:sp>
      </p:grpSp>
      <p:grpSp>
        <p:nvGrpSpPr>
          <p:cNvPr id="4" name="Group 3">
            <a:extLst>
              <a:ext uri="{FF2B5EF4-FFF2-40B4-BE49-F238E27FC236}">
                <a16:creationId xmlns:a16="http://schemas.microsoft.com/office/drawing/2014/main" id="{C2213D20-F81E-46E4-B3B0-E43F5133B845}"/>
              </a:ext>
            </a:extLst>
          </p:cNvPr>
          <p:cNvGrpSpPr/>
          <p:nvPr/>
        </p:nvGrpSpPr>
        <p:grpSpPr>
          <a:xfrm>
            <a:off x="950976" y="758952"/>
            <a:ext cx="17291304" cy="1121116"/>
            <a:chOff x="950976" y="758952"/>
            <a:chExt cx="17291304" cy="112111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5 — DSO: Collect Faster</a:t>
              </a:r>
              <a:endParaRPr lang="en-US" sz="4800" dirty="0">
                <a:latin typeface="League Spartan" pitchFamily="2" charset="77"/>
              </a:endParaRPr>
            </a:p>
          </p:txBody>
        </p:sp>
        <p:sp>
          <p:nvSpPr>
            <p:cNvPr id="6" name="TextBox 5"/>
            <p:cNvSpPr txBox="1"/>
            <p:nvPr/>
          </p:nvSpPr>
          <p:spPr>
            <a:xfrm>
              <a:off x="1965960" y="142286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Days Sales Outstanding</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5</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100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500"/>
                                        <p:tgtEl>
                                          <p:spTgt spid="7"/>
                                        </p:tgtEl>
                                      </p:cBhvr>
                                    </p:animEffect>
                                  </p:childTnLst>
                                </p:cTn>
                              </p:par>
                            </p:childTnLst>
                          </p:cTn>
                        </p:par>
                        <p:par>
                          <p:cTn id="11" fill="hold">
                            <p:stCondLst>
                              <p:cond delay="2500"/>
                            </p:stCondLst>
                            <p:childTnLst>
                              <p:par>
                                <p:cTn id="12" presetID="5" presetClass="entr" presetSubtype="5" fill="hold" grpId="0" nodeType="afterEffect">
                                  <p:stCondLst>
                                    <p:cond delay="100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500"/>
                                        <p:tgtEl>
                                          <p:spTgt spid="15"/>
                                        </p:tgtEl>
                                      </p:cBhvr>
                                    </p:animEffect>
                                  </p:childTnLst>
                                </p:cTn>
                              </p:par>
                            </p:childTnLst>
                          </p:cTn>
                        </p:par>
                        <p:par>
                          <p:cTn id="15" fill="hold">
                            <p:stCondLst>
                              <p:cond delay="4000"/>
                            </p:stCondLst>
                            <p:childTnLst>
                              <p:par>
                                <p:cTn id="16" presetID="5" presetClass="entr" presetSubtype="5" fill="hold" grpId="0" nodeType="afterEffect">
                                  <p:stCondLst>
                                    <p:cond delay="100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500"/>
                                        <p:tgtEl>
                                          <p:spTgt spid="18"/>
                                        </p:tgtEl>
                                      </p:cBhvr>
                                    </p:animEffect>
                                  </p:childTnLst>
                                </p:cTn>
                              </p:par>
                            </p:childTnLst>
                          </p:cTn>
                        </p:par>
                        <p:par>
                          <p:cTn id="19" fill="hold">
                            <p:stCondLst>
                              <p:cond delay="55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10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100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100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par>
                          <p:cTn id="38" fill="hold">
                            <p:stCondLst>
                              <p:cond delay="1500"/>
                            </p:stCondLst>
                            <p:childTnLst>
                              <p:par>
                                <p:cTn id="39" presetID="3" presetClass="entr" presetSubtype="10" fill="hold" nodeType="afterEffect">
                                  <p:stCondLst>
                                    <p:cond delay="2000"/>
                                  </p:stCondLst>
                                  <p:childTnLst>
                                    <p:set>
                                      <p:cBhvr>
                                        <p:cTn id="40" dur="1" fill="hold">
                                          <p:stCondLst>
                                            <p:cond delay="0"/>
                                          </p:stCondLst>
                                        </p:cTn>
                                        <p:tgtEl>
                                          <p:spTgt spid="40"/>
                                        </p:tgtEl>
                                        <p:attrNameLst>
                                          <p:attrName>style.visibility</p:attrName>
                                        </p:attrNameLst>
                                      </p:cBhvr>
                                      <p:to>
                                        <p:strVal val="visible"/>
                                      </p:to>
                                    </p:set>
                                    <p:animEffect transition="in" filter="blinds(horizontal)">
                                      <p:cBhvr>
                                        <p:cTn id="41" dur="500"/>
                                        <p:tgtEl>
                                          <p:spTgt spid="40"/>
                                        </p:tgtEl>
                                      </p:cBhvr>
                                    </p:animEffect>
                                  </p:childTnLst>
                                </p:cTn>
                              </p:par>
                            </p:childTnLst>
                          </p:cTn>
                        </p:par>
                        <p:par>
                          <p:cTn id="42" fill="hold">
                            <p:stCondLst>
                              <p:cond delay="4000"/>
                            </p:stCondLst>
                            <p:childTnLst>
                              <p:par>
                                <p:cTn id="43" presetID="3" presetClass="entr" presetSubtype="10" fill="hold" nodeType="afterEffect">
                                  <p:stCondLst>
                                    <p:cond delay="2000"/>
                                  </p:stCondLst>
                                  <p:childTnLst>
                                    <p:set>
                                      <p:cBhvr>
                                        <p:cTn id="44" dur="1" fill="hold">
                                          <p:stCondLst>
                                            <p:cond delay="0"/>
                                          </p:stCondLst>
                                        </p:cTn>
                                        <p:tgtEl>
                                          <p:spTgt spid="41"/>
                                        </p:tgtEl>
                                        <p:attrNameLst>
                                          <p:attrName>style.visibility</p:attrName>
                                        </p:attrNameLst>
                                      </p:cBhvr>
                                      <p:to>
                                        <p:strVal val="visible"/>
                                      </p:to>
                                    </p:set>
                                    <p:animEffect transition="in" filter="blinds(horizontal)">
                                      <p:cBhvr>
                                        <p:cTn id="45" dur="500"/>
                                        <p:tgtEl>
                                          <p:spTgt spid="41"/>
                                        </p:tgtEl>
                                      </p:cBhvr>
                                    </p:animEffect>
                                  </p:childTnLst>
                                </p:cTn>
                              </p:par>
                            </p:childTnLst>
                          </p:cTn>
                        </p:par>
                        <p:par>
                          <p:cTn id="46" fill="hold">
                            <p:stCondLst>
                              <p:cond delay="6500"/>
                            </p:stCondLst>
                            <p:childTnLst>
                              <p:par>
                                <p:cTn id="47" presetID="3" presetClass="entr" presetSubtype="10" fill="hold" nodeType="afterEffect">
                                  <p:stCondLst>
                                    <p:cond delay="2000"/>
                                  </p:stCondLst>
                                  <p:childTnLst>
                                    <p:set>
                                      <p:cBhvr>
                                        <p:cTn id="48" dur="1" fill="hold">
                                          <p:stCondLst>
                                            <p:cond delay="0"/>
                                          </p:stCondLst>
                                        </p:cTn>
                                        <p:tgtEl>
                                          <p:spTgt spid="42"/>
                                        </p:tgtEl>
                                        <p:attrNameLst>
                                          <p:attrName>style.visibility</p:attrName>
                                        </p:attrNameLst>
                                      </p:cBhvr>
                                      <p:to>
                                        <p:strVal val="visible"/>
                                      </p:to>
                                    </p:set>
                                    <p:animEffect transition="in" filter="blinds(horizontal)">
                                      <p:cBhvr>
                                        <p:cTn id="49" dur="500"/>
                                        <p:tgtEl>
                                          <p:spTgt spid="42"/>
                                        </p:tgtEl>
                                      </p:cBhvr>
                                    </p:animEffect>
                                  </p:childTnLst>
                                </p:cTn>
                              </p:par>
                            </p:childTnLst>
                          </p:cTn>
                        </p:par>
                        <p:par>
                          <p:cTn id="50" fill="hold">
                            <p:stCondLst>
                              <p:cond delay="9000"/>
                            </p:stCondLst>
                            <p:childTnLst>
                              <p:par>
                                <p:cTn id="51" presetID="3" presetClass="entr" presetSubtype="10" fill="hold" nodeType="afterEffect">
                                  <p:stCondLst>
                                    <p:cond delay="2000"/>
                                  </p:stCondLst>
                                  <p:childTnLst>
                                    <p:set>
                                      <p:cBhvr>
                                        <p:cTn id="52" dur="1" fill="hold">
                                          <p:stCondLst>
                                            <p:cond delay="0"/>
                                          </p:stCondLst>
                                        </p:cTn>
                                        <p:tgtEl>
                                          <p:spTgt spid="43"/>
                                        </p:tgtEl>
                                        <p:attrNameLst>
                                          <p:attrName>style.visibility</p:attrName>
                                        </p:attrNameLst>
                                      </p:cBhvr>
                                      <p:to>
                                        <p:strVal val="visible"/>
                                      </p:to>
                                    </p:set>
                                    <p:animEffect transition="in" filter="blinds(horizontal)">
                                      <p:cBhvr>
                                        <p:cTn id="5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E01AA0D7-ADC9-4298-900D-75AA656C79E2}"/>
              </a:ext>
            </a:extLst>
          </p:cNvPr>
          <p:cNvGrpSpPr/>
          <p:nvPr/>
        </p:nvGrpSpPr>
        <p:grpSpPr>
          <a:xfrm>
            <a:off x="1271016" y="2606040"/>
            <a:ext cx="8138159" cy="3246120"/>
            <a:chOff x="1271016" y="2606040"/>
            <a:chExt cx="8138159" cy="3246120"/>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How long YOU hold cash before paying suppliers. Pay on time — not early. Paying early is donating working capital.</a:t>
              </a:r>
            </a:p>
          </p:txBody>
        </p:sp>
      </p:grpSp>
      <p:grpSp>
        <p:nvGrpSpPr>
          <p:cNvPr id="38" name="Group 37">
            <a:extLst>
              <a:ext uri="{FF2B5EF4-FFF2-40B4-BE49-F238E27FC236}">
                <a16:creationId xmlns:a16="http://schemas.microsoft.com/office/drawing/2014/main" id="{48D12CF2-6866-20AB-FEF7-DC683C0BC5DC}"/>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dirty="0">
                  <a:solidFill>
                    <a:srgbClr val="142233"/>
                  </a:solidFill>
                  <a:latin typeface="League Spartan"/>
                </a:rPr>
                <a:t>Negotiated terms are interest-free float — if you earn the right to ask.</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BE8D1729-387C-FCF5-D119-CB1933D0D907}"/>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$5M COGS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$410K A/P ÷ $5M × 365</a:t>
              </a:r>
              <a:r>
                <a:rPr sz="2200" b="0" i="0">
                  <a:solidFill>
                    <a:srgbClr val="E5E8EB"/>
                  </a:solidFill>
                  <a:latin typeface="League Spartan"/>
                </a:rPr>
                <a:t>  =  29.9 days</a:t>
              </a:r>
            </a:p>
            <a:p>
              <a:pPr algn="l">
                <a:lnSpc>
                  <a:spcPct val="130000"/>
                </a:lnSpc>
              </a:pPr>
              <a:r>
                <a:rPr sz="3200" b="1" i="0">
                  <a:solidFill>
                    <a:srgbClr val="FF7900"/>
                  </a:solidFill>
                  <a:latin typeface="League Spartan"/>
                </a:rPr>
                <a:t>Add 5 days × $13,700/day</a:t>
              </a:r>
              <a:r>
                <a:rPr sz="2200" b="0" i="0">
                  <a:solidFill>
                    <a:srgbClr val="E5E8EB"/>
                  </a:solidFill>
                  <a:latin typeface="League Spartan"/>
                </a:rPr>
                <a:t>  =  $68,500 released</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grpSp>
        <p:nvGrpSpPr>
          <p:cNvPr id="40" name="Group 39">
            <a:extLst>
              <a:ext uri="{FF2B5EF4-FFF2-40B4-BE49-F238E27FC236}">
                <a16:creationId xmlns:a16="http://schemas.microsoft.com/office/drawing/2014/main" id="{B48D8FD2-3CAA-D621-7F62-B70CD67276B1}"/>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Ask</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'What are your standard terms?' NET 30 → 45/60. Get it in writing.</a:t>
              </a:r>
            </a:p>
          </p:txBody>
        </p:sp>
      </p:grpSp>
      <p:grpSp>
        <p:nvGrpSpPr>
          <p:cNvPr id="41" name="Group 40">
            <a:extLst>
              <a:ext uri="{FF2B5EF4-FFF2-40B4-BE49-F238E27FC236}">
                <a16:creationId xmlns:a16="http://schemas.microsoft.com/office/drawing/2014/main" id="{8948CBA3-F034-AA95-414E-404A8C74579B}"/>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Earn</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Pay on time, every time. Be the customer they want to keep.</a:t>
              </a:r>
            </a:p>
          </p:txBody>
        </p:sp>
      </p:grpSp>
      <p:grpSp>
        <p:nvGrpSpPr>
          <p:cNvPr id="42" name="Group 41">
            <a:extLst>
              <a:ext uri="{FF2B5EF4-FFF2-40B4-BE49-F238E27FC236}">
                <a16:creationId xmlns:a16="http://schemas.microsoft.com/office/drawing/2014/main" id="{B0DD6F5E-D27D-5ECA-1188-2A953FB1C002}"/>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Trade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Volume and multi-year commitments for terms. Scale is currency.</a:t>
              </a:r>
            </a:p>
          </p:txBody>
        </p:sp>
      </p:grpSp>
      <p:grpSp>
        <p:nvGrpSpPr>
          <p:cNvPr id="43" name="Group 42">
            <a:extLst>
              <a:ext uri="{FF2B5EF4-FFF2-40B4-BE49-F238E27FC236}">
                <a16:creationId xmlns:a16="http://schemas.microsoft.com/office/drawing/2014/main" id="{9FE0F4D8-959D-CC52-E971-7A8DA77D06E5}"/>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Pay smart — not fast.</a:t>
              </a:r>
            </a:p>
            <a:p>
              <a:pPr algn="ctr">
                <a:lnSpc>
                  <a:spcPct val="110000"/>
                </a:lnSpc>
              </a:pPr>
              <a:r>
                <a:rPr sz="2400" b="0" i="1" dirty="0">
                  <a:solidFill>
                    <a:srgbClr val="303B4F"/>
                  </a:solidFill>
                  <a:latin typeface="League Spartan"/>
                </a:rPr>
                <a:t>Ask. Earn. Trade. Without burning a supplier relationship.</a:t>
              </a:r>
            </a:p>
          </p:txBody>
        </p:sp>
      </p:grpSp>
      <p:grpSp>
        <p:nvGrpSpPr>
          <p:cNvPr id="4" name="Group 3">
            <a:extLst>
              <a:ext uri="{FF2B5EF4-FFF2-40B4-BE49-F238E27FC236}">
                <a16:creationId xmlns:a16="http://schemas.microsoft.com/office/drawing/2014/main" id="{C08C72DC-BB1F-216D-6FD1-DC75CC750BD2}"/>
              </a:ext>
            </a:extLst>
          </p:cNvPr>
          <p:cNvGrpSpPr/>
          <p:nvPr/>
        </p:nvGrpSpPr>
        <p:grpSpPr>
          <a:xfrm>
            <a:off x="950976" y="758952"/>
            <a:ext cx="17291304" cy="1121116"/>
            <a:chOff x="950976" y="758952"/>
            <a:chExt cx="17291304" cy="112111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6 — DPO: Hold Cash Longer</a:t>
              </a:r>
              <a:endParaRPr lang="en-US" sz="4800" dirty="0">
                <a:latin typeface="League Spartan" pitchFamily="2" charset="77"/>
              </a:endParaRPr>
            </a:p>
          </p:txBody>
        </p:sp>
        <p:sp>
          <p:nvSpPr>
            <p:cNvPr id="6" name="TextBox 5"/>
            <p:cNvSpPr txBox="1"/>
            <p:nvPr/>
          </p:nvSpPr>
          <p:spPr>
            <a:xfrm>
              <a:off x="1965960" y="142286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Days Payable Outstanding</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6</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100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500"/>
                                        <p:tgtEl>
                                          <p:spTgt spid="7"/>
                                        </p:tgtEl>
                                      </p:cBhvr>
                                    </p:animEffect>
                                  </p:childTnLst>
                                </p:cTn>
                              </p:par>
                            </p:childTnLst>
                          </p:cTn>
                        </p:par>
                        <p:par>
                          <p:cTn id="11" fill="hold">
                            <p:stCondLst>
                              <p:cond delay="2500"/>
                            </p:stCondLst>
                            <p:childTnLst>
                              <p:par>
                                <p:cTn id="12" presetID="5" presetClass="entr" presetSubtype="5"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500"/>
                                        <p:tgtEl>
                                          <p:spTgt spid="15"/>
                                        </p:tgtEl>
                                      </p:cBhvr>
                                    </p:animEffect>
                                  </p:childTnLst>
                                </p:cTn>
                              </p:par>
                            </p:childTnLst>
                          </p:cTn>
                        </p:par>
                        <p:par>
                          <p:cTn id="15" fill="hold">
                            <p:stCondLst>
                              <p:cond delay="3000"/>
                            </p:stCondLst>
                            <p:childTnLst>
                              <p:par>
                                <p:cTn id="16" presetID="5" presetClass="entr" presetSubtype="5"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500"/>
                                        <p:tgtEl>
                                          <p:spTgt spid="18"/>
                                        </p:tgtEl>
                                      </p:cBhvr>
                                    </p:animEffect>
                                  </p:childTnLst>
                                </p:cTn>
                              </p:par>
                            </p:childTnLst>
                          </p:cTn>
                        </p:par>
                        <p:par>
                          <p:cTn id="19" fill="hold">
                            <p:stCondLst>
                              <p:cond delay="35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10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100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100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par>
                          <p:cTn id="38" fill="hold">
                            <p:stCondLst>
                              <p:cond delay="1500"/>
                            </p:stCondLst>
                            <p:childTnLst>
                              <p:par>
                                <p:cTn id="39" presetID="3" presetClass="entr" presetSubtype="10" fill="hold" nodeType="afterEffect">
                                  <p:stCondLst>
                                    <p:cond delay="2000"/>
                                  </p:stCondLst>
                                  <p:childTnLst>
                                    <p:set>
                                      <p:cBhvr>
                                        <p:cTn id="40" dur="1" fill="hold">
                                          <p:stCondLst>
                                            <p:cond delay="0"/>
                                          </p:stCondLst>
                                        </p:cTn>
                                        <p:tgtEl>
                                          <p:spTgt spid="40"/>
                                        </p:tgtEl>
                                        <p:attrNameLst>
                                          <p:attrName>style.visibility</p:attrName>
                                        </p:attrNameLst>
                                      </p:cBhvr>
                                      <p:to>
                                        <p:strVal val="visible"/>
                                      </p:to>
                                    </p:set>
                                    <p:animEffect transition="in" filter="blinds(horizontal)">
                                      <p:cBhvr>
                                        <p:cTn id="41" dur="500"/>
                                        <p:tgtEl>
                                          <p:spTgt spid="40"/>
                                        </p:tgtEl>
                                      </p:cBhvr>
                                    </p:animEffect>
                                  </p:childTnLst>
                                </p:cTn>
                              </p:par>
                            </p:childTnLst>
                          </p:cTn>
                        </p:par>
                        <p:par>
                          <p:cTn id="42" fill="hold">
                            <p:stCondLst>
                              <p:cond delay="4000"/>
                            </p:stCondLst>
                            <p:childTnLst>
                              <p:par>
                                <p:cTn id="43" presetID="3" presetClass="entr" presetSubtype="10" fill="hold" nodeType="afterEffect">
                                  <p:stCondLst>
                                    <p:cond delay="2000"/>
                                  </p:stCondLst>
                                  <p:childTnLst>
                                    <p:set>
                                      <p:cBhvr>
                                        <p:cTn id="44" dur="1" fill="hold">
                                          <p:stCondLst>
                                            <p:cond delay="0"/>
                                          </p:stCondLst>
                                        </p:cTn>
                                        <p:tgtEl>
                                          <p:spTgt spid="41"/>
                                        </p:tgtEl>
                                        <p:attrNameLst>
                                          <p:attrName>style.visibility</p:attrName>
                                        </p:attrNameLst>
                                      </p:cBhvr>
                                      <p:to>
                                        <p:strVal val="visible"/>
                                      </p:to>
                                    </p:set>
                                    <p:animEffect transition="in" filter="blinds(horizontal)">
                                      <p:cBhvr>
                                        <p:cTn id="45" dur="500"/>
                                        <p:tgtEl>
                                          <p:spTgt spid="41"/>
                                        </p:tgtEl>
                                      </p:cBhvr>
                                    </p:animEffect>
                                  </p:childTnLst>
                                </p:cTn>
                              </p:par>
                            </p:childTnLst>
                          </p:cTn>
                        </p:par>
                        <p:par>
                          <p:cTn id="46" fill="hold">
                            <p:stCondLst>
                              <p:cond delay="6500"/>
                            </p:stCondLst>
                            <p:childTnLst>
                              <p:par>
                                <p:cTn id="47" presetID="3" presetClass="entr" presetSubtype="10" fill="hold" nodeType="afterEffect">
                                  <p:stCondLst>
                                    <p:cond delay="2000"/>
                                  </p:stCondLst>
                                  <p:childTnLst>
                                    <p:set>
                                      <p:cBhvr>
                                        <p:cTn id="48" dur="1" fill="hold">
                                          <p:stCondLst>
                                            <p:cond delay="0"/>
                                          </p:stCondLst>
                                        </p:cTn>
                                        <p:tgtEl>
                                          <p:spTgt spid="42"/>
                                        </p:tgtEl>
                                        <p:attrNameLst>
                                          <p:attrName>style.visibility</p:attrName>
                                        </p:attrNameLst>
                                      </p:cBhvr>
                                      <p:to>
                                        <p:strVal val="visible"/>
                                      </p:to>
                                    </p:set>
                                    <p:animEffect transition="in" filter="blinds(horizontal)">
                                      <p:cBhvr>
                                        <p:cTn id="49" dur="500"/>
                                        <p:tgtEl>
                                          <p:spTgt spid="42"/>
                                        </p:tgtEl>
                                      </p:cBhvr>
                                    </p:animEffect>
                                  </p:childTnLst>
                                </p:cTn>
                              </p:par>
                            </p:childTnLst>
                          </p:cTn>
                        </p:par>
                        <p:par>
                          <p:cTn id="50" fill="hold">
                            <p:stCondLst>
                              <p:cond delay="9000"/>
                            </p:stCondLst>
                            <p:childTnLst>
                              <p:par>
                                <p:cTn id="51" presetID="3" presetClass="entr" presetSubtype="10" fill="hold" nodeType="afterEffect">
                                  <p:stCondLst>
                                    <p:cond delay="2000"/>
                                  </p:stCondLst>
                                  <p:childTnLst>
                                    <p:set>
                                      <p:cBhvr>
                                        <p:cTn id="52" dur="1" fill="hold">
                                          <p:stCondLst>
                                            <p:cond delay="0"/>
                                          </p:stCondLst>
                                        </p:cTn>
                                        <p:tgtEl>
                                          <p:spTgt spid="43"/>
                                        </p:tgtEl>
                                        <p:attrNameLst>
                                          <p:attrName>style.visibility</p:attrName>
                                        </p:attrNameLst>
                                      </p:cBhvr>
                                      <p:to>
                                        <p:strVal val="visible"/>
                                      </p:to>
                                    </p:set>
                                    <p:animEffect transition="in" filter="blinds(horizontal)">
                                      <p:cBhvr>
                                        <p:cTn id="5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D634AC9B-A98E-9AB3-17F9-86EAB9072EC4}"/>
              </a:ext>
            </a:extLst>
          </p:cNvPr>
          <p:cNvGrpSpPr/>
          <p:nvPr/>
        </p:nvGrpSpPr>
        <p:grpSpPr>
          <a:xfrm>
            <a:off x="1271016" y="2606040"/>
            <a:ext cx="8138159" cy="2381984"/>
            <a:chOff x="1271016" y="2606040"/>
            <a:chExt cx="8138159" cy="2381984"/>
          </a:xfrm>
        </p:grpSpPr>
        <p:pic>
          <p:nvPicPr>
            <p:cNvPr id="10" name="Picture 9" descr="image.png"/>
            <p:cNvPicPr>
              <a:picLocks noChangeAspect="1"/>
            </p:cNvPicPr>
            <p:nvPr/>
          </p:nvPicPr>
          <p:blipFill>
            <a:blip r:embed="rId3"/>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1421864"/>
            </a:xfrm>
            <a:prstGeom prst="rect">
              <a:avLst/>
            </a:prstGeom>
            <a:noFill/>
          </p:spPr>
          <p:txBody>
            <a:bodyPr wrap="square" lIns="45720" tIns="0" rIns="45720" bIns="0" anchor="t">
              <a:spAutoFit/>
            </a:bodyPr>
            <a:lstStyle/>
            <a:p>
              <a:pPr algn="l">
                <a:lnSpc>
                  <a:spcPct val="112000"/>
                </a:lnSpc>
              </a:pPr>
              <a:r>
                <a:rPr sz="2800" b="0" i="0" dirty="0">
                  <a:solidFill>
                    <a:srgbClr val="142233"/>
                  </a:solidFill>
                  <a:latin typeface="League Spartan"/>
                </a:rPr>
                <a:t>How long inventory sits before it sells. </a:t>
              </a:r>
              <a:endParaRPr lang="en-US" sz="2800" b="0" i="0" dirty="0">
                <a:solidFill>
                  <a:srgbClr val="142233"/>
                </a:solidFill>
                <a:latin typeface="League Spartan"/>
              </a:endParaRPr>
            </a:p>
            <a:p>
              <a:pPr algn="l">
                <a:lnSpc>
                  <a:spcPct val="112000"/>
                </a:lnSpc>
              </a:pPr>
              <a:r>
                <a:rPr sz="2800" b="0" i="0" dirty="0">
                  <a:solidFill>
                    <a:srgbClr val="142233"/>
                  </a:solidFill>
                  <a:latin typeface="League Spartan"/>
                </a:rPr>
                <a:t>Every dollar on the shelf is a dollar that is not in the bank.</a:t>
              </a:r>
            </a:p>
          </p:txBody>
        </p:sp>
      </p:grpSp>
      <p:grpSp>
        <p:nvGrpSpPr>
          <p:cNvPr id="38" name="Group 37">
            <a:extLst>
              <a:ext uri="{FF2B5EF4-FFF2-40B4-BE49-F238E27FC236}">
                <a16:creationId xmlns:a16="http://schemas.microsoft.com/office/drawing/2014/main" id="{4000C1CA-237B-A0E6-33C3-371D293D39D0}"/>
              </a:ext>
            </a:extLst>
          </p:cNvPr>
          <p:cNvGrpSpPr/>
          <p:nvPr/>
        </p:nvGrpSpPr>
        <p:grpSpPr>
          <a:xfrm>
            <a:off x="1271016" y="5852160"/>
            <a:ext cx="7223759" cy="2011680"/>
            <a:chOff x="1271016" y="5852160"/>
            <a:chExt cx="7223759" cy="2011680"/>
          </a:xfrm>
        </p:grpSpPr>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dirty="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dirty="0">
                  <a:solidFill>
                    <a:srgbClr val="142233"/>
                  </a:solidFill>
                  <a:latin typeface="League Spartan"/>
                </a:rPr>
                <a:t>Idle inventory is the most expensive working capital — it traps cash AND costs money to hold.</a:t>
              </a:r>
            </a:p>
          </p:txBody>
        </p:sp>
      </p:gr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9" name="Group 38">
            <a:extLst>
              <a:ext uri="{FF2B5EF4-FFF2-40B4-BE49-F238E27FC236}">
                <a16:creationId xmlns:a16="http://schemas.microsoft.com/office/drawing/2014/main" id="{ADD9F4F2-EB01-DC64-406E-850556BCFCC6}"/>
              </a:ext>
            </a:extLst>
          </p:cNvPr>
          <p:cNvGrpSpPr/>
          <p:nvPr/>
        </p:nvGrpSpPr>
        <p:grpSpPr>
          <a:xfrm>
            <a:off x="9464040" y="2450592"/>
            <a:ext cx="7543800" cy="1207008"/>
            <a:chOff x="9464040" y="2450592"/>
            <a:chExt cx="7543800" cy="1207008"/>
          </a:xfrm>
        </p:grpSpPr>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THE MATH  ·  $5M COGS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dirty="0">
                  <a:solidFill>
                    <a:srgbClr val="FFFFFF"/>
                  </a:solidFill>
                  <a:latin typeface="League Spartan"/>
                </a:rPr>
                <a:t>$820K inventory ÷ $5M × 365</a:t>
              </a:r>
              <a:r>
                <a:rPr sz="2200" b="0" i="0" dirty="0">
                  <a:solidFill>
                    <a:srgbClr val="E5E8EB"/>
                  </a:solidFill>
                  <a:latin typeface="League Spartan"/>
                </a:rPr>
                <a:t>  =  59.9 days</a:t>
              </a:r>
            </a:p>
            <a:p>
              <a:pPr algn="l">
                <a:lnSpc>
                  <a:spcPct val="130000"/>
                </a:lnSpc>
              </a:pPr>
              <a:r>
                <a:rPr sz="3200" b="1" i="0" dirty="0">
                  <a:solidFill>
                    <a:srgbClr val="FF7900"/>
                  </a:solidFill>
                  <a:latin typeface="League Spartan"/>
                </a:rPr>
                <a:t>Cut 15 days × $13,700/day</a:t>
              </a:r>
              <a:r>
                <a:rPr sz="2200" b="0" i="0" dirty="0">
                  <a:solidFill>
                    <a:srgbClr val="E5E8EB"/>
                  </a:solidFill>
                  <a:latin typeface="League Spartan"/>
                </a:rPr>
                <a:t>  =  $205,500 released</a:t>
              </a:r>
            </a:p>
          </p:txBody>
        </p:sp>
      </p:gr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dirty="0">
                <a:solidFill>
                  <a:srgbClr val="FF7900"/>
                </a:solidFill>
                <a:latin typeface="League Spartan"/>
              </a:rPr>
              <a:t>THREE PLAYS</a:t>
            </a:r>
          </a:p>
        </p:txBody>
      </p:sp>
      <p:grpSp>
        <p:nvGrpSpPr>
          <p:cNvPr id="40" name="Group 39">
            <a:extLst>
              <a:ext uri="{FF2B5EF4-FFF2-40B4-BE49-F238E27FC236}">
                <a16:creationId xmlns:a16="http://schemas.microsoft.com/office/drawing/2014/main" id="{DD776E45-84BA-9D7E-09BF-C11909C288C7}"/>
              </a:ext>
            </a:extLst>
          </p:cNvPr>
          <p:cNvGrpSpPr/>
          <p:nvPr/>
        </p:nvGrpSpPr>
        <p:grpSpPr>
          <a:xfrm>
            <a:off x="9464040" y="5330952"/>
            <a:ext cx="7543799" cy="859536"/>
            <a:chOff x="9464040" y="5330952"/>
            <a:chExt cx="7543799" cy="859536"/>
          </a:xfrm>
        </p:grpSpPr>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dirty="0">
                  <a:solidFill>
                    <a:srgbClr val="142233"/>
                  </a:solidFill>
                  <a:latin typeface="League Spartan"/>
                </a:rPr>
                <a:t>Turn faster</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ABC analysis. Push the A-items. Tighter forecasting.</a:t>
              </a:r>
            </a:p>
          </p:txBody>
        </p:sp>
      </p:grpSp>
      <p:grpSp>
        <p:nvGrpSpPr>
          <p:cNvPr id="41" name="Group 40">
            <a:extLst>
              <a:ext uri="{FF2B5EF4-FFF2-40B4-BE49-F238E27FC236}">
                <a16:creationId xmlns:a16="http://schemas.microsoft.com/office/drawing/2014/main" id="{1706260D-0149-1E15-3B23-A6570D3ECD91}"/>
              </a:ext>
            </a:extLst>
          </p:cNvPr>
          <p:cNvGrpSpPr/>
          <p:nvPr/>
        </p:nvGrpSpPr>
        <p:grpSpPr>
          <a:xfrm>
            <a:off x="9464040" y="6227064"/>
            <a:ext cx="7543799" cy="859536"/>
            <a:chOff x="9464040" y="6227064"/>
            <a:chExt cx="7543799" cy="859536"/>
          </a:xfrm>
        </p:grpSpPr>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Clear the old</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Bundle it, discount it, liquidate it — move on.</a:t>
              </a:r>
            </a:p>
          </p:txBody>
        </p:sp>
      </p:grpSp>
      <p:grpSp>
        <p:nvGrpSpPr>
          <p:cNvPr id="42" name="Group 41">
            <a:extLst>
              <a:ext uri="{FF2B5EF4-FFF2-40B4-BE49-F238E27FC236}">
                <a16:creationId xmlns:a16="http://schemas.microsoft.com/office/drawing/2014/main" id="{5425C62C-A065-E4F0-034F-AECAC77F2C05}"/>
              </a:ext>
            </a:extLst>
          </p:cNvPr>
          <p:cNvGrpSpPr/>
          <p:nvPr/>
        </p:nvGrpSpPr>
        <p:grpSpPr>
          <a:xfrm>
            <a:off x="9464040" y="7123176"/>
            <a:ext cx="7543799" cy="859536"/>
            <a:chOff x="9464040" y="7123176"/>
            <a:chExt cx="7543799" cy="859536"/>
          </a:xfrm>
        </p:grpSpPr>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Buy smarter</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Smaller, more frequent orders. Fewer SKUs. Vendor-managed where you can.</a:t>
              </a:r>
            </a:p>
          </p:txBody>
        </p:sp>
      </p:grpSp>
      <p:grpSp>
        <p:nvGrpSpPr>
          <p:cNvPr id="43" name="Group 42">
            <a:extLst>
              <a:ext uri="{FF2B5EF4-FFF2-40B4-BE49-F238E27FC236}">
                <a16:creationId xmlns:a16="http://schemas.microsoft.com/office/drawing/2014/main" id="{163E9CD3-DAAB-B2A3-32ED-A3FBF373D90F}"/>
              </a:ext>
            </a:extLst>
          </p:cNvPr>
          <p:cNvGrpSpPr/>
          <p:nvPr/>
        </p:nvGrpSpPr>
        <p:grpSpPr>
          <a:xfrm>
            <a:off x="2286000" y="8366760"/>
            <a:ext cx="13716000" cy="1024128"/>
            <a:chOff x="2286000" y="8366760"/>
            <a:chExt cx="13716000" cy="1024128"/>
          </a:xfrm>
        </p:grpSpPr>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If it's not turning, it's burning.</a:t>
              </a:r>
            </a:p>
            <a:p>
              <a:pPr algn="ctr">
                <a:lnSpc>
                  <a:spcPct val="110000"/>
                </a:lnSpc>
              </a:pPr>
              <a:r>
                <a:rPr sz="2400" b="0" i="1" dirty="0">
                  <a:solidFill>
                    <a:srgbClr val="303B4F"/>
                  </a:solidFill>
                  <a:latin typeface="League Spartan"/>
                </a:rPr>
                <a:t>Every birthday your inventory has costs another day of trapped cash.</a:t>
              </a:r>
            </a:p>
          </p:txBody>
        </p:sp>
      </p:grpSp>
      <p:grpSp>
        <p:nvGrpSpPr>
          <p:cNvPr id="4" name="Group 3">
            <a:extLst>
              <a:ext uri="{FF2B5EF4-FFF2-40B4-BE49-F238E27FC236}">
                <a16:creationId xmlns:a16="http://schemas.microsoft.com/office/drawing/2014/main" id="{F9369D5A-099B-5FE1-BB74-D58AF710ED40}"/>
              </a:ext>
            </a:extLst>
          </p:cNvPr>
          <p:cNvGrpSpPr/>
          <p:nvPr/>
        </p:nvGrpSpPr>
        <p:grpSpPr>
          <a:xfrm>
            <a:off x="950976" y="758952"/>
            <a:ext cx="17291304" cy="1091136"/>
            <a:chOff x="950976" y="758952"/>
            <a:chExt cx="17291304" cy="1091136"/>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7 — DIO: Move Inventory Faster</a:t>
              </a:r>
              <a:endParaRPr lang="en-US" sz="4800" dirty="0">
                <a:latin typeface="League Spartan" pitchFamily="2" charset="77"/>
              </a:endParaRPr>
            </a:p>
          </p:txBody>
        </p:sp>
        <p:sp>
          <p:nvSpPr>
            <p:cNvPr id="6" name="TextBox 5"/>
            <p:cNvSpPr txBox="1"/>
            <p:nvPr/>
          </p:nvSpPr>
          <p:spPr>
            <a:xfrm>
              <a:off x="1965960" y="1392888"/>
              <a:ext cx="16002000" cy="457200"/>
            </a:xfrm>
            <a:prstGeom prst="rect">
              <a:avLst/>
            </a:prstGeom>
            <a:noFill/>
          </p:spPr>
          <p:txBody>
            <a:bodyPr wrap="square" lIns="45720" tIns="0" rIns="45720" bIns="0" anchor="t">
              <a:spAutoFit/>
            </a:bodyPr>
            <a:lstStyle/>
            <a:p>
              <a:pPr algn="l"/>
              <a:r>
                <a:rPr sz="2400" b="0" i="1" dirty="0">
                  <a:solidFill>
                    <a:srgbClr val="303B4F"/>
                  </a:solidFill>
                  <a:latin typeface="League Spartan"/>
                </a:rPr>
                <a:t>Days of Inventory</a:t>
              </a: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890089"/>
              <a:ext cx="822960" cy="615553"/>
            </a:xfrm>
            <a:prstGeom prst="rect">
              <a:avLst/>
            </a:prstGeom>
            <a:noFill/>
          </p:spPr>
          <p:txBody>
            <a:bodyPr wrap="square" lIns="45720" tIns="0" rIns="45720" bIns="0" anchor="ctr">
              <a:spAutoFit/>
            </a:bodyPr>
            <a:lstStyle/>
            <a:p>
              <a:pPr algn="ctr"/>
              <a:r>
                <a:rPr sz="4000" b="1" i="0" dirty="0">
                  <a:solidFill>
                    <a:srgbClr val="FFFFFF"/>
                  </a:solidFill>
                  <a:latin typeface="League Spartan"/>
                </a:rPr>
                <a:t>7</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grpSp>
      <p:pic>
        <p:nvPicPr>
          <p:cNvPr id="36" name="Picture 35"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grpId="0" nodeType="afterEffect">
                                  <p:stCondLst>
                                    <p:cond delay="1000"/>
                                  </p:stCondLst>
                                  <p:childTnLst>
                                    <p:set>
                                      <p:cBhvr>
                                        <p:cTn id="9" dur="1" fill="hold">
                                          <p:stCondLst>
                                            <p:cond delay="0"/>
                                          </p:stCondLst>
                                        </p:cTn>
                                        <p:tgtEl>
                                          <p:spTgt spid="7"/>
                                        </p:tgtEl>
                                        <p:attrNameLst>
                                          <p:attrName>style.visibility</p:attrName>
                                        </p:attrNameLst>
                                      </p:cBhvr>
                                      <p:to>
                                        <p:strVal val="visible"/>
                                      </p:to>
                                    </p:set>
                                    <p:animEffect transition="in" filter="checkerboard(down)">
                                      <p:cBhvr>
                                        <p:cTn id="10" dur="500"/>
                                        <p:tgtEl>
                                          <p:spTgt spid="7"/>
                                        </p:tgtEl>
                                      </p:cBhvr>
                                    </p:animEffect>
                                  </p:childTnLst>
                                </p:cTn>
                              </p:par>
                            </p:childTnLst>
                          </p:cTn>
                        </p:par>
                        <p:par>
                          <p:cTn id="11" fill="hold">
                            <p:stCondLst>
                              <p:cond delay="2500"/>
                            </p:stCondLst>
                            <p:childTnLst>
                              <p:par>
                                <p:cTn id="12" presetID="5" presetClass="entr" presetSubtype="5"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checkerboard(down)">
                                      <p:cBhvr>
                                        <p:cTn id="14" dur="500"/>
                                        <p:tgtEl>
                                          <p:spTgt spid="15"/>
                                        </p:tgtEl>
                                      </p:cBhvr>
                                    </p:animEffect>
                                  </p:childTnLst>
                                </p:cTn>
                              </p:par>
                            </p:childTnLst>
                          </p:cTn>
                        </p:par>
                        <p:par>
                          <p:cTn id="15" fill="hold">
                            <p:stCondLst>
                              <p:cond delay="3000"/>
                            </p:stCondLst>
                            <p:childTnLst>
                              <p:par>
                                <p:cTn id="16" presetID="5" presetClass="entr" presetSubtype="5"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checkerboard(down)">
                                      <p:cBhvr>
                                        <p:cTn id="18" dur="500"/>
                                        <p:tgtEl>
                                          <p:spTgt spid="18"/>
                                        </p:tgtEl>
                                      </p:cBhvr>
                                    </p:animEffect>
                                  </p:childTnLst>
                                </p:cTn>
                              </p:par>
                            </p:childTnLst>
                          </p:cTn>
                        </p:par>
                        <p:par>
                          <p:cTn id="19" fill="hold">
                            <p:stCondLst>
                              <p:cond delay="3500"/>
                            </p:stCondLst>
                            <p:childTnLst>
                              <p:par>
                                <p:cTn id="20" presetID="9"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1000"/>
                                  </p:stCondLst>
                                  <p:childTnLst>
                                    <p:set>
                                      <p:cBhvr>
                                        <p:cTn id="26" dur="1" fill="hold">
                                          <p:stCondLst>
                                            <p:cond delay="0"/>
                                          </p:stCondLst>
                                        </p:cTn>
                                        <p:tgtEl>
                                          <p:spTgt spid="38"/>
                                        </p:tgtEl>
                                        <p:attrNameLst>
                                          <p:attrName>style.visibility</p:attrName>
                                        </p:attrNameLst>
                                      </p:cBhvr>
                                      <p:to>
                                        <p:strVal val="visible"/>
                                      </p:to>
                                    </p:set>
                                    <p:animEffect transition="in" filter="dissolv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1000"/>
                                  </p:stCondLst>
                                  <p:childTnLst>
                                    <p:set>
                                      <p:cBhvr>
                                        <p:cTn id="31" dur="1" fill="hold">
                                          <p:stCondLst>
                                            <p:cond delay="0"/>
                                          </p:stCondLst>
                                        </p:cTn>
                                        <p:tgtEl>
                                          <p:spTgt spid="39"/>
                                        </p:tgtEl>
                                        <p:attrNameLst>
                                          <p:attrName>style.visibility</p:attrName>
                                        </p:attrNameLst>
                                      </p:cBhvr>
                                      <p:to>
                                        <p:strVal val="visible"/>
                                      </p:to>
                                    </p:set>
                                    <p:animEffect transition="in" filter="dissolv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par>
                          <p:cTn id="37" fill="hold">
                            <p:stCondLst>
                              <p:cond delay="0"/>
                            </p:stCondLst>
                            <p:childTnLst>
                              <p:par>
                                <p:cTn id="38" presetID="3" presetClass="entr" presetSubtype="10" fill="hold" nodeType="afterEffect">
                                  <p:stCondLst>
                                    <p:cond delay="1000"/>
                                  </p:stCondLst>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500"/>
                                        <p:tgtEl>
                                          <p:spTgt spid="40"/>
                                        </p:tgtEl>
                                      </p:cBhvr>
                                    </p:animEffect>
                                  </p:childTnLst>
                                </p:cTn>
                              </p:par>
                            </p:childTnLst>
                          </p:cTn>
                        </p:par>
                        <p:par>
                          <p:cTn id="41" fill="hold">
                            <p:stCondLst>
                              <p:cond delay="1500"/>
                            </p:stCondLst>
                            <p:childTnLst>
                              <p:par>
                                <p:cTn id="42" presetID="3" presetClass="entr" presetSubtype="10" fill="hold" nodeType="afterEffect">
                                  <p:stCondLst>
                                    <p:cond delay="2000"/>
                                  </p:stCondLst>
                                  <p:childTnLst>
                                    <p:set>
                                      <p:cBhvr>
                                        <p:cTn id="43" dur="1" fill="hold">
                                          <p:stCondLst>
                                            <p:cond delay="0"/>
                                          </p:stCondLst>
                                        </p:cTn>
                                        <p:tgtEl>
                                          <p:spTgt spid="41"/>
                                        </p:tgtEl>
                                        <p:attrNameLst>
                                          <p:attrName>style.visibility</p:attrName>
                                        </p:attrNameLst>
                                      </p:cBhvr>
                                      <p:to>
                                        <p:strVal val="visible"/>
                                      </p:to>
                                    </p:set>
                                    <p:animEffect transition="in" filter="blinds(horizontal)">
                                      <p:cBhvr>
                                        <p:cTn id="44" dur="500"/>
                                        <p:tgtEl>
                                          <p:spTgt spid="41"/>
                                        </p:tgtEl>
                                      </p:cBhvr>
                                    </p:animEffect>
                                  </p:childTnLst>
                                </p:cTn>
                              </p:par>
                            </p:childTnLst>
                          </p:cTn>
                        </p:par>
                        <p:par>
                          <p:cTn id="45" fill="hold">
                            <p:stCondLst>
                              <p:cond delay="4000"/>
                            </p:stCondLst>
                            <p:childTnLst>
                              <p:par>
                                <p:cTn id="46" presetID="3" presetClass="entr" presetSubtype="10" fill="hold" nodeType="afterEffect">
                                  <p:stCondLst>
                                    <p:cond delay="2000"/>
                                  </p:stCondLst>
                                  <p:childTnLst>
                                    <p:set>
                                      <p:cBhvr>
                                        <p:cTn id="47" dur="1" fill="hold">
                                          <p:stCondLst>
                                            <p:cond delay="0"/>
                                          </p:stCondLst>
                                        </p:cTn>
                                        <p:tgtEl>
                                          <p:spTgt spid="42"/>
                                        </p:tgtEl>
                                        <p:attrNameLst>
                                          <p:attrName>style.visibility</p:attrName>
                                        </p:attrNameLst>
                                      </p:cBhvr>
                                      <p:to>
                                        <p:strVal val="visible"/>
                                      </p:to>
                                    </p:set>
                                    <p:animEffect transition="in" filter="blinds(horizontal)">
                                      <p:cBhvr>
                                        <p:cTn id="48" dur="500"/>
                                        <p:tgtEl>
                                          <p:spTgt spid="42"/>
                                        </p:tgtEl>
                                      </p:cBhvr>
                                    </p:animEffect>
                                  </p:childTnLst>
                                </p:cTn>
                              </p:par>
                            </p:childTnLst>
                          </p:cTn>
                        </p:par>
                        <p:par>
                          <p:cTn id="49" fill="hold">
                            <p:stCondLst>
                              <p:cond delay="6500"/>
                            </p:stCondLst>
                            <p:childTnLst>
                              <p:par>
                                <p:cTn id="50" presetID="3" presetClass="entr" presetSubtype="10" fill="hold" nodeType="afterEffect">
                                  <p:stCondLst>
                                    <p:cond delay="2000"/>
                                  </p:stCondLst>
                                  <p:childTnLst>
                                    <p:set>
                                      <p:cBhvr>
                                        <p:cTn id="51" dur="1" fill="hold">
                                          <p:stCondLst>
                                            <p:cond delay="0"/>
                                          </p:stCondLst>
                                        </p:cTn>
                                        <p:tgtEl>
                                          <p:spTgt spid="43"/>
                                        </p:tgtEl>
                                        <p:attrNameLst>
                                          <p:attrName>style.visibility</p:attrName>
                                        </p:attrNameLst>
                                      </p:cBhvr>
                                      <p:to>
                                        <p:strVal val="visible"/>
                                      </p:to>
                                    </p:set>
                                    <p:animEffect transition="in" filter="blinds(horizontal)">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8" grpId="0" animBg="1"/>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2" name="Text 0"/>
          <p:cNvSpPr/>
          <p:nvPr/>
        </p:nvSpPr>
        <p:spPr>
          <a:xfrm>
            <a:off x="952453" y="830333"/>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Move a lever — watch the number react.</a:t>
            </a:r>
            <a:endParaRPr lang="en-US" sz="4800" dirty="0">
              <a:latin typeface="League Spartan" pitchFamily="2" charset="77"/>
            </a:endParaRPr>
          </a:p>
        </p:txBody>
      </p:sp>
      <p:sp>
        <p:nvSpPr>
          <p:cNvPr id="69" name="TextBox 68"/>
          <p:cNvSpPr txBox="1"/>
          <p:nvPr/>
        </p:nvSpPr>
        <p:spPr>
          <a:xfrm>
            <a:off x="950976" y="1591056"/>
            <a:ext cx="16002000" cy="369332"/>
          </a:xfrm>
          <a:prstGeom prst="rect">
            <a:avLst/>
          </a:prstGeom>
          <a:noFill/>
        </p:spPr>
        <p:txBody>
          <a:bodyPr wrap="square" lIns="45720" tIns="0" rIns="45720" bIns="0" anchor="t">
            <a:spAutoFit/>
          </a:bodyPr>
          <a:lstStyle/>
          <a:p>
            <a:pPr algn="l"/>
            <a:r>
              <a:rPr sz="2400" b="0" i="1" dirty="0">
                <a:solidFill>
                  <a:srgbClr val="303B4F"/>
                </a:solidFill>
                <a:latin typeface="League Spartan"/>
              </a:rPr>
              <a:t>Seven levers on the five-number statement. Profit and cash react live.</a:t>
            </a:r>
          </a:p>
        </p:txBody>
      </p:sp>
      <p:sp>
        <p:nvSpPr>
          <p:cNvPr id="132" name="TextBox 131"/>
          <p:cNvSpPr txBox="1"/>
          <p:nvPr/>
        </p:nvSpPr>
        <p:spPr>
          <a:xfrm>
            <a:off x="12024360" y="2240280"/>
            <a:ext cx="5303520" cy="502920"/>
          </a:xfrm>
          <a:prstGeom prst="rect">
            <a:avLst/>
          </a:prstGeom>
          <a:noFill/>
        </p:spPr>
        <p:txBody>
          <a:bodyPr wrap="square" lIns="45720" tIns="0" rIns="45720" bIns="0" anchor="t">
            <a:spAutoFit/>
          </a:bodyPr>
          <a:lstStyle/>
          <a:p>
            <a:pPr algn="l"/>
            <a:r>
              <a:rPr sz="2800" b="1" i="0" dirty="0">
                <a:solidFill>
                  <a:srgbClr val="142233"/>
                </a:solidFill>
                <a:latin typeface="League Spartan"/>
              </a:rPr>
              <a:t>What's on it</a:t>
            </a:r>
          </a:p>
        </p:txBody>
      </p:sp>
      <p:grpSp>
        <p:nvGrpSpPr>
          <p:cNvPr id="6" name="Group 5">
            <a:extLst>
              <a:ext uri="{FF2B5EF4-FFF2-40B4-BE49-F238E27FC236}">
                <a16:creationId xmlns:a16="http://schemas.microsoft.com/office/drawing/2014/main" id="{0DFE3A89-D8E9-77BF-BF6B-3B807D06D2B4}"/>
              </a:ext>
            </a:extLst>
          </p:cNvPr>
          <p:cNvGrpSpPr/>
          <p:nvPr/>
        </p:nvGrpSpPr>
        <p:grpSpPr>
          <a:xfrm>
            <a:off x="12024360" y="2926080"/>
            <a:ext cx="5303520" cy="1252728"/>
            <a:chOff x="12024360" y="2926080"/>
            <a:chExt cx="5303520" cy="1252728"/>
          </a:xfrm>
        </p:grpSpPr>
        <p:sp>
          <p:nvSpPr>
            <p:cNvPr id="133" name="TextBox 132"/>
            <p:cNvSpPr txBox="1"/>
            <p:nvPr/>
          </p:nvSpPr>
          <p:spPr>
            <a:xfrm>
              <a:off x="12024360" y="2926080"/>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Seven levers</a:t>
              </a:r>
            </a:p>
          </p:txBody>
        </p:sp>
        <p:sp>
          <p:nvSpPr>
            <p:cNvPr id="134" name="TextBox 133"/>
            <p:cNvSpPr txBox="1"/>
            <p:nvPr/>
          </p:nvSpPr>
          <p:spPr>
            <a:xfrm>
              <a:off x="12024360" y="3355848"/>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Four profit levers (Price, Volume, DVC, OPEX) and three cash levers (DSO, DIO, DPO).</a:t>
              </a:r>
            </a:p>
          </p:txBody>
        </p:sp>
      </p:grpSp>
      <p:grpSp>
        <p:nvGrpSpPr>
          <p:cNvPr id="7" name="Group 6">
            <a:extLst>
              <a:ext uri="{FF2B5EF4-FFF2-40B4-BE49-F238E27FC236}">
                <a16:creationId xmlns:a16="http://schemas.microsoft.com/office/drawing/2014/main" id="{EB1B0534-88BD-403F-4099-5AE2D4EBB423}"/>
              </a:ext>
            </a:extLst>
          </p:cNvPr>
          <p:cNvGrpSpPr/>
          <p:nvPr/>
        </p:nvGrpSpPr>
        <p:grpSpPr>
          <a:xfrm>
            <a:off x="12024360" y="4334256"/>
            <a:ext cx="5806440" cy="699265"/>
            <a:chOff x="12024360" y="4334256"/>
            <a:chExt cx="5806440" cy="699265"/>
          </a:xfrm>
        </p:grpSpPr>
        <p:sp>
          <p:nvSpPr>
            <p:cNvPr id="135" name="TextBox 134"/>
            <p:cNvSpPr txBox="1"/>
            <p:nvPr/>
          </p:nvSpPr>
          <p:spPr>
            <a:xfrm>
              <a:off x="12024360" y="4334256"/>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Profit and cash, side by side</a:t>
              </a:r>
            </a:p>
          </p:txBody>
        </p:sp>
        <p:sp>
          <p:nvSpPr>
            <p:cNvPr id="136" name="TextBox 135"/>
            <p:cNvSpPr txBox="1"/>
            <p:nvPr/>
          </p:nvSpPr>
          <p:spPr>
            <a:xfrm>
              <a:off x="12024360" y="4764024"/>
              <a:ext cx="5806440" cy="269497"/>
            </a:xfrm>
            <a:prstGeom prst="rect">
              <a:avLst/>
            </a:prstGeom>
            <a:noFill/>
          </p:spPr>
          <p:txBody>
            <a:bodyPr wrap="square" lIns="45720" tIns="0" rIns="45720" bIns="0" anchor="t">
              <a:spAutoFit/>
            </a:bodyPr>
            <a:lstStyle/>
            <a:p>
              <a:pPr algn="l">
                <a:lnSpc>
                  <a:spcPct val="108000"/>
                </a:lnSpc>
              </a:pPr>
              <a:r>
                <a:rPr sz="1700" b="0" i="0" dirty="0">
                  <a:solidFill>
                    <a:srgbClr val="303B4F"/>
                  </a:solidFill>
                  <a:latin typeface="League Spartan"/>
                </a:rPr>
                <a:t>PPR gauge and trend for profit — cash freed for the cash levers.</a:t>
              </a:r>
            </a:p>
          </p:txBody>
        </p:sp>
      </p:grpSp>
      <p:grpSp>
        <p:nvGrpSpPr>
          <p:cNvPr id="8" name="Group 7">
            <a:extLst>
              <a:ext uri="{FF2B5EF4-FFF2-40B4-BE49-F238E27FC236}">
                <a16:creationId xmlns:a16="http://schemas.microsoft.com/office/drawing/2014/main" id="{443145B9-861E-D8ED-CA96-E2F910DE5676}"/>
              </a:ext>
            </a:extLst>
          </p:cNvPr>
          <p:cNvGrpSpPr/>
          <p:nvPr/>
        </p:nvGrpSpPr>
        <p:grpSpPr>
          <a:xfrm>
            <a:off x="12024360" y="5614416"/>
            <a:ext cx="5303520" cy="1161288"/>
            <a:chOff x="12024360" y="5614416"/>
            <a:chExt cx="5303520" cy="1161288"/>
          </a:xfrm>
        </p:grpSpPr>
        <p:sp>
          <p:nvSpPr>
            <p:cNvPr id="137" name="TextBox 136"/>
            <p:cNvSpPr txBox="1"/>
            <p:nvPr/>
          </p:nvSpPr>
          <p:spPr>
            <a:xfrm>
              <a:off x="12024360" y="5614416"/>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Highest leverage — ranked live</a:t>
              </a:r>
            </a:p>
          </p:txBody>
        </p:sp>
        <p:sp>
          <p:nvSpPr>
            <p:cNvPr id="138" name="TextBox 137"/>
            <p:cNvSpPr txBox="1"/>
            <p:nvPr/>
          </p:nvSpPr>
          <p:spPr>
            <a:xfrm>
              <a:off x="12024360" y="5952744"/>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Which lever moves net the most per 1% in YOUR business.</a:t>
              </a:r>
            </a:p>
          </p:txBody>
        </p:sp>
      </p:grpSp>
      <p:grpSp>
        <p:nvGrpSpPr>
          <p:cNvPr id="9" name="Group 8">
            <a:extLst>
              <a:ext uri="{FF2B5EF4-FFF2-40B4-BE49-F238E27FC236}">
                <a16:creationId xmlns:a16="http://schemas.microsoft.com/office/drawing/2014/main" id="{0D0C5448-4634-04D6-7565-1EB35E6E56DA}"/>
              </a:ext>
            </a:extLst>
          </p:cNvPr>
          <p:cNvGrpSpPr/>
          <p:nvPr/>
        </p:nvGrpSpPr>
        <p:grpSpPr>
          <a:xfrm>
            <a:off x="12024360" y="6766560"/>
            <a:ext cx="5303520" cy="1252728"/>
            <a:chOff x="12024360" y="6766560"/>
            <a:chExt cx="5303520" cy="1252728"/>
          </a:xfrm>
        </p:grpSpPr>
        <p:sp>
          <p:nvSpPr>
            <p:cNvPr id="139" name="TextBox 138"/>
            <p:cNvSpPr txBox="1"/>
            <p:nvPr/>
          </p:nvSpPr>
          <p:spPr>
            <a:xfrm>
              <a:off x="12024360" y="6766560"/>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Commit → Scorecard</a:t>
              </a:r>
            </a:p>
          </p:txBody>
        </p:sp>
        <p:sp>
          <p:nvSpPr>
            <p:cNvPr id="140" name="TextBox 139"/>
            <p:cNvSpPr txBox="1"/>
            <p:nvPr/>
          </p:nvSpPr>
          <p:spPr>
            <a:xfrm>
              <a:off x="12024360" y="7196328"/>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Commit a scenario and it becomes the number the team runs on.</a:t>
              </a:r>
            </a:p>
          </p:txBody>
        </p:sp>
      </p:grpSp>
      <p:grpSp>
        <p:nvGrpSpPr>
          <p:cNvPr id="10" name="Group 9">
            <a:extLst>
              <a:ext uri="{FF2B5EF4-FFF2-40B4-BE49-F238E27FC236}">
                <a16:creationId xmlns:a16="http://schemas.microsoft.com/office/drawing/2014/main" id="{CB9A1AED-1982-4F15-C7F6-0DDBAE02F9EA}"/>
              </a:ext>
            </a:extLst>
          </p:cNvPr>
          <p:cNvGrpSpPr/>
          <p:nvPr/>
        </p:nvGrpSpPr>
        <p:grpSpPr>
          <a:xfrm>
            <a:off x="950976" y="8348471"/>
            <a:ext cx="16367759" cy="1280160"/>
            <a:chOff x="950976" y="8348471"/>
            <a:chExt cx="16367759" cy="1280160"/>
          </a:xfrm>
        </p:grpSpPr>
        <p:sp>
          <p:nvSpPr>
            <p:cNvPr id="141" name="Rounded Rectangle 140"/>
            <p:cNvSpPr/>
            <p:nvPr/>
          </p:nvSpPr>
          <p:spPr>
            <a:xfrm>
              <a:off x="950976" y="8462771"/>
              <a:ext cx="16367759" cy="1001267"/>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1133856" y="8348471"/>
              <a:ext cx="16002000" cy="1280160"/>
            </a:xfrm>
            <a:prstGeom prst="rect">
              <a:avLst/>
            </a:prstGeom>
            <a:noFill/>
          </p:spPr>
          <p:txBody>
            <a:bodyPr wrap="square" lIns="45720" tIns="0" rIns="45720" bIns="0" anchor="ctr">
              <a:spAutoFit/>
            </a:bodyPr>
            <a:lstStyle/>
            <a:p>
              <a:pPr algn="ctr">
                <a:lnSpc>
                  <a:spcPct val="110000"/>
                </a:lnSpc>
              </a:pPr>
              <a:r>
                <a:rPr sz="2400" b="1" i="0" dirty="0">
                  <a:solidFill>
                    <a:srgbClr val="142233"/>
                  </a:solidFill>
                  <a:latin typeface="League Spartan"/>
                </a:rPr>
                <a:t>Seven levers. One screen. The number reacts before you spend a dollar.</a:t>
              </a:r>
            </a:p>
            <a:p>
              <a:pPr algn="ctr">
                <a:lnSpc>
                  <a:spcPct val="110000"/>
                </a:lnSpc>
              </a:pPr>
              <a:r>
                <a:rPr sz="2000" b="0" i="1" dirty="0">
                  <a:solidFill>
                    <a:srgbClr val="303B4F"/>
                  </a:solidFill>
                  <a:latin typeface="League Spartan"/>
                </a:rPr>
                <a:t>Rank the moves by what 1% buys in your business — then pull the one with the most leverage.</a:t>
              </a:r>
            </a:p>
          </p:txBody>
        </p:sp>
      </p:grpSp>
      <p:sp>
        <p:nvSpPr>
          <p:cNvPr id="4" name="TextBox 3">
            <a:extLst>
              <a:ext uri="{FF2B5EF4-FFF2-40B4-BE49-F238E27FC236}">
                <a16:creationId xmlns:a16="http://schemas.microsoft.com/office/drawing/2014/main" id="{52DF0DE5-9CF9-32F3-CCA7-7D5FF496E762}"/>
              </a:ext>
            </a:extLst>
          </p:cNvPr>
          <p:cNvSpPr txBox="1"/>
          <p:nvPr/>
        </p:nvSpPr>
        <p:spPr>
          <a:xfrm>
            <a:off x="960120" y="407840"/>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a:t>
            </a:r>
            <a:r>
              <a:rPr lang="en-US" b="1" spc="450" dirty="0">
                <a:solidFill>
                  <a:srgbClr val="FF7900"/>
                </a:solidFill>
                <a:latin typeface="League Spartan"/>
              </a:rPr>
              <a:t>POWER OF X</a:t>
            </a:r>
            <a:endParaRPr b="1" spc="450" dirty="0">
              <a:solidFill>
                <a:srgbClr val="FF7900"/>
              </a:solidFill>
              <a:latin typeface="League Spartan"/>
            </a:endParaRPr>
          </a:p>
        </p:txBody>
      </p:sp>
      <p:grpSp>
        <p:nvGrpSpPr>
          <p:cNvPr id="5" name="Group 4">
            <a:extLst>
              <a:ext uri="{FF2B5EF4-FFF2-40B4-BE49-F238E27FC236}">
                <a16:creationId xmlns:a16="http://schemas.microsoft.com/office/drawing/2014/main" id="{53C9CE18-F7BD-36A8-0FB9-36E66CE39CEB}"/>
              </a:ext>
            </a:extLst>
          </p:cNvPr>
          <p:cNvGrpSpPr/>
          <p:nvPr/>
        </p:nvGrpSpPr>
        <p:grpSpPr>
          <a:xfrm>
            <a:off x="950976" y="2286000"/>
            <a:ext cx="10607040" cy="5715000"/>
            <a:chOff x="950976" y="2286000"/>
            <a:chExt cx="10607040" cy="5715000"/>
          </a:xfrm>
        </p:grpSpPr>
        <p:sp>
          <p:nvSpPr>
            <p:cNvPr id="70" name="Rectangle 69"/>
            <p:cNvSpPr/>
            <p:nvPr/>
          </p:nvSpPr>
          <p:spPr>
            <a:xfrm>
              <a:off x="950976" y="2286000"/>
              <a:ext cx="10607040" cy="5715000"/>
            </a:xfrm>
            <a:prstGeom prst="rect">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50976" y="2286000"/>
              <a:ext cx="10607040" cy="50292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152144" y="2441448"/>
              <a:ext cx="182880" cy="182880"/>
            </a:xfrm>
            <a:prstGeom prst="ellipse">
              <a:avLst/>
            </a:prstGeom>
            <a:solidFill>
              <a:srgbClr val="F04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444752" y="2441448"/>
              <a:ext cx="182880" cy="18288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737360" y="2441448"/>
              <a:ext cx="182880" cy="182880"/>
            </a:xfrm>
            <a:prstGeom prst="ellipse">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2231136" y="2395728"/>
              <a:ext cx="7223760" cy="292608"/>
            </a:xfrm>
            <a:prstGeom prst="roundRect">
              <a:avLst>
                <a:gd name="adj" fmla="val 50000"/>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414016" y="2395728"/>
              <a:ext cx="7223760" cy="292608"/>
            </a:xfrm>
            <a:prstGeom prst="rect">
              <a:avLst/>
            </a:prstGeom>
            <a:noFill/>
          </p:spPr>
          <p:txBody>
            <a:bodyPr wrap="square" lIns="45720" tIns="0" rIns="45720" bIns="0" anchor="ctr">
              <a:spAutoFit/>
            </a:bodyPr>
            <a:lstStyle/>
            <a:p>
              <a:pPr algn="l"/>
              <a:r>
                <a:rPr sz="1300" b="0" i="0">
                  <a:solidFill>
                    <a:srgbClr val="E5E8EB"/>
                  </a:solidFill>
                  <a:latin typeface="League Spartan"/>
                </a:rPr>
                <a:t>askclarus.com  /  power-of-x</a:t>
              </a:r>
            </a:p>
          </p:txBody>
        </p:sp>
        <p:sp>
          <p:nvSpPr>
            <p:cNvPr id="77" name="Rectangle 76"/>
            <p:cNvSpPr/>
            <p:nvPr/>
          </p:nvSpPr>
          <p:spPr>
            <a:xfrm>
              <a:off x="1179576" y="3017520"/>
              <a:ext cx="4663440" cy="4754880"/>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362456" y="3127248"/>
              <a:ext cx="3200400" cy="310896"/>
            </a:xfrm>
            <a:prstGeom prst="rect">
              <a:avLst/>
            </a:prstGeom>
            <a:noFill/>
          </p:spPr>
          <p:txBody>
            <a:bodyPr wrap="square" lIns="45720" tIns="0" rIns="45720" bIns="0" anchor="ctr">
              <a:spAutoFit/>
            </a:bodyPr>
            <a:lstStyle/>
            <a:p>
              <a:pPr algn="l"/>
              <a:r>
                <a:rPr sz="1500" b="1" i="0">
                  <a:solidFill>
                    <a:srgbClr val="FF7900"/>
                  </a:solidFill>
                  <a:latin typeface="League Spartan"/>
                </a:rPr>
                <a:t>PPR LEVERS</a:t>
              </a:r>
            </a:p>
          </p:txBody>
        </p:sp>
        <p:sp>
          <p:nvSpPr>
            <p:cNvPr id="79" name="TextBox 78"/>
            <p:cNvSpPr txBox="1"/>
            <p:nvPr/>
          </p:nvSpPr>
          <p:spPr>
            <a:xfrm>
              <a:off x="1362456" y="3474720"/>
              <a:ext cx="1554480" cy="384048"/>
            </a:xfrm>
            <a:prstGeom prst="rect">
              <a:avLst/>
            </a:prstGeom>
            <a:noFill/>
          </p:spPr>
          <p:txBody>
            <a:bodyPr wrap="square" lIns="45720" tIns="0" rIns="45720" bIns="0" anchor="ctr">
              <a:spAutoFit/>
            </a:bodyPr>
            <a:lstStyle/>
            <a:p>
              <a:pPr algn="l"/>
              <a:r>
                <a:rPr sz="2000" b="1" i="0">
                  <a:solidFill>
                    <a:srgbClr val="142233"/>
                  </a:solidFill>
                  <a:latin typeface="League Spartan"/>
                </a:rPr>
                <a:t>Price</a:t>
              </a:r>
            </a:p>
          </p:txBody>
        </p:sp>
        <p:sp>
          <p:nvSpPr>
            <p:cNvPr id="80" name="Rounded Rectangle 79"/>
            <p:cNvSpPr/>
            <p:nvPr/>
          </p:nvSpPr>
          <p:spPr>
            <a:xfrm>
              <a:off x="2962656" y="3625596"/>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2962656" y="3625596"/>
              <a:ext cx="1909267" cy="82296"/>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4707331" y="3502151"/>
              <a:ext cx="329184" cy="329184"/>
            </a:xfrm>
            <a:prstGeom prst="ellipse">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362456" y="3986783"/>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Volume</a:t>
              </a:r>
            </a:p>
          </p:txBody>
        </p:sp>
        <p:sp>
          <p:nvSpPr>
            <p:cNvPr id="84" name="Rounded Rectangle 83"/>
            <p:cNvSpPr/>
            <p:nvPr/>
          </p:nvSpPr>
          <p:spPr>
            <a:xfrm>
              <a:off x="2962656" y="4137659"/>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2962656" y="4137659"/>
              <a:ext cx="1458468"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4256532" y="4014215"/>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362456" y="4498848"/>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DVC</a:t>
              </a:r>
            </a:p>
          </p:txBody>
        </p:sp>
        <p:sp>
          <p:nvSpPr>
            <p:cNvPr id="88" name="Rounded Rectangle 87"/>
            <p:cNvSpPr/>
            <p:nvPr/>
          </p:nvSpPr>
          <p:spPr>
            <a:xfrm>
              <a:off x="2962656" y="4649724"/>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2962656" y="4649724"/>
              <a:ext cx="1060704"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858768" y="4526280"/>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362456" y="5010912"/>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OPEX</a:t>
              </a:r>
            </a:p>
          </p:txBody>
        </p:sp>
        <p:sp>
          <p:nvSpPr>
            <p:cNvPr id="92" name="Rounded Rectangle 91"/>
            <p:cNvSpPr/>
            <p:nvPr/>
          </p:nvSpPr>
          <p:spPr>
            <a:xfrm>
              <a:off x="2962656" y="5161788"/>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2962656" y="5161788"/>
              <a:ext cx="795528"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3593592" y="5038344"/>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362456" y="5596127"/>
              <a:ext cx="3200400" cy="310896"/>
            </a:xfrm>
            <a:prstGeom prst="rect">
              <a:avLst/>
            </a:prstGeom>
            <a:noFill/>
          </p:spPr>
          <p:txBody>
            <a:bodyPr wrap="square" lIns="45720" tIns="0" rIns="45720" bIns="0" anchor="ctr">
              <a:spAutoFit/>
            </a:bodyPr>
            <a:lstStyle/>
            <a:p>
              <a:pPr algn="l"/>
              <a:r>
                <a:rPr sz="1500" b="1" i="0">
                  <a:solidFill>
                    <a:srgbClr val="FF7900"/>
                  </a:solidFill>
                  <a:latin typeface="League Spartan"/>
                </a:rPr>
                <a:t>CASH LEVERS</a:t>
              </a:r>
            </a:p>
          </p:txBody>
        </p:sp>
        <p:sp>
          <p:nvSpPr>
            <p:cNvPr id="96" name="TextBox 95"/>
            <p:cNvSpPr txBox="1"/>
            <p:nvPr/>
          </p:nvSpPr>
          <p:spPr>
            <a:xfrm>
              <a:off x="1362456" y="5943600"/>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DSO</a:t>
              </a:r>
            </a:p>
          </p:txBody>
        </p:sp>
        <p:sp>
          <p:nvSpPr>
            <p:cNvPr id="97" name="Rounded Rectangle 96"/>
            <p:cNvSpPr/>
            <p:nvPr/>
          </p:nvSpPr>
          <p:spPr>
            <a:xfrm>
              <a:off x="2962656" y="6094476"/>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2962656" y="6094476"/>
              <a:ext cx="1193292"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3991356" y="5971032"/>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362456" y="6455664"/>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DIO</a:t>
              </a:r>
            </a:p>
          </p:txBody>
        </p:sp>
        <p:sp>
          <p:nvSpPr>
            <p:cNvPr id="101" name="Rounded Rectangle 100"/>
            <p:cNvSpPr/>
            <p:nvPr/>
          </p:nvSpPr>
          <p:spPr>
            <a:xfrm>
              <a:off x="2962656" y="6606540"/>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p:cNvSpPr/>
            <p:nvPr/>
          </p:nvSpPr>
          <p:spPr>
            <a:xfrm>
              <a:off x="2962656" y="6606540"/>
              <a:ext cx="1325880"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4123944" y="6483096"/>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362456" y="6967728"/>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DPO</a:t>
              </a:r>
            </a:p>
          </p:txBody>
        </p:sp>
        <p:sp>
          <p:nvSpPr>
            <p:cNvPr id="105" name="Rounded Rectangle 104"/>
            <p:cNvSpPr/>
            <p:nvPr/>
          </p:nvSpPr>
          <p:spPr>
            <a:xfrm>
              <a:off x="2962656" y="7118604"/>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2962656" y="7118604"/>
              <a:ext cx="1591056"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4389120" y="6995160"/>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6071616" y="3017520"/>
              <a:ext cx="5257800" cy="1874519"/>
            </a:xfrm>
            <a:prstGeom prst="rect">
              <a:avLst/>
            </a:prstGeom>
            <a:solidFill>
              <a:srgbClr val="FFFFFF"/>
            </a:solidFill>
            <a:ln w="9525">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254496" y="3108960"/>
              <a:ext cx="4892040" cy="310896"/>
            </a:xfrm>
            <a:prstGeom prst="rect">
              <a:avLst/>
            </a:prstGeom>
            <a:noFill/>
          </p:spPr>
          <p:txBody>
            <a:bodyPr wrap="square" lIns="45720" tIns="0" rIns="45720" bIns="0" anchor="ctr">
              <a:spAutoFit/>
            </a:bodyPr>
            <a:lstStyle/>
            <a:p>
              <a:pPr algn="l"/>
              <a:r>
                <a:rPr sz="1400" b="1" i="0">
                  <a:solidFill>
                    <a:srgbClr val="FF7900"/>
                  </a:solidFill>
                  <a:latin typeface="League Spartan"/>
                </a:rPr>
                <a:t>FIVE-NUMBER STATEMENT</a:t>
              </a:r>
            </a:p>
          </p:txBody>
        </p:sp>
        <p:sp>
          <p:nvSpPr>
            <p:cNvPr id="110" name="TextBox 109"/>
            <p:cNvSpPr txBox="1"/>
            <p:nvPr/>
          </p:nvSpPr>
          <p:spPr>
            <a:xfrm>
              <a:off x="6254496" y="3108960"/>
              <a:ext cx="4892040" cy="310896"/>
            </a:xfrm>
            <a:prstGeom prst="rect">
              <a:avLst/>
            </a:prstGeom>
            <a:noFill/>
          </p:spPr>
          <p:txBody>
            <a:bodyPr wrap="square" lIns="45720" tIns="0" rIns="45720" bIns="0" anchor="ctr">
              <a:spAutoFit/>
            </a:bodyPr>
            <a:lstStyle/>
            <a:p>
              <a:pPr algn="r"/>
              <a:r>
                <a:rPr sz="1200" b="0" i="1">
                  <a:solidFill>
                    <a:srgbClr val="A5AAAF"/>
                  </a:solidFill>
                  <a:latin typeface="League Spartan"/>
                </a:rPr>
                <a:t>now  →  with 1% price</a:t>
              </a:r>
            </a:p>
          </p:txBody>
        </p:sp>
        <p:sp>
          <p:nvSpPr>
            <p:cNvPr id="111" name="TextBox 110"/>
            <p:cNvSpPr txBox="1"/>
            <p:nvPr/>
          </p:nvSpPr>
          <p:spPr>
            <a:xfrm>
              <a:off x="6254496" y="3474720"/>
              <a:ext cx="2377440" cy="411480"/>
            </a:xfrm>
            <a:prstGeom prst="rect">
              <a:avLst/>
            </a:prstGeom>
            <a:noFill/>
          </p:spPr>
          <p:txBody>
            <a:bodyPr wrap="square" lIns="45720" tIns="0" rIns="45720" bIns="0" anchor="ctr">
              <a:spAutoFit/>
            </a:bodyPr>
            <a:lstStyle/>
            <a:p>
              <a:pPr algn="l"/>
              <a:r>
                <a:rPr sz="1800" b="0" i="0">
                  <a:solidFill>
                    <a:srgbClr val="142233"/>
                  </a:solidFill>
                  <a:latin typeface="League Spartan"/>
                </a:rPr>
                <a:t>Revenue</a:t>
              </a:r>
            </a:p>
          </p:txBody>
        </p:sp>
        <p:sp>
          <p:nvSpPr>
            <p:cNvPr id="112" name="TextBox 111"/>
            <p:cNvSpPr txBox="1"/>
            <p:nvPr/>
          </p:nvSpPr>
          <p:spPr>
            <a:xfrm>
              <a:off x="8129016" y="34747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30.0M</a:t>
              </a:r>
            </a:p>
          </p:txBody>
        </p:sp>
        <p:sp>
          <p:nvSpPr>
            <p:cNvPr id="113" name="TextBox 112"/>
            <p:cNvSpPr txBox="1"/>
            <p:nvPr/>
          </p:nvSpPr>
          <p:spPr>
            <a:xfrm>
              <a:off x="9592056" y="34747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30.3M</a:t>
              </a:r>
            </a:p>
          </p:txBody>
        </p:sp>
        <p:sp>
          <p:nvSpPr>
            <p:cNvPr id="114" name="TextBox 113"/>
            <p:cNvSpPr txBox="1"/>
            <p:nvPr/>
          </p:nvSpPr>
          <p:spPr>
            <a:xfrm>
              <a:off x="6254496" y="3931920"/>
              <a:ext cx="2377440" cy="411480"/>
            </a:xfrm>
            <a:prstGeom prst="rect">
              <a:avLst/>
            </a:prstGeom>
            <a:noFill/>
          </p:spPr>
          <p:txBody>
            <a:bodyPr wrap="square" lIns="45720" tIns="0" rIns="45720" bIns="0" anchor="ctr">
              <a:spAutoFit/>
            </a:bodyPr>
            <a:lstStyle/>
            <a:p>
              <a:pPr algn="l"/>
              <a:r>
                <a:rPr sz="1800" b="0" i="0">
                  <a:solidFill>
                    <a:srgbClr val="142233"/>
                  </a:solidFill>
                  <a:latin typeface="League Spartan"/>
                </a:rPr>
                <a:t>Gross Profit</a:t>
              </a:r>
            </a:p>
          </p:txBody>
        </p:sp>
        <p:sp>
          <p:nvSpPr>
            <p:cNvPr id="115" name="TextBox 114"/>
            <p:cNvSpPr txBox="1"/>
            <p:nvPr/>
          </p:nvSpPr>
          <p:spPr>
            <a:xfrm>
              <a:off x="8129016" y="39319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17.4M</a:t>
              </a:r>
            </a:p>
          </p:txBody>
        </p:sp>
        <p:sp>
          <p:nvSpPr>
            <p:cNvPr id="116" name="TextBox 115"/>
            <p:cNvSpPr txBox="1"/>
            <p:nvPr/>
          </p:nvSpPr>
          <p:spPr>
            <a:xfrm>
              <a:off x="9592056" y="39319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17.7M</a:t>
              </a:r>
            </a:p>
          </p:txBody>
        </p:sp>
        <p:sp>
          <p:nvSpPr>
            <p:cNvPr id="117" name="TextBox 116"/>
            <p:cNvSpPr txBox="1"/>
            <p:nvPr/>
          </p:nvSpPr>
          <p:spPr>
            <a:xfrm>
              <a:off x="6254496" y="4389120"/>
              <a:ext cx="2377440" cy="411480"/>
            </a:xfrm>
            <a:prstGeom prst="rect">
              <a:avLst/>
            </a:prstGeom>
            <a:noFill/>
          </p:spPr>
          <p:txBody>
            <a:bodyPr wrap="square" lIns="45720" tIns="0" rIns="45720" bIns="0" anchor="ctr">
              <a:spAutoFit/>
            </a:bodyPr>
            <a:lstStyle/>
            <a:p>
              <a:pPr algn="l"/>
              <a:r>
                <a:rPr sz="1800" b="1" i="0">
                  <a:solidFill>
                    <a:srgbClr val="142233"/>
                  </a:solidFill>
                  <a:latin typeface="League Spartan"/>
                </a:rPr>
                <a:t>Net</a:t>
              </a:r>
            </a:p>
          </p:txBody>
        </p:sp>
        <p:sp>
          <p:nvSpPr>
            <p:cNvPr id="118" name="TextBox 117"/>
            <p:cNvSpPr txBox="1"/>
            <p:nvPr/>
          </p:nvSpPr>
          <p:spPr>
            <a:xfrm>
              <a:off x="8129016" y="43891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5.1M</a:t>
              </a:r>
            </a:p>
          </p:txBody>
        </p:sp>
        <p:sp>
          <p:nvSpPr>
            <p:cNvPr id="119" name="TextBox 118"/>
            <p:cNvSpPr txBox="1"/>
            <p:nvPr/>
          </p:nvSpPr>
          <p:spPr>
            <a:xfrm>
              <a:off x="9592056" y="43891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5.4M</a:t>
              </a:r>
            </a:p>
          </p:txBody>
        </p:sp>
        <p:sp>
          <p:nvSpPr>
            <p:cNvPr id="120" name="Rectangle 119"/>
            <p:cNvSpPr/>
            <p:nvPr/>
          </p:nvSpPr>
          <p:spPr>
            <a:xfrm>
              <a:off x="6071616" y="5074920"/>
              <a:ext cx="5257800" cy="1600200"/>
            </a:xfrm>
            <a:prstGeom prst="rect">
              <a:avLst/>
            </a:prstGeom>
            <a:solidFill>
              <a:srgbClr val="FFFFFF"/>
            </a:solidFill>
            <a:ln w="9525">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254496" y="5166359"/>
              <a:ext cx="4892040" cy="310896"/>
            </a:xfrm>
            <a:prstGeom prst="rect">
              <a:avLst/>
            </a:prstGeom>
            <a:noFill/>
          </p:spPr>
          <p:txBody>
            <a:bodyPr wrap="square" lIns="45720" tIns="0" rIns="45720" bIns="0" anchor="ctr">
              <a:spAutoFit/>
            </a:bodyPr>
            <a:lstStyle/>
            <a:p>
              <a:pPr algn="l"/>
              <a:r>
                <a:rPr sz="1400" b="1" i="0">
                  <a:solidFill>
                    <a:srgbClr val="FF7900"/>
                  </a:solidFill>
                  <a:latin typeface="League Spartan"/>
                </a:rPr>
                <a:t>PROFIT POWER RATIO™</a:t>
              </a:r>
            </a:p>
          </p:txBody>
        </p:sp>
        <p:sp>
          <p:nvSpPr>
            <p:cNvPr id="122" name="TextBox 121"/>
            <p:cNvSpPr txBox="1"/>
            <p:nvPr/>
          </p:nvSpPr>
          <p:spPr>
            <a:xfrm>
              <a:off x="6254496" y="5166359"/>
              <a:ext cx="4892040" cy="310896"/>
            </a:xfrm>
            <a:prstGeom prst="rect">
              <a:avLst/>
            </a:prstGeom>
            <a:noFill/>
          </p:spPr>
          <p:txBody>
            <a:bodyPr wrap="square" lIns="45720" tIns="0" rIns="45720" bIns="0" anchor="ctr">
              <a:spAutoFit/>
            </a:bodyPr>
            <a:lstStyle/>
            <a:p>
              <a:pPr algn="r"/>
              <a:r>
                <a:rPr sz="1600" b="1" i="0">
                  <a:solidFill>
                    <a:srgbClr val="142233"/>
                  </a:solidFill>
                  <a:latin typeface="League Spartan"/>
                </a:rPr>
                <a:t>1.58  →  1.61</a:t>
              </a:r>
            </a:p>
          </p:txBody>
        </p:sp>
        <p:sp>
          <p:nvSpPr>
            <p:cNvPr id="123" name="Rounded Rectangle 122"/>
            <p:cNvSpPr/>
            <p:nvPr/>
          </p:nvSpPr>
          <p:spPr>
            <a:xfrm>
              <a:off x="6254496" y="5623559"/>
              <a:ext cx="4892040" cy="237744"/>
            </a:xfrm>
            <a:prstGeom prst="roundRect">
              <a:avLst>
                <a:gd name="adj" fmla="val 50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123"/>
            <p:cNvSpPr/>
            <p:nvPr/>
          </p:nvSpPr>
          <p:spPr>
            <a:xfrm>
              <a:off x="6254496" y="5623559"/>
              <a:ext cx="3033064" cy="237744"/>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9241840" y="5623559"/>
              <a:ext cx="220141" cy="237744"/>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314889" y="5559552"/>
              <a:ext cx="32004" cy="365760"/>
            </a:xfrm>
            <a:prstGeom prst="rect">
              <a:avLst/>
            </a:prstGeom>
            <a:solidFill>
              <a:srgbClr val="F04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6254496" y="5916168"/>
              <a:ext cx="4892040" cy="274320"/>
            </a:xfrm>
            <a:prstGeom prst="rect">
              <a:avLst/>
            </a:prstGeom>
            <a:noFill/>
          </p:spPr>
          <p:txBody>
            <a:bodyPr wrap="square" lIns="45720" tIns="0" rIns="45720" bIns="0" anchor="t">
              <a:spAutoFit/>
            </a:bodyPr>
            <a:lstStyle/>
            <a:p>
              <a:pPr algn="l"/>
              <a:r>
                <a:rPr sz="1300" b="0" i="1">
                  <a:solidFill>
                    <a:srgbClr val="A5AAAF"/>
                  </a:solidFill>
                  <a:latin typeface="League Spartan"/>
                </a:rPr>
                <a:t>climbing toward target 1.80</a:t>
              </a:r>
            </a:p>
          </p:txBody>
        </p:sp>
        <p:sp>
          <p:nvSpPr>
            <p:cNvPr id="128" name="TextBox 127"/>
            <p:cNvSpPr txBox="1"/>
            <p:nvPr/>
          </p:nvSpPr>
          <p:spPr>
            <a:xfrm>
              <a:off x="6254496" y="6217920"/>
              <a:ext cx="4892040" cy="384048"/>
            </a:xfrm>
            <a:prstGeom prst="rect">
              <a:avLst/>
            </a:prstGeom>
            <a:noFill/>
          </p:spPr>
          <p:txBody>
            <a:bodyPr wrap="square" lIns="45720" tIns="0" rIns="45720" bIns="0" anchor="t">
              <a:spAutoFit/>
            </a:bodyPr>
            <a:lstStyle/>
            <a:p>
              <a:pPr algn="l"/>
              <a:r>
                <a:rPr sz="1700" b="0" i="0">
                  <a:solidFill>
                    <a:srgbClr val="142233"/>
                  </a:solidFill>
                  <a:latin typeface="League Spartan"/>
                </a:rPr>
                <a:t>Highest leverage: </a:t>
              </a:r>
              <a:r>
                <a:rPr sz="1700" b="1" i="0">
                  <a:solidFill>
                    <a:srgbClr val="FF7900"/>
                  </a:solidFill>
                  <a:latin typeface="League Spartan"/>
                </a:rPr>
                <a:t>PRICE</a:t>
              </a:r>
              <a:r>
                <a:rPr sz="1700" b="0" i="0">
                  <a:solidFill>
                    <a:srgbClr val="142233"/>
                  </a:solidFill>
                  <a:latin typeface="League Spartan"/>
                </a:rPr>
                <a:t>  ·  +$300k net per 1%</a:t>
              </a:r>
            </a:p>
          </p:txBody>
        </p:sp>
        <p:sp>
          <p:nvSpPr>
            <p:cNvPr id="129" name="Rectangle 128"/>
            <p:cNvSpPr/>
            <p:nvPr/>
          </p:nvSpPr>
          <p:spPr>
            <a:xfrm>
              <a:off x="6071616" y="6858000"/>
              <a:ext cx="5257800" cy="91440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254496" y="6931152"/>
              <a:ext cx="4892040" cy="457200"/>
            </a:xfrm>
            <a:prstGeom prst="rect">
              <a:avLst/>
            </a:prstGeom>
            <a:noFill/>
          </p:spPr>
          <p:txBody>
            <a:bodyPr wrap="square" lIns="45720" tIns="0" rIns="45720" bIns="0" anchor="ctr">
              <a:spAutoFit/>
            </a:bodyPr>
            <a:lstStyle/>
            <a:p>
              <a:pPr algn="l"/>
              <a:r>
                <a:rPr sz="1400" b="1" i="0">
                  <a:solidFill>
                    <a:srgbClr val="FF7900"/>
                  </a:solidFill>
                  <a:latin typeface="League Spartan"/>
                </a:rPr>
                <a:t>CASH FREED   </a:t>
              </a:r>
              <a:r>
                <a:rPr sz="2600" b="1" i="0">
                  <a:solidFill>
                    <a:srgbClr val="FFFFFF"/>
                  </a:solidFill>
                  <a:latin typeface="League Spartan"/>
                </a:rPr>
                <a:t>+$820k</a:t>
              </a:r>
            </a:p>
          </p:txBody>
        </p:sp>
        <p:sp>
          <p:nvSpPr>
            <p:cNvPr id="131" name="TextBox 130"/>
            <p:cNvSpPr txBox="1"/>
            <p:nvPr/>
          </p:nvSpPr>
          <p:spPr>
            <a:xfrm>
              <a:off x="6254496" y="7406640"/>
              <a:ext cx="4892040" cy="310896"/>
            </a:xfrm>
            <a:prstGeom prst="rect">
              <a:avLst/>
            </a:prstGeom>
            <a:noFill/>
          </p:spPr>
          <p:txBody>
            <a:bodyPr wrap="square" lIns="45720" tIns="0" rIns="45720" bIns="0" anchor="ctr">
              <a:spAutoFit/>
            </a:bodyPr>
            <a:lstStyle/>
            <a:p>
              <a:pPr algn="l"/>
              <a:r>
                <a:rPr sz="1300" b="0" i="0">
                  <a:solidFill>
                    <a:srgbClr val="E5E8EB"/>
                  </a:solidFill>
                  <a:latin typeface="League Spartan"/>
                </a:rPr>
                <a:t>Cash cycle 37 days  ·  DSO 42 + DIO 30 − DPO 35</a:t>
              </a:r>
            </a:p>
          </p:txBody>
        </p:sp>
        <p:pic>
          <p:nvPicPr>
            <p:cNvPr id="143" name="Picture 142" descr="clarus_logo.png"/>
            <p:cNvPicPr>
              <a:picLocks noChangeAspect="1"/>
            </p:cNvPicPr>
            <p:nvPr/>
          </p:nvPicPr>
          <p:blipFill>
            <a:blip r:embed="rId3"/>
            <a:stretch>
              <a:fillRect/>
            </a:stretch>
          </p:blipFill>
          <p:spPr>
            <a:xfrm>
              <a:off x="9609024" y="2414016"/>
              <a:ext cx="1628951" cy="246888"/>
            </a:xfrm>
            <a:prstGeom prst="rect">
              <a:avLst/>
            </a:prstGeom>
          </p:spPr>
        </p:pic>
      </p:grpSp>
      <p:pic>
        <p:nvPicPr>
          <p:cNvPr id="145" name="Picture 144" descr="texas_mark_light.png"/>
          <p:cNvPicPr>
            <a:picLocks noChangeAspect="1"/>
          </p:cNvPicPr>
          <p:nvPr/>
        </p:nvPicPr>
        <p:blipFill>
          <a:blip r:embed="rId4"/>
          <a:stretch>
            <a:fillRect/>
          </a:stretch>
        </p:blipFill>
        <p:spPr>
          <a:xfrm>
            <a:off x="16687800" y="9336024"/>
            <a:ext cx="649224" cy="6126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69"/>
                                        </p:tgtEl>
                                        <p:attrNameLst>
                                          <p:attrName>style.visibility</p:attrName>
                                        </p:attrNameLst>
                                      </p:cBhvr>
                                      <p:to>
                                        <p:strVal val="visible"/>
                                      </p:to>
                                    </p:set>
                                  </p:childTnLst>
                                </p:cTn>
                              </p:par>
                            </p:childTnLst>
                          </p:cTn>
                        </p:par>
                        <p:par>
                          <p:cTn id="13" fill="hold">
                            <p:stCondLst>
                              <p:cond delay="3000"/>
                            </p:stCondLst>
                            <p:childTnLst>
                              <p:par>
                                <p:cTn id="14" presetID="5" presetClass="entr" presetSubtype="5" fill="hold" nodeType="afterEffect">
                                  <p:stCondLst>
                                    <p:cond delay="1000"/>
                                  </p:stCondLst>
                                  <p:childTnLst>
                                    <p:set>
                                      <p:cBhvr>
                                        <p:cTn id="15" dur="1" fill="hold">
                                          <p:stCondLst>
                                            <p:cond delay="0"/>
                                          </p:stCondLst>
                                        </p:cTn>
                                        <p:tgtEl>
                                          <p:spTgt spid="5"/>
                                        </p:tgtEl>
                                        <p:attrNameLst>
                                          <p:attrName>style.visibility</p:attrName>
                                        </p:attrNameLst>
                                      </p:cBhvr>
                                      <p:to>
                                        <p:strVal val="visible"/>
                                      </p:to>
                                    </p:set>
                                    <p:animEffect transition="in" filter="checkerboard(down)">
                                      <p:cBhvr>
                                        <p:cTn id="16" dur="2000"/>
                                        <p:tgtEl>
                                          <p:spTgt spid="5"/>
                                        </p:tgtEl>
                                      </p:cBhvr>
                                    </p:animEffect>
                                  </p:childTnLst>
                                </p:cTn>
                              </p:par>
                            </p:childTnLst>
                          </p:cTn>
                        </p:par>
                        <p:par>
                          <p:cTn id="17" fill="hold">
                            <p:stCondLst>
                              <p:cond delay="6000"/>
                            </p:stCondLst>
                            <p:childTnLst>
                              <p:par>
                                <p:cTn id="18" presetID="1" presetClass="entr" presetSubtype="0" fill="hold" grpId="0" nodeType="afterEffect">
                                  <p:stCondLst>
                                    <p:cond delay="4000"/>
                                  </p:stCondLst>
                                  <p:childTnLst>
                                    <p:set>
                                      <p:cBhvr>
                                        <p:cTn id="19" dur="1" fill="hold">
                                          <p:stCondLst>
                                            <p:cond delay="0"/>
                                          </p:stCondLst>
                                        </p:cTn>
                                        <p:tgtEl>
                                          <p:spTgt spid="132"/>
                                        </p:tgtEl>
                                        <p:attrNameLst>
                                          <p:attrName>style.visibility</p:attrName>
                                        </p:attrNameLst>
                                      </p:cBhvr>
                                      <p:to>
                                        <p:strVal val="visible"/>
                                      </p:to>
                                    </p:set>
                                  </p:childTnLst>
                                </p:cTn>
                              </p:par>
                            </p:childTnLst>
                          </p:cTn>
                        </p:par>
                        <p:par>
                          <p:cTn id="20" fill="hold">
                            <p:stCondLst>
                              <p:cond delay="10000"/>
                            </p:stCondLst>
                            <p:childTnLst>
                              <p:par>
                                <p:cTn id="21" presetID="3" presetClass="entr" presetSubtype="10" fill="hold" nodeType="afterEffect">
                                  <p:stCondLst>
                                    <p:cond delay="300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par>
                          <p:cTn id="24" fill="hold">
                            <p:stCondLst>
                              <p:cond delay="13500"/>
                            </p:stCondLst>
                            <p:childTnLst>
                              <p:par>
                                <p:cTn id="25" presetID="3" presetClass="entr" presetSubtype="10" fill="hold" nodeType="afterEffect">
                                  <p:stCondLst>
                                    <p:cond delay="300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par>
                          <p:cTn id="28" fill="hold">
                            <p:stCondLst>
                              <p:cond delay="17000"/>
                            </p:stCondLst>
                            <p:childTnLst>
                              <p:par>
                                <p:cTn id="29" presetID="3" presetClass="entr" presetSubtype="10" fill="hold" nodeType="afterEffect">
                                  <p:stCondLst>
                                    <p:cond delay="300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par>
                          <p:cTn id="32" fill="hold">
                            <p:stCondLst>
                              <p:cond delay="20500"/>
                            </p:stCondLst>
                            <p:childTnLst>
                              <p:par>
                                <p:cTn id="33" presetID="3" presetClass="entr" presetSubtype="10" fill="hold" nodeType="afterEffect">
                                  <p:stCondLst>
                                    <p:cond delay="300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p:cTn id="35" dur="500"/>
                                        <p:tgtEl>
                                          <p:spTgt spid="9"/>
                                        </p:tgtEl>
                                      </p:cBhvr>
                                    </p:animEffect>
                                  </p:childTnLst>
                                </p:cTn>
                              </p:par>
                            </p:childTnLst>
                          </p:cTn>
                        </p:par>
                        <p:par>
                          <p:cTn id="36" fill="hold">
                            <p:stCondLst>
                              <p:cond delay="24000"/>
                            </p:stCondLst>
                            <p:childTnLst>
                              <p:par>
                                <p:cTn id="37" presetID="3" presetClass="entr" presetSubtype="10" fill="hold" nodeType="afterEffect">
                                  <p:stCondLst>
                                    <p:cond delay="3000"/>
                                  </p:stCondLst>
                                  <p:childTnLst>
                                    <p:set>
                                      <p:cBhvr>
                                        <p:cTn id="38" dur="1" fill="hold">
                                          <p:stCondLst>
                                            <p:cond delay="0"/>
                                          </p:stCondLst>
                                        </p:cTn>
                                        <p:tgtEl>
                                          <p:spTgt spid="10"/>
                                        </p:tgtEl>
                                        <p:attrNameLst>
                                          <p:attrName>style.visibility</p:attrName>
                                        </p:attrNameLst>
                                      </p:cBhvr>
                                      <p:to>
                                        <p:strVal val="visible"/>
                                      </p:to>
                                    </p:set>
                                    <p:animEffect transition="in" filter="blinds(horizontal)">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9" grpId="0"/>
      <p:bldP spid="132"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4"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Why We Struggle to Raise Prices</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7845554" y="3113694"/>
            <a:ext cx="8083296" cy="4042898"/>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“What if we lose customers?”</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 don't want to sound greedy.”</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“Competitors might undercut us.”</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“We're not sure how to justify it.”</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“We've always done it this way.”</a:t>
            </a:r>
          </a:p>
        </p:txBody>
      </p:sp>
      <p:grpSp>
        <p:nvGrpSpPr>
          <p:cNvPr id="4" name="Group 3">
            <a:extLst>
              <a:ext uri="{FF2B5EF4-FFF2-40B4-BE49-F238E27FC236}">
                <a16:creationId xmlns:a16="http://schemas.microsoft.com/office/drawing/2014/main" id="{48796336-032A-6BC7-C712-C5F73335523C}"/>
              </a:ext>
            </a:extLst>
          </p:cNvPr>
          <p:cNvGrpSpPr/>
          <p:nvPr/>
        </p:nvGrpSpPr>
        <p:grpSpPr>
          <a:xfrm>
            <a:off x="1828800" y="2551176"/>
            <a:ext cx="4572000" cy="4663440"/>
            <a:chOff x="1828800" y="2551176"/>
            <a:chExt cx="4572000" cy="4663440"/>
          </a:xfrm>
        </p:grpSpPr>
        <p:sp>
          <p:nvSpPr>
            <p:cNvPr id="18" name="Rounded Rectangular Callout 17"/>
            <p:cNvSpPr/>
            <p:nvPr/>
          </p:nvSpPr>
          <p:spPr>
            <a:xfrm>
              <a:off x="1920240" y="2551176"/>
              <a:ext cx="4206240" cy="1463040"/>
            </a:xfrm>
            <a:prstGeom prst="wedgeRoundRectCallout">
              <a:avLst>
                <a:gd name="adj1" fmla="val -38000"/>
                <a:gd name="adj2" fmla="val 78000"/>
                <a:gd name="adj3" fmla="val 22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dirty="0">
                  <a:solidFill>
                    <a:srgbClr val="142233"/>
                  </a:solidFill>
                  <a:latin typeface="League Spartan"/>
                </a:rPr>
                <a:t>…</a:t>
              </a:r>
            </a:p>
          </p:txBody>
        </p:sp>
        <p:sp>
          <p:nvSpPr>
            <p:cNvPr id="19" name="Rounded Rectangular Callout 18"/>
            <p:cNvSpPr/>
            <p:nvPr/>
          </p:nvSpPr>
          <p:spPr>
            <a:xfrm>
              <a:off x="2834640" y="4242816"/>
              <a:ext cx="3566160" cy="1325880"/>
            </a:xfrm>
            <a:prstGeom prst="wedgeRoundRectCallout">
              <a:avLst>
                <a:gd name="adj1" fmla="val 38000"/>
                <a:gd name="adj2" fmla="val 78000"/>
                <a:gd name="adj3" fmla="val 22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FFFF"/>
                  </a:solidFill>
                  <a:latin typeface="League Spartan"/>
                </a:rPr>
                <a:t>…</a:t>
              </a:r>
            </a:p>
          </p:txBody>
        </p:sp>
        <p:sp>
          <p:nvSpPr>
            <p:cNvPr id="20" name="Rounded Rectangular Callout 19"/>
            <p:cNvSpPr/>
            <p:nvPr/>
          </p:nvSpPr>
          <p:spPr>
            <a:xfrm>
              <a:off x="1828800" y="5843016"/>
              <a:ext cx="3931920" cy="1371600"/>
            </a:xfrm>
            <a:prstGeom prst="wedgeRoundRectCallout">
              <a:avLst>
                <a:gd name="adj1" fmla="val -36000"/>
                <a:gd name="adj2" fmla="val 78000"/>
                <a:gd name="adj3" fmla="val 22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7900"/>
                  </a:solidFill>
                  <a:latin typeface="League Spartan"/>
                </a:rPr>
                <a:t>…</a:t>
              </a:r>
            </a:p>
          </p:txBody>
        </p:sp>
      </p:grpSp>
      <p:sp>
        <p:nvSpPr>
          <p:cNvPr id="21" name="TextBox 20"/>
          <p:cNvSpPr txBox="1"/>
          <p:nvPr/>
        </p:nvSpPr>
        <p:spPr>
          <a:xfrm>
            <a:off x="7203675" y="2548185"/>
            <a:ext cx="457200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WHAT WE TELL OURSELVES</a:t>
            </a:r>
          </a:p>
        </p:txBody>
      </p:sp>
      <p:grpSp>
        <p:nvGrpSpPr>
          <p:cNvPr id="5" name="Group 4">
            <a:extLst>
              <a:ext uri="{FF2B5EF4-FFF2-40B4-BE49-F238E27FC236}">
                <a16:creationId xmlns:a16="http://schemas.microsoft.com/office/drawing/2014/main" id="{8085B6D8-98D2-9FAD-52EA-5FE2B61D77A8}"/>
              </a:ext>
            </a:extLst>
          </p:cNvPr>
          <p:cNvGrpSpPr/>
          <p:nvPr/>
        </p:nvGrpSpPr>
        <p:grpSpPr>
          <a:xfrm>
            <a:off x="1463040" y="8366760"/>
            <a:ext cx="15361920" cy="1024128"/>
            <a:chOff x="1463040" y="8366760"/>
            <a:chExt cx="15361920" cy="1024128"/>
          </a:xfrm>
        </p:grpSpPr>
        <p:sp>
          <p:nvSpPr>
            <p:cNvPr id="22" name="Rounded Rectangle 21"/>
            <p:cNvSpPr/>
            <p:nvPr/>
          </p:nvSpPr>
          <p:spPr>
            <a:xfrm>
              <a:off x="1463040" y="8366760"/>
              <a:ext cx="1536192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8366760"/>
              <a:ext cx="14996159"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It's time to be bold.</a:t>
              </a:r>
            </a:p>
            <a:p>
              <a:pPr algn="ctr">
                <a:lnSpc>
                  <a:spcPct val="110000"/>
                </a:lnSpc>
              </a:pPr>
              <a:r>
                <a:rPr sz="2400" b="0" i="1" dirty="0">
                  <a:solidFill>
                    <a:srgbClr val="303B4F"/>
                  </a:solidFill>
                  <a:latin typeface="League Spartan"/>
                </a:rPr>
                <a:t>Staying safe may be costing you more than you think — if you can prove the value, push the price.</a:t>
              </a:r>
            </a:p>
          </p:txBody>
        </p:sp>
      </p:grpSp>
      <p:pic>
        <p:nvPicPr>
          <p:cNvPr id="25" name="Picture 24" descr="texas_mark_light.png"/>
          <p:cNvPicPr>
            <a:picLocks noChangeAspect="1"/>
          </p:cNvPicPr>
          <p:nvPr/>
        </p:nvPicPr>
        <p:blipFill>
          <a:blip r:embed="rId3"/>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nodeType="after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checkerboard(down)">
                                      <p:cBhvr>
                                        <p:cTn id="10" dur="1000"/>
                                        <p:tgtEl>
                                          <p:spTgt spid="4"/>
                                        </p:tgtEl>
                                      </p:cBhvr>
                                    </p:animEffect>
                                  </p:childTnLst>
                                </p:cTn>
                              </p:par>
                            </p:childTnLst>
                          </p:cTn>
                        </p:par>
                        <p:par>
                          <p:cTn id="11" fill="hold">
                            <p:stCondLst>
                              <p:cond delay="3000"/>
                            </p:stCondLst>
                            <p:childTnLst>
                              <p:par>
                                <p:cTn id="12" presetID="1" presetClass="entr" presetSubtype="0" fill="hold" grpId="0" nodeType="afterEffect">
                                  <p:stCondLst>
                                    <p:cond delay="1000"/>
                                  </p:stCondLst>
                                  <p:childTnLst>
                                    <p:set>
                                      <p:cBhvr>
                                        <p:cTn id="13" dur="1" fill="hold">
                                          <p:stCondLst>
                                            <p:cond delay="0"/>
                                          </p:stCondLst>
                                        </p:cTn>
                                        <p:tgtEl>
                                          <p:spTgt spid="21"/>
                                        </p:tgtEl>
                                        <p:attrNameLst>
                                          <p:attrName>style.visibility</p:attrName>
                                        </p:attrNameLst>
                                      </p:cBhvr>
                                      <p:to>
                                        <p:strVal val="visible"/>
                                      </p:to>
                                    </p:set>
                                  </p:childTnLst>
                                </p:cTn>
                              </p:par>
                            </p:childTnLst>
                          </p:cTn>
                        </p:par>
                        <p:par>
                          <p:cTn id="14" fill="hold">
                            <p:stCondLst>
                              <p:cond delay="4000"/>
                            </p:stCondLst>
                            <p:childTnLst>
                              <p:par>
                                <p:cTn id="15" presetID="1" presetClass="entr" presetSubtype="0" fill="hold" nodeType="afterEffect">
                                  <p:stCondLst>
                                    <p:cond delay="200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childTnLst>
                          </p:cTn>
                        </p:par>
                        <p:par>
                          <p:cTn id="17" fill="hold">
                            <p:stCondLst>
                              <p:cond delay="6000"/>
                            </p:stCondLst>
                            <p:childTnLst>
                              <p:par>
                                <p:cTn id="18" presetID="1" presetClass="entr" presetSubtype="0" fill="hold" nodeType="afterEffect">
                                  <p:stCondLst>
                                    <p:cond delay="2000"/>
                                  </p:stCondLst>
                                  <p:childTnLst>
                                    <p:set>
                                      <p:cBhvr>
                                        <p:cTn id="19" dur="1" fill="hold">
                                          <p:stCondLst>
                                            <p:cond delay="0"/>
                                          </p:stCondLst>
                                        </p:cTn>
                                        <p:tgtEl>
                                          <p:spTgt spid="17">
                                            <p:txEl>
                                              <p:pRg st="1" end="1"/>
                                            </p:txEl>
                                          </p:spTgt>
                                        </p:tgtEl>
                                        <p:attrNameLst>
                                          <p:attrName>style.visibility</p:attrName>
                                        </p:attrNameLst>
                                      </p:cBhvr>
                                      <p:to>
                                        <p:strVal val="visible"/>
                                      </p:to>
                                    </p:set>
                                  </p:childTnLst>
                                </p:cTn>
                              </p:par>
                            </p:childTnLst>
                          </p:cTn>
                        </p:par>
                        <p:par>
                          <p:cTn id="20" fill="hold">
                            <p:stCondLst>
                              <p:cond delay="8000"/>
                            </p:stCondLst>
                            <p:childTnLst>
                              <p:par>
                                <p:cTn id="21" presetID="1" presetClass="entr" presetSubtype="0" fill="hold" nodeType="afterEffect">
                                  <p:stCondLst>
                                    <p:cond delay="200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childTnLst>
                          </p:cTn>
                        </p:par>
                        <p:par>
                          <p:cTn id="23" fill="hold">
                            <p:stCondLst>
                              <p:cond delay="10000"/>
                            </p:stCondLst>
                            <p:childTnLst>
                              <p:par>
                                <p:cTn id="24" presetID="1" presetClass="entr" presetSubtype="0" fill="hold" nodeType="afterEffect">
                                  <p:stCondLst>
                                    <p:cond delay="2000"/>
                                  </p:stCondLst>
                                  <p:childTnLst>
                                    <p:set>
                                      <p:cBhvr>
                                        <p:cTn id="25" dur="1" fill="hold">
                                          <p:stCondLst>
                                            <p:cond delay="0"/>
                                          </p:stCondLst>
                                        </p:cTn>
                                        <p:tgtEl>
                                          <p:spTgt spid="17">
                                            <p:txEl>
                                              <p:pRg st="3" end="3"/>
                                            </p:txEl>
                                          </p:spTgt>
                                        </p:tgtEl>
                                        <p:attrNameLst>
                                          <p:attrName>style.visibility</p:attrName>
                                        </p:attrNameLst>
                                      </p:cBhvr>
                                      <p:to>
                                        <p:strVal val="visible"/>
                                      </p:to>
                                    </p:set>
                                  </p:childTnLst>
                                </p:cTn>
                              </p:par>
                            </p:childTnLst>
                          </p:cTn>
                        </p:par>
                        <p:par>
                          <p:cTn id="26" fill="hold">
                            <p:stCondLst>
                              <p:cond delay="12000"/>
                            </p:stCondLst>
                            <p:childTnLst>
                              <p:par>
                                <p:cTn id="27" presetID="1" presetClass="entr" presetSubtype="0" fill="hold" nodeType="afterEffect">
                                  <p:stCondLst>
                                    <p:cond delay="2000"/>
                                  </p:stCondLst>
                                  <p:childTnLst>
                                    <p:set>
                                      <p:cBhvr>
                                        <p:cTn id="28" dur="1" fill="hold">
                                          <p:stCondLst>
                                            <p:cond delay="0"/>
                                          </p:stCondLst>
                                        </p:cTn>
                                        <p:tgtEl>
                                          <p:spTgt spid="17">
                                            <p:txEl>
                                              <p:pRg st="4" end="4"/>
                                            </p:txEl>
                                          </p:spTgt>
                                        </p:tgtEl>
                                        <p:attrNameLst>
                                          <p:attrName>style.visibility</p:attrName>
                                        </p:attrNameLst>
                                      </p:cBhvr>
                                      <p:to>
                                        <p:strVal val="visible"/>
                                      </p:to>
                                    </p:set>
                                  </p:childTnLst>
                                </p:cTn>
                              </p:par>
                            </p:childTnLst>
                          </p:cTn>
                        </p:par>
                        <p:par>
                          <p:cTn id="29" fill="hold">
                            <p:stCondLst>
                              <p:cond delay="14000"/>
                            </p:stCondLst>
                            <p:childTnLst>
                              <p:par>
                                <p:cTn id="30" presetID="3" presetClass="entr" presetSubtype="10" fill="hold" nodeType="afterEffect">
                                  <p:stCondLst>
                                    <p:cond delay="300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0"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grpSp>
        <p:nvGrpSpPr>
          <p:cNvPr id="22" name="Group 21">
            <a:extLst>
              <a:ext uri="{FF2B5EF4-FFF2-40B4-BE49-F238E27FC236}">
                <a16:creationId xmlns:a16="http://schemas.microsoft.com/office/drawing/2014/main" id="{D57513B7-6271-B902-8E7C-716D0413B74F}"/>
              </a:ext>
            </a:extLst>
          </p:cNvPr>
          <p:cNvGrpSpPr/>
          <p:nvPr/>
        </p:nvGrpSpPr>
        <p:grpSpPr>
          <a:xfrm>
            <a:off x="216459" y="2058900"/>
            <a:ext cx="12768021" cy="365760"/>
            <a:chOff x="216459" y="2058900"/>
            <a:chExt cx="12768021" cy="365760"/>
          </a:xfrm>
        </p:grpSpPr>
        <p:sp>
          <p:nvSpPr>
            <p:cNvPr id="7" name="TextBox 6"/>
            <p:cNvSpPr txBox="1"/>
            <p:nvPr/>
          </p:nvSpPr>
          <p:spPr>
            <a:xfrm>
              <a:off x="2377440" y="2058900"/>
              <a:ext cx="10607040" cy="365760"/>
            </a:xfrm>
            <a:prstGeom prst="rect">
              <a:avLst/>
            </a:prstGeom>
            <a:noFill/>
          </p:spPr>
          <p:txBody>
            <a:bodyPr wrap="square" lIns="45720" tIns="0" rIns="45720" bIns="0" anchor="t">
              <a:spAutoFit/>
            </a:bodyPr>
            <a:lstStyle/>
            <a:p>
              <a:pPr algn="l"/>
              <a:r>
                <a:rPr sz="1300" b="1" i="0">
                  <a:solidFill>
                    <a:srgbClr val="FF7900"/>
                  </a:solidFill>
                  <a:latin typeface="League Spartan"/>
                </a:rPr>
                <a:t>GROSS MARGIN  →</a:t>
              </a:r>
            </a:p>
          </p:txBody>
        </p:sp>
        <p:sp>
          <p:nvSpPr>
            <p:cNvPr id="8" name="TextBox 7"/>
            <p:cNvSpPr txBox="1"/>
            <p:nvPr/>
          </p:nvSpPr>
          <p:spPr>
            <a:xfrm>
              <a:off x="216459" y="2058900"/>
              <a:ext cx="2286000" cy="365760"/>
            </a:xfrm>
            <a:prstGeom prst="rect">
              <a:avLst/>
            </a:prstGeom>
            <a:noFill/>
          </p:spPr>
          <p:txBody>
            <a:bodyPr wrap="square" lIns="45720" tIns="0" rIns="45720" bIns="0" anchor="t">
              <a:spAutoFit/>
            </a:bodyPr>
            <a:lstStyle/>
            <a:p>
              <a:pPr algn="l"/>
              <a:r>
                <a:rPr sz="1300" b="1" i="0" dirty="0">
                  <a:solidFill>
                    <a:srgbClr val="FF7900"/>
                  </a:solidFill>
                  <a:latin typeface="League Spartan"/>
                </a:rPr>
                <a:t>PRICE INCREASE  ↓</a:t>
              </a:r>
            </a:p>
          </p:txBody>
        </p:sp>
      </p:grpSp>
      <p:graphicFrame>
        <p:nvGraphicFramePr>
          <p:cNvPr id="9" name="Table 8"/>
          <p:cNvGraphicFramePr>
            <a:graphicFrameLocks noGrp="1"/>
          </p:cNvGraphicFramePr>
          <p:nvPr>
            <p:extLst>
              <p:ext uri="{D42A27DB-BD31-4B8C-83A1-F6EECF244321}">
                <p14:modId xmlns:p14="http://schemas.microsoft.com/office/powerpoint/2010/main" val="3813916526"/>
              </p:ext>
            </p:extLst>
          </p:nvPr>
        </p:nvGraphicFramePr>
        <p:xfrm>
          <a:off x="950976" y="2470380"/>
          <a:ext cx="12705588" cy="5669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46988">
                  <a:extLst>
                    <a:ext uri="{9D8B030D-6E8A-4147-A177-3AD203B41FA5}">
                      <a16:colId xmlns:a16="http://schemas.microsoft.com/office/drawing/2014/main" val="20001"/>
                    </a:ext>
                  </a:extLst>
                </a:gridCol>
                <a:gridCol w="1046988">
                  <a:extLst>
                    <a:ext uri="{9D8B030D-6E8A-4147-A177-3AD203B41FA5}">
                      <a16:colId xmlns:a16="http://schemas.microsoft.com/office/drawing/2014/main" val="20002"/>
                    </a:ext>
                  </a:extLst>
                </a:gridCol>
                <a:gridCol w="1046988">
                  <a:extLst>
                    <a:ext uri="{9D8B030D-6E8A-4147-A177-3AD203B41FA5}">
                      <a16:colId xmlns:a16="http://schemas.microsoft.com/office/drawing/2014/main" val="20003"/>
                    </a:ext>
                  </a:extLst>
                </a:gridCol>
                <a:gridCol w="1046988">
                  <a:extLst>
                    <a:ext uri="{9D8B030D-6E8A-4147-A177-3AD203B41FA5}">
                      <a16:colId xmlns:a16="http://schemas.microsoft.com/office/drawing/2014/main" val="20004"/>
                    </a:ext>
                  </a:extLst>
                </a:gridCol>
                <a:gridCol w="1046988">
                  <a:extLst>
                    <a:ext uri="{9D8B030D-6E8A-4147-A177-3AD203B41FA5}">
                      <a16:colId xmlns:a16="http://schemas.microsoft.com/office/drawing/2014/main" val="20005"/>
                    </a:ext>
                  </a:extLst>
                </a:gridCol>
                <a:gridCol w="1046988">
                  <a:extLst>
                    <a:ext uri="{9D8B030D-6E8A-4147-A177-3AD203B41FA5}">
                      <a16:colId xmlns:a16="http://schemas.microsoft.com/office/drawing/2014/main" val="20006"/>
                    </a:ext>
                  </a:extLst>
                </a:gridCol>
                <a:gridCol w="1046988">
                  <a:extLst>
                    <a:ext uri="{9D8B030D-6E8A-4147-A177-3AD203B41FA5}">
                      <a16:colId xmlns:a16="http://schemas.microsoft.com/office/drawing/2014/main" val="20007"/>
                    </a:ext>
                  </a:extLst>
                </a:gridCol>
                <a:gridCol w="1046988">
                  <a:extLst>
                    <a:ext uri="{9D8B030D-6E8A-4147-A177-3AD203B41FA5}">
                      <a16:colId xmlns:a16="http://schemas.microsoft.com/office/drawing/2014/main" val="20008"/>
                    </a:ext>
                  </a:extLst>
                </a:gridCol>
                <a:gridCol w="1046988">
                  <a:extLst>
                    <a:ext uri="{9D8B030D-6E8A-4147-A177-3AD203B41FA5}">
                      <a16:colId xmlns:a16="http://schemas.microsoft.com/office/drawing/2014/main" val="20009"/>
                    </a:ext>
                  </a:extLst>
                </a:gridCol>
                <a:gridCol w="1046988">
                  <a:extLst>
                    <a:ext uri="{9D8B030D-6E8A-4147-A177-3AD203B41FA5}">
                      <a16:colId xmlns:a16="http://schemas.microsoft.com/office/drawing/2014/main" val="20010"/>
                    </a:ext>
                  </a:extLst>
                </a:gridCol>
                <a:gridCol w="1046988">
                  <a:extLst>
                    <a:ext uri="{9D8B030D-6E8A-4147-A177-3AD203B41FA5}">
                      <a16:colId xmlns:a16="http://schemas.microsoft.com/office/drawing/2014/main" val="20011"/>
                    </a:ext>
                  </a:extLst>
                </a:gridCol>
              </a:tblGrid>
              <a:tr h="566928">
                <a:tc>
                  <a:txBody>
                    <a:bodyPr/>
                    <a:lstStyle/>
                    <a:p>
                      <a:pPr algn="ctr"/>
                      <a:endParaRPr sz="3200" dirty="0"/>
                    </a:p>
                  </a:txBody>
                  <a:tcPr marL="36576" marR="36576" marT="18288" marB="18288" anchor="ctr">
                    <a:solidFill>
                      <a:srgbClr val="142233"/>
                    </a:solidFill>
                  </a:tcPr>
                </a:tc>
                <a:tc>
                  <a:txBody>
                    <a:bodyPr/>
                    <a:lstStyle/>
                    <a:p>
                      <a:pPr algn="ctr"/>
                      <a:r>
                        <a:rPr sz="2000" b="1" dirty="0">
                          <a:solidFill>
                            <a:srgbClr val="FFFFFF"/>
                          </a:solidFill>
                          <a:latin typeface="League Spartan"/>
                        </a:rPr>
                        <a:t>10%</a:t>
                      </a:r>
                    </a:p>
                  </a:txBody>
                  <a:tcPr marL="36576" marR="36576" marT="18288" marB="18288" anchor="ctr">
                    <a:solidFill>
                      <a:srgbClr val="142233"/>
                    </a:solidFill>
                  </a:tcPr>
                </a:tc>
                <a:tc>
                  <a:txBody>
                    <a:bodyPr/>
                    <a:lstStyle/>
                    <a:p>
                      <a:pPr algn="ctr"/>
                      <a:r>
                        <a:rPr sz="2000" b="1">
                          <a:solidFill>
                            <a:srgbClr val="FFFFFF"/>
                          </a:solidFill>
                          <a:latin typeface="League Spartan"/>
                        </a:rPr>
                        <a:t>15%</a:t>
                      </a:r>
                    </a:p>
                  </a:txBody>
                  <a:tcPr marL="36576" marR="36576" marT="18288" marB="18288" anchor="ctr">
                    <a:solidFill>
                      <a:srgbClr val="142233"/>
                    </a:solidFill>
                  </a:tcPr>
                </a:tc>
                <a:tc>
                  <a:txBody>
                    <a:bodyPr/>
                    <a:lstStyle/>
                    <a:p>
                      <a:pPr algn="ctr"/>
                      <a:r>
                        <a:rPr sz="2000" b="1">
                          <a:solidFill>
                            <a:srgbClr val="FFFFFF"/>
                          </a:solidFill>
                          <a:latin typeface="League Spartan"/>
                        </a:rPr>
                        <a:t>20%</a:t>
                      </a:r>
                    </a:p>
                  </a:txBody>
                  <a:tcPr marL="36576" marR="36576" marT="18288" marB="18288" anchor="ctr">
                    <a:solidFill>
                      <a:srgbClr val="142233"/>
                    </a:solidFill>
                  </a:tcPr>
                </a:tc>
                <a:tc>
                  <a:txBody>
                    <a:bodyPr/>
                    <a:lstStyle/>
                    <a:p>
                      <a:pPr algn="ctr"/>
                      <a:r>
                        <a:rPr sz="2000" b="1">
                          <a:solidFill>
                            <a:srgbClr val="FFFFFF"/>
                          </a:solidFill>
                          <a:latin typeface="League Spartan"/>
                        </a:rPr>
                        <a:t>25%</a:t>
                      </a:r>
                    </a:p>
                  </a:txBody>
                  <a:tcPr marL="36576" marR="36576" marT="18288" marB="18288" anchor="ctr">
                    <a:solidFill>
                      <a:srgbClr val="142233"/>
                    </a:solidFill>
                  </a:tcPr>
                </a:tc>
                <a:tc>
                  <a:txBody>
                    <a:bodyPr/>
                    <a:lstStyle/>
                    <a:p>
                      <a:pPr algn="ctr"/>
                      <a:r>
                        <a:rPr sz="2000" b="1">
                          <a:solidFill>
                            <a:srgbClr val="FFFFFF"/>
                          </a:solidFill>
                          <a:latin typeface="League Spartan"/>
                        </a:rPr>
                        <a:t>30%</a:t>
                      </a:r>
                    </a:p>
                  </a:txBody>
                  <a:tcPr marL="36576" marR="36576" marT="18288" marB="18288" anchor="ctr">
                    <a:solidFill>
                      <a:srgbClr val="142233"/>
                    </a:solidFill>
                  </a:tcPr>
                </a:tc>
                <a:tc>
                  <a:txBody>
                    <a:bodyPr/>
                    <a:lstStyle/>
                    <a:p>
                      <a:pPr algn="ctr"/>
                      <a:r>
                        <a:rPr sz="2000" b="1">
                          <a:solidFill>
                            <a:srgbClr val="FFFFFF"/>
                          </a:solidFill>
                          <a:latin typeface="League Spartan"/>
                        </a:rPr>
                        <a:t>35%</a:t>
                      </a:r>
                    </a:p>
                  </a:txBody>
                  <a:tcPr marL="36576" marR="36576" marT="18288" marB="18288" anchor="ctr">
                    <a:solidFill>
                      <a:srgbClr val="142233"/>
                    </a:solidFill>
                  </a:tcPr>
                </a:tc>
                <a:tc>
                  <a:txBody>
                    <a:bodyPr/>
                    <a:lstStyle/>
                    <a:p>
                      <a:pPr algn="ctr"/>
                      <a:r>
                        <a:rPr sz="2000" b="1">
                          <a:solidFill>
                            <a:srgbClr val="FFFFFF"/>
                          </a:solidFill>
                          <a:latin typeface="League Spartan"/>
                        </a:rPr>
                        <a:t>40%</a:t>
                      </a:r>
                    </a:p>
                  </a:txBody>
                  <a:tcPr marL="36576" marR="36576" marT="18288" marB="18288" anchor="ctr">
                    <a:solidFill>
                      <a:srgbClr val="142233"/>
                    </a:solidFill>
                  </a:tcPr>
                </a:tc>
                <a:tc>
                  <a:txBody>
                    <a:bodyPr/>
                    <a:lstStyle/>
                    <a:p>
                      <a:pPr algn="ctr"/>
                      <a:r>
                        <a:rPr sz="2000" b="1">
                          <a:solidFill>
                            <a:srgbClr val="FFFFFF"/>
                          </a:solidFill>
                          <a:latin typeface="League Spartan"/>
                        </a:rPr>
                        <a:t>45%</a:t>
                      </a:r>
                    </a:p>
                  </a:txBody>
                  <a:tcPr marL="36576" marR="36576" marT="18288" marB="18288" anchor="ctr">
                    <a:solidFill>
                      <a:srgbClr val="142233"/>
                    </a:solidFill>
                  </a:tcPr>
                </a:tc>
                <a:tc>
                  <a:txBody>
                    <a:bodyPr/>
                    <a:lstStyle/>
                    <a:p>
                      <a:pPr algn="ctr"/>
                      <a:r>
                        <a:rPr sz="2000" b="1">
                          <a:solidFill>
                            <a:srgbClr val="FFFFFF"/>
                          </a:solidFill>
                          <a:latin typeface="League Spartan"/>
                        </a:rPr>
                        <a:t>50%</a:t>
                      </a:r>
                    </a:p>
                  </a:txBody>
                  <a:tcPr marL="36576" marR="36576" marT="18288" marB="18288" anchor="ctr">
                    <a:solidFill>
                      <a:srgbClr val="142233"/>
                    </a:solidFill>
                  </a:tcPr>
                </a:tc>
                <a:tc>
                  <a:txBody>
                    <a:bodyPr/>
                    <a:lstStyle/>
                    <a:p>
                      <a:pPr algn="ctr"/>
                      <a:r>
                        <a:rPr sz="2000" b="1">
                          <a:solidFill>
                            <a:srgbClr val="FFFFFF"/>
                          </a:solidFill>
                          <a:latin typeface="League Spartan"/>
                        </a:rPr>
                        <a:t>55%</a:t>
                      </a:r>
                    </a:p>
                  </a:txBody>
                  <a:tcPr marL="36576" marR="36576" marT="18288" marB="18288" anchor="ctr">
                    <a:solidFill>
                      <a:srgbClr val="142233"/>
                    </a:solidFill>
                  </a:tcPr>
                </a:tc>
                <a:tc>
                  <a:txBody>
                    <a:bodyPr/>
                    <a:lstStyle/>
                    <a:p>
                      <a:pPr algn="ctr"/>
                      <a:r>
                        <a:rPr sz="2000" b="1">
                          <a:solidFill>
                            <a:srgbClr val="FFFFFF"/>
                          </a:solidFill>
                          <a:latin typeface="League Spartan"/>
                        </a:rPr>
                        <a:t>60%</a:t>
                      </a:r>
                    </a:p>
                  </a:txBody>
                  <a:tcPr marL="36576" marR="36576" marT="18288" marB="18288" anchor="ctr">
                    <a:solidFill>
                      <a:srgbClr val="142233"/>
                    </a:solidFill>
                  </a:tcPr>
                </a:tc>
                <a:extLst>
                  <a:ext uri="{0D108BD9-81ED-4DB2-BD59-A6C34878D82A}">
                    <a16:rowId xmlns:a16="http://schemas.microsoft.com/office/drawing/2014/main" val="10000"/>
                  </a:ext>
                </a:extLst>
              </a:tr>
              <a:tr h="566928">
                <a:tc>
                  <a:txBody>
                    <a:bodyPr/>
                    <a:lstStyle/>
                    <a:p>
                      <a:pPr algn="ctr"/>
                      <a:r>
                        <a:rPr sz="2000" b="1" dirty="0">
                          <a:solidFill>
                            <a:srgbClr val="FFFFFF"/>
                          </a:solidFill>
                          <a:latin typeface="League Spartan"/>
                        </a:rPr>
                        <a:t>2%</a:t>
                      </a:r>
                    </a:p>
                  </a:txBody>
                  <a:tcPr marL="36576" marR="36576" marT="18288" marB="18288" anchor="ctr">
                    <a:solidFill>
                      <a:srgbClr val="303B4F"/>
                    </a:solidFill>
                  </a:tcPr>
                </a:tc>
                <a:tc>
                  <a:txBody>
                    <a:bodyPr/>
                    <a:lstStyle/>
                    <a:p>
                      <a:pPr algn="ctr"/>
                      <a:r>
                        <a:rPr sz="2000" b="0" dirty="0">
                          <a:solidFill>
                            <a:srgbClr val="142233"/>
                          </a:solidFill>
                          <a:latin typeface="League Spartan"/>
                        </a:rPr>
                        <a:t>15.0%</a:t>
                      </a:r>
                    </a:p>
                  </a:txBody>
                  <a:tcPr marL="36576" marR="36576" marT="18288" marB="18288" anchor="ctr">
                    <a:solidFill>
                      <a:srgbClr val="FFFFFF"/>
                    </a:solidFill>
                  </a:tcPr>
                </a:tc>
                <a:tc>
                  <a:txBody>
                    <a:bodyPr/>
                    <a:lstStyle/>
                    <a:p>
                      <a:pPr algn="ctr"/>
                      <a:r>
                        <a:rPr sz="2000" b="0" dirty="0">
                          <a:solidFill>
                            <a:srgbClr val="142233"/>
                          </a:solidFill>
                          <a:latin typeface="League Spartan"/>
                        </a:rPr>
                        <a:t>10.0%</a:t>
                      </a:r>
                    </a:p>
                  </a:txBody>
                  <a:tcPr marL="36576" marR="36576" marT="18288" marB="18288" anchor="ctr">
                    <a:solidFill>
                      <a:srgbClr val="FFFFFF"/>
                    </a:solidFill>
                  </a:tcPr>
                </a:tc>
                <a:tc>
                  <a:txBody>
                    <a:bodyPr/>
                    <a:lstStyle/>
                    <a:p>
                      <a:pPr algn="ctr"/>
                      <a:r>
                        <a:rPr sz="2000" b="0" dirty="0">
                          <a:solidFill>
                            <a:srgbClr val="142233"/>
                          </a:solidFill>
                          <a:latin typeface="League Spartan"/>
                        </a:rPr>
                        <a:t>7.3%</a:t>
                      </a:r>
                    </a:p>
                  </a:txBody>
                  <a:tcPr marL="36576" marR="36576" marT="18288" marB="18288" anchor="ctr">
                    <a:solidFill>
                      <a:srgbClr val="FFFFFF"/>
                    </a:solidFill>
                  </a:tcPr>
                </a:tc>
                <a:tc>
                  <a:txBody>
                    <a:bodyPr/>
                    <a:lstStyle/>
                    <a:p>
                      <a:pPr algn="ctr"/>
                      <a:r>
                        <a:rPr sz="2000" b="0">
                          <a:solidFill>
                            <a:srgbClr val="142233"/>
                          </a:solidFill>
                          <a:latin typeface="League Spartan"/>
                        </a:rPr>
                        <a:t>5.6%</a:t>
                      </a:r>
                    </a:p>
                  </a:txBody>
                  <a:tcPr marL="36576" marR="36576" marT="18288" marB="18288" anchor="ctr">
                    <a:solidFill>
                      <a:srgbClr val="FFFFFF"/>
                    </a:solidFill>
                  </a:tcPr>
                </a:tc>
                <a:tc>
                  <a:txBody>
                    <a:bodyPr/>
                    <a:lstStyle/>
                    <a:p>
                      <a:pPr algn="ctr"/>
                      <a:r>
                        <a:rPr sz="2000" b="0">
                          <a:solidFill>
                            <a:srgbClr val="142233"/>
                          </a:solidFill>
                          <a:latin typeface="League Spartan"/>
                        </a:rPr>
                        <a:t>4.4%</a:t>
                      </a:r>
                    </a:p>
                  </a:txBody>
                  <a:tcPr marL="36576" marR="36576" marT="18288" marB="18288" anchor="ctr">
                    <a:solidFill>
                      <a:srgbClr val="FFFFFF"/>
                    </a:solidFill>
                  </a:tcPr>
                </a:tc>
                <a:tc>
                  <a:txBody>
                    <a:bodyPr/>
                    <a:lstStyle/>
                    <a:p>
                      <a:pPr algn="ctr"/>
                      <a:r>
                        <a:rPr sz="2000" b="0">
                          <a:solidFill>
                            <a:srgbClr val="142233"/>
                          </a:solidFill>
                          <a:latin typeface="League Spartan"/>
                        </a:rPr>
                        <a:t>3.5%</a:t>
                      </a:r>
                    </a:p>
                  </a:txBody>
                  <a:tcPr marL="36576" marR="36576" marT="18288" marB="18288" anchor="ctr">
                    <a:solidFill>
                      <a:srgbClr val="FFFFFF"/>
                    </a:solidFill>
                  </a:tcPr>
                </a:tc>
                <a:tc>
                  <a:txBody>
                    <a:bodyPr/>
                    <a:lstStyle/>
                    <a:p>
                      <a:pPr algn="ctr"/>
                      <a:r>
                        <a:rPr sz="2000" b="0">
                          <a:solidFill>
                            <a:srgbClr val="142233"/>
                          </a:solidFill>
                          <a:latin typeface="League Spartan"/>
                        </a:rPr>
                        <a:t>2.9%</a:t>
                      </a:r>
                    </a:p>
                  </a:txBody>
                  <a:tcPr marL="36576" marR="36576" marT="18288" marB="18288" anchor="ctr">
                    <a:solidFill>
                      <a:srgbClr val="FFFFFF"/>
                    </a:solidFill>
                  </a:tcPr>
                </a:tc>
                <a:tc>
                  <a:txBody>
                    <a:bodyPr/>
                    <a:lstStyle/>
                    <a:p>
                      <a:pPr algn="ctr"/>
                      <a:r>
                        <a:rPr sz="2000" b="0">
                          <a:solidFill>
                            <a:srgbClr val="142233"/>
                          </a:solidFill>
                          <a:latin typeface="League Spartan"/>
                        </a:rPr>
                        <a:t>2.3%</a:t>
                      </a:r>
                    </a:p>
                  </a:txBody>
                  <a:tcPr marL="36576" marR="36576" marT="18288" marB="18288" anchor="ctr">
                    <a:solidFill>
                      <a:srgbClr val="FFFFFF"/>
                    </a:solidFill>
                  </a:tcPr>
                </a:tc>
                <a:tc>
                  <a:txBody>
                    <a:bodyPr/>
                    <a:lstStyle/>
                    <a:p>
                      <a:pPr algn="ctr"/>
                      <a:r>
                        <a:rPr sz="2000" b="0">
                          <a:solidFill>
                            <a:srgbClr val="142233"/>
                          </a:solidFill>
                          <a:latin typeface="League Spartan"/>
                        </a:rPr>
                        <a:t>1.9%</a:t>
                      </a:r>
                    </a:p>
                  </a:txBody>
                  <a:tcPr marL="36576" marR="36576" marT="18288" marB="18288" anchor="ctr">
                    <a:solidFill>
                      <a:srgbClr val="FFFFFF"/>
                    </a:solidFill>
                  </a:tcPr>
                </a:tc>
                <a:tc>
                  <a:txBody>
                    <a:bodyPr/>
                    <a:lstStyle/>
                    <a:p>
                      <a:pPr algn="ctr"/>
                      <a:r>
                        <a:rPr sz="2000" b="0">
                          <a:solidFill>
                            <a:srgbClr val="142233"/>
                          </a:solidFill>
                          <a:latin typeface="League Spartan"/>
                        </a:rPr>
                        <a:t>1.6%</a:t>
                      </a:r>
                    </a:p>
                  </a:txBody>
                  <a:tcPr marL="36576" marR="36576" marT="18288" marB="18288" anchor="ctr">
                    <a:solidFill>
                      <a:srgbClr val="FFFFFF"/>
                    </a:solidFill>
                  </a:tcPr>
                </a:tc>
                <a:tc>
                  <a:txBody>
                    <a:bodyPr/>
                    <a:lstStyle/>
                    <a:p>
                      <a:pPr algn="ctr"/>
                      <a:r>
                        <a:rPr sz="2000" b="0" dirty="0">
                          <a:solidFill>
                            <a:srgbClr val="142233"/>
                          </a:solidFill>
                          <a:latin typeface="League Spartan"/>
                        </a:rPr>
                        <a:t>1.3%</a:t>
                      </a:r>
                    </a:p>
                  </a:txBody>
                  <a:tcPr marL="36576"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ctr"/>
                      <a:r>
                        <a:rPr sz="2000" b="1">
                          <a:solidFill>
                            <a:srgbClr val="FFFFFF"/>
                          </a:solidFill>
                          <a:latin typeface="League Spartan"/>
                        </a:rPr>
                        <a:t>3%</a:t>
                      </a:r>
                    </a:p>
                  </a:txBody>
                  <a:tcPr marL="36576" marR="36576" marT="18288" marB="18288" anchor="ctr">
                    <a:solidFill>
                      <a:srgbClr val="303B4F"/>
                    </a:solidFill>
                  </a:tcPr>
                </a:tc>
                <a:tc>
                  <a:txBody>
                    <a:bodyPr/>
                    <a:lstStyle/>
                    <a:p>
                      <a:pPr algn="ctr"/>
                      <a:r>
                        <a:rPr sz="2000" b="0">
                          <a:solidFill>
                            <a:srgbClr val="142233"/>
                          </a:solidFill>
                          <a:latin typeface="League Spartan"/>
                        </a:rPr>
                        <a:t>20.8%</a:t>
                      </a:r>
                    </a:p>
                  </a:txBody>
                  <a:tcPr marL="36576" marR="36576" marT="18288" marB="18288" anchor="ctr">
                    <a:solidFill>
                      <a:srgbClr val="E5E8EB"/>
                    </a:solidFill>
                  </a:tcPr>
                </a:tc>
                <a:tc>
                  <a:txBody>
                    <a:bodyPr/>
                    <a:lstStyle/>
                    <a:p>
                      <a:pPr algn="ctr"/>
                      <a:r>
                        <a:rPr sz="2000" b="0" dirty="0">
                          <a:solidFill>
                            <a:srgbClr val="142233"/>
                          </a:solidFill>
                          <a:latin typeface="League Spartan"/>
                        </a:rPr>
                        <a:t>14.2%</a:t>
                      </a:r>
                    </a:p>
                  </a:txBody>
                  <a:tcPr marL="36576" marR="36576" marT="18288" marB="18288" anchor="ctr">
                    <a:solidFill>
                      <a:srgbClr val="E5E8EB"/>
                    </a:solidFill>
                  </a:tcPr>
                </a:tc>
                <a:tc>
                  <a:txBody>
                    <a:bodyPr/>
                    <a:lstStyle/>
                    <a:p>
                      <a:pPr algn="ctr"/>
                      <a:r>
                        <a:rPr sz="2000" b="0" dirty="0">
                          <a:solidFill>
                            <a:srgbClr val="142233"/>
                          </a:solidFill>
                          <a:latin typeface="League Spartan"/>
                        </a:rPr>
                        <a:t>10.4%</a:t>
                      </a:r>
                    </a:p>
                  </a:txBody>
                  <a:tcPr marL="36576" marR="36576" marT="18288" marB="18288" anchor="ctr">
                    <a:solidFill>
                      <a:srgbClr val="E5E8EB"/>
                    </a:solidFill>
                  </a:tcPr>
                </a:tc>
                <a:tc>
                  <a:txBody>
                    <a:bodyPr/>
                    <a:lstStyle/>
                    <a:p>
                      <a:pPr algn="ctr"/>
                      <a:r>
                        <a:rPr sz="2000" b="0" dirty="0">
                          <a:solidFill>
                            <a:srgbClr val="142233"/>
                          </a:solidFill>
                          <a:latin typeface="League Spartan"/>
                        </a:rPr>
                        <a:t>8.0%</a:t>
                      </a:r>
                    </a:p>
                  </a:txBody>
                  <a:tcPr marL="36576" marR="36576" marT="18288" marB="18288" anchor="ctr">
                    <a:solidFill>
                      <a:srgbClr val="E5E8EB"/>
                    </a:solidFill>
                  </a:tcPr>
                </a:tc>
                <a:tc>
                  <a:txBody>
                    <a:bodyPr/>
                    <a:lstStyle/>
                    <a:p>
                      <a:pPr algn="ctr"/>
                      <a:r>
                        <a:rPr sz="2000" b="0" dirty="0">
                          <a:solidFill>
                            <a:srgbClr val="142233"/>
                          </a:solidFill>
                          <a:latin typeface="League Spartan"/>
                        </a:rPr>
                        <a:t>6.4%</a:t>
                      </a:r>
                    </a:p>
                  </a:txBody>
                  <a:tcPr marL="36576" marR="36576" marT="18288" marB="18288" anchor="ctr">
                    <a:solidFill>
                      <a:srgbClr val="E5E8EB"/>
                    </a:solidFill>
                  </a:tcPr>
                </a:tc>
                <a:tc>
                  <a:txBody>
                    <a:bodyPr/>
                    <a:lstStyle/>
                    <a:p>
                      <a:pPr algn="ctr"/>
                      <a:r>
                        <a:rPr sz="2000" b="0">
                          <a:solidFill>
                            <a:srgbClr val="142233"/>
                          </a:solidFill>
                          <a:latin typeface="League Spartan"/>
                        </a:rPr>
                        <a:t>5.1%</a:t>
                      </a:r>
                    </a:p>
                  </a:txBody>
                  <a:tcPr marL="36576" marR="36576" marT="18288" marB="18288" anchor="ctr">
                    <a:solidFill>
                      <a:srgbClr val="E5E8EB"/>
                    </a:solidFill>
                  </a:tcPr>
                </a:tc>
                <a:tc>
                  <a:txBody>
                    <a:bodyPr/>
                    <a:lstStyle/>
                    <a:p>
                      <a:pPr algn="ctr"/>
                      <a:r>
                        <a:rPr sz="2000" b="0">
                          <a:solidFill>
                            <a:srgbClr val="142233"/>
                          </a:solidFill>
                          <a:latin typeface="League Spartan"/>
                        </a:rPr>
                        <a:t>4.2%</a:t>
                      </a:r>
                    </a:p>
                  </a:txBody>
                  <a:tcPr marL="36576" marR="36576" marT="18288" marB="18288" anchor="ctr">
                    <a:solidFill>
                      <a:srgbClr val="E5E8EB"/>
                    </a:solidFill>
                  </a:tcPr>
                </a:tc>
                <a:tc>
                  <a:txBody>
                    <a:bodyPr/>
                    <a:lstStyle/>
                    <a:p>
                      <a:pPr algn="ctr"/>
                      <a:r>
                        <a:rPr sz="2000" b="0">
                          <a:solidFill>
                            <a:srgbClr val="142233"/>
                          </a:solidFill>
                          <a:latin typeface="League Spartan"/>
                        </a:rPr>
                        <a:t>3.4%</a:t>
                      </a:r>
                    </a:p>
                  </a:txBody>
                  <a:tcPr marL="36576" marR="36576" marT="18288" marB="18288" anchor="ctr">
                    <a:solidFill>
                      <a:srgbClr val="E5E8EB"/>
                    </a:solidFill>
                  </a:tcPr>
                </a:tc>
                <a:tc>
                  <a:txBody>
                    <a:bodyPr/>
                    <a:lstStyle/>
                    <a:p>
                      <a:pPr algn="ctr"/>
                      <a:r>
                        <a:rPr sz="2000" b="0">
                          <a:solidFill>
                            <a:srgbClr val="142233"/>
                          </a:solidFill>
                          <a:latin typeface="League Spartan"/>
                        </a:rPr>
                        <a:t>2.8%</a:t>
                      </a:r>
                    </a:p>
                  </a:txBody>
                  <a:tcPr marL="36576" marR="36576" marT="18288" marB="18288" anchor="ctr">
                    <a:solidFill>
                      <a:srgbClr val="E5E8EB"/>
                    </a:solidFill>
                  </a:tcPr>
                </a:tc>
                <a:tc>
                  <a:txBody>
                    <a:bodyPr/>
                    <a:lstStyle/>
                    <a:p>
                      <a:pPr algn="ctr"/>
                      <a:r>
                        <a:rPr sz="2000" b="0">
                          <a:solidFill>
                            <a:srgbClr val="142233"/>
                          </a:solidFill>
                          <a:latin typeface="League Spartan"/>
                        </a:rPr>
                        <a:t>2.3%</a:t>
                      </a:r>
                    </a:p>
                  </a:txBody>
                  <a:tcPr marL="36576" marR="36576" marT="18288" marB="18288" anchor="ctr">
                    <a:solidFill>
                      <a:srgbClr val="E5E8EB"/>
                    </a:solidFill>
                  </a:tcPr>
                </a:tc>
                <a:tc>
                  <a:txBody>
                    <a:bodyPr/>
                    <a:lstStyle/>
                    <a:p>
                      <a:pPr algn="ctr"/>
                      <a:r>
                        <a:rPr sz="2000" b="0">
                          <a:solidFill>
                            <a:srgbClr val="142233"/>
                          </a:solidFill>
                          <a:latin typeface="League Spartan"/>
                        </a:rPr>
                        <a:t>1.9%</a:t>
                      </a:r>
                    </a:p>
                  </a:txBody>
                  <a:tcPr marL="36576" marR="36576" marT="18288" marB="18288" anchor="ctr">
                    <a:solidFill>
                      <a:srgbClr val="E5E8EB"/>
                    </a:solidFill>
                  </a:tcPr>
                </a:tc>
                <a:extLst>
                  <a:ext uri="{0D108BD9-81ED-4DB2-BD59-A6C34878D82A}">
                    <a16:rowId xmlns:a16="http://schemas.microsoft.com/office/drawing/2014/main" val="10002"/>
                  </a:ext>
                </a:extLst>
              </a:tr>
              <a:tr h="566928">
                <a:tc>
                  <a:txBody>
                    <a:bodyPr/>
                    <a:lstStyle/>
                    <a:p>
                      <a:pPr algn="ctr"/>
                      <a:r>
                        <a:rPr sz="2000" b="1">
                          <a:solidFill>
                            <a:srgbClr val="FFFFFF"/>
                          </a:solidFill>
                          <a:latin typeface="League Spartan"/>
                        </a:rPr>
                        <a:t>4%</a:t>
                      </a:r>
                    </a:p>
                  </a:txBody>
                  <a:tcPr marL="36576" marR="36576" marT="18288" marB="18288" anchor="ctr">
                    <a:solidFill>
                      <a:srgbClr val="303B4F"/>
                    </a:solidFill>
                  </a:tcPr>
                </a:tc>
                <a:tc>
                  <a:txBody>
                    <a:bodyPr/>
                    <a:lstStyle/>
                    <a:p>
                      <a:pPr algn="ctr"/>
                      <a:r>
                        <a:rPr sz="2000" b="0">
                          <a:solidFill>
                            <a:srgbClr val="142233"/>
                          </a:solidFill>
                          <a:latin typeface="League Spartan"/>
                        </a:rPr>
                        <a:t>25.7%</a:t>
                      </a:r>
                    </a:p>
                  </a:txBody>
                  <a:tcPr marL="36576" marR="36576" marT="18288" marB="18288" anchor="ctr">
                    <a:solidFill>
                      <a:srgbClr val="FFFFFF"/>
                    </a:solidFill>
                  </a:tcPr>
                </a:tc>
                <a:tc>
                  <a:txBody>
                    <a:bodyPr/>
                    <a:lstStyle/>
                    <a:p>
                      <a:pPr algn="ctr"/>
                      <a:r>
                        <a:rPr sz="2000" b="0">
                          <a:solidFill>
                            <a:srgbClr val="142233"/>
                          </a:solidFill>
                          <a:latin typeface="League Spartan"/>
                        </a:rPr>
                        <a:t>17.9%</a:t>
                      </a:r>
                    </a:p>
                  </a:txBody>
                  <a:tcPr marL="36576" marR="36576" marT="18288" marB="18288" anchor="ctr">
                    <a:solidFill>
                      <a:srgbClr val="FFFFFF"/>
                    </a:solidFill>
                  </a:tcPr>
                </a:tc>
                <a:tc>
                  <a:txBody>
                    <a:bodyPr/>
                    <a:lstStyle/>
                    <a:p>
                      <a:pPr algn="ctr"/>
                      <a:r>
                        <a:rPr sz="2000" b="0">
                          <a:solidFill>
                            <a:srgbClr val="142233"/>
                          </a:solidFill>
                          <a:latin typeface="League Spartan"/>
                        </a:rPr>
                        <a:t>13.3%</a:t>
                      </a:r>
                    </a:p>
                  </a:txBody>
                  <a:tcPr marL="36576" marR="36576" marT="18288" marB="18288" anchor="ctr">
                    <a:solidFill>
                      <a:srgbClr val="FFFFFF"/>
                    </a:solidFill>
                  </a:tcPr>
                </a:tc>
                <a:tc>
                  <a:txBody>
                    <a:bodyPr/>
                    <a:lstStyle/>
                    <a:p>
                      <a:pPr algn="ctr"/>
                      <a:r>
                        <a:rPr sz="2000" b="0">
                          <a:solidFill>
                            <a:srgbClr val="142233"/>
                          </a:solidFill>
                          <a:latin typeface="League Spartan"/>
                        </a:rPr>
                        <a:t>10.3%</a:t>
                      </a:r>
                    </a:p>
                  </a:txBody>
                  <a:tcPr marL="36576" marR="36576" marT="18288" marB="18288" anchor="ctr">
                    <a:solidFill>
                      <a:srgbClr val="FFFFFF"/>
                    </a:solidFill>
                  </a:tcPr>
                </a:tc>
                <a:tc>
                  <a:txBody>
                    <a:bodyPr/>
                    <a:lstStyle/>
                    <a:p>
                      <a:pPr algn="ctr"/>
                      <a:r>
                        <a:rPr sz="2000" b="0" dirty="0">
                          <a:solidFill>
                            <a:srgbClr val="142233"/>
                          </a:solidFill>
                          <a:latin typeface="League Spartan"/>
                        </a:rPr>
                        <a:t>8.2%</a:t>
                      </a:r>
                    </a:p>
                  </a:txBody>
                  <a:tcPr marL="36576" marR="36576" marT="18288" marB="18288" anchor="ctr">
                    <a:solidFill>
                      <a:srgbClr val="FFFFFF"/>
                    </a:solidFill>
                  </a:tcPr>
                </a:tc>
                <a:tc>
                  <a:txBody>
                    <a:bodyPr/>
                    <a:lstStyle/>
                    <a:p>
                      <a:pPr algn="ctr"/>
                      <a:r>
                        <a:rPr sz="2000" b="0" dirty="0">
                          <a:solidFill>
                            <a:srgbClr val="142233"/>
                          </a:solidFill>
                          <a:latin typeface="League Spartan"/>
                        </a:rPr>
                        <a:t>6.7%</a:t>
                      </a:r>
                    </a:p>
                  </a:txBody>
                  <a:tcPr marL="36576" marR="36576" marT="18288" marB="18288" anchor="ctr">
                    <a:solidFill>
                      <a:srgbClr val="FFFFFF"/>
                    </a:solidFill>
                  </a:tcPr>
                </a:tc>
                <a:tc>
                  <a:txBody>
                    <a:bodyPr/>
                    <a:lstStyle/>
                    <a:p>
                      <a:pPr algn="ctr"/>
                      <a:r>
                        <a:rPr sz="2000" b="0">
                          <a:solidFill>
                            <a:srgbClr val="142233"/>
                          </a:solidFill>
                          <a:latin typeface="League Spartan"/>
                        </a:rPr>
                        <a:t>5.5%</a:t>
                      </a:r>
                    </a:p>
                  </a:txBody>
                  <a:tcPr marL="36576" marR="36576" marT="18288" marB="18288" anchor="ctr">
                    <a:solidFill>
                      <a:srgbClr val="FFFFFF"/>
                    </a:solidFill>
                  </a:tcPr>
                </a:tc>
                <a:tc>
                  <a:txBody>
                    <a:bodyPr/>
                    <a:lstStyle/>
                    <a:p>
                      <a:pPr algn="ctr"/>
                      <a:r>
                        <a:rPr sz="2000" b="0">
                          <a:solidFill>
                            <a:srgbClr val="142233"/>
                          </a:solidFill>
                          <a:latin typeface="League Spartan"/>
                        </a:rPr>
                        <a:t>4.5%</a:t>
                      </a:r>
                    </a:p>
                  </a:txBody>
                  <a:tcPr marL="36576" marR="36576" marT="18288" marB="18288" anchor="ctr">
                    <a:solidFill>
                      <a:srgbClr val="FFFFFF"/>
                    </a:solidFill>
                  </a:tcPr>
                </a:tc>
                <a:tc>
                  <a:txBody>
                    <a:bodyPr/>
                    <a:lstStyle/>
                    <a:p>
                      <a:pPr algn="ctr"/>
                      <a:r>
                        <a:rPr sz="2000" b="0">
                          <a:solidFill>
                            <a:srgbClr val="142233"/>
                          </a:solidFill>
                          <a:latin typeface="League Spartan"/>
                        </a:rPr>
                        <a:t>3.7%</a:t>
                      </a:r>
                    </a:p>
                  </a:txBody>
                  <a:tcPr marL="36576" marR="36576" marT="18288" marB="18288" anchor="ctr">
                    <a:solidFill>
                      <a:srgbClr val="FFFFFF"/>
                    </a:solidFill>
                  </a:tcPr>
                </a:tc>
                <a:tc>
                  <a:txBody>
                    <a:bodyPr/>
                    <a:lstStyle/>
                    <a:p>
                      <a:pPr algn="ctr"/>
                      <a:r>
                        <a:rPr sz="2000" b="0">
                          <a:solidFill>
                            <a:srgbClr val="142233"/>
                          </a:solidFill>
                          <a:latin typeface="League Spartan"/>
                        </a:rPr>
                        <a:t>3.1%</a:t>
                      </a:r>
                    </a:p>
                  </a:txBody>
                  <a:tcPr marL="36576" marR="36576" marT="18288" marB="18288" anchor="ctr">
                    <a:solidFill>
                      <a:srgbClr val="FFFFFF"/>
                    </a:solidFill>
                  </a:tcPr>
                </a:tc>
                <a:tc>
                  <a:txBody>
                    <a:bodyPr/>
                    <a:lstStyle/>
                    <a:p>
                      <a:pPr algn="ctr"/>
                      <a:r>
                        <a:rPr sz="2000" b="0">
                          <a:solidFill>
                            <a:srgbClr val="142233"/>
                          </a:solidFill>
                          <a:latin typeface="League Spartan"/>
                        </a:rPr>
                        <a:t>2.5%</a:t>
                      </a:r>
                    </a:p>
                  </a:txBody>
                  <a:tcPr marL="36576" marR="36576" marT="18288" marB="18288" anchor="ctr">
                    <a:solidFill>
                      <a:srgbClr val="FFFFFF"/>
                    </a:solidFill>
                  </a:tcPr>
                </a:tc>
                <a:extLst>
                  <a:ext uri="{0D108BD9-81ED-4DB2-BD59-A6C34878D82A}">
                    <a16:rowId xmlns:a16="http://schemas.microsoft.com/office/drawing/2014/main" val="10003"/>
                  </a:ext>
                </a:extLst>
              </a:tr>
              <a:tr h="566928">
                <a:tc>
                  <a:txBody>
                    <a:bodyPr/>
                    <a:lstStyle/>
                    <a:p>
                      <a:pPr algn="ctr"/>
                      <a:r>
                        <a:rPr sz="2000" b="1">
                          <a:solidFill>
                            <a:srgbClr val="FFFFFF"/>
                          </a:solidFill>
                          <a:latin typeface="League Spartan"/>
                        </a:rPr>
                        <a:t>5%</a:t>
                      </a:r>
                    </a:p>
                  </a:txBody>
                  <a:tcPr marL="36576" marR="36576" marT="18288" marB="18288" anchor="ctr">
                    <a:solidFill>
                      <a:srgbClr val="303B4F"/>
                    </a:solidFill>
                  </a:tcPr>
                </a:tc>
                <a:tc>
                  <a:txBody>
                    <a:bodyPr/>
                    <a:lstStyle/>
                    <a:p>
                      <a:pPr algn="ctr"/>
                      <a:r>
                        <a:rPr sz="2000" b="0">
                          <a:solidFill>
                            <a:srgbClr val="142233"/>
                          </a:solidFill>
                          <a:latin typeface="League Spartan"/>
                        </a:rPr>
                        <a:t>30.0%</a:t>
                      </a:r>
                    </a:p>
                  </a:txBody>
                  <a:tcPr marL="36576" marR="36576" marT="18288" marB="18288" anchor="ctr">
                    <a:solidFill>
                      <a:srgbClr val="E5E8EB"/>
                    </a:solidFill>
                  </a:tcPr>
                </a:tc>
                <a:tc>
                  <a:txBody>
                    <a:bodyPr/>
                    <a:lstStyle/>
                    <a:p>
                      <a:pPr algn="ctr"/>
                      <a:r>
                        <a:rPr sz="2000" b="0">
                          <a:solidFill>
                            <a:srgbClr val="142233"/>
                          </a:solidFill>
                          <a:latin typeface="League Spartan"/>
                        </a:rPr>
                        <a:t>21.3%</a:t>
                      </a:r>
                    </a:p>
                  </a:txBody>
                  <a:tcPr marL="36576" marR="36576" marT="18288" marB="18288" anchor="ctr">
                    <a:solidFill>
                      <a:srgbClr val="E5E8EB"/>
                    </a:solidFill>
                  </a:tcPr>
                </a:tc>
                <a:tc>
                  <a:txBody>
                    <a:bodyPr/>
                    <a:lstStyle/>
                    <a:p>
                      <a:pPr algn="ctr"/>
                      <a:r>
                        <a:rPr sz="2000" b="0">
                          <a:solidFill>
                            <a:srgbClr val="142233"/>
                          </a:solidFill>
                          <a:latin typeface="League Spartan"/>
                        </a:rPr>
                        <a:t>16.0%</a:t>
                      </a:r>
                    </a:p>
                  </a:txBody>
                  <a:tcPr marL="36576" marR="36576" marT="18288" marB="18288" anchor="ctr">
                    <a:solidFill>
                      <a:srgbClr val="E5E8EB"/>
                    </a:solidFill>
                  </a:tcPr>
                </a:tc>
                <a:tc>
                  <a:txBody>
                    <a:bodyPr/>
                    <a:lstStyle/>
                    <a:p>
                      <a:pPr algn="ctr"/>
                      <a:r>
                        <a:rPr sz="2000" b="0" dirty="0">
                          <a:solidFill>
                            <a:srgbClr val="142233"/>
                          </a:solidFill>
                          <a:latin typeface="League Spartan"/>
                        </a:rPr>
                        <a:t>12.5%</a:t>
                      </a:r>
                    </a:p>
                  </a:txBody>
                  <a:tcPr marL="36576" marR="36576" marT="18288" marB="18288" anchor="ctr">
                    <a:solidFill>
                      <a:srgbClr val="E5E8EB"/>
                    </a:solidFill>
                  </a:tcPr>
                </a:tc>
                <a:tc>
                  <a:txBody>
                    <a:bodyPr/>
                    <a:lstStyle/>
                    <a:p>
                      <a:pPr algn="ctr"/>
                      <a:r>
                        <a:rPr sz="2000" b="0">
                          <a:solidFill>
                            <a:srgbClr val="142233"/>
                          </a:solidFill>
                          <a:latin typeface="League Spartan"/>
                        </a:rPr>
                        <a:t>10.0%</a:t>
                      </a:r>
                    </a:p>
                  </a:txBody>
                  <a:tcPr marL="36576" marR="36576" marT="18288" marB="18288" anchor="ctr">
                    <a:solidFill>
                      <a:srgbClr val="E5E8EB"/>
                    </a:solidFill>
                  </a:tcPr>
                </a:tc>
                <a:tc>
                  <a:txBody>
                    <a:bodyPr/>
                    <a:lstStyle/>
                    <a:p>
                      <a:pPr algn="ctr"/>
                      <a:r>
                        <a:rPr sz="2000" b="0" dirty="0">
                          <a:solidFill>
                            <a:srgbClr val="142233"/>
                          </a:solidFill>
                          <a:latin typeface="League Spartan"/>
                        </a:rPr>
                        <a:t>8.1%</a:t>
                      </a:r>
                    </a:p>
                  </a:txBody>
                  <a:tcPr marL="36576" marR="36576" marT="18288" marB="18288" anchor="ctr">
                    <a:solidFill>
                      <a:srgbClr val="E5E8EB"/>
                    </a:solidFill>
                  </a:tcPr>
                </a:tc>
                <a:tc>
                  <a:txBody>
                    <a:bodyPr/>
                    <a:lstStyle/>
                    <a:p>
                      <a:pPr algn="ctr"/>
                      <a:r>
                        <a:rPr sz="2000" b="0" dirty="0">
                          <a:solidFill>
                            <a:srgbClr val="142233"/>
                          </a:solidFill>
                          <a:latin typeface="League Spartan"/>
                        </a:rPr>
                        <a:t>6.7%</a:t>
                      </a:r>
                    </a:p>
                  </a:txBody>
                  <a:tcPr marL="36576" marR="36576" marT="18288" marB="18288" anchor="ctr">
                    <a:solidFill>
                      <a:srgbClr val="E5E8EB"/>
                    </a:solidFill>
                  </a:tcPr>
                </a:tc>
                <a:tc>
                  <a:txBody>
                    <a:bodyPr/>
                    <a:lstStyle/>
                    <a:p>
                      <a:pPr algn="ctr"/>
                      <a:r>
                        <a:rPr sz="2000" b="0">
                          <a:solidFill>
                            <a:srgbClr val="142233"/>
                          </a:solidFill>
                          <a:latin typeface="League Spartan"/>
                        </a:rPr>
                        <a:t>5.5%</a:t>
                      </a:r>
                    </a:p>
                  </a:txBody>
                  <a:tcPr marL="36576" marR="36576" marT="18288" marB="18288" anchor="ctr">
                    <a:solidFill>
                      <a:srgbClr val="E5E8EB"/>
                    </a:solidFill>
                  </a:tcPr>
                </a:tc>
                <a:tc>
                  <a:txBody>
                    <a:bodyPr/>
                    <a:lstStyle/>
                    <a:p>
                      <a:pPr algn="ctr"/>
                      <a:r>
                        <a:rPr sz="2000" b="0">
                          <a:solidFill>
                            <a:srgbClr val="142233"/>
                          </a:solidFill>
                          <a:latin typeface="League Spartan"/>
                        </a:rPr>
                        <a:t>4.5%</a:t>
                      </a:r>
                    </a:p>
                  </a:txBody>
                  <a:tcPr marL="36576" marR="36576" marT="18288" marB="18288" anchor="ctr">
                    <a:solidFill>
                      <a:srgbClr val="E5E8EB"/>
                    </a:solidFill>
                  </a:tcPr>
                </a:tc>
                <a:tc>
                  <a:txBody>
                    <a:bodyPr/>
                    <a:lstStyle/>
                    <a:p>
                      <a:pPr algn="ctr"/>
                      <a:r>
                        <a:rPr sz="2000" b="0">
                          <a:solidFill>
                            <a:srgbClr val="142233"/>
                          </a:solidFill>
                          <a:latin typeface="League Spartan"/>
                        </a:rPr>
                        <a:t>3.8%</a:t>
                      </a:r>
                    </a:p>
                  </a:txBody>
                  <a:tcPr marL="36576" marR="36576" marT="18288" marB="18288" anchor="ctr">
                    <a:solidFill>
                      <a:srgbClr val="E5E8EB"/>
                    </a:solidFill>
                  </a:tcPr>
                </a:tc>
                <a:tc>
                  <a:txBody>
                    <a:bodyPr/>
                    <a:lstStyle/>
                    <a:p>
                      <a:pPr algn="ctr"/>
                      <a:r>
                        <a:rPr sz="2000" b="0">
                          <a:solidFill>
                            <a:srgbClr val="142233"/>
                          </a:solidFill>
                          <a:latin typeface="League Spartan"/>
                        </a:rPr>
                        <a:t>3.1%</a:t>
                      </a:r>
                    </a:p>
                  </a:txBody>
                  <a:tcPr marL="36576" marR="36576" marT="18288" marB="18288" anchor="ctr">
                    <a:solidFill>
                      <a:srgbClr val="E5E8EB"/>
                    </a:solidFill>
                  </a:tcPr>
                </a:tc>
                <a:extLst>
                  <a:ext uri="{0D108BD9-81ED-4DB2-BD59-A6C34878D82A}">
                    <a16:rowId xmlns:a16="http://schemas.microsoft.com/office/drawing/2014/main" val="10004"/>
                  </a:ext>
                </a:extLst>
              </a:tr>
              <a:tr h="566928">
                <a:tc>
                  <a:txBody>
                    <a:bodyPr/>
                    <a:lstStyle/>
                    <a:p>
                      <a:pPr algn="ctr"/>
                      <a:r>
                        <a:rPr sz="2000" b="1">
                          <a:solidFill>
                            <a:srgbClr val="FFFFFF"/>
                          </a:solidFill>
                          <a:latin typeface="League Spartan"/>
                        </a:rPr>
                        <a:t>10%</a:t>
                      </a:r>
                    </a:p>
                  </a:txBody>
                  <a:tcPr marL="36576" marR="36576" marT="18288" marB="18288" anchor="ctr">
                    <a:solidFill>
                      <a:srgbClr val="303B4F"/>
                    </a:solidFill>
                  </a:tcPr>
                </a:tc>
                <a:tc>
                  <a:txBody>
                    <a:bodyPr/>
                    <a:lstStyle/>
                    <a:p>
                      <a:pPr algn="ctr"/>
                      <a:r>
                        <a:rPr sz="2000" b="0">
                          <a:solidFill>
                            <a:srgbClr val="142233"/>
                          </a:solidFill>
                          <a:latin typeface="League Spartan"/>
                        </a:rPr>
                        <a:t>45.0%</a:t>
                      </a:r>
                    </a:p>
                  </a:txBody>
                  <a:tcPr marL="36576" marR="36576" marT="18288" marB="18288" anchor="ctr">
                    <a:solidFill>
                      <a:srgbClr val="FFFFFF"/>
                    </a:solidFill>
                  </a:tcPr>
                </a:tc>
                <a:tc>
                  <a:txBody>
                    <a:bodyPr/>
                    <a:lstStyle/>
                    <a:p>
                      <a:pPr algn="ctr"/>
                      <a:r>
                        <a:rPr sz="2000" b="0">
                          <a:solidFill>
                            <a:srgbClr val="142233"/>
                          </a:solidFill>
                          <a:latin typeface="League Spartan"/>
                        </a:rPr>
                        <a:t>34.0%</a:t>
                      </a:r>
                    </a:p>
                  </a:txBody>
                  <a:tcPr marL="36576" marR="36576" marT="18288" marB="18288" anchor="ctr">
                    <a:solidFill>
                      <a:srgbClr val="FFFFFF"/>
                    </a:solidFill>
                  </a:tcPr>
                </a:tc>
                <a:tc>
                  <a:txBody>
                    <a:bodyPr/>
                    <a:lstStyle/>
                    <a:p>
                      <a:pPr algn="ctr"/>
                      <a:r>
                        <a:rPr sz="2000" b="0">
                          <a:solidFill>
                            <a:srgbClr val="142233"/>
                          </a:solidFill>
                          <a:latin typeface="League Spartan"/>
                        </a:rPr>
                        <a:t>26.7%</a:t>
                      </a:r>
                    </a:p>
                  </a:txBody>
                  <a:tcPr marL="36576" marR="36576" marT="18288" marB="18288" anchor="ctr">
                    <a:solidFill>
                      <a:srgbClr val="FFFFFF"/>
                    </a:solidFill>
                  </a:tcPr>
                </a:tc>
                <a:tc>
                  <a:txBody>
                    <a:bodyPr/>
                    <a:lstStyle/>
                    <a:p>
                      <a:pPr algn="ctr"/>
                      <a:r>
                        <a:rPr sz="2000" b="0" dirty="0">
                          <a:solidFill>
                            <a:srgbClr val="142233"/>
                          </a:solidFill>
                          <a:latin typeface="League Spartan"/>
                        </a:rPr>
                        <a:t>21.4%</a:t>
                      </a:r>
                    </a:p>
                  </a:txBody>
                  <a:tcPr marL="36576" marR="36576" marT="18288" marB="18288" anchor="ctr">
                    <a:solidFill>
                      <a:srgbClr val="FFFFFF"/>
                    </a:solidFill>
                  </a:tcPr>
                </a:tc>
                <a:tc>
                  <a:txBody>
                    <a:bodyPr/>
                    <a:lstStyle/>
                    <a:p>
                      <a:pPr algn="ctr"/>
                      <a:r>
                        <a:rPr sz="2000" b="0">
                          <a:solidFill>
                            <a:srgbClr val="142233"/>
                          </a:solidFill>
                          <a:latin typeface="League Spartan"/>
                        </a:rPr>
                        <a:t>17.5%</a:t>
                      </a:r>
                    </a:p>
                  </a:txBody>
                  <a:tcPr marL="36576" marR="36576" marT="18288" marB="18288" anchor="ctr">
                    <a:solidFill>
                      <a:srgbClr val="FFFFFF"/>
                    </a:solidFill>
                  </a:tcPr>
                </a:tc>
                <a:tc>
                  <a:txBody>
                    <a:bodyPr/>
                    <a:lstStyle/>
                    <a:p>
                      <a:pPr algn="ctr"/>
                      <a:r>
                        <a:rPr sz="2000" b="0">
                          <a:solidFill>
                            <a:srgbClr val="142233"/>
                          </a:solidFill>
                          <a:latin typeface="League Spartan"/>
                        </a:rPr>
                        <a:t>14.4%</a:t>
                      </a:r>
                    </a:p>
                  </a:txBody>
                  <a:tcPr marL="36576" marR="36576" marT="18288" marB="18288" anchor="ctr">
                    <a:solidFill>
                      <a:srgbClr val="FFFFFF"/>
                    </a:solidFill>
                  </a:tcPr>
                </a:tc>
                <a:tc>
                  <a:txBody>
                    <a:bodyPr/>
                    <a:lstStyle/>
                    <a:p>
                      <a:pPr algn="ctr"/>
                      <a:r>
                        <a:rPr sz="2000" b="0" dirty="0">
                          <a:solidFill>
                            <a:srgbClr val="142233"/>
                          </a:solidFill>
                          <a:latin typeface="League Spartan"/>
                        </a:rPr>
                        <a:t>12.0%</a:t>
                      </a:r>
                    </a:p>
                  </a:txBody>
                  <a:tcPr marL="36576" marR="36576" marT="18288" marB="18288" anchor="ctr">
                    <a:solidFill>
                      <a:srgbClr val="FFFFFF"/>
                    </a:solidFill>
                  </a:tcPr>
                </a:tc>
                <a:tc>
                  <a:txBody>
                    <a:bodyPr/>
                    <a:lstStyle/>
                    <a:p>
                      <a:pPr algn="ctr"/>
                      <a:r>
                        <a:rPr sz="2000" b="0">
                          <a:solidFill>
                            <a:srgbClr val="142233"/>
                          </a:solidFill>
                          <a:latin typeface="League Spartan"/>
                        </a:rPr>
                        <a:t>10.0%</a:t>
                      </a:r>
                    </a:p>
                  </a:txBody>
                  <a:tcPr marL="36576" marR="36576" marT="18288" marB="18288" anchor="ctr">
                    <a:solidFill>
                      <a:srgbClr val="FFFFFF"/>
                    </a:solidFill>
                  </a:tcPr>
                </a:tc>
                <a:tc>
                  <a:txBody>
                    <a:bodyPr/>
                    <a:lstStyle/>
                    <a:p>
                      <a:pPr algn="ctr"/>
                      <a:r>
                        <a:rPr sz="2000" b="0">
                          <a:solidFill>
                            <a:srgbClr val="142233"/>
                          </a:solidFill>
                          <a:latin typeface="League Spartan"/>
                        </a:rPr>
                        <a:t>8.3%</a:t>
                      </a:r>
                    </a:p>
                  </a:txBody>
                  <a:tcPr marL="36576" marR="36576" marT="18288" marB="18288" anchor="ctr">
                    <a:solidFill>
                      <a:srgbClr val="FFFFFF"/>
                    </a:solidFill>
                  </a:tcPr>
                </a:tc>
                <a:tc>
                  <a:txBody>
                    <a:bodyPr/>
                    <a:lstStyle/>
                    <a:p>
                      <a:pPr algn="ctr"/>
                      <a:r>
                        <a:rPr sz="2000" b="0">
                          <a:solidFill>
                            <a:srgbClr val="142233"/>
                          </a:solidFill>
                          <a:latin typeface="League Spartan"/>
                        </a:rPr>
                        <a:t>6.9%</a:t>
                      </a:r>
                    </a:p>
                  </a:txBody>
                  <a:tcPr marL="36576" marR="36576" marT="18288" marB="18288" anchor="ctr">
                    <a:solidFill>
                      <a:srgbClr val="FFFFFF"/>
                    </a:solidFill>
                  </a:tcPr>
                </a:tc>
                <a:tc>
                  <a:txBody>
                    <a:bodyPr/>
                    <a:lstStyle/>
                    <a:p>
                      <a:pPr algn="ctr"/>
                      <a:r>
                        <a:rPr sz="2000" b="0">
                          <a:solidFill>
                            <a:srgbClr val="142233"/>
                          </a:solidFill>
                          <a:latin typeface="League Spartan"/>
                        </a:rPr>
                        <a:t>5.7%</a:t>
                      </a:r>
                    </a:p>
                  </a:txBody>
                  <a:tcPr marL="36576" marR="36576" marT="18288" marB="18288" anchor="ctr">
                    <a:solidFill>
                      <a:srgbClr val="FFFFFF"/>
                    </a:solidFill>
                  </a:tcPr>
                </a:tc>
                <a:extLst>
                  <a:ext uri="{0D108BD9-81ED-4DB2-BD59-A6C34878D82A}">
                    <a16:rowId xmlns:a16="http://schemas.microsoft.com/office/drawing/2014/main" val="10005"/>
                  </a:ext>
                </a:extLst>
              </a:tr>
              <a:tr h="566928">
                <a:tc>
                  <a:txBody>
                    <a:bodyPr/>
                    <a:lstStyle/>
                    <a:p>
                      <a:pPr algn="ctr"/>
                      <a:r>
                        <a:rPr sz="2000" b="1">
                          <a:solidFill>
                            <a:srgbClr val="FFFFFF"/>
                          </a:solidFill>
                          <a:latin typeface="League Spartan"/>
                        </a:rPr>
                        <a:t>15%</a:t>
                      </a:r>
                    </a:p>
                  </a:txBody>
                  <a:tcPr marL="36576" marR="36576" marT="18288" marB="18288" anchor="ctr">
                    <a:solidFill>
                      <a:srgbClr val="303B4F"/>
                    </a:solidFill>
                  </a:tcPr>
                </a:tc>
                <a:tc>
                  <a:txBody>
                    <a:bodyPr/>
                    <a:lstStyle/>
                    <a:p>
                      <a:pPr algn="ctr"/>
                      <a:r>
                        <a:rPr sz="2000" b="0">
                          <a:solidFill>
                            <a:srgbClr val="142233"/>
                          </a:solidFill>
                          <a:latin typeface="League Spartan"/>
                        </a:rPr>
                        <a:t>54.0%</a:t>
                      </a:r>
                    </a:p>
                  </a:txBody>
                  <a:tcPr marL="36576" marR="36576" marT="18288" marB="18288" anchor="ctr">
                    <a:solidFill>
                      <a:srgbClr val="E5E8EB"/>
                    </a:solidFill>
                  </a:tcPr>
                </a:tc>
                <a:tc>
                  <a:txBody>
                    <a:bodyPr/>
                    <a:lstStyle/>
                    <a:p>
                      <a:pPr algn="ctr"/>
                      <a:r>
                        <a:rPr sz="2000" b="0">
                          <a:solidFill>
                            <a:srgbClr val="142233"/>
                          </a:solidFill>
                          <a:latin typeface="League Spartan"/>
                        </a:rPr>
                        <a:t>42.5%</a:t>
                      </a:r>
                    </a:p>
                  </a:txBody>
                  <a:tcPr marL="36576" marR="36576" marT="18288" marB="18288" anchor="ctr">
                    <a:solidFill>
                      <a:srgbClr val="E5E8EB"/>
                    </a:solidFill>
                  </a:tcPr>
                </a:tc>
                <a:tc>
                  <a:txBody>
                    <a:bodyPr/>
                    <a:lstStyle/>
                    <a:p>
                      <a:pPr algn="ctr"/>
                      <a:r>
                        <a:rPr sz="2000" b="0">
                          <a:solidFill>
                            <a:srgbClr val="142233"/>
                          </a:solidFill>
                          <a:latin typeface="League Spartan"/>
                        </a:rPr>
                        <a:t>34.3%</a:t>
                      </a:r>
                    </a:p>
                  </a:txBody>
                  <a:tcPr marL="36576" marR="36576" marT="18288" marB="18288" anchor="ctr">
                    <a:solidFill>
                      <a:srgbClr val="E5E8EB"/>
                    </a:solidFill>
                  </a:tcPr>
                </a:tc>
                <a:tc>
                  <a:txBody>
                    <a:bodyPr/>
                    <a:lstStyle/>
                    <a:p>
                      <a:pPr algn="ctr"/>
                      <a:r>
                        <a:rPr sz="2000" b="0">
                          <a:solidFill>
                            <a:srgbClr val="142233"/>
                          </a:solidFill>
                          <a:latin typeface="League Spartan"/>
                        </a:rPr>
                        <a:t>28.1%</a:t>
                      </a:r>
                    </a:p>
                  </a:txBody>
                  <a:tcPr marL="36576" marR="36576" marT="18288" marB="18288" anchor="ctr">
                    <a:solidFill>
                      <a:srgbClr val="E5E8EB"/>
                    </a:solidFill>
                  </a:tcPr>
                </a:tc>
                <a:tc>
                  <a:txBody>
                    <a:bodyPr/>
                    <a:lstStyle/>
                    <a:p>
                      <a:pPr algn="ctr"/>
                      <a:r>
                        <a:rPr sz="2000" b="0" dirty="0">
                          <a:solidFill>
                            <a:srgbClr val="142233"/>
                          </a:solidFill>
                          <a:latin typeface="League Spartan"/>
                        </a:rPr>
                        <a:t>23.3%</a:t>
                      </a:r>
                    </a:p>
                  </a:txBody>
                  <a:tcPr marL="36576" marR="36576" marT="18288" marB="18288" anchor="ctr">
                    <a:solidFill>
                      <a:srgbClr val="E5E8EB"/>
                    </a:solidFill>
                  </a:tcPr>
                </a:tc>
                <a:tc>
                  <a:txBody>
                    <a:bodyPr/>
                    <a:lstStyle/>
                    <a:p>
                      <a:pPr algn="ctr"/>
                      <a:r>
                        <a:rPr sz="2000" b="0">
                          <a:solidFill>
                            <a:srgbClr val="142233"/>
                          </a:solidFill>
                          <a:latin typeface="League Spartan"/>
                        </a:rPr>
                        <a:t>19.5%</a:t>
                      </a:r>
                    </a:p>
                  </a:txBody>
                  <a:tcPr marL="36576" marR="36576" marT="18288" marB="18288" anchor="ctr">
                    <a:solidFill>
                      <a:srgbClr val="E5E8EB"/>
                    </a:solidFill>
                  </a:tcPr>
                </a:tc>
                <a:tc>
                  <a:txBody>
                    <a:bodyPr/>
                    <a:lstStyle/>
                    <a:p>
                      <a:pPr algn="ctr"/>
                      <a:r>
                        <a:rPr sz="2000" b="0" dirty="0">
                          <a:solidFill>
                            <a:srgbClr val="142233"/>
                          </a:solidFill>
                          <a:latin typeface="League Spartan"/>
                        </a:rPr>
                        <a:t>16.4%</a:t>
                      </a:r>
                    </a:p>
                  </a:txBody>
                  <a:tcPr marL="36576" marR="36576" marT="18288" marB="18288" anchor="ctr">
                    <a:solidFill>
                      <a:srgbClr val="E5E8EB"/>
                    </a:solidFill>
                  </a:tcPr>
                </a:tc>
                <a:tc>
                  <a:txBody>
                    <a:bodyPr/>
                    <a:lstStyle/>
                    <a:p>
                      <a:pPr algn="ctr"/>
                      <a:r>
                        <a:rPr sz="2000" b="0" dirty="0">
                          <a:solidFill>
                            <a:srgbClr val="142233"/>
                          </a:solidFill>
                          <a:latin typeface="League Spartan"/>
                        </a:rPr>
                        <a:t>13.8%</a:t>
                      </a:r>
                    </a:p>
                  </a:txBody>
                  <a:tcPr marL="36576" marR="36576" marT="18288" marB="18288" anchor="ctr">
                    <a:solidFill>
                      <a:srgbClr val="E5E8EB"/>
                    </a:solidFill>
                  </a:tcPr>
                </a:tc>
                <a:tc>
                  <a:txBody>
                    <a:bodyPr/>
                    <a:lstStyle/>
                    <a:p>
                      <a:pPr algn="ctr"/>
                      <a:r>
                        <a:rPr sz="2000" b="0">
                          <a:solidFill>
                            <a:srgbClr val="142233"/>
                          </a:solidFill>
                          <a:latin typeface="League Spartan"/>
                        </a:rPr>
                        <a:t>11.5%</a:t>
                      </a:r>
                    </a:p>
                  </a:txBody>
                  <a:tcPr marL="36576" marR="36576" marT="18288" marB="18288" anchor="ctr">
                    <a:solidFill>
                      <a:srgbClr val="E5E8EB"/>
                    </a:solidFill>
                  </a:tcPr>
                </a:tc>
                <a:tc>
                  <a:txBody>
                    <a:bodyPr/>
                    <a:lstStyle/>
                    <a:p>
                      <a:pPr algn="ctr"/>
                      <a:r>
                        <a:rPr sz="2000" b="0">
                          <a:solidFill>
                            <a:srgbClr val="142233"/>
                          </a:solidFill>
                          <a:latin typeface="League Spartan"/>
                        </a:rPr>
                        <a:t>9.6%</a:t>
                      </a:r>
                    </a:p>
                  </a:txBody>
                  <a:tcPr marL="36576" marR="36576" marT="18288" marB="18288" anchor="ctr">
                    <a:solidFill>
                      <a:srgbClr val="E5E8EB"/>
                    </a:solidFill>
                  </a:tcPr>
                </a:tc>
                <a:tc>
                  <a:txBody>
                    <a:bodyPr/>
                    <a:lstStyle/>
                    <a:p>
                      <a:pPr algn="ctr"/>
                      <a:r>
                        <a:rPr sz="2000" b="0">
                          <a:solidFill>
                            <a:srgbClr val="142233"/>
                          </a:solidFill>
                          <a:latin typeface="League Spartan"/>
                        </a:rPr>
                        <a:t>8.0%</a:t>
                      </a:r>
                    </a:p>
                  </a:txBody>
                  <a:tcPr marL="36576" marR="36576" marT="18288" marB="18288" anchor="ctr">
                    <a:solidFill>
                      <a:srgbClr val="E5E8EB"/>
                    </a:solidFill>
                  </a:tcPr>
                </a:tc>
                <a:extLst>
                  <a:ext uri="{0D108BD9-81ED-4DB2-BD59-A6C34878D82A}">
                    <a16:rowId xmlns:a16="http://schemas.microsoft.com/office/drawing/2014/main" val="10006"/>
                  </a:ext>
                </a:extLst>
              </a:tr>
              <a:tr h="566928">
                <a:tc>
                  <a:txBody>
                    <a:bodyPr/>
                    <a:lstStyle/>
                    <a:p>
                      <a:pPr algn="ctr"/>
                      <a:r>
                        <a:rPr sz="2000" b="1">
                          <a:solidFill>
                            <a:srgbClr val="FFFFFF"/>
                          </a:solidFill>
                          <a:latin typeface="League Spartan"/>
                        </a:rPr>
                        <a:t>20%</a:t>
                      </a:r>
                    </a:p>
                  </a:txBody>
                  <a:tcPr marL="36576" marR="36576" marT="18288" marB="18288" anchor="ctr">
                    <a:solidFill>
                      <a:srgbClr val="303B4F"/>
                    </a:solidFill>
                  </a:tcPr>
                </a:tc>
                <a:tc>
                  <a:txBody>
                    <a:bodyPr/>
                    <a:lstStyle/>
                    <a:p>
                      <a:pPr algn="ctr"/>
                      <a:r>
                        <a:rPr sz="2000" b="0">
                          <a:solidFill>
                            <a:srgbClr val="142233"/>
                          </a:solidFill>
                          <a:latin typeface="League Spartan"/>
                        </a:rPr>
                        <a:t>60.0%</a:t>
                      </a:r>
                    </a:p>
                  </a:txBody>
                  <a:tcPr marL="36576" marR="36576" marT="18288" marB="18288" anchor="ctr">
                    <a:solidFill>
                      <a:srgbClr val="FFFFFF"/>
                    </a:solidFill>
                  </a:tcPr>
                </a:tc>
                <a:tc>
                  <a:txBody>
                    <a:bodyPr/>
                    <a:lstStyle/>
                    <a:p>
                      <a:pPr algn="ctr"/>
                      <a:r>
                        <a:rPr sz="2000" b="0">
                          <a:solidFill>
                            <a:srgbClr val="142233"/>
                          </a:solidFill>
                          <a:latin typeface="League Spartan"/>
                        </a:rPr>
                        <a:t>48.6%</a:t>
                      </a:r>
                    </a:p>
                  </a:txBody>
                  <a:tcPr marL="36576" marR="36576" marT="18288" marB="18288" anchor="ctr">
                    <a:solidFill>
                      <a:srgbClr val="FFFFFF"/>
                    </a:solidFill>
                  </a:tcPr>
                </a:tc>
                <a:tc>
                  <a:txBody>
                    <a:bodyPr/>
                    <a:lstStyle/>
                    <a:p>
                      <a:pPr algn="ctr"/>
                      <a:r>
                        <a:rPr sz="2000" b="0">
                          <a:solidFill>
                            <a:srgbClr val="142233"/>
                          </a:solidFill>
                          <a:latin typeface="League Spartan"/>
                        </a:rPr>
                        <a:t>40.0%</a:t>
                      </a:r>
                    </a:p>
                  </a:txBody>
                  <a:tcPr marL="36576" marR="36576" marT="18288" marB="18288" anchor="ctr">
                    <a:solidFill>
                      <a:srgbClr val="FFFFFF"/>
                    </a:solidFill>
                  </a:tcPr>
                </a:tc>
                <a:tc>
                  <a:txBody>
                    <a:bodyPr/>
                    <a:lstStyle/>
                    <a:p>
                      <a:pPr algn="ctr"/>
                      <a:r>
                        <a:rPr sz="2000" b="0">
                          <a:solidFill>
                            <a:srgbClr val="142233"/>
                          </a:solidFill>
                          <a:latin typeface="League Spartan"/>
                        </a:rPr>
                        <a:t>33.3%</a:t>
                      </a:r>
                    </a:p>
                  </a:txBody>
                  <a:tcPr marL="36576" marR="36576" marT="18288" marB="18288" anchor="ctr">
                    <a:solidFill>
                      <a:srgbClr val="FFFFFF"/>
                    </a:solidFill>
                  </a:tcPr>
                </a:tc>
                <a:tc>
                  <a:txBody>
                    <a:bodyPr/>
                    <a:lstStyle/>
                    <a:p>
                      <a:pPr algn="ctr"/>
                      <a:r>
                        <a:rPr sz="2000" b="0">
                          <a:solidFill>
                            <a:srgbClr val="142233"/>
                          </a:solidFill>
                          <a:latin typeface="League Spartan"/>
                        </a:rPr>
                        <a:t>28.0%</a:t>
                      </a:r>
                    </a:p>
                  </a:txBody>
                  <a:tcPr marL="36576" marR="36576" marT="18288" marB="18288" anchor="ctr">
                    <a:solidFill>
                      <a:srgbClr val="FFFFFF"/>
                    </a:solidFill>
                  </a:tcPr>
                </a:tc>
                <a:tc>
                  <a:txBody>
                    <a:bodyPr/>
                    <a:lstStyle/>
                    <a:p>
                      <a:pPr algn="ctr"/>
                      <a:r>
                        <a:rPr sz="2000" b="0" dirty="0">
                          <a:solidFill>
                            <a:srgbClr val="142233"/>
                          </a:solidFill>
                          <a:latin typeface="League Spartan"/>
                        </a:rPr>
                        <a:t>23.6%</a:t>
                      </a:r>
                    </a:p>
                  </a:txBody>
                  <a:tcPr marL="36576" marR="36576" marT="18288" marB="18288" anchor="ctr">
                    <a:solidFill>
                      <a:srgbClr val="FFFFFF"/>
                    </a:solidFill>
                  </a:tcPr>
                </a:tc>
                <a:tc>
                  <a:txBody>
                    <a:bodyPr/>
                    <a:lstStyle/>
                    <a:p>
                      <a:pPr algn="ctr"/>
                      <a:r>
                        <a:rPr sz="2000" b="0" dirty="0">
                          <a:solidFill>
                            <a:srgbClr val="142233"/>
                          </a:solidFill>
                          <a:latin typeface="League Spartan"/>
                        </a:rPr>
                        <a:t>20.0%</a:t>
                      </a:r>
                    </a:p>
                  </a:txBody>
                  <a:tcPr marL="36576" marR="36576" marT="18288" marB="18288" anchor="ctr">
                    <a:solidFill>
                      <a:srgbClr val="FFFFFF"/>
                    </a:solidFill>
                  </a:tcPr>
                </a:tc>
                <a:tc>
                  <a:txBody>
                    <a:bodyPr/>
                    <a:lstStyle/>
                    <a:p>
                      <a:pPr algn="ctr"/>
                      <a:r>
                        <a:rPr sz="2000" b="0" dirty="0">
                          <a:solidFill>
                            <a:srgbClr val="142233"/>
                          </a:solidFill>
                          <a:latin typeface="League Spartan"/>
                        </a:rPr>
                        <a:t>16.9%</a:t>
                      </a:r>
                    </a:p>
                  </a:txBody>
                  <a:tcPr marL="36576" marR="36576" marT="18288" marB="18288" anchor="ctr">
                    <a:solidFill>
                      <a:srgbClr val="FFFFFF"/>
                    </a:solidFill>
                  </a:tcPr>
                </a:tc>
                <a:tc>
                  <a:txBody>
                    <a:bodyPr/>
                    <a:lstStyle/>
                    <a:p>
                      <a:pPr algn="ctr"/>
                      <a:r>
                        <a:rPr sz="2000" b="1" dirty="0">
                          <a:solidFill>
                            <a:srgbClr val="FFFFFF"/>
                          </a:solidFill>
                          <a:latin typeface="League Spartan"/>
                        </a:rPr>
                        <a:t>14.3%</a:t>
                      </a:r>
                    </a:p>
                  </a:txBody>
                  <a:tcPr marL="36576" marR="36576" marT="18288" marB="18288" anchor="ctr">
                    <a:solidFill>
                      <a:srgbClr val="FF7900"/>
                    </a:solidFill>
                  </a:tcPr>
                </a:tc>
                <a:tc>
                  <a:txBody>
                    <a:bodyPr/>
                    <a:lstStyle/>
                    <a:p>
                      <a:pPr algn="ctr"/>
                      <a:r>
                        <a:rPr sz="2000" b="0" dirty="0">
                          <a:solidFill>
                            <a:srgbClr val="142233"/>
                          </a:solidFill>
                          <a:latin typeface="League Spartan"/>
                        </a:rPr>
                        <a:t>12.0%</a:t>
                      </a:r>
                    </a:p>
                  </a:txBody>
                  <a:tcPr marL="36576" marR="36576" marT="18288" marB="18288" anchor="ctr">
                    <a:solidFill>
                      <a:srgbClr val="FFFFFF"/>
                    </a:solidFill>
                  </a:tcPr>
                </a:tc>
                <a:tc>
                  <a:txBody>
                    <a:bodyPr/>
                    <a:lstStyle/>
                    <a:p>
                      <a:pPr algn="ctr"/>
                      <a:r>
                        <a:rPr sz="2000" b="0" dirty="0">
                          <a:solidFill>
                            <a:srgbClr val="142233"/>
                          </a:solidFill>
                          <a:latin typeface="League Spartan"/>
                        </a:rPr>
                        <a:t>10.0%</a:t>
                      </a:r>
                    </a:p>
                  </a:txBody>
                  <a:tcPr marL="36576" marR="36576" marT="18288" marB="18288" anchor="ctr">
                    <a:solidFill>
                      <a:srgbClr val="FFFFFF"/>
                    </a:solidFill>
                  </a:tcPr>
                </a:tc>
                <a:extLst>
                  <a:ext uri="{0D108BD9-81ED-4DB2-BD59-A6C34878D82A}">
                    <a16:rowId xmlns:a16="http://schemas.microsoft.com/office/drawing/2014/main" val="10007"/>
                  </a:ext>
                </a:extLst>
              </a:tr>
              <a:tr h="566928">
                <a:tc>
                  <a:txBody>
                    <a:bodyPr/>
                    <a:lstStyle/>
                    <a:p>
                      <a:pPr algn="ctr"/>
                      <a:r>
                        <a:rPr sz="2000" b="1">
                          <a:solidFill>
                            <a:srgbClr val="FFFFFF"/>
                          </a:solidFill>
                          <a:latin typeface="League Spartan"/>
                        </a:rPr>
                        <a:t>25%</a:t>
                      </a:r>
                    </a:p>
                  </a:txBody>
                  <a:tcPr marL="36576" marR="36576" marT="18288" marB="18288" anchor="ctr">
                    <a:solidFill>
                      <a:srgbClr val="303B4F"/>
                    </a:solidFill>
                  </a:tcPr>
                </a:tc>
                <a:tc>
                  <a:txBody>
                    <a:bodyPr/>
                    <a:lstStyle/>
                    <a:p>
                      <a:pPr algn="ctr"/>
                      <a:r>
                        <a:rPr sz="2000" b="0">
                          <a:solidFill>
                            <a:srgbClr val="142233"/>
                          </a:solidFill>
                          <a:latin typeface="League Spartan"/>
                        </a:rPr>
                        <a:t>64.3%</a:t>
                      </a:r>
                    </a:p>
                  </a:txBody>
                  <a:tcPr marL="36576" marR="36576" marT="18288" marB="18288" anchor="ctr">
                    <a:solidFill>
                      <a:srgbClr val="E5E8EB"/>
                    </a:solidFill>
                  </a:tcPr>
                </a:tc>
                <a:tc>
                  <a:txBody>
                    <a:bodyPr/>
                    <a:lstStyle/>
                    <a:p>
                      <a:pPr algn="ctr"/>
                      <a:r>
                        <a:rPr sz="2000" b="0">
                          <a:solidFill>
                            <a:srgbClr val="142233"/>
                          </a:solidFill>
                          <a:latin typeface="League Spartan"/>
                        </a:rPr>
                        <a:t>53.1%</a:t>
                      </a:r>
                    </a:p>
                  </a:txBody>
                  <a:tcPr marL="36576" marR="36576" marT="18288" marB="18288" anchor="ctr">
                    <a:solidFill>
                      <a:srgbClr val="E5E8EB"/>
                    </a:solidFill>
                  </a:tcPr>
                </a:tc>
                <a:tc>
                  <a:txBody>
                    <a:bodyPr/>
                    <a:lstStyle/>
                    <a:p>
                      <a:pPr algn="ctr"/>
                      <a:r>
                        <a:rPr sz="2000" b="0">
                          <a:solidFill>
                            <a:srgbClr val="142233"/>
                          </a:solidFill>
                          <a:latin typeface="League Spartan"/>
                        </a:rPr>
                        <a:t>44.4%</a:t>
                      </a:r>
                    </a:p>
                  </a:txBody>
                  <a:tcPr marL="36576" marR="36576" marT="18288" marB="18288" anchor="ctr">
                    <a:solidFill>
                      <a:srgbClr val="E5E8EB"/>
                    </a:solidFill>
                  </a:tcPr>
                </a:tc>
                <a:tc>
                  <a:txBody>
                    <a:bodyPr/>
                    <a:lstStyle/>
                    <a:p>
                      <a:pPr algn="ctr"/>
                      <a:r>
                        <a:rPr sz="2000" b="0">
                          <a:solidFill>
                            <a:srgbClr val="142233"/>
                          </a:solidFill>
                          <a:latin typeface="League Spartan"/>
                        </a:rPr>
                        <a:t>37.5%</a:t>
                      </a:r>
                    </a:p>
                  </a:txBody>
                  <a:tcPr marL="36576" marR="36576" marT="18288" marB="18288" anchor="ctr">
                    <a:solidFill>
                      <a:srgbClr val="E5E8EB"/>
                    </a:solidFill>
                  </a:tcPr>
                </a:tc>
                <a:tc>
                  <a:txBody>
                    <a:bodyPr/>
                    <a:lstStyle/>
                    <a:p>
                      <a:pPr algn="ctr"/>
                      <a:r>
                        <a:rPr sz="2000" b="0">
                          <a:solidFill>
                            <a:srgbClr val="142233"/>
                          </a:solidFill>
                          <a:latin typeface="League Spartan"/>
                        </a:rPr>
                        <a:t>31.8%</a:t>
                      </a:r>
                    </a:p>
                  </a:txBody>
                  <a:tcPr marL="36576" marR="36576" marT="18288" marB="18288" anchor="ctr">
                    <a:solidFill>
                      <a:srgbClr val="E5E8EB"/>
                    </a:solidFill>
                  </a:tcPr>
                </a:tc>
                <a:tc>
                  <a:txBody>
                    <a:bodyPr/>
                    <a:lstStyle/>
                    <a:p>
                      <a:pPr algn="ctr"/>
                      <a:r>
                        <a:rPr sz="2000" b="0">
                          <a:solidFill>
                            <a:srgbClr val="142233"/>
                          </a:solidFill>
                          <a:latin typeface="League Spartan"/>
                        </a:rPr>
                        <a:t>27.1%</a:t>
                      </a:r>
                    </a:p>
                  </a:txBody>
                  <a:tcPr marL="36576" marR="36576" marT="18288" marB="18288" anchor="ctr">
                    <a:solidFill>
                      <a:srgbClr val="E5E8EB"/>
                    </a:solidFill>
                  </a:tcPr>
                </a:tc>
                <a:tc>
                  <a:txBody>
                    <a:bodyPr/>
                    <a:lstStyle/>
                    <a:p>
                      <a:pPr algn="ctr"/>
                      <a:r>
                        <a:rPr sz="2000" b="0">
                          <a:solidFill>
                            <a:srgbClr val="142233"/>
                          </a:solidFill>
                          <a:latin typeface="League Spartan"/>
                        </a:rPr>
                        <a:t>23.1%</a:t>
                      </a:r>
                    </a:p>
                  </a:txBody>
                  <a:tcPr marL="36576" marR="36576" marT="18288" marB="18288" anchor="ctr">
                    <a:solidFill>
                      <a:srgbClr val="E5E8EB"/>
                    </a:solidFill>
                  </a:tcPr>
                </a:tc>
                <a:tc>
                  <a:txBody>
                    <a:bodyPr/>
                    <a:lstStyle/>
                    <a:p>
                      <a:pPr algn="ctr"/>
                      <a:r>
                        <a:rPr sz="2000" b="0" dirty="0">
                          <a:solidFill>
                            <a:srgbClr val="142233"/>
                          </a:solidFill>
                          <a:latin typeface="League Spartan"/>
                        </a:rPr>
                        <a:t>19.6%</a:t>
                      </a:r>
                    </a:p>
                  </a:txBody>
                  <a:tcPr marL="36576" marR="36576" marT="18288" marB="18288" anchor="ctr">
                    <a:solidFill>
                      <a:srgbClr val="E5E8EB"/>
                    </a:solidFill>
                  </a:tcPr>
                </a:tc>
                <a:tc>
                  <a:txBody>
                    <a:bodyPr/>
                    <a:lstStyle/>
                    <a:p>
                      <a:pPr algn="ctr"/>
                      <a:r>
                        <a:rPr sz="2000" b="0" dirty="0">
                          <a:solidFill>
                            <a:srgbClr val="142233"/>
                          </a:solidFill>
                          <a:latin typeface="League Spartan"/>
                        </a:rPr>
                        <a:t>16.7%</a:t>
                      </a:r>
                    </a:p>
                  </a:txBody>
                  <a:tcPr marL="36576" marR="36576" marT="18288" marB="18288" anchor="ctr">
                    <a:solidFill>
                      <a:srgbClr val="E5E8EB"/>
                    </a:solidFill>
                  </a:tcPr>
                </a:tc>
                <a:tc>
                  <a:txBody>
                    <a:bodyPr/>
                    <a:lstStyle/>
                    <a:p>
                      <a:pPr algn="ctr"/>
                      <a:r>
                        <a:rPr sz="2000" b="0" dirty="0">
                          <a:solidFill>
                            <a:srgbClr val="142233"/>
                          </a:solidFill>
                          <a:latin typeface="League Spartan"/>
                        </a:rPr>
                        <a:t>14.1%</a:t>
                      </a:r>
                    </a:p>
                  </a:txBody>
                  <a:tcPr marL="36576" marR="36576" marT="18288" marB="18288" anchor="ctr">
                    <a:solidFill>
                      <a:srgbClr val="E5E8EB"/>
                    </a:solidFill>
                  </a:tcPr>
                </a:tc>
                <a:tc>
                  <a:txBody>
                    <a:bodyPr/>
                    <a:lstStyle/>
                    <a:p>
                      <a:pPr algn="ctr"/>
                      <a:r>
                        <a:rPr sz="2000" b="0" dirty="0">
                          <a:solidFill>
                            <a:srgbClr val="142233"/>
                          </a:solidFill>
                          <a:latin typeface="League Spartan"/>
                        </a:rPr>
                        <a:t>11.8%</a:t>
                      </a:r>
                    </a:p>
                  </a:txBody>
                  <a:tcPr marL="36576" marR="36576" marT="18288" marB="18288" anchor="ctr">
                    <a:solidFill>
                      <a:srgbClr val="E5E8EB"/>
                    </a:solidFill>
                  </a:tcPr>
                </a:tc>
                <a:extLst>
                  <a:ext uri="{0D108BD9-81ED-4DB2-BD59-A6C34878D82A}">
                    <a16:rowId xmlns:a16="http://schemas.microsoft.com/office/drawing/2014/main" val="10008"/>
                  </a:ext>
                </a:extLst>
              </a:tr>
              <a:tr h="566928">
                <a:tc>
                  <a:txBody>
                    <a:bodyPr/>
                    <a:lstStyle/>
                    <a:p>
                      <a:pPr algn="ctr"/>
                      <a:r>
                        <a:rPr sz="2000" b="1" dirty="0">
                          <a:solidFill>
                            <a:srgbClr val="FFFFFF"/>
                          </a:solidFill>
                          <a:latin typeface="League Spartan"/>
                        </a:rPr>
                        <a:t>30%</a:t>
                      </a:r>
                    </a:p>
                  </a:txBody>
                  <a:tcPr marL="36576" marR="36576" marT="18288" marB="18288" anchor="ctr">
                    <a:solidFill>
                      <a:srgbClr val="303B4F"/>
                    </a:solidFill>
                  </a:tcPr>
                </a:tc>
                <a:tc>
                  <a:txBody>
                    <a:bodyPr/>
                    <a:lstStyle/>
                    <a:p>
                      <a:pPr algn="ctr"/>
                      <a:r>
                        <a:rPr sz="2000" b="0">
                          <a:solidFill>
                            <a:srgbClr val="142233"/>
                          </a:solidFill>
                          <a:latin typeface="League Spartan"/>
                        </a:rPr>
                        <a:t>67.5%</a:t>
                      </a:r>
                    </a:p>
                  </a:txBody>
                  <a:tcPr marL="36576" marR="36576" marT="18288" marB="18288" anchor="ctr">
                    <a:solidFill>
                      <a:srgbClr val="FFFFFF"/>
                    </a:solidFill>
                  </a:tcPr>
                </a:tc>
                <a:tc>
                  <a:txBody>
                    <a:bodyPr/>
                    <a:lstStyle/>
                    <a:p>
                      <a:pPr algn="ctr"/>
                      <a:r>
                        <a:rPr sz="2000" b="0">
                          <a:solidFill>
                            <a:srgbClr val="142233"/>
                          </a:solidFill>
                          <a:latin typeface="League Spartan"/>
                        </a:rPr>
                        <a:t>56.7%</a:t>
                      </a:r>
                    </a:p>
                  </a:txBody>
                  <a:tcPr marL="36576" marR="36576" marT="18288" marB="18288" anchor="ctr">
                    <a:solidFill>
                      <a:srgbClr val="FFFFFF"/>
                    </a:solidFill>
                  </a:tcPr>
                </a:tc>
                <a:tc>
                  <a:txBody>
                    <a:bodyPr/>
                    <a:lstStyle/>
                    <a:p>
                      <a:pPr algn="ctr"/>
                      <a:r>
                        <a:rPr sz="2000" b="0">
                          <a:solidFill>
                            <a:srgbClr val="142233"/>
                          </a:solidFill>
                          <a:latin typeface="League Spartan"/>
                        </a:rPr>
                        <a:t>48.0%</a:t>
                      </a:r>
                    </a:p>
                  </a:txBody>
                  <a:tcPr marL="36576" marR="36576" marT="18288" marB="18288" anchor="ctr">
                    <a:solidFill>
                      <a:srgbClr val="FFFFFF"/>
                    </a:solidFill>
                  </a:tcPr>
                </a:tc>
                <a:tc>
                  <a:txBody>
                    <a:bodyPr/>
                    <a:lstStyle/>
                    <a:p>
                      <a:pPr algn="ctr"/>
                      <a:r>
                        <a:rPr sz="2000" b="0">
                          <a:solidFill>
                            <a:srgbClr val="142233"/>
                          </a:solidFill>
                          <a:latin typeface="League Spartan"/>
                        </a:rPr>
                        <a:t>40.9%</a:t>
                      </a:r>
                    </a:p>
                  </a:txBody>
                  <a:tcPr marL="36576" marR="36576" marT="18288" marB="18288" anchor="ctr">
                    <a:solidFill>
                      <a:srgbClr val="FFFFFF"/>
                    </a:solidFill>
                  </a:tcPr>
                </a:tc>
                <a:tc>
                  <a:txBody>
                    <a:bodyPr/>
                    <a:lstStyle/>
                    <a:p>
                      <a:pPr algn="ctr"/>
                      <a:r>
                        <a:rPr sz="2000" b="0">
                          <a:solidFill>
                            <a:srgbClr val="142233"/>
                          </a:solidFill>
                          <a:latin typeface="League Spartan"/>
                        </a:rPr>
                        <a:t>35.0%</a:t>
                      </a:r>
                    </a:p>
                  </a:txBody>
                  <a:tcPr marL="36576" marR="36576" marT="18288" marB="18288" anchor="ctr">
                    <a:solidFill>
                      <a:srgbClr val="FFFFFF"/>
                    </a:solidFill>
                  </a:tcPr>
                </a:tc>
                <a:tc>
                  <a:txBody>
                    <a:bodyPr/>
                    <a:lstStyle/>
                    <a:p>
                      <a:pPr algn="ctr"/>
                      <a:r>
                        <a:rPr sz="2000" b="0">
                          <a:solidFill>
                            <a:srgbClr val="142233"/>
                          </a:solidFill>
                          <a:latin typeface="League Spartan"/>
                        </a:rPr>
                        <a:t>30.0%</a:t>
                      </a:r>
                    </a:p>
                  </a:txBody>
                  <a:tcPr marL="36576" marR="36576" marT="18288" marB="18288" anchor="ctr">
                    <a:solidFill>
                      <a:srgbClr val="FFFFFF"/>
                    </a:solidFill>
                  </a:tcPr>
                </a:tc>
                <a:tc>
                  <a:txBody>
                    <a:bodyPr/>
                    <a:lstStyle/>
                    <a:p>
                      <a:pPr algn="ctr"/>
                      <a:r>
                        <a:rPr sz="2000" b="0">
                          <a:solidFill>
                            <a:srgbClr val="142233"/>
                          </a:solidFill>
                          <a:latin typeface="League Spartan"/>
                        </a:rPr>
                        <a:t>25.7%</a:t>
                      </a:r>
                    </a:p>
                  </a:txBody>
                  <a:tcPr marL="36576" marR="36576" marT="18288" marB="18288" anchor="ctr">
                    <a:solidFill>
                      <a:srgbClr val="FFFFFF"/>
                    </a:solidFill>
                  </a:tcPr>
                </a:tc>
                <a:tc>
                  <a:txBody>
                    <a:bodyPr/>
                    <a:lstStyle/>
                    <a:p>
                      <a:pPr algn="ctr"/>
                      <a:r>
                        <a:rPr sz="2000" b="0">
                          <a:solidFill>
                            <a:srgbClr val="142233"/>
                          </a:solidFill>
                          <a:latin typeface="League Spartan"/>
                        </a:rPr>
                        <a:t>22.0%</a:t>
                      </a:r>
                    </a:p>
                  </a:txBody>
                  <a:tcPr marL="36576" marR="36576" marT="18288" marB="18288" anchor="ctr">
                    <a:solidFill>
                      <a:srgbClr val="FFFFFF"/>
                    </a:solidFill>
                  </a:tcPr>
                </a:tc>
                <a:tc>
                  <a:txBody>
                    <a:bodyPr/>
                    <a:lstStyle/>
                    <a:p>
                      <a:pPr algn="ctr"/>
                      <a:r>
                        <a:rPr sz="2000" b="0">
                          <a:solidFill>
                            <a:srgbClr val="142233"/>
                          </a:solidFill>
                          <a:latin typeface="League Spartan"/>
                        </a:rPr>
                        <a:t>18.8%</a:t>
                      </a:r>
                    </a:p>
                  </a:txBody>
                  <a:tcPr marL="36576" marR="36576" marT="18288" marB="18288" anchor="ctr">
                    <a:solidFill>
                      <a:srgbClr val="FFFFFF"/>
                    </a:solidFill>
                  </a:tcPr>
                </a:tc>
                <a:tc>
                  <a:txBody>
                    <a:bodyPr/>
                    <a:lstStyle/>
                    <a:p>
                      <a:pPr algn="ctr"/>
                      <a:r>
                        <a:rPr sz="2000" b="0" dirty="0">
                          <a:solidFill>
                            <a:srgbClr val="142233"/>
                          </a:solidFill>
                          <a:latin typeface="League Spartan"/>
                        </a:rPr>
                        <a:t>15.9%</a:t>
                      </a:r>
                    </a:p>
                  </a:txBody>
                  <a:tcPr marL="36576" marR="36576" marT="18288" marB="18288" anchor="ctr">
                    <a:solidFill>
                      <a:srgbClr val="FFFFFF"/>
                    </a:solidFill>
                  </a:tcPr>
                </a:tc>
                <a:tc>
                  <a:txBody>
                    <a:bodyPr/>
                    <a:lstStyle/>
                    <a:p>
                      <a:pPr algn="ctr"/>
                      <a:r>
                        <a:rPr sz="2000" b="0" dirty="0">
                          <a:solidFill>
                            <a:srgbClr val="142233"/>
                          </a:solidFill>
                          <a:latin typeface="League Spartan"/>
                        </a:rPr>
                        <a:t>13.3%</a:t>
                      </a:r>
                    </a:p>
                  </a:txBody>
                  <a:tcPr marL="36576" marR="36576" marT="18288" marB="18288" anchor="ctr">
                    <a:solidFill>
                      <a:srgbClr val="FFFFFF"/>
                    </a:solidFill>
                  </a:tcPr>
                </a:tc>
                <a:extLst>
                  <a:ext uri="{0D108BD9-81ED-4DB2-BD59-A6C34878D82A}">
                    <a16:rowId xmlns:a16="http://schemas.microsoft.com/office/drawing/2014/main" val="10009"/>
                  </a:ext>
                </a:extLst>
              </a:tr>
            </a:tbl>
          </a:graphicData>
        </a:graphic>
      </p:graphicFrame>
      <p:grpSp>
        <p:nvGrpSpPr>
          <p:cNvPr id="24" name="Group 23">
            <a:extLst>
              <a:ext uri="{FF2B5EF4-FFF2-40B4-BE49-F238E27FC236}">
                <a16:creationId xmlns:a16="http://schemas.microsoft.com/office/drawing/2014/main" id="{7D725E41-8C2E-B5A1-7DA8-B717A9EC5E7E}"/>
              </a:ext>
            </a:extLst>
          </p:cNvPr>
          <p:cNvGrpSpPr/>
          <p:nvPr/>
        </p:nvGrpSpPr>
        <p:grpSpPr>
          <a:xfrm>
            <a:off x="3200400" y="8458200"/>
            <a:ext cx="11887200" cy="914400"/>
            <a:chOff x="3200400" y="8458200"/>
            <a:chExt cx="11887200" cy="914400"/>
          </a:xfrm>
        </p:grpSpPr>
        <p:sp>
          <p:nvSpPr>
            <p:cNvPr id="10" name="Rectangle 9"/>
            <p:cNvSpPr/>
            <p:nvPr/>
          </p:nvSpPr>
          <p:spPr>
            <a:xfrm>
              <a:off x="3200400" y="8458200"/>
              <a:ext cx="11887200" cy="914400"/>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8458200"/>
              <a:ext cx="11521440" cy="914400"/>
            </a:xfrm>
            <a:prstGeom prst="rect">
              <a:avLst/>
            </a:prstGeom>
            <a:noFill/>
          </p:spPr>
          <p:txBody>
            <a:bodyPr wrap="square" lIns="45720" tIns="0" rIns="45720" bIns="0" anchor="ctr">
              <a:spAutoFit/>
            </a:bodyPr>
            <a:lstStyle/>
            <a:p>
              <a:pPr algn="ctr">
                <a:lnSpc>
                  <a:spcPct val="115000"/>
                </a:lnSpc>
              </a:pPr>
              <a:r>
                <a:rPr sz="2000" b="1" i="0" dirty="0">
                  <a:solidFill>
                    <a:srgbClr val="142233"/>
                  </a:solidFill>
                  <a:latin typeface="League Spartan"/>
                </a:rPr>
                <a:t>Find your margin. Find your price move. That's your cushion.</a:t>
              </a:r>
            </a:p>
            <a:p>
              <a:pPr algn="ctr">
                <a:lnSpc>
                  <a:spcPct val="115000"/>
                </a:lnSpc>
              </a:pPr>
              <a:r>
                <a:rPr sz="1800" b="0" i="1" dirty="0">
                  <a:solidFill>
                    <a:srgbClr val="303B4F"/>
                  </a:solidFill>
                  <a:latin typeface="League Spartan"/>
                </a:rPr>
                <a:t>High-margin businesses can absorb more volume loss — and even small increases at modest margins create real room.</a:t>
              </a:r>
            </a:p>
          </p:txBody>
        </p:sp>
      </p:grpSp>
      <p:grpSp>
        <p:nvGrpSpPr>
          <p:cNvPr id="23" name="Group 22">
            <a:extLst>
              <a:ext uri="{FF2B5EF4-FFF2-40B4-BE49-F238E27FC236}">
                <a16:creationId xmlns:a16="http://schemas.microsoft.com/office/drawing/2014/main" id="{1AB7BCD0-6F8E-CBEB-1D00-588C8142D006}"/>
              </a:ext>
            </a:extLst>
          </p:cNvPr>
          <p:cNvGrpSpPr/>
          <p:nvPr/>
        </p:nvGrpSpPr>
        <p:grpSpPr>
          <a:xfrm>
            <a:off x="13990320" y="2058900"/>
            <a:ext cx="3337560" cy="6080760"/>
            <a:chOff x="13990320" y="2058900"/>
            <a:chExt cx="3337560" cy="6080760"/>
          </a:xfrm>
        </p:grpSpPr>
        <p:sp>
          <p:nvSpPr>
            <p:cNvPr id="12" name="Rounded Rectangle 11"/>
            <p:cNvSpPr/>
            <p:nvPr/>
          </p:nvSpPr>
          <p:spPr>
            <a:xfrm>
              <a:off x="13990320" y="2058900"/>
              <a:ext cx="3337560" cy="6080760"/>
            </a:xfrm>
            <a:prstGeom prst="roundRect">
              <a:avLst>
                <a:gd name="adj" fmla="val 4493"/>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64640" y="2333220"/>
              <a:ext cx="2788920" cy="320040"/>
            </a:xfrm>
            <a:prstGeom prst="rect">
              <a:avLst/>
            </a:prstGeom>
            <a:noFill/>
          </p:spPr>
          <p:txBody>
            <a:bodyPr wrap="square" lIns="45720" tIns="0" rIns="45720" bIns="0" anchor="t">
              <a:spAutoFit/>
            </a:bodyPr>
            <a:lstStyle/>
            <a:p>
              <a:pPr algn="l"/>
              <a:r>
                <a:rPr sz="1400" b="1" i="0">
                  <a:solidFill>
                    <a:srgbClr val="FF7900"/>
                  </a:solidFill>
                  <a:latin typeface="League Spartan"/>
                </a:rPr>
                <a:t>WORKED EXAMPLE</a:t>
              </a:r>
            </a:p>
          </p:txBody>
        </p:sp>
        <p:sp>
          <p:nvSpPr>
            <p:cNvPr id="14" name="TextBox 13"/>
            <p:cNvSpPr txBox="1"/>
            <p:nvPr/>
          </p:nvSpPr>
          <p:spPr>
            <a:xfrm>
              <a:off x="14264640" y="2790420"/>
              <a:ext cx="2788920" cy="1554480"/>
            </a:xfrm>
            <a:prstGeom prst="rect">
              <a:avLst/>
            </a:prstGeom>
            <a:noFill/>
          </p:spPr>
          <p:txBody>
            <a:bodyPr wrap="square" lIns="45720" tIns="0" rIns="45720" bIns="0" anchor="t">
              <a:spAutoFit/>
            </a:bodyPr>
            <a:lstStyle/>
            <a:p>
              <a:pPr algn="l">
                <a:lnSpc>
                  <a:spcPct val="125000"/>
                </a:lnSpc>
              </a:pPr>
              <a:r>
                <a:rPr sz="2400" b="1" i="0">
                  <a:solidFill>
                    <a:srgbClr val="FFFFFF"/>
                  </a:solidFill>
                  <a:latin typeface="League Spartan"/>
                </a:rPr>
                <a:t>$10M revenue</a:t>
              </a:r>
            </a:p>
            <a:p>
              <a:pPr algn="l">
                <a:lnSpc>
                  <a:spcPct val="125000"/>
                </a:lnSpc>
              </a:pPr>
              <a:r>
                <a:rPr sz="2400" b="1" i="0">
                  <a:solidFill>
                    <a:srgbClr val="FFFFFF"/>
                  </a:solidFill>
                  <a:latin typeface="League Spartan"/>
                </a:rPr>
                <a:t>50% gross margin</a:t>
              </a:r>
            </a:p>
            <a:p>
              <a:pPr algn="l">
                <a:lnSpc>
                  <a:spcPct val="125000"/>
                </a:lnSpc>
              </a:pPr>
              <a:r>
                <a:rPr sz="2400" b="1" i="0">
                  <a:solidFill>
                    <a:srgbClr val="FFFFFF"/>
                  </a:solidFill>
                  <a:latin typeface="League Spartan"/>
                </a:rPr>
                <a:t>+20% price</a:t>
              </a:r>
            </a:p>
          </p:txBody>
        </p:sp>
        <p:sp>
          <p:nvSpPr>
            <p:cNvPr id="15" name="TextBox 14"/>
            <p:cNvSpPr txBox="1"/>
            <p:nvPr/>
          </p:nvSpPr>
          <p:spPr>
            <a:xfrm>
              <a:off x="14264640" y="4344900"/>
              <a:ext cx="2788920" cy="914400"/>
            </a:xfrm>
            <a:prstGeom prst="rect">
              <a:avLst/>
            </a:prstGeom>
            <a:noFill/>
          </p:spPr>
          <p:txBody>
            <a:bodyPr wrap="square" lIns="45720" tIns="0" rIns="45720" bIns="0" anchor="ctr">
              <a:spAutoFit/>
            </a:bodyPr>
            <a:lstStyle/>
            <a:p>
              <a:pPr algn="l"/>
              <a:r>
                <a:rPr sz="6000" b="1" i="0">
                  <a:solidFill>
                    <a:srgbClr val="FF7900"/>
                  </a:solidFill>
                  <a:latin typeface="League Spartan"/>
                </a:rPr>
                <a:t>14.3%</a:t>
              </a:r>
            </a:p>
          </p:txBody>
        </p:sp>
        <p:sp>
          <p:nvSpPr>
            <p:cNvPr id="16" name="TextBox 15"/>
            <p:cNvSpPr txBox="1"/>
            <p:nvPr/>
          </p:nvSpPr>
          <p:spPr>
            <a:xfrm>
              <a:off x="14264640" y="5442180"/>
              <a:ext cx="2788920" cy="1737360"/>
            </a:xfrm>
            <a:prstGeom prst="rect">
              <a:avLst/>
            </a:prstGeom>
            <a:noFill/>
          </p:spPr>
          <p:txBody>
            <a:bodyPr wrap="square" lIns="45720" tIns="0" rIns="45720" bIns="0" anchor="t">
              <a:spAutoFit/>
            </a:bodyPr>
            <a:lstStyle/>
            <a:p>
              <a:pPr algn="l">
                <a:lnSpc>
                  <a:spcPct val="115000"/>
                </a:lnSpc>
              </a:pPr>
              <a:r>
                <a:rPr sz="2000" b="0" i="0">
                  <a:solidFill>
                    <a:srgbClr val="E5E8EB"/>
                  </a:solidFill>
                  <a:latin typeface="League Spartan"/>
                </a:rPr>
                <a:t>of your volume you could lose — and still keep the same $5M of gross profit.</a:t>
              </a:r>
            </a:p>
          </p:txBody>
        </p:sp>
        <p:sp>
          <p:nvSpPr>
            <p:cNvPr id="17" name="TextBox 16"/>
            <p:cNvSpPr txBox="1"/>
            <p:nvPr/>
          </p:nvSpPr>
          <p:spPr>
            <a:xfrm>
              <a:off x="14264640" y="7088100"/>
              <a:ext cx="2788920" cy="822960"/>
            </a:xfrm>
            <a:prstGeom prst="rect">
              <a:avLst/>
            </a:prstGeom>
            <a:noFill/>
          </p:spPr>
          <p:txBody>
            <a:bodyPr wrap="square" lIns="45720" tIns="0" rIns="45720" bIns="0" anchor="t">
              <a:spAutoFit/>
            </a:bodyPr>
            <a:lstStyle/>
            <a:p>
              <a:pPr algn="l">
                <a:lnSpc>
                  <a:spcPct val="115000"/>
                </a:lnSpc>
              </a:pPr>
              <a:r>
                <a:rPr sz="1400" b="0" i="1">
                  <a:solidFill>
                    <a:srgbClr val="A5AAAF"/>
                  </a:solidFill>
                  <a:latin typeface="League Spartan"/>
                </a:rPr>
                <a:t>→ the orange cell. Most price increases lose far less than that.</a:t>
              </a:r>
            </a:p>
          </p:txBody>
        </p:sp>
      </p:grpSp>
      <p:grpSp>
        <p:nvGrpSpPr>
          <p:cNvPr id="4" name="Group 3">
            <a:extLst>
              <a:ext uri="{FF2B5EF4-FFF2-40B4-BE49-F238E27FC236}">
                <a16:creationId xmlns:a16="http://schemas.microsoft.com/office/drawing/2014/main" id="{F4A99769-CC54-0B39-A52F-453BA3215537}"/>
              </a:ext>
            </a:extLst>
          </p:cNvPr>
          <p:cNvGrpSpPr/>
          <p:nvPr/>
        </p:nvGrpSpPr>
        <p:grpSpPr>
          <a:xfrm>
            <a:off x="950976" y="274320"/>
            <a:ext cx="18022836" cy="1609665"/>
            <a:chOff x="950976" y="274320"/>
            <a:chExt cx="18022836" cy="1609665"/>
          </a:xfrm>
        </p:grpSpPr>
        <p:sp>
          <p:nvSpPr>
            <p:cNvPr id="2" name="Text 0"/>
            <p:cNvSpPr/>
            <p:nvPr/>
          </p:nvSpPr>
          <p:spPr>
            <a:xfrm>
              <a:off x="952453" y="585216"/>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Table A — Price Increase</a:t>
              </a:r>
              <a:endParaRPr lang="en-US" sz="4800" dirty="0">
                <a:latin typeface="League Spartan" pitchFamily="2" charset="77"/>
              </a:endParaRPr>
            </a:p>
          </p:txBody>
        </p:sp>
        <p:sp>
          <p:nvSpPr>
            <p:cNvPr id="6" name="TextBox 5"/>
            <p:cNvSpPr txBox="1"/>
            <p:nvPr/>
          </p:nvSpPr>
          <p:spPr>
            <a:xfrm>
              <a:off x="950976" y="1300805"/>
              <a:ext cx="12710160" cy="307777"/>
            </a:xfrm>
            <a:prstGeom prst="rect">
              <a:avLst/>
            </a:prstGeom>
            <a:noFill/>
          </p:spPr>
          <p:txBody>
            <a:bodyPr wrap="square" lIns="45720" tIns="0" rIns="45720" bIns="0" anchor="t">
              <a:spAutoFit/>
            </a:bodyPr>
            <a:lstStyle/>
            <a:p>
              <a:pPr algn="l"/>
              <a:r>
                <a:rPr sz="2000" b="0" i="1" dirty="0">
                  <a:solidFill>
                    <a:srgbClr val="303B4F"/>
                  </a:solidFill>
                  <a:latin typeface="League Spartan"/>
                </a:rPr>
                <a:t>Percentage drop in sales you can sustain and still keep the same gross profit dollars after a price increase.</a:t>
              </a:r>
            </a:p>
          </p:txBody>
        </p:sp>
        <p:pic>
          <p:nvPicPr>
            <p:cNvPr id="18" name="Picture 17" descr="image.png"/>
            <p:cNvPicPr>
              <a:picLocks noChangeAspect="1"/>
            </p:cNvPicPr>
            <p:nvPr/>
          </p:nvPicPr>
          <p:blipFill>
            <a:blip r:embed="rId3"/>
            <a:stretch>
              <a:fillRect/>
            </a:stretch>
          </p:blipFill>
          <p:spPr>
            <a:xfrm>
              <a:off x="16276320" y="274320"/>
              <a:ext cx="1005840" cy="1609665"/>
            </a:xfrm>
            <a:prstGeom prst="rect">
              <a:avLst/>
            </a:prstGeom>
            <a:ln w="6350">
              <a:solidFill>
                <a:srgbClr val="142233"/>
              </a:solidFill>
            </a:ln>
          </p:spPr>
        </p:pic>
        <p:sp>
          <p:nvSpPr>
            <p:cNvPr id="19" name="Rounded Rectangle 18"/>
            <p:cNvSpPr/>
            <p:nvPr/>
          </p:nvSpPr>
          <p:spPr>
            <a:xfrm>
              <a:off x="16166592" y="1335345"/>
              <a:ext cx="1225296" cy="329184"/>
            </a:xfrm>
            <a:prstGeom prst="roundRect">
              <a:avLst>
                <a:gd name="adj" fmla="val 50000"/>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eague Spartan"/>
                </a:rPr>
                <a:t>P. 62</a:t>
              </a:r>
            </a:p>
          </p:txBody>
        </p:sp>
      </p:grpSp>
      <p:pic>
        <p:nvPicPr>
          <p:cNvPr id="21" name="Picture 20"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9" presetClass="entr" presetSubtype="0" fill="hold" nodeType="afterEffect">
                                  <p:stCondLst>
                                    <p:cond delay="100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1000"/>
                                        <p:tgtEl>
                                          <p:spTgt spid="9"/>
                                        </p:tgtEl>
                                      </p:cBhvr>
                                    </p:animEffect>
                                  </p:childTnLst>
                                </p:cTn>
                              </p:par>
                            </p:childTnLst>
                          </p:cTn>
                        </p:par>
                        <p:par>
                          <p:cTn id="11" fill="hold">
                            <p:stCondLst>
                              <p:cond delay="3000"/>
                            </p:stCondLst>
                            <p:childTnLst>
                              <p:par>
                                <p:cTn id="12" presetID="1" presetClass="entr" presetSubtype="0" fill="hold" nodeType="afterEffect">
                                  <p:stCondLst>
                                    <p:cond delay="1000"/>
                                  </p:stCondLst>
                                  <p:childTnLst>
                                    <p:set>
                                      <p:cBhvr>
                                        <p:cTn id="13" dur="1" fill="hold">
                                          <p:stCondLst>
                                            <p:cond delay="0"/>
                                          </p:stCondLst>
                                        </p:cTn>
                                        <p:tgtEl>
                                          <p:spTgt spid="22"/>
                                        </p:tgtEl>
                                        <p:attrNameLst>
                                          <p:attrName>style.visibility</p:attrName>
                                        </p:attrNameLst>
                                      </p:cBhvr>
                                      <p:to>
                                        <p:strVal val="visible"/>
                                      </p:to>
                                    </p:set>
                                  </p:childTnLst>
                                </p:cTn>
                              </p:par>
                            </p:childTnLst>
                          </p:cTn>
                        </p:par>
                        <p:par>
                          <p:cTn id="14" fill="hold">
                            <p:stCondLst>
                              <p:cond delay="4000"/>
                            </p:stCondLst>
                            <p:childTnLst>
                              <p:par>
                                <p:cTn id="15" presetID="5" presetClass="entr" presetSubtype="5" fill="hold" nodeType="afterEffect">
                                  <p:stCondLst>
                                    <p:cond delay="2000"/>
                                  </p:stCondLst>
                                  <p:childTnLst>
                                    <p:set>
                                      <p:cBhvr>
                                        <p:cTn id="16" dur="1" fill="hold">
                                          <p:stCondLst>
                                            <p:cond delay="0"/>
                                          </p:stCondLst>
                                        </p:cTn>
                                        <p:tgtEl>
                                          <p:spTgt spid="23"/>
                                        </p:tgtEl>
                                        <p:attrNameLst>
                                          <p:attrName>style.visibility</p:attrName>
                                        </p:attrNameLst>
                                      </p:cBhvr>
                                      <p:to>
                                        <p:strVal val="visible"/>
                                      </p:to>
                                    </p:set>
                                    <p:animEffect transition="in" filter="checkerboard(down)">
                                      <p:cBhvr>
                                        <p:cTn id="17" dur="1000"/>
                                        <p:tgtEl>
                                          <p:spTgt spid="23"/>
                                        </p:tgtEl>
                                      </p:cBhvr>
                                    </p:animEffect>
                                  </p:childTnLst>
                                </p:cTn>
                              </p:par>
                            </p:childTnLst>
                          </p:cTn>
                        </p:par>
                        <p:par>
                          <p:cTn id="18" fill="hold">
                            <p:stCondLst>
                              <p:cond delay="7000"/>
                            </p:stCondLst>
                            <p:childTnLst>
                              <p:par>
                                <p:cTn id="19" presetID="3" presetClass="entr" presetSubtype="10" fill="hold" nodeType="afterEffect">
                                  <p:stCondLst>
                                    <p:cond delay="2000"/>
                                  </p:stCondLst>
                                  <p:childTnLst>
                                    <p:set>
                                      <p:cBhvr>
                                        <p:cTn id="20" dur="1" fill="hold">
                                          <p:stCondLst>
                                            <p:cond delay="0"/>
                                          </p:stCondLst>
                                        </p:cTn>
                                        <p:tgtEl>
                                          <p:spTgt spid="24"/>
                                        </p:tgtEl>
                                        <p:attrNameLst>
                                          <p:attrName>style.visibility</p:attrName>
                                        </p:attrNameLst>
                                      </p:cBhvr>
                                      <p:to>
                                        <p:strVal val="visible"/>
                                      </p:to>
                                    </p:set>
                                    <p:animEffect transition="in" filter="blinds(horizontal)">
                                      <p:cBhvr>
                                        <p:cTn id="21"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4"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Why We Resort to Discount</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7558042" y="2884307"/>
            <a:ext cx="10058400" cy="4042898"/>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“They'll say no if we don't give a deal.”</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“This client expects a discount.”</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“We'll lose the sale if we don't budge.”</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“Something is better than nothing.”</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“It's just this once…”</a:t>
            </a:r>
          </a:p>
        </p:txBody>
      </p:sp>
      <p:grpSp>
        <p:nvGrpSpPr>
          <p:cNvPr id="5" name="Group 4">
            <a:extLst>
              <a:ext uri="{FF2B5EF4-FFF2-40B4-BE49-F238E27FC236}">
                <a16:creationId xmlns:a16="http://schemas.microsoft.com/office/drawing/2014/main" id="{ACD5C166-EBB4-BC61-26B2-CBEC764A6F6E}"/>
              </a:ext>
            </a:extLst>
          </p:cNvPr>
          <p:cNvGrpSpPr/>
          <p:nvPr/>
        </p:nvGrpSpPr>
        <p:grpSpPr>
          <a:xfrm>
            <a:off x="2011680" y="8167091"/>
            <a:ext cx="14264640" cy="1252728"/>
            <a:chOff x="2011680" y="8257031"/>
            <a:chExt cx="14264640" cy="1252728"/>
          </a:xfrm>
        </p:grpSpPr>
        <p:sp>
          <p:nvSpPr>
            <p:cNvPr id="18" name="Rectangle 17"/>
            <p:cNvSpPr/>
            <p:nvPr/>
          </p:nvSpPr>
          <p:spPr>
            <a:xfrm>
              <a:off x="2011680" y="8257031"/>
              <a:ext cx="14264640" cy="12527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94560" y="8257031"/>
              <a:ext cx="13898880" cy="12527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Discounts feel like control — but often give it away.</a:t>
              </a:r>
            </a:p>
            <a:p>
              <a:pPr algn="ctr">
                <a:lnSpc>
                  <a:spcPct val="110000"/>
                </a:lnSpc>
              </a:pPr>
              <a:r>
                <a:rPr sz="2400" b="0" i="1">
                  <a:solidFill>
                    <a:srgbClr val="303B4F"/>
                  </a:solidFill>
                  <a:latin typeface="League Spartan"/>
                </a:rPr>
                <a:t>What if pricing with confidence creates more trust?</a:t>
              </a:r>
            </a:p>
          </p:txBody>
        </p:sp>
      </p:grpSp>
      <p:grpSp>
        <p:nvGrpSpPr>
          <p:cNvPr id="4" name="Group 3">
            <a:extLst>
              <a:ext uri="{FF2B5EF4-FFF2-40B4-BE49-F238E27FC236}">
                <a16:creationId xmlns:a16="http://schemas.microsoft.com/office/drawing/2014/main" id="{E10251CB-C26B-81D2-EBCD-0482BD537A0D}"/>
              </a:ext>
            </a:extLst>
          </p:cNvPr>
          <p:cNvGrpSpPr/>
          <p:nvPr/>
        </p:nvGrpSpPr>
        <p:grpSpPr>
          <a:xfrm>
            <a:off x="1723870" y="2551176"/>
            <a:ext cx="4572000" cy="4663440"/>
            <a:chOff x="1723870" y="2551176"/>
            <a:chExt cx="4572000" cy="4663440"/>
          </a:xfrm>
        </p:grpSpPr>
        <p:sp>
          <p:nvSpPr>
            <p:cNvPr id="22" name="Rounded Rectangular Callout 17"/>
            <p:cNvSpPr/>
            <p:nvPr/>
          </p:nvSpPr>
          <p:spPr>
            <a:xfrm>
              <a:off x="1815310" y="2551176"/>
              <a:ext cx="4206240" cy="1463040"/>
            </a:xfrm>
            <a:prstGeom prst="wedgeRoundRectCallout">
              <a:avLst>
                <a:gd name="adj1" fmla="val -38000"/>
                <a:gd name="adj2" fmla="val 78000"/>
                <a:gd name="adj3" fmla="val 22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dirty="0">
                  <a:solidFill>
                    <a:srgbClr val="142233"/>
                  </a:solidFill>
                  <a:latin typeface="League Spartan"/>
                </a:rPr>
                <a:t>…</a:t>
              </a:r>
            </a:p>
          </p:txBody>
        </p:sp>
        <p:sp>
          <p:nvSpPr>
            <p:cNvPr id="23" name="Rounded Rectangular Callout 18"/>
            <p:cNvSpPr/>
            <p:nvPr/>
          </p:nvSpPr>
          <p:spPr>
            <a:xfrm>
              <a:off x="2729710" y="4242816"/>
              <a:ext cx="3566160" cy="1325880"/>
            </a:xfrm>
            <a:prstGeom prst="wedgeRoundRectCallout">
              <a:avLst>
                <a:gd name="adj1" fmla="val 38000"/>
                <a:gd name="adj2" fmla="val 78000"/>
                <a:gd name="adj3" fmla="val 22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FFFF"/>
                  </a:solidFill>
                  <a:latin typeface="League Spartan"/>
                </a:rPr>
                <a:t>…</a:t>
              </a:r>
            </a:p>
          </p:txBody>
        </p:sp>
        <p:sp>
          <p:nvSpPr>
            <p:cNvPr id="20" name="Rounded Rectangular Callout 19"/>
            <p:cNvSpPr/>
            <p:nvPr/>
          </p:nvSpPr>
          <p:spPr>
            <a:xfrm>
              <a:off x="1723870" y="5843016"/>
              <a:ext cx="3931920" cy="1371600"/>
            </a:xfrm>
            <a:prstGeom prst="wedgeRoundRectCallout">
              <a:avLst>
                <a:gd name="adj1" fmla="val -36000"/>
                <a:gd name="adj2" fmla="val 78000"/>
                <a:gd name="adj3" fmla="val 22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7900"/>
                  </a:solidFill>
                  <a:latin typeface="League Spartan"/>
                </a:rPr>
                <a:t>…</a:t>
              </a:r>
            </a:p>
          </p:txBody>
        </p:sp>
      </p:grpSp>
      <p:sp>
        <p:nvSpPr>
          <p:cNvPr id="21" name="TextBox 20"/>
          <p:cNvSpPr txBox="1"/>
          <p:nvPr/>
        </p:nvSpPr>
        <p:spPr>
          <a:xfrm>
            <a:off x="7338586" y="2323738"/>
            <a:ext cx="457200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WHAT WE TELL OURSELVES</a:t>
            </a:r>
          </a:p>
        </p:txBody>
      </p:sp>
      <p:pic>
        <p:nvPicPr>
          <p:cNvPr id="25" name="Picture 24" descr="texas_mark_light.png"/>
          <p:cNvPicPr>
            <a:picLocks noChangeAspect="1"/>
          </p:cNvPicPr>
          <p:nvPr/>
        </p:nvPicPr>
        <p:blipFill>
          <a:blip r:embed="rId3"/>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nodeType="afterEffect">
                                  <p:stCondLst>
                                    <p:cond delay="2000"/>
                                  </p:stCondLst>
                                  <p:childTnLst>
                                    <p:set>
                                      <p:cBhvr>
                                        <p:cTn id="9" dur="1" fill="hold">
                                          <p:stCondLst>
                                            <p:cond delay="0"/>
                                          </p:stCondLst>
                                        </p:cTn>
                                        <p:tgtEl>
                                          <p:spTgt spid="4"/>
                                        </p:tgtEl>
                                        <p:attrNameLst>
                                          <p:attrName>style.visibility</p:attrName>
                                        </p:attrNameLst>
                                      </p:cBhvr>
                                      <p:to>
                                        <p:strVal val="visible"/>
                                      </p:to>
                                    </p:set>
                                    <p:animEffect transition="in" filter="checkerboard(down)">
                                      <p:cBhvr>
                                        <p:cTn id="10" dur="1000"/>
                                        <p:tgtEl>
                                          <p:spTgt spid="4"/>
                                        </p:tgtEl>
                                      </p:cBhvr>
                                    </p:animEffect>
                                  </p:childTnLst>
                                </p:cTn>
                              </p:par>
                            </p:childTnLst>
                          </p:cTn>
                        </p:par>
                        <p:par>
                          <p:cTn id="11" fill="hold">
                            <p:stCondLst>
                              <p:cond delay="4000"/>
                            </p:stCondLst>
                            <p:childTnLst>
                              <p:par>
                                <p:cTn id="12" presetID="1" presetClass="entr" presetSubtype="0" fill="hold" grpId="0" nodeType="afterEffect">
                                  <p:stCondLst>
                                    <p:cond delay="2000"/>
                                  </p:stCondLst>
                                  <p:childTnLst>
                                    <p:set>
                                      <p:cBhvr>
                                        <p:cTn id="13" dur="1" fill="hold">
                                          <p:stCondLst>
                                            <p:cond delay="0"/>
                                          </p:stCondLst>
                                        </p:cTn>
                                        <p:tgtEl>
                                          <p:spTgt spid="21"/>
                                        </p:tgtEl>
                                        <p:attrNameLst>
                                          <p:attrName>style.visibility</p:attrName>
                                        </p:attrNameLst>
                                      </p:cBhvr>
                                      <p:to>
                                        <p:strVal val="visible"/>
                                      </p:to>
                                    </p:set>
                                  </p:childTnLst>
                                </p:cTn>
                              </p:par>
                            </p:childTnLst>
                          </p:cTn>
                        </p:par>
                        <p:par>
                          <p:cTn id="14" fill="hold">
                            <p:stCondLst>
                              <p:cond delay="6000"/>
                            </p:stCondLst>
                            <p:childTnLst>
                              <p:par>
                                <p:cTn id="15" presetID="1" presetClass="entr" presetSubtype="0" fill="hold" nodeType="afterEffect">
                                  <p:stCondLst>
                                    <p:cond delay="200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childTnLst>
                          </p:cTn>
                        </p:par>
                        <p:par>
                          <p:cTn id="17" fill="hold">
                            <p:stCondLst>
                              <p:cond delay="8000"/>
                            </p:stCondLst>
                            <p:childTnLst>
                              <p:par>
                                <p:cTn id="18" presetID="1" presetClass="entr" presetSubtype="0" fill="hold" nodeType="afterEffect">
                                  <p:stCondLst>
                                    <p:cond delay="2000"/>
                                  </p:stCondLst>
                                  <p:childTnLst>
                                    <p:set>
                                      <p:cBhvr>
                                        <p:cTn id="19" dur="1" fill="hold">
                                          <p:stCondLst>
                                            <p:cond delay="0"/>
                                          </p:stCondLst>
                                        </p:cTn>
                                        <p:tgtEl>
                                          <p:spTgt spid="17">
                                            <p:txEl>
                                              <p:pRg st="1" end="1"/>
                                            </p:txEl>
                                          </p:spTgt>
                                        </p:tgtEl>
                                        <p:attrNameLst>
                                          <p:attrName>style.visibility</p:attrName>
                                        </p:attrNameLst>
                                      </p:cBhvr>
                                      <p:to>
                                        <p:strVal val="visible"/>
                                      </p:to>
                                    </p:set>
                                  </p:childTnLst>
                                </p:cTn>
                              </p:par>
                            </p:childTnLst>
                          </p:cTn>
                        </p:par>
                        <p:par>
                          <p:cTn id="20" fill="hold">
                            <p:stCondLst>
                              <p:cond delay="10000"/>
                            </p:stCondLst>
                            <p:childTnLst>
                              <p:par>
                                <p:cTn id="21" presetID="1" presetClass="entr" presetSubtype="0" fill="hold" nodeType="afterEffect">
                                  <p:stCondLst>
                                    <p:cond delay="200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childTnLst>
                          </p:cTn>
                        </p:par>
                        <p:par>
                          <p:cTn id="23" fill="hold">
                            <p:stCondLst>
                              <p:cond delay="12000"/>
                            </p:stCondLst>
                            <p:childTnLst>
                              <p:par>
                                <p:cTn id="24" presetID="1" presetClass="entr" presetSubtype="0" fill="hold" nodeType="afterEffect">
                                  <p:stCondLst>
                                    <p:cond delay="2000"/>
                                  </p:stCondLst>
                                  <p:childTnLst>
                                    <p:set>
                                      <p:cBhvr>
                                        <p:cTn id="25" dur="1" fill="hold">
                                          <p:stCondLst>
                                            <p:cond delay="0"/>
                                          </p:stCondLst>
                                        </p:cTn>
                                        <p:tgtEl>
                                          <p:spTgt spid="17">
                                            <p:txEl>
                                              <p:pRg st="3" end="3"/>
                                            </p:txEl>
                                          </p:spTgt>
                                        </p:tgtEl>
                                        <p:attrNameLst>
                                          <p:attrName>style.visibility</p:attrName>
                                        </p:attrNameLst>
                                      </p:cBhvr>
                                      <p:to>
                                        <p:strVal val="visible"/>
                                      </p:to>
                                    </p:set>
                                  </p:childTnLst>
                                </p:cTn>
                              </p:par>
                            </p:childTnLst>
                          </p:cTn>
                        </p:par>
                        <p:par>
                          <p:cTn id="26" fill="hold">
                            <p:stCondLst>
                              <p:cond delay="14000"/>
                            </p:stCondLst>
                            <p:childTnLst>
                              <p:par>
                                <p:cTn id="27" presetID="1" presetClass="entr" presetSubtype="0" fill="hold" nodeType="afterEffect">
                                  <p:stCondLst>
                                    <p:cond delay="2000"/>
                                  </p:stCondLst>
                                  <p:childTnLst>
                                    <p:set>
                                      <p:cBhvr>
                                        <p:cTn id="28" dur="1" fill="hold">
                                          <p:stCondLst>
                                            <p:cond delay="0"/>
                                          </p:stCondLst>
                                        </p:cTn>
                                        <p:tgtEl>
                                          <p:spTgt spid="17">
                                            <p:txEl>
                                              <p:pRg st="4" end="4"/>
                                            </p:txEl>
                                          </p:spTgt>
                                        </p:tgtEl>
                                        <p:attrNameLst>
                                          <p:attrName>style.visibility</p:attrName>
                                        </p:attrNameLst>
                                      </p:cBhvr>
                                      <p:to>
                                        <p:strVal val="visible"/>
                                      </p:to>
                                    </p:set>
                                  </p:childTnLst>
                                </p:cTn>
                              </p:par>
                            </p:childTnLst>
                          </p:cTn>
                        </p:par>
                        <p:par>
                          <p:cTn id="29" fill="hold">
                            <p:stCondLst>
                              <p:cond delay="16000"/>
                            </p:stCondLst>
                            <p:childTnLst>
                              <p:par>
                                <p:cTn id="30" presetID="3" presetClass="entr" presetSubtype="10" fill="hold" nodeType="afterEffect">
                                  <p:stCondLst>
                                    <p:cond delay="200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0"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7" name="TextBox 6"/>
          <p:cNvSpPr txBox="1"/>
          <p:nvPr/>
        </p:nvSpPr>
        <p:spPr>
          <a:xfrm>
            <a:off x="2887108" y="1983950"/>
            <a:ext cx="10607040" cy="365760"/>
          </a:xfrm>
          <a:prstGeom prst="rect">
            <a:avLst/>
          </a:prstGeom>
          <a:noFill/>
        </p:spPr>
        <p:txBody>
          <a:bodyPr wrap="square" lIns="45720" tIns="0" rIns="45720" bIns="0" anchor="t">
            <a:spAutoFit/>
          </a:bodyPr>
          <a:lstStyle/>
          <a:p>
            <a:pPr algn="l"/>
            <a:r>
              <a:rPr sz="1300" b="1" i="0" dirty="0">
                <a:solidFill>
                  <a:srgbClr val="FF7900"/>
                </a:solidFill>
                <a:latin typeface="League Spartan"/>
              </a:rPr>
              <a:t>GROSS MARGIN  →</a:t>
            </a:r>
          </a:p>
        </p:txBody>
      </p:sp>
      <p:sp>
        <p:nvSpPr>
          <p:cNvPr id="8" name="TextBox 7"/>
          <p:cNvSpPr txBox="1"/>
          <p:nvPr/>
        </p:nvSpPr>
        <p:spPr>
          <a:xfrm>
            <a:off x="531255" y="1983950"/>
            <a:ext cx="2286000" cy="365760"/>
          </a:xfrm>
          <a:prstGeom prst="rect">
            <a:avLst/>
          </a:prstGeom>
          <a:noFill/>
        </p:spPr>
        <p:txBody>
          <a:bodyPr wrap="square" lIns="45720" tIns="0" rIns="45720" bIns="0" anchor="t">
            <a:spAutoFit/>
          </a:bodyPr>
          <a:lstStyle/>
          <a:p>
            <a:pPr algn="l"/>
            <a:r>
              <a:rPr sz="1300" b="1" i="0" dirty="0">
                <a:solidFill>
                  <a:srgbClr val="FF7900"/>
                </a:solidFill>
                <a:latin typeface="League Spartan"/>
              </a:rPr>
              <a:t>PRICE DISCOUNT  ↓</a:t>
            </a:r>
          </a:p>
        </p:txBody>
      </p:sp>
      <p:graphicFrame>
        <p:nvGraphicFramePr>
          <p:cNvPr id="9" name="Table 8"/>
          <p:cNvGraphicFramePr>
            <a:graphicFrameLocks noGrp="1"/>
          </p:cNvGraphicFramePr>
          <p:nvPr>
            <p:extLst>
              <p:ext uri="{D42A27DB-BD31-4B8C-83A1-F6EECF244321}">
                <p14:modId xmlns:p14="http://schemas.microsoft.com/office/powerpoint/2010/main" val="813059763"/>
              </p:ext>
            </p:extLst>
          </p:nvPr>
        </p:nvGraphicFramePr>
        <p:xfrm>
          <a:off x="950976" y="2395430"/>
          <a:ext cx="12705588" cy="5669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46988">
                  <a:extLst>
                    <a:ext uri="{9D8B030D-6E8A-4147-A177-3AD203B41FA5}">
                      <a16:colId xmlns:a16="http://schemas.microsoft.com/office/drawing/2014/main" val="20001"/>
                    </a:ext>
                  </a:extLst>
                </a:gridCol>
                <a:gridCol w="1046988">
                  <a:extLst>
                    <a:ext uri="{9D8B030D-6E8A-4147-A177-3AD203B41FA5}">
                      <a16:colId xmlns:a16="http://schemas.microsoft.com/office/drawing/2014/main" val="20002"/>
                    </a:ext>
                  </a:extLst>
                </a:gridCol>
                <a:gridCol w="1046988">
                  <a:extLst>
                    <a:ext uri="{9D8B030D-6E8A-4147-A177-3AD203B41FA5}">
                      <a16:colId xmlns:a16="http://schemas.microsoft.com/office/drawing/2014/main" val="20003"/>
                    </a:ext>
                  </a:extLst>
                </a:gridCol>
                <a:gridCol w="1046988">
                  <a:extLst>
                    <a:ext uri="{9D8B030D-6E8A-4147-A177-3AD203B41FA5}">
                      <a16:colId xmlns:a16="http://schemas.microsoft.com/office/drawing/2014/main" val="20004"/>
                    </a:ext>
                  </a:extLst>
                </a:gridCol>
                <a:gridCol w="1046988">
                  <a:extLst>
                    <a:ext uri="{9D8B030D-6E8A-4147-A177-3AD203B41FA5}">
                      <a16:colId xmlns:a16="http://schemas.microsoft.com/office/drawing/2014/main" val="20005"/>
                    </a:ext>
                  </a:extLst>
                </a:gridCol>
                <a:gridCol w="1046988">
                  <a:extLst>
                    <a:ext uri="{9D8B030D-6E8A-4147-A177-3AD203B41FA5}">
                      <a16:colId xmlns:a16="http://schemas.microsoft.com/office/drawing/2014/main" val="20006"/>
                    </a:ext>
                  </a:extLst>
                </a:gridCol>
                <a:gridCol w="1046988">
                  <a:extLst>
                    <a:ext uri="{9D8B030D-6E8A-4147-A177-3AD203B41FA5}">
                      <a16:colId xmlns:a16="http://schemas.microsoft.com/office/drawing/2014/main" val="20007"/>
                    </a:ext>
                  </a:extLst>
                </a:gridCol>
                <a:gridCol w="1046988">
                  <a:extLst>
                    <a:ext uri="{9D8B030D-6E8A-4147-A177-3AD203B41FA5}">
                      <a16:colId xmlns:a16="http://schemas.microsoft.com/office/drawing/2014/main" val="20008"/>
                    </a:ext>
                  </a:extLst>
                </a:gridCol>
                <a:gridCol w="1046988">
                  <a:extLst>
                    <a:ext uri="{9D8B030D-6E8A-4147-A177-3AD203B41FA5}">
                      <a16:colId xmlns:a16="http://schemas.microsoft.com/office/drawing/2014/main" val="20009"/>
                    </a:ext>
                  </a:extLst>
                </a:gridCol>
                <a:gridCol w="1046988">
                  <a:extLst>
                    <a:ext uri="{9D8B030D-6E8A-4147-A177-3AD203B41FA5}">
                      <a16:colId xmlns:a16="http://schemas.microsoft.com/office/drawing/2014/main" val="20010"/>
                    </a:ext>
                  </a:extLst>
                </a:gridCol>
                <a:gridCol w="1046988">
                  <a:extLst>
                    <a:ext uri="{9D8B030D-6E8A-4147-A177-3AD203B41FA5}">
                      <a16:colId xmlns:a16="http://schemas.microsoft.com/office/drawing/2014/main" val="20011"/>
                    </a:ext>
                  </a:extLst>
                </a:gridCol>
              </a:tblGrid>
              <a:tr h="566928">
                <a:tc>
                  <a:txBody>
                    <a:bodyPr/>
                    <a:lstStyle/>
                    <a:p>
                      <a:pPr algn="ctr"/>
                      <a:endParaRPr sz="3200"/>
                    </a:p>
                  </a:txBody>
                  <a:tcPr marL="36576" marR="36576" marT="18288" marB="18288" anchor="ctr">
                    <a:solidFill>
                      <a:srgbClr val="142233"/>
                    </a:solidFill>
                  </a:tcPr>
                </a:tc>
                <a:tc>
                  <a:txBody>
                    <a:bodyPr/>
                    <a:lstStyle/>
                    <a:p>
                      <a:pPr algn="ctr"/>
                      <a:r>
                        <a:rPr sz="2000" b="1">
                          <a:solidFill>
                            <a:srgbClr val="FFFFFF"/>
                          </a:solidFill>
                          <a:latin typeface="League Spartan"/>
                        </a:rPr>
                        <a:t>10%</a:t>
                      </a:r>
                    </a:p>
                  </a:txBody>
                  <a:tcPr marL="36576" marR="36576" marT="18288" marB="18288" anchor="ctr">
                    <a:solidFill>
                      <a:srgbClr val="142233"/>
                    </a:solidFill>
                  </a:tcPr>
                </a:tc>
                <a:tc>
                  <a:txBody>
                    <a:bodyPr/>
                    <a:lstStyle/>
                    <a:p>
                      <a:pPr algn="ctr"/>
                      <a:r>
                        <a:rPr sz="2000" b="1">
                          <a:solidFill>
                            <a:srgbClr val="FFFFFF"/>
                          </a:solidFill>
                          <a:latin typeface="League Spartan"/>
                        </a:rPr>
                        <a:t>15%</a:t>
                      </a:r>
                    </a:p>
                  </a:txBody>
                  <a:tcPr marL="36576" marR="36576" marT="18288" marB="18288" anchor="ctr">
                    <a:solidFill>
                      <a:srgbClr val="142233"/>
                    </a:solidFill>
                  </a:tcPr>
                </a:tc>
                <a:tc>
                  <a:txBody>
                    <a:bodyPr/>
                    <a:lstStyle/>
                    <a:p>
                      <a:pPr algn="ctr"/>
                      <a:r>
                        <a:rPr sz="2000" b="1">
                          <a:solidFill>
                            <a:srgbClr val="FFFFFF"/>
                          </a:solidFill>
                          <a:latin typeface="League Spartan"/>
                        </a:rPr>
                        <a:t>20%</a:t>
                      </a:r>
                    </a:p>
                  </a:txBody>
                  <a:tcPr marL="36576" marR="36576" marT="18288" marB="18288" anchor="ctr">
                    <a:solidFill>
                      <a:srgbClr val="142233"/>
                    </a:solidFill>
                  </a:tcPr>
                </a:tc>
                <a:tc>
                  <a:txBody>
                    <a:bodyPr/>
                    <a:lstStyle/>
                    <a:p>
                      <a:pPr algn="ctr"/>
                      <a:r>
                        <a:rPr sz="2000" b="1">
                          <a:solidFill>
                            <a:srgbClr val="FFFFFF"/>
                          </a:solidFill>
                          <a:latin typeface="League Spartan"/>
                        </a:rPr>
                        <a:t>25%</a:t>
                      </a:r>
                    </a:p>
                  </a:txBody>
                  <a:tcPr marL="36576" marR="36576" marT="18288" marB="18288" anchor="ctr">
                    <a:solidFill>
                      <a:srgbClr val="142233"/>
                    </a:solidFill>
                  </a:tcPr>
                </a:tc>
                <a:tc>
                  <a:txBody>
                    <a:bodyPr/>
                    <a:lstStyle/>
                    <a:p>
                      <a:pPr algn="ctr"/>
                      <a:r>
                        <a:rPr sz="2000" b="1">
                          <a:solidFill>
                            <a:srgbClr val="FFFFFF"/>
                          </a:solidFill>
                          <a:latin typeface="League Spartan"/>
                        </a:rPr>
                        <a:t>30%</a:t>
                      </a:r>
                    </a:p>
                  </a:txBody>
                  <a:tcPr marL="36576" marR="36576" marT="18288" marB="18288" anchor="ctr">
                    <a:solidFill>
                      <a:srgbClr val="142233"/>
                    </a:solidFill>
                  </a:tcPr>
                </a:tc>
                <a:tc>
                  <a:txBody>
                    <a:bodyPr/>
                    <a:lstStyle/>
                    <a:p>
                      <a:pPr algn="ctr"/>
                      <a:r>
                        <a:rPr sz="2000" b="1">
                          <a:solidFill>
                            <a:srgbClr val="FFFFFF"/>
                          </a:solidFill>
                          <a:latin typeface="League Spartan"/>
                        </a:rPr>
                        <a:t>35%</a:t>
                      </a:r>
                    </a:p>
                  </a:txBody>
                  <a:tcPr marL="36576" marR="36576" marT="18288" marB="18288" anchor="ctr">
                    <a:solidFill>
                      <a:srgbClr val="142233"/>
                    </a:solidFill>
                  </a:tcPr>
                </a:tc>
                <a:tc>
                  <a:txBody>
                    <a:bodyPr/>
                    <a:lstStyle/>
                    <a:p>
                      <a:pPr algn="ctr"/>
                      <a:r>
                        <a:rPr sz="2000" b="1">
                          <a:solidFill>
                            <a:srgbClr val="FFFFFF"/>
                          </a:solidFill>
                          <a:latin typeface="League Spartan"/>
                        </a:rPr>
                        <a:t>40%</a:t>
                      </a:r>
                    </a:p>
                  </a:txBody>
                  <a:tcPr marL="36576" marR="36576" marT="18288" marB="18288" anchor="ctr">
                    <a:solidFill>
                      <a:srgbClr val="142233"/>
                    </a:solidFill>
                  </a:tcPr>
                </a:tc>
                <a:tc>
                  <a:txBody>
                    <a:bodyPr/>
                    <a:lstStyle/>
                    <a:p>
                      <a:pPr algn="ctr"/>
                      <a:r>
                        <a:rPr sz="2000" b="1">
                          <a:solidFill>
                            <a:srgbClr val="FFFFFF"/>
                          </a:solidFill>
                          <a:latin typeface="League Spartan"/>
                        </a:rPr>
                        <a:t>45%</a:t>
                      </a:r>
                    </a:p>
                  </a:txBody>
                  <a:tcPr marL="36576" marR="36576" marT="18288" marB="18288" anchor="ctr">
                    <a:solidFill>
                      <a:srgbClr val="142233"/>
                    </a:solidFill>
                  </a:tcPr>
                </a:tc>
                <a:tc>
                  <a:txBody>
                    <a:bodyPr/>
                    <a:lstStyle/>
                    <a:p>
                      <a:pPr algn="ctr"/>
                      <a:r>
                        <a:rPr sz="2000" b="1">
                          <a:solidFill>
                            <a:srgbClr val="FFFFFF"/>
                          </a:solidFill>
                          <a:latin typeface="League Spartan"/>
                        </a:rPr>
                        <a:t>50%</a:t>
                      </a:r>
                    </a:p>
                  </a:txBody>
                  <a:tcPr marL="36576" marR="36576" marT="18288" marB="18288" anchor="ctr">
                    <a:solidFill>
                      <a:srgbClr val="142233"/>
                    </a:solidFill>
                  </a:tcPr>
                </a:tc>
                <a:tc>
                  <a:txBody>
                    <a:bodyPr/>
                    <a:lstStyle/>
                    <a:p>
                      <a:pPr algn="ctr"/>
                      <a:r>
                        <a:rPr sz="2000" b="1">
                          <a:solidFill>
                            <a:srgbClr val="FFFFFF"/>
                          </a:solidFill>
                          <a:latin typeface="League Spartan"/>
                        </a:rPr>
                        <a:t>55%</a:t>
                      </a:r>
                    </a:p>
                  </a:txBody>
                  <a:tcPr marL="36576" marR="36576" marT="18288" marB="18288" anchor="ctr">
                    <a:solidFill>
                      <a:srgbClr val="142233"/>
                    </a:solidFill>
                  </a:tcPr>
                </a:tc>
                <a:tc>
                  <a:txBody>
                    <a:bodyPr/>
                    <a:lstStyle/>
                    <a:p>
                      <a:pPr algn="ctr"/>
                      <a:r>
                        <a:rPr sz="2000" b="1">
                          <a:solidFill>
                            <a:srgbClr val="FFFFFF"/>
                          </a:solidFill>
                          <a:latin typeface="League Spartan"/>
                        </a:rPr>
                        <a:t>60%</a:t>
                      </a:r>
                    </a:p>
                  </a:txBody>
                  <a:tcPr marL="36576" marR="36576" marT="18288" marB="18288" anchor="ctr">
                    <a:solidFill>
                      <a:srgbClr val="142233"/>
                    </a:solidFill>
                  </a:tcPr>
                </a:tc>
                <a:extLst>
                  <a:ext uri="{0D108BD9-81ED-4DB2-BD59-A6C34878D82A}">
                    <a16:rowId xmlns:a16="http://schemas.microsoft.com/office/drawing/2014/main" val="10000"/>
                  </a:ext>
                </a:extLst>
              </a:tr>
              <a:tr h="566928">
                <a:tc>
                  <a:txBody>
                    <a:bodyPr/>
                    <a:lstStyle/>
                    <a:p>
                      <a:pPr algn="ctr"/>
                      <a:r>
                        <a:rPr sz="2000" b="1">
                          <a:solidFill>
                            <a:srgbClr val="FFFFFF"/>
                          </a:solidFill>
                          <a:latin typeface="League Spartan"/>
                        </a:rPr>
                        <a:t>2%</a:t>
                      </a:r>
                    </a:p>
                  </a:txBody>
                  <a:tcPr marL="36576" marR="36576" marT="18288" marB="18288" anchor="ctr">
                    <a:solidFill>
                      <a:srgbClr val="303B4F"/>
                    </a:solidFill>
                  </a:tcPr>
                </a:tc>
                <a:tc>
                  <a:txBody>
                    <a:bodyPr/>
                    <a:lstStyle/>
                    <a:p>
                      <a:pPr algn="ctr"/>
                      <a:r>
                        <a:rPr sz="2000" b="0">
                          <a:solidFill>
                            <a:srgbClr val="142233"/>
                          </a:solidFill>
                          <a:latin typeface="League Spartan"/>
                        </a:rPr>
                        <a:t>22.5%</a:t>
                      </a:r>
                    </a:p>
                  </a:txBody>
                  <a:tcPr marL="36576" marR="36576" marT="18288" marB="18288" anchor="ctr">
                    <a:solidFill>
                      <a:srgbClr val="FFFFFF"/>
                    </a:solidFill>
                  </a:tcPr>
                </a:tc>
                <a:tc>
                  <a:txBody>
                    <a:bodyPr/>
                    <a:lstStyle/>
                    <a:p>
                      <a:pPr algn="ctr"/>
                      <a:r>
                        <a:rPr sz="2000" b="0">
                          <a:solidFill>
                            <a:srgbClr val="142233"/>
                          </a:solidFill>
                          <a:latin typeface="League Spartan"/>
                        </a:rPr>
                        <a:t>13.1%</a:t>
                      </a:r>
                    </a:p>
                  </a:txBody>
                  <a:tcPr marL="36576" marR="36576" marT="18288" marB="18288" anchor="ctr">
                    <a:solidFill>
                      <a:srgbClr val="FFFFFF"/>
                    </a:solidFill>
                  </a:tcPr>
                </a:tc>
                <a:tc>
                  <a:txBody>
                    <a:bodyPr/>
                    <a:lstStyle/>
                    <a:p>
                      <a:pPr algn="ctr"/>
                      <a:r>
                        <a:rPr sz="2000" b="0">
                          <a:solidFill>
                            <a:srgbClr val="142233"/>
                          </a:solidFill>
                          <a:latin typeface="League Spartan"/>
                        </a:rPr>
                        <a:t>8.9%</a:t>
                      </a:r>
                    </a:p>
                  </a:txBody>
                  <a:tcPr marL="36576" marR="36576" marT="18288" marB="18288" anchor="ctr">
                    <a:solidFill>
                      <a:srgbClr val="FFFFFF"/>
                    </a:solidFill>
                  </a:tcPr>
                </a:tc>
                <a:tc>
                  <a:txBody>
                    <a:bodyPr/>
                    <a:lstStyle/>
                    <a:p>
                      <a:pPr algn="ctr"/>
                      <a:r>
                        <a:rPr sz="2000" b="0">
                          <a:solidFill>
                            <a:srgbClr val="142233"/>
                          </a:solidFill>
                          <a:latin typeface="League Spartan"/>
                        </a:rPr>
                        <a:t>6.5%</a:t>
                      </a:r>
                    </a:p>
                  </a:txBody>
                  <a:tcPr marL="36576" marR="36576" marT="18288" marB="18288" anchor="ctr">
                    <a:solidFill>
                      <a:srgbClr val="FFFFFF"/>
                    </a:solidFill>
                  </a:tcPr>
                </a:tc>
                <a:tc>
                  <a:txBody>
                    <a:bodyPr/>
                    <a:lstStyle/>
                    <a:p>
                      <a:pPr algn="ctr"/>
                      <a:r>
                        <a:rPr sz="2000" b="0">
                          <a:solidFill>
                            <a:srgbClr val="142233"/>
                          </a:solidFill>
                          <a:latin typeface="League Spartan"/>
                        </a:rPr>
                        <a:t>5.0%</a:t>
                      </a:r>
                    </a:p>
                  </a:txBody>
                  <a:tcPr marL="36576" marR="36576" marT="18288" marB="18288" anchor="ctr">
                    <a:solidFill>
                      <a:srgbClr val="FFFFFF"/>
                    </a:solidFill>
                  </a:tcPr>
                </a:tc>
                <a:tc>
                  <a:txBody>
                    <a:bodyPr/>
                    <a:lstStyle/>
                    <a:p>
                      <a:pPr algn="ctr"/>
                      <a:r>
                        <a:rPr sz="2000" b="0">
                          <a:solidFill>
                            <a:srgbClr val="142233"/>
                          </a:solidFill>
                          <a:latin typeface="League Spartan"/>
                        </a:rPr>
                        <a:t>3.9%</a:t>
                      </a:r>
                    </a:p>
                  </a:txBody>
                  <a:tcPr marL="36576" marR="36576" marT="18288" marB="18288" anchor="ctr">
                    <a:solidFill>
                      <a:srgbClr val="FFFFFF"/>
                    </a:solidFill>
                  </a:tcPr>
                </a:tc>
                <a:tc>
                  <a:txBody>
                    <a:bodyPr/>
                    <a:lstStyle/>
                    <a:p>
                      <a:pPr algn="ctr"/>
                      <a:r>
                        <a:rPr sz="2000" b="0">
                          <a:solidFill>
                            <a:srgbClr val="142233"/>
                          </a:solidFill>
                          <a:latin typeface="League Spartan"/>
                        </a:rPr>
                        <a:t>3.2%</a:t>
                      </a:r>
                    </a:p>
                  </a:txBody>
                  <a:tcPr marL="36576" marR="36576" marT="18288" marB="18288" anchor="ctr">
                    <a:solidFill>
                      <a:srgbClr val="FFFFFF"/>
                    </a:solidFill>
                  </a:tcPr>
                </a:tc>
                <a:tc>
                  <a:txBody>
                    <a:bodyPr/>
                    <a:lstStyle/>
                    <a:p>
                      <a:pPr algn="ctr"/>
                      <a:r>
                        <a:rPr sz="2000" b="0">
                          <a:solidFill>
                            <a:srgbClr val="142233"/>
                          </a:solidFill>
                          <a:latin typeface="League Spartan"/>
                        </a:rPr>
                        <a:t>2.6%</a:t>
                      </a:r>
                    </a:p>
                  </a:txBody>
                  <a:tcPr marL="36576" marR="36576" marT="18288" marB="18288" anchor="ctr">
                    <a:solidFill>
                      <a:srgbClr val="FFFFFF"/>
                    </a:solidFill>
                  </a:tcPr>
                </a:tc>
                <a:tc>
                  <a:txBody>
                    <a:bodyPr/>
                    <a:lstStyle/>
                    <a:p>
                      <a:pPr algn="ctr"/>
                      <a:r>
                        <a:rPr sz="2000" b="0">
                          <a:solidFill>
                            <a:srgbClr val="142233"/>
                          </a:solidFill>
                          <a:latin typeface="League Spartan"/>
                        </a:rPr>
                        <a:t>2.1%</a:t>
                      </a:r>
                    </a:p>
                  </a:txBody>
                  <a:tcPr marL="36576" marR="36576" marT="18288" marB="18288" anchor="ctr">
                    <a:solidFill>
                      <a:srgbClr val="FFFFFF"/>
                    </a:solidFill>
                  </a:tcPr>
                </a:tc>
                <a:tc>
                  <a:txBody>
                    <a:bodyPr/>
                    <a:lstStyle/>
                    <a:p>
                      <a:pPr algn="ctr"/>
                      <a:r>
                        <a:rPr sz="2000" b="0">
                          <a:solidFill>
                            <a:srgbClr val="142233"/>
                          </a:solidFill>
                          <a:latin typeface="League Spartan"/>
                        </a:rPr>
                        <a:t>1.7%</a:t>
                      </a:r>
                    </a:p>
                  </a:txBody>
                  <a:tcPr marL="36576" marR="36576" marT="18288" marB="18288" anchor="ctr">
                    <a:solidFill>
                      <a:srgbClr val="FFFFFF"/>
                    </a:solidFill>
                  </a:tcPr>
                </a:tc>
                <a:tc>
                  <a:txBody>
                    <a:bodyPr/>
                    <a:lstStyle/>
                    <a:p>
                      <a:pPr algn="ctr"/>
                      <a:r>
                        <a:rPr sz="2000" b="0">
                          <a:solidFill>
                            <a:srgbClr val="142233"/>
                          </a:solidFill>
                          <a:latin typeface="League Spartan"/>
                        </a:rPr>
                        <a:t>1.4%</a:t>
                      </a:r>
                    </a:p>
                  </a:txBody>
                  <a:tcPr marL="36576"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ctr"/>
                      <a:r>
                        <a:rPr sz="2000" b="1">
                          <a:solidFill>
                            <a:srgbClr val="FFFFFF"/>
                          </a:solidFill>
                          <a:latin typeface="League Spartan"/>
                        </a:rPr>
                        <a:t>3%</a:t>
                      </a:r>
                    </a:p>
                  </a:txBody>
                  <a:tcPr marL="36576" marR="36576" marT="18288" marB="18288" anchor="ctr">
                    <a:solidFill>
                      <a:srgbClr val="303B4F"/>
                    </a:solidFill>
                  </a:tcPr>
                </a:tc>
                <a:tc>
                  <a:txBody>
                    <a:bodyPr/>
                    <a:lstStyle/>
                    <a:p>
                      <a:pPr algn="ctr"/>
                      <a:r>
                        <a:rPr sz="2000" b="0">
                          <a:solidFill>
                            <a:srgbClr val="142233"/>
                          </a:solidFill>
                          <a:latin typeface="League Spartan"/>
                        </a:rPr>
                        <a:t>38.6%</a:t>
                      </a:r>
                    </a:p>
                  </a:txBody>
                  <a:tcPr marL="36576" marR="36576" marT="18288" marB="18288" anchor="ctr">
                    <a:solidFill>
                      <a:srgbClr val="E5E8EB"/>
                    </a:solidFill>
                  </a:tcPr>
                </a:tc>
                <a:tc>
                  <a:txBody>
                    <a:bodyPr/>
                    <a:lstStyle/>
                    <a:p>
                      <a:pPr algn="ctr"/>
                      <a:r>
                        <a:rPr sz="2000" b="0">
                          <a:solidFill>
                            <a:srgbClr val="142233"/>
                          </a:solidFill>
                          <a:latin typeface="League Spartan"/>
                        </a:rPr>
                        <a:t>21.3%</a:t>
                      </a:r>
                    </a:p>
                  </a:txBody>
                  <a:tcPr marL="36576" marR="36576" marT="18288" marB="18288" anchor="ctr">
                    <a:solidFill>
                      <a:srgbClr val="E5E8EB"/>
                    </a:solidFill>
                  </a:tcPr>
                </a:tc>
                <a:tc>
                  <a:txBody>
                    <a:bodyPr/>
                    <a:lstStyle/>
                    <a:p>
                      <a:pPr algn="ctr"/>
                      <a:r>
                        <a:rPr sz="2000" b="0">
                          <a:solidFill>
                            <a:srgbClr val="142233"/>
                          </a:solidFill>
                          <a:latin typeface="League Spartan"/>
                        </a:rPr>
                        <a:t>14.1%</a:t>
                      </a:r>
                    </a:p>
                  </a:txBody>
                  <a:tcPr marL="36576" marR="36576" marT="18288" marB="18288" anchor="ctr">
                    <a:solidFill>
                      <a:srgbClr val="E5E8EB"/>
                    </a:solidFill>
                  </a:tcPr>
                </a:tc>
                <a:tc>
                  <a:txBody>
                    <a:bodyPr/>
                    <a:lstStyle/>
                    <a:p>
                      <a:pPr algn="ctr"/>
                      <a:r>
                        <a:rPr sz="2000" b="0">
                          <a:solidFill>
                            <a:srgbClr val="142233"/>
                          </a:solidFill>
                          <a:latin typeface="League Spartan"/>
                        </a:rPr>
                        <a:t>10.2%</a:t>
                      </a:r>
                    </a:p>
                  </a:txBody>
                  <a:tcPr marL="36576" marR="36576" marT="18288" marB="18288" anchor="ctr">
                    <a:solidFill>
                      <a:srgbClr val="E5E8EB"/>
                    </a:solidFill>
                  </a:tcPr>
                </a:tc>
                <a:tc>
                  <a:txBody>
                    <a:bodyPr/>
                    <a:lstStyle/>
                    <a:p>
                      <a:pPr algn="ctr"/>
                      <a:r>
                        <a:rPr sz="2000" b="0">
                          <a:solidFill>
                            <a:srgbClr val="142233"/>
                          </a:solidFill>
                          <a:latin typeface="League Spartan"/>
                        </a:rPr>
                        <a:t>7.8%</a:t>
                      </a:r>
                    </a:p>
                  </a:txBody>
                  <a:tcPr marL="36576" marR="36576" marT="18288" marB="18288" anchor="ctr">
                    <a:solidFill>
                      <a:srgbClr val="E5E8EB"/>
                    </a:solidFill>
                  </a:tcPr>
                </a:tc>
                <a:tc>
                  <a:txBody>
                    <a:bodyPr/>
                    <a:lstStyle/>
                    <a:p>
                      <a:pPr algn="ctr"/>
                      <a:r>
                        <a:rPr sz="2000" b="0">
                          <a:solidFill>
                            <a:srgbClr val="142233"/>
                          </a:solidFill>
                          <a:latin typeface="League Spartan"/>
                        </a:rPr>
                        <a:t>6.1%</a:t>
                      </a:r>
                    </a:p>
                  </a:txBody>
                  <a:tcPr marL="36576" marR="36576" marT="18288" marB="18288" anchor="ctr">
                    <a:solidFill>
                      <a:srgbClr val="E5E8EB"/>
                    </a:solidFill>
                  </a:tcPr>
                </a:tc>
                <a:tc>
                  <a:txBody>
                    <a:bodyPr/>
                    <a:lstStyle/>
                    <a:p>
                      <a:pPr algn="ctr"/>
                      <a:r>
                        <a:rPr sz="2000" b="0">
                          <a:solidFill>
                            <a:srgbClr val="142233"/>
                          </a:solidFill>
                          <a:latin typeface="League Spartan"/>
                        </a:rPr>
                        <a:t>4.9%</a:t>
                      </a:r>
                    </a:p>
                  </a:txBody>
                  <a:tcPr marL="36576" marR="36576" marT="18288" marB="18288" anchor="ctr">
                    <a:solidFill>
                      <a:srgbClr val="E5E8EB"/>
                    </a:solidFill>
                  </a:tcPr>
                </a:tc>
                <a:tc>
                  <a:txBody>
                    <a:bodyPr/>
                    <a:lstStyle/>
                    <a:p>
                      <a:pPr algn="ctr"/>
                      <a:r>
                        <a:rPr sz="2000" b="0">
                          <a:solidFill>
                            <a:srgbClr val="142233"/>
                          </a:solidFill>
                          <a:latin typeface="League Spartan"/>
                        </a:rPr>
                        <a:t>3.9%</a:t>
                      </a:r>
                    </a:p>
                  </a:txBody>
                  <a:tcPr marL="36576" marR="36576" marT="18288" marB="18288" anchor="ctr">
                    <a:solidFill>
                      <a:srgbClr val="E5E8EB"/>
                    </a:solidFill>
                  </a:tcPr>
                </a:tc>
                <a:tc>
                  <a:txBody>
                    <a:bodyPr/>
                    <a:lstStyle/>
                    <a:p>
                      <a:pPr algn="ctr"/>
                      <a:r>
                        <a:rPr sz="2000" b="0">
                          <a:solidFill>
                            <a:srgbClr val="142233"/>
                          </a:solidFill>
                          <a:latin typeface="League Spartan"/>
                        </a:rPr>
                        <a:t>3.2%</a:t>
                      </a:r>
                    </a:p>
                  </a:txBody>
                  <a:tcPr marL="36576" marR="36576" marT="18288" marB="18288" anchor="ctr">
                    <a:solidFill>
                      <a:srgbClr val="E5E8EB"/>
                    </a:solidFill>
                  </a:tcPr>
                </a:tc>
                <a:tc>
                  <a:txBody>
                    <a:bodyPr/>
                    <a:lstStyle/>
                    <a:p>
                      <a:pPr algn="ctr"/>
                      <a:r>
                        <a:rPr sz="2000" b="0">
                          <a:solidFill>
                            <a:srgbClr val="142233"/>
                          </a:solidFill>
                          <a:latin typeface="League Spartan"/>
                        </a:rPr>
                        <a:t>2.6%</a:t>
                      </a:r>
                    </a:p>
                  </a:txBody>
                  <a:tcPr marL="36576" marR="36576" marT="18288" marB="18288" anchor="ctr">
                    <a:solidFill>
                      <a:srgbClr val="E5E8EB"/>
                    </a:solidFill>
                  </a:tcPr>
                </a:tc>
                <a:tc>
                  <a:txBody>
                    <a:bodyPr/>
                    <a:lstStyle/>
                    <a:p>
                      <a:pPr algn="ctr"/>
                      <a:r>
                        <a:rPr sz="2000" b="0">
                          <a:solidFill>
                            <a:srgbClr val="142233"/>
                          </a:solidFill>
                          <a:latin typeface="League Spartan"/>
                        </a:rPr>
                        <a:t>2.1%</a:t>
                      </a:r>
                    </a:p>
                  </a:txBody>
                  <a:tcPr marL="36576" marR="36576" marT="18288" marB="18288" anchor="ctr">
                    <a:solidFill>
                      <a:srgbClr val="E5E8EB"/>
                    </a:solidFill>
                  </a:tcPr>
                </a:tc>
                <a:extLst>
                  <a:ext uri="{0D108BD9-81ED-4DB2-BD59-A6C34878D82A}">
                    <a16:rowId xmlns:a16="http://schemas.microsoft.com/office/drawing/2014/main" val="10002"/>
                  </a:ext>
                </a:extLst>
              </a:tr>
              <a:tr h="566928">
                <a:tc>
                  <a:txBody>
                    <a:bodyPr/>
                    <a:lstStyle/>
                    <a:p>
                      <a:pPr algn="ctr"/>
                      <a:r>
                        <a:rPr sz="2000" b="1">
                          <a:solidFill>
                            <a:srgbClr val="FFFFFF"/>
                          </a:solidFill>
                          <a:latin typeface="League Spartan"/>
                        </a:rPr>
                        <a:t>4%</a:t>
                      </a:r>
                    </a:p>
                  </a:txBody>
                  <a:tcPr marL="36576" marR="36576" marT="18288" marB="18288" anchor="ctr">
                    <a:solidFill>
                      <a:srgbClr val="303B4F"/>
                    </a:solidFill>
                  </a:tcPr>
                </a:tc>
                <a:tc>
                  <a:txBody>
                    <a:bodyPr/>
                    <a:lstStyle/>
                    <a:p>
                      <a:pPr algn="ctr"/>
                      <a:r>
                        <a:rPr sz="2000" b="0">
                          <a:solidFill>
                            <a:srgbClr val="142233"/>
                          </a:solidFill>
                          <a:latin typeface="League Spartan"/>
                        </a:rPr>
                        <a:t>60.0%</a:t>
                      </a:r>
                    </a:p>
                  </a:txBody>
                  <a:tcPr marL="36576" marR="36576" marT="18288" marB="18288" anchor="ctr">
                    <a:solidFill>
                      <a:srgbClr val="FFFFFF"/>
                    </a:solidFill>
                  </a:tcPr>
                </a:tc>
                <a:tc>
                  <a:txBody>
                    <a:bodyPr/>
                    <a:lstStyle/>
                    <a:p>
                      <a:pPr algn="ctr"/>
                      <a:r>
                        <a:rPr sz="2000" b="0">
                          <a:solidFill>
                            <a:srgbClr val="142233"/>
                          </a:solidFill>
                          <a:latin typeface="League Spartan"/>
                        </a:rPr>
                        <a:t>30.9%</a:t>
                      </a:r>
                    </a:p>
                  </a:txBody>
                  <a:tcPr marL="36576" marR="36576" marT="18288" marB="18288" anchor="ctr">
                    <a:solidFill>
                      <a:srgbClr val="FFFFFF"/>
                    </a:solidFill>
                  </a:tcPr>
                </a:tc>
                <a:tc>
                  <a:txBody>
                    <a:bodyPr/>
                    <a:lstStyle/>
                    <a:p>
                      <a:pPr algn="ctr"/>
                      <a:r>
                        <a:rPr sz="2000" b="0">
                          <a:solidFill>
                            <a:srgbClr val="142233"/>
                          </a:solidFill>
                          <a:latin typeface="League Spartan"/>
                        </a:rPr>
                        <a:t>20.0%</a:t>
                      </a:r>
                    </a:p>
                  </a:txBody>
                  <a:tcPr marL="36576" marR="36576" marT="18288" marB="18288" anchor="ctr">
                    <a:solidFill>
                      <a:srgbClr val="FFFFFF"/>
                    </a:solidFill>
                  </a:tcPr>
                </a:tc>
                <a:tc>
                  <a:txBody>
                    <a:bodyPr/>
                    <a:lstStyle/>
                    <a:p>
                      <a:pPr algn="ctr"/>
                      <a:r>
                        <a:rPr sz="2000" b="0">
                          <a:solidFill>
                            <a:srgbClr val="142233"/>
                          </a:solidFill>
                          <a:latin typeface="League Spartan"/>
                        </a:rPr>
                        <a:t>14.3%</a:t>
                      </a:r>
                    </a:p>
                  </a:txBody>
                  <a:tcPr marL="36576" marR="36576" marT="18288" marB="18288" anchor="ctr">
                    <a:solidFill>
                      <a:srgbClr val="FFFFFF"/>
                    </a:solidFill>
                  </a:tcPr>
                </a:tc>
                <a:tc>
                  <a:txBody>
                    <a:bodyPr/>
                    <a:lstStyle/>
                    <a:p>
                      <a:pPr algn="ctr"/>
                      <a:r>
                        <a:rPr sz="2000" b="0">
                          <a:solidFill>
                            <a:srgbClr val="142233"/>
                          </a:solidFill>
                          <a:latin typeface="League Spartan"/>
                        </a:rPr>
                        <a:t>10.8%</a:t>
                      </a:r>
                    </a:p>
                  </a:txBody>
                  <a:tcPr marL="36576" marR="36576" marT="18288" marB="18288" anchor="ctr">
                    <a:solidFill>
                      <a:srgbClr val="FFFFFF"/>
                    </a:solidFill>
                  </a:tcPr>
                </a:tc>
                <a:tc>
                  <a:txBody>
                    <a:bodyPr/>
                    <a:lstStyle/>
                    <a:p>
                      <a:pPr algn="ctr"/>
                      <a:r>
                        <a:rPr sz="2000" b="0">
                          <a:solidFill>
                            <a:srgbClr val="142233"/>
                          </a:solidFill>
                          <a:latin typeface="League Spartan"/>
                        </a:rPr>
                        <a:t>8.4%</a:t>
                      </a:r>
                    </a:p>
                  </a:txBody>
                  <a:tcPr marL="36576" marR="36576" marT="18288" marB="18288" anchor="ctr">
                    <a:solidFill>
                      <a:srgbClr val="FFFFFF"/>
                    </a:solidFill>
                  </a:tcPr>
                </a:tc>
                <a:tc>
                  <a:txBody>
                    <a:bodyPr/>
                    <a:lstStyle/>
                    <a:p>
                      <a:pPr algn="ctr"/>
                      <a:r>
                        <a:rPr sz="2000" b="0">
                          <a:solidFill>
                            <a:srgbClr val="142233"/>
                          </a:solidFill>
                          <a:latin typeface="League Spartan"/>
                        </a:rPr>
                        <a:t>6.7%</a:t>
                      </a:r>
                    </a:p>
                  </a:txBody>
                  <a:tcPr marL="36576" marR="36576" marT="18288" marB="18288" anchor="ctr">
                    <a:solidFill>
                      <a:srgbClr val="FFFFFF"/>
                    </a:solidFill>
                  </a:tcPr>
                </a:tc>
                <a:tc>
                  <a:txBody>
                    <a:bodyPr/>
                    <a:lstStyle/>
                    <a:p>
                      <a:pPr algn="ctr"/>
                      <a:r>
                        <a:rPr sz="2000" b="0">
                          <a:solidFill>
                            <a:srgbClr val="142233"/>
                          </a:solidFill>
                          <a:latin typeface="League Spartan"/>
                        </a:rPr>
                        <a:t>5.4%</a:t>
                      </a:r>
                    </a:p>
                  </a:txBody>
                  <a:tcPr marL="36576" marR="36576" marT="18288" marB="18288" anchor="ctr">
                    <a:solidFill>
                      <a:srgbClr val="FFFFFF"/>
                    </a:solidFill>
                  </a:tcPr>
                </a:tc>
                <a:tc>
                  <a:txBody>
                    <a:bodyPr/>
                    <a:lstStyle/>
                    <a:p>
                      <a:pPr algn="ctr"/>
                      <a:r>
                        <a:rPr sz="2000" b="0">
                          <a:solidFill>
                            <a:srgbClr val="142233"/>
                          </a:solidFill>
                          <a:latin typeface="League Spartan"/>
                        </a:rPr>
                        <a:t>4.3%</a:t>
                      </a:r>
                    </a:p>
                  </a:txBody>
                  <a:tcPr marL="36576" marR="36576" marT="18288" marB="18288" anchor="ctr">
                    <a:solidFill>
                      <a:srgbClr val="FFFFFF"/>
                    </a:solidFill>
                  </a:tcPr>
                </a:tc>
                <a:tc>
                  <a:txBody>
                    <a:bodyPr/>
                    <a:lstStyle/>
                    <a:p>
                      <a:pPr algn="ctr"/>
                      <a:r>
                        <a:rPr sz="2000" b="0">
                          <a:solidFill>
                            <a:srgbClr val="142233"/>
                          </a:solidFill>
                          <a:latin typeface="League Spartan"/>
                        </a:rPr>
                        <a:t>3.5%</a:t>
                      </a:r>
                    </a:p>
                  </a:txBody>
                  <a:tcPr marL="36576" marR="36576" marT="18288" marB="18288" anchor="ctr">
                    <a:solidFill>
                      <a:srgbClr val="FFFFFF"/>
                    </a:solidFill>
                  </a:tcPr>
                </a:tc>
                <a:tc>
                  <a:txBody>
                    <a:bodyPr/>
                    <a:lstStyle/>
                    <a:p>
                      <a:pPr algn="ctr"/>
                      <a:r>
                        <a:rPr sz="2000" b="0">
                          <a:solidFill>
                            <a:srgbClr val="142233"/>
                          </a:solidFill>
                          <a:latin typeface="League Spartan"/>
                        </a:rPr>
                        <a:t>2.9%</a:t>
                      </a:r>
                    </a:p>
                  </a:txBody>
                  <a:tcPr marL="36576" marR="36576" marT="18288" marB="18288" anchor="ctr">
                    <a:solidFill>
                      <a:srgbClr val="FFFFFF"/>
                    </a:solidFill>
                  </a:tcPr>
                </a:tc>
                <a:extLst>
                  <a:ext uri="{0D108BD9-81ED-4DB2-BD59-A6C34878D82A}">
                    <a16:rowId xmlns:a16="http://schemas.microsoft.com/office/drawing/2014/main" val="10003"/>
                  </a:ext>
                </a:extLst>
              </a:tr>
              <a:tr h="566928">
                <a:tc>
                  <a:txBody>
                    <a:bodyPr/>
                    <a:lstStyle/>
                    <a:p>
                      <a:pPr algn="ctr"/>
                      <a:r>
                        <a:rPr sz="2000" b="1">
                          <a:solidFill>
                            <a:srgbClr val="FFFFFF"/>
                          </a:solidFill>
                          <a:latin typeface="League Spartan"/>
                        </a:rPr>
                        <a:t>5%</a:t>
                      </a:r>
                    </a:p>
                  </a:txBody>
                  <a:tcPr marL="36576" marR="36576" marT="18288" marB="18288" anchor="ctr">
                    <a:solidFill>
                      <a:srgbClr val="303B4F"/>
                    </a:solidFill>
                  </a:tcPr>
                </a:tc>
                <a:tc>
                  <a:txBody>
                    <a:bodyPr/>
                    <a:lstStyle/>
                    <a:p>
                      <a:pPr algn="ctr"/>
                      <a:r>
                        <a:rPr sz="2000" b="0">
                          <a:solidFill>
                            <a:srgbClr val="142233"/>
                          </a:solidFill>
                          <a:latin typeface="League Spartan"/>
                        </a:rPr>
                        <a:t>90.0%</a:t>
                      </a:r>
                    </a:p>
                  </a:txBody>
                  <a:tcPr marL="36576" marR="36576" marT="18288" marB="18288" anchor="ctr">
                    <a:solidFill>
                      <a:srgbClr val="E5E8EB"/>
                    </a:solidFill>
                  </a:tcPr>
                </a:tc>
                <a:tc>
                  <a:txBody>
                    <a:bodyPr/>
                    <a:lstStyle/>
                    <a:p>
                      <a:pPr algn="ctr"/>
                      <a:r>
                        <a:rPr sz="2000" b="0">
                          <a:solidFill>
                            <a:srgbClr val="142233"/>
                          </a:solidFill>
                          <a:latin typeface="League Spartan"/>
                        </a:rPr>
                        <a:t>42.5%</a:t>
                      </a:r>
                    </a:p>
                  </a:txBody>
                  <a:tcPr marL="36576" marR="36576" marT="18288" marB="18288" anchor="ctr">
                    <a:solidFill>
                      <a:srgbClr val="E5E8EB"/>
                    </a:solidFill>
                  </a:tcPr>
                </a:tc>
                <a:tc>
                  <a:txBody>
                    <a:bodyPr/>
                    <a:lstStyle/>
                    <a:p>
                      <a:pPr algn="ctr"/>
                      <a:r>
                        <a:rPr sz="2000" b="0">
                          <a:solidFill>
                            <a:srgbClr val="142233"/>
                          </a:solidFill>
                          <a:latin typeface="League Spartan"/>
                        </a:rPr>
                        <a:t>26.7%</a:t>
                      </a:r>
                    </a:p>
                  </a:txBody>
                  <a:tcPr marL="36576" marR="36576" marT="18288" marB="18288" anchor="ctr">
                    <a:solidFill>
                      <a:srgbClr val="E5E8EB"/>
                    </a:solidFill>
                  </a:tcPr>
                </a:tc>
                <a:tc>
                  <a:txBody>
                    <a:bodyPr/>
                    <a:lstStyle/>
                    <a:p>
                      <a:pPr algn="ctr"/>
                      <a:r>
                        <a:rPr sz="2000" b="0">
                          <a:solidFill>
                            <a:srgbClr val="142233"/>
                          </a:solidFill>
                          <a:latin typeface="League Spartan"/>
                        </a:rPr>
                        <a:t>18.8%</a:t>
                      </a:r>
                    </a:p>
                  </a:txBody>
                  <a:tcPr marL="36576" marR="36576" marT="18288" marB="18288" anchor="ctr">
                    <a:solidFill>
                      <a:srgbClr val="E5E8EB"/>
                    </a:solidFill>
                  </a:tcPr>
                </a:tc>
                <a:tc>
                  <a:txBody>
                    <a:bodyPr/>
                    <a:lstStyle/>
                    <a:p>
                      <a:pPr algn="ctr"/>
                      <a:r>
                        <a:rPr sz="2000" b="0">
                          <a:solidFill>
                            <a:srgbClr val="142233"/>
                          </a:solidFill>
                          <a:latin typeface="League Spartan"/>
                        </a:rPr>
                        <a:t>14.0%</a:t>
                      </a:r>
                    </a:p>
                  </a:txBody>
                  <a:tcPr marL="36576" marR="36576" marT="18288" marB="18288" anchor="ctr">
                    <a:solidFill>
                      <a:srgbClr val="E5E8EB"/>
                    </a:solidFill>
                  </a:tcPr>
                </a:tc>
                <a:tc>
                  <a:txBody>
                    <a:bodyPr/>
                    <a:lstStyle/>
                    <a:p>
                      <a:pPr algn="ctr"/>
                      <a:r>
                        <a:rPr sz="2000" b="0">
                          <a:solidFill>
                            <a:srgbClr val="142233"/>
                          </a:solidFill>
                          <a:latin typeface="League Spartan"/>
                        </a:rPr>
                        <a:t>10.8%</a:t>
                      </a:r>
                    </a:p>
                  </a:txBody>
                  <a:tcPr marL="36576" marR="36576" marT="18288" marB="18288" anchor="ctr">
                    <a:solidFill>
                      <a:srgbClr val="E5E8EB"/>
                    </a:solidFill>
                  </a:tcPr>
                </a:tc>
                <a:tc>
                  <a:txBody>
                    <a:bodyPr/>
                    <a:lstStyle/>
                    <a:p>
                      <a:pPr algn="ctr"/>
                      <a:r>
                        <a:rPr sz="2000" b="0">
                          <a:solidFill>
                            <a:srgbClr val="142233"/>
                          </a:solidFill>
                          <a:latin typeface="League Spartan"/>
                        </a:rPr>
                        <a:t>8.6%</a:t>
                      </a:r>
                    </a:p>
                  </a:txBody>
                  <a:tcPr marL="36576" marR="36576" marT="18288" marB="18288" anchor="ctr">
                    <a:solidFill>
                      <a:srgbClr val="E5E8EB"/>
                    </a:solidFill>
                  </a:tcPr>
                </a:tc>
                <a:tc>
                  <a:txBody>
                    <a:bodyPr/>
                    <a:lstStyle/>
                    <a:p>
                      <a:pPr algn="ctr"/>
                      <a:r>
                        <a:rPr sz="2000" b="0">
                          <a:solidFill>
                            <a:srgbClr val="142233"/>
                          </a:solidFill>
                          <a:latin typeface="League Spartan"/>
                        </a:rPr>
                        <a:t>6.9%</a:t>
                      </a:r>
                    </a:p>
                  </a:txBody>
                  <a:tcPr marL="36576" marR="36576" marT="18288" marB="18288" anchor="ctr">
                    <a:solidFill>
                      <a:srgbClr val="E5E8EB"/>
                    </a:solidFill>
                  </a:tcPr>
                </a:tc>
                <a:tc>
                  <a:txBody>
                    <a:bodyPr/>
                    <a:lstStyle/>
                    <a:p>
                      <a:pPr algn="ctr"/>
                      <a:r>
                        <a:rPr sz="2000" b="0">
                          <a:solidFill>
                            <a:srgbClr val="142233"/>
                          </a:solidFill>
                          <a:latin typeface="League Spartan"/>
                        </a:rPr>
                        <a:t>5.6%</a:t>
                      </a:r>
                    </a:p>
                  </a:txBody>
                  <a:tcPr marL="36576" marR="36576" marT="18288" marB="18288" anchor="ctr">
                    <a:solidFill>
                      <a:srgbClr val="E5E8EB"/>
                    </a:solidFill>
                  </a:tcPr>
                </a:tc>
                <a:tc>
                  <a:txBody>
                    <a:bodyPr/>
                    <a:lstStyle/>
                    <a:p>
                      <a:pPr algn="ctr"/>
                      <a:r>
                        <a:rPr sz="2000" b="0">
                          <a:solidFill>
                            <a:srgbClr val="142233"/>
                          </a:solidFill>
                          <a:latin typeface="League Spartan"/>
                        </a:rPr>
                        <a:t>4.5%</a:t>
                      </a:r>
                    </a:p>
                  </a:txBody>
                  <a:tcPr marL="36576" marR="36576" marT="18288" marB="18288" anchor="ctr">
                    <a:solidFill>
                      <a:srgbClr val="E5E8EB"/>
                    </a:solidFill>
                  </a:tcPr>
                </a:tc>
                <a:tc>
                  <a:txBody>
                    <a:bodyPr/>
                    <a:lstStyle/>
                    <a:p>
                      <a:pPr algn="ctr"/>
                      <a:r>
                        <a:rPr sz="2000" b="0">
                          <a:solidFill>
                            <a:srgbClr val="142233"/>
                          </a:solidFill>
                          <a:latin typeface="League Spartan"/>
                        </a:rPr>
                        <a:t>3.6%</a:t>
                      </a:r>
                    </a:p>
                  </a:txBody>
                  <a:tcPr marL="36576" marR="36576" marT="18288" marB="18288" anchor="ctr">
                    <a:solidFill>
                      <a:srgbClr val="E5E8EB"/>
                    </a:solidFill>
                  </a:tcPr>
                </a:tc>
                <a:extLst>
                  <a:ext uri="{0D108BD9-81ED-4DB2-BD59-A6C34878D82A}">
                    <a16:rowId xmlns:a16="http://schemas.microsoft.com/office/drawing/2014/main" val="10004"/>
                  </a:ext>
                </a:extLst>
              </a:tr>
              <a:tr h="566928">
                <a:tc>
                  <a:txBody>
                    <a:bodyPr/>
                    <a:lstStyle/>
                    <a:p>
                      <a:pPr algn="ctr"/>
                      <a:r>
                        <a:rPr sz="2000" b="1">
                          <a:solidFill>
                            <a:srgbClr val="FFFFFF"/>
                          </a:solidFill>
                          <a:latin typeface="League Spartan"/>
                        </a:rPr>
                        <a:t>10%</a:t>
                      </a:r>
                    </a:p>
                  </a:txBody>
                  <a:tcPr marL="36576" marR="36576" marT="18288" marB="18288" anchor="ctr">
                    <a:solidFill>
                      <a:srgbClr val="303B4F"/>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2000" b="0">
                          <a:solidFill>
                            <a:srgbClr val="142233"/>
                          </a:solidFill>
                          <a:latin typeface="League Spartan"/>
                        </a:rPr>
                        <a:t>170.0%</a:t>
                      </a:r>
                    </a:p>
                  </a:txBody>
                  <a:tcPr marL="36576" marR="36576" marT="18288" marB="18288" anchor="ctr">
                    <a:solidFill>
                      <a:srgbClr val="FFFFFF"/>
                    </a:solidFill>
                  </a:tcPr>
                </a:tc>
                <a:tc>
                  <a:txBody>
                    <a:bodyPr/>
                    <a:lstStyle/>
                    <a:p>
                      <a:pPr algn="ctr"/>
                      <a:r>
                        <a:rPr sz="2000" b="0">
                          <a:solidFill>
                            <a:srgbClr val="142233"/>
                          </a:solidFill>
                          <a:latin typeface="League Spartan"/>
                        </a:rPr>
                        <a:t>80.0%</a:t>
                      </a:r>
                    </a:p>
                  </a:txBody>
                  <a:tcPr marL="36576" marR="36576" marT="18288" marB="18288" anchor="ctr">
                    <a:solidFill>
                      <a:srgbClr val="FFFFFF"/>
                    </a:solidFill>
                  </a:tcPr>
                </a:tc>
                <a:tc>
                  <a:txBody>
                    <a:bodyPr/>
                    <a:lstStyle/>
                    <a:p>
                      <a:pPr algn="ctr"/>
                      <a:r>
                        <a:rPr sz="2000" b="0">
                          <a:solidFill>
                            <a:srgbClr val="142233"/>
                          </a:solidFill>
                          <a:latin typeface="League Spartan"/>
                        </a:rPr>
                        <a:t>50.0%</a:t>
                      </a:r>
                    </a:p>
                  </a:txBody>
                  <a:tcPr marL="36576" marR="36576" marT="18288" marB="18288" anchor="ctr">
                    <a:solidFill>
                      <a:srgbClr val="FFFFFF"/>
                    </a:solidFill>
                  </a:tcPr>
                </a:tc>
                <a:tc>
                  <a:txBody>
                    <a:bodyPr/>
                    <a:lstStyle/>
                    <a:p>
                      <a:pPr algn="ctr"/>
                      <a:r>
                        <a:rPr sz="2000" b="0">
                          <a:solidFill>
                            <a:srgbClr val="142233"/>
                          </a:solidFill>
                          <a:latin typeface="League Spartan"/>
                        </a:rPr>
                        <a:t>35.0%</a:t>
                      </a:r>
                    </a:p>
                  </a:txBody>
                  <a:tcPr marL="36576" marR="36576" marT="18288" marB="18288" anchor="ctr">
                    <a:solidFill>
                      <a:srgbClr val="FFFFFF"/>
                    </a:solidFill>
                  </a:tcPr>
                </a:tc>
                <a:tc>
                  <a:txBody>
                    <a:bodyPr/>
                    <a:lstStyle/>
                    <a:p>
                      <a:pPr algn="ctr"/>
                      <a:r>
                        <a:rPr sz="2000" b="0">
                          <a:solidFill>
                            <a:srgbClr val="142233"/>
                          </a:solidFill>
                          <a:latin typeface="League Spartan"/>
                        </a:rPr>
                        <a:t>26.0%</a:t>
                      </a:r>
                    </a:p>
                  </a:txBody>
                  <a:tcPr marL="36576" marR="36576" marT="18288" marB="18288" anchor="ctr">
                    <a:solidFill>
                      <a:srgbClr val="FFFFFF"/>
                    </a:solidFill>
                  </a:tcPr>
                </a:tc>
                <a:tc>
                  <a:txBody>
                    <a:bodyPr/>
                    <a:lstStyle/>
                    <a:p>
                      <a:pPr algn="ctr"/>
                      <a:r>
                        <a:rPr sz="2000" b="0">
                          <a:solidFill>
                            <a:srgbClr val="142233"/>
                          </a:solidFill>
                          <a:latin typeface="League Spartan"/>
                        </a:rPr>
                        <a:t>20.0%</a:t>
                      </a:r>
                    </a:p>
                  </a:txBody>
                  <a:tcPr marL="36576" marR="36576" marT="18288" marB="18288" anchor="ctr">
                    <a:solidFill>
                      <a:srgbClr val="FFFFFF"/>
                    </a:solidFill>
                  </a:tcPr>
                </a:tc>
                <a:tc>
                  <a:txBody>
                    <a:bodyPr/>
                    <a:lstStyle/>
                    <a:p>
                      <a:pPr algn="ctr"/>
                      <a:r>
                        <a:rPr sz="2000" b="0">
                          <a:solidFill>
                            <a:srgbClr val="142233"/>
                          </a:solidFill>
                          <a:latin typeface="League Spartan"/>
                        </a:rPr>
                        <a:t>15.7%</a:t>
                      </a:r>
                    </a:p>
                  </a:txBody>
                  <a:tcPr marL="36576" marR="36576" marT="18288" marB="18288" anchor="ctr">
                    <a:solidFill>
                      <a:srgbClr val="FFFFFF"/>
                    </a:solidFill>
                  </a:tcPr>
                </a:tc>
                <a:tc>
                  <a:txBody>
                    <a:bodyPr/>
                    <a:lstStyle/>
                    <a:p>
                      <a:pPr algn="ctr"/>
                      <a:r>
                        <a:rPr sz="2000" b="0">
                          <a:solidFill>
                            <a:srgbClr val="142233"/>
                          </a:solidFill>
                          <a:latin typeface="League Spartan"/>
                        </a:rPr>
                        <a:t>12.5%</a:t>
                      </a:r>
                    </a:p>
                  </a:txBody>
                  <a:tcPr marL="36576" marR="36576" marT="18288" marB="18288" anchor="ctr">
                    <a:solidFill>
                      <a:srgbClr val="FFFFFF"/>
                    </a:solidFill>
                  </a:tcPr>
                </a:tc>
                <a:tc>
                  <a:txBody>
                    <a:bodyPr/>
                    <a:lstStyle/>
                    <a:p>
                      <a:pPr algn="ctr"/>
                      <a:r>
                        <a:rPr sz="2000" b="0">
                          <a:solidFill>
                            <a:srgbClr val="142233"/>
                          </a:solidFill>
                          <a:latin typeface="League Spartan"/>
                        </a:rPr>
                        <a:t>10.0%</a:t>
                      </a:r>
                    </a:p>
                  </a:txBody>
                  <a:tcPr marL="36576" marR="36576" marT="18288" marB="18288" anchor="ctr">
                    <a:solidFill>
                      <a:srgbClr val="FFFFFF"/>
                    </a:solidFill>
                  </a:tcPr>
                </a:tc>
                <a:tc>
                  <a:txBody>
                    <a:bodyPr/>
                    <a:lstStyle/>
                    <a:p>
                      <a:pPr algn="ctr"/>
                      <a:r>
                        <a:rPr sz="2000" b="0">
                          <a:solidFill>
                            <a:srgbClr val="142233"/>
                          </a:solidFill>
                          <a:latin typeface="League Spartan"/>
                        </a:rPr>
                        <a:t>8.0%</a:t>
                      </a:r>
                    </a:p>
                  </a:txBody>
                  <a:tcPr marL="36576" marR="36576" marT="18288" marB="18288" anchor="ctr">
                    <a:solidFill>
                      <a:srgbClr val="FFFFFF"/>
                    </a:solidFill>
                  </a:tcPr>
                </a:tc>
                <a:extLst>
                  <a:ext uri="{0D108BD9-81ED-4DB2-BD59-A6C34878D82A}">
                    <a16:rowId xmlns:a16="http://schemas.microsoft.com/office/drawing/2014/main" val="10005"/>
                  </a:ext>
                </a:extLst>
              </a:tr>
              <a:tr h="566928">
                <a:tc>
                  <a:txBody>
                    <a:bodyPr/>
                    <a:lstStyle/>
                    <a:p>
                      <a:pPr algn="ctr"/>
                      <a:r>
                        <a:rPr sz="2000" b="1">
                          <a:solidFill>
                            <a:srgbClr val="FFFFFF"/>
                          </a:solidFill>
                          <a:latin typeface="League Spartan"/>
                        </a:rPr>
                        <a:t>15%</a:t>
                      </a:r>
                    </a:p>
                  </a:txBody>
                  <a:tcPr marL="36576" marR="36576" marT="18288" marB="18288" anchor="ctr">
                    <a:solidFill>
                      <a:srgbClr val="303B4F"/>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2000" b="0">
                          <a:solidFill>
                            <a:srgbClr val="142233"/>
                          </a:solidFill>
                          <a:latin typeface="League Spartan"/>
                        </a:rPr>
                        <a:t>240.0%</a:t>
                      </a:r>
                    </a:p>
                  </a:txBody>
                  <a:tcPr marL="36576" marR="36576" marT="18288" marB="18288" anchor="ctr">
                    <a:solidFill>
                      <a:srgbClr val="E5E8EB"/>
                    </a:solidFill>
                  </a:tcPr>
                </a:tc>
                <a:tc>
                  <a:txBody>
                    <a:bodyPr/>
                    <a:lstStyle/>
                    <a:p>
                      <a:pPr algn="ctr"/>
                      <a:r>
                        <a:rPr sz="2000" b="0">
                          <a:solidFill>
                            <a:srgbClr val="142233"/>
                          </a:solidFill>
                          <a:latin typeface="League Spartan"/>
                        </a:rPr>
                        <a:t>112.5%</a:t>
                      </a:r>
                    </a:p>
                  </a:txBody>
                  <a:tcPr marL="36576" marR="36576" marT="18288" marB="18288" anchor="ctr">
                    <a:solidFill>
                      <a:srgbClr val="E5E8EB"/>
                    </a:solidFill>
                  </a:tcPr>
                </a:tc>
                <a:tc>
                  <a:txBody>
                    <a:bodyPr/>
                    <a:lstStyle/>
                    <a:p>
                      <a:pPr algn="ctr"/>
                      <a:r>
                        <a:rPr sz="2000" b="0">
                          <a:solidFill>
                            <a:srgbClr val="142233"/>
                          </a:solidFill>
                          <a:latin typeface="League Spartan"/>
                        </a:rPr>
                        <a:t>70.0%</a:t>
                      </a:r>
                    </a:p>
                  </a:txBody>
                  <a:tcPr marL="36576" marR="36576" marT="18288" marB="18288" anchor="ctr">
                    <a:solidFill>
                      <a:srgbClr val="E5E8EB"/>
                    </a:solidFill>
                  </a:tcPr>
                </a:tc>
                <a:tc>
                  <a:txBody>
                    <a:bodyPr/>
                    <a:lstStyle/>
                    <a:p>
                      <a:pPr algn="ctr"/>
                      <a:r>
                        <a:rPr sz="2000" b="0">
                          <a:solidFill>
                            <a:srgbClr val="142233"/>
                          </a:solidFill>
                          <a:latin typeface="League Spartan"/>
                        </a:rPr>
                        <a:t>48.8%</a:t>
                      </a:r>
                    </a:p>
                  </a:txBody>
                  <a:tcPr marL="36576" marR="36576" marT="18288" marB="18288" anchor="ctr">
                    <a:solidFill>
                      <a:srgbClr val="E5E8EB"/>
                    </a:solidFill>
                  </a:tcPr>
                </a:tc>
                <a:tc>
                  <a:txBody>
                    <a:bodyPr/>
                    <a:lstStyle/>
                    <a:p>
                      <a:pPr algn="ctr"/>
                      <a:r>
                        <a:rPr sz="2000" b="0">
                          <a:solidFill>
                            <a:srgbClr val="142233"/>
                          </a:solidFill>
                          <a:latin typeface="League Spartan"/>
                        </a:rPr>
                        <a:t>36.0%</a:t>
                      </a:r>
                    </a:p>
                  </a:txBody>
                  <a:tcPr marL="36576" marR="36576" marT="18288" marB="18288" anchor="ctr">
                    <a:solidFill>
                      <a:srgbClr val="E5E8EB"/>
                    </a:solidFill>
                  </a:tcPr>
                </a:tc>
                <a:tc>
                  <a:txBody>
                    <a:bodyPr/>
                    <a:lstStyle/>
                    <a:p>
                      <a:pPr algn="ctr"/>
                      <a:r>
                        <a:rPr sz="2000" b="0">
                          <a:solidFill>
                            <a:srgbClr val="142233"/>
                          </a:solidFill>
                          <a:latin typeface="League Spartan"/>
                        </a:rPr>
                        <a:t>27.5%</a:t>
                      </a:r>
                    </a:p>
                  </a:txBody>
                  <a:tcPr marL="36576" marR="36576" marT="18288" marB="18288" anchor="ctr">
                    <a:solidFill>
                      <a:srgbClr val="E5E8EB"/>
                    </a:solidFill>
                  </a:tcPr>
                </a:tc>
                <a:tc>
                  <a:txBody>
                    <a:bodyPr/>
                    <a:lstStyle/>
                    <a:p>
                      <a:pPr algn="ctr"/>
                      <a:r>
                        <a:rPr sz="2000" b="0">
                          <a:solidFill>
                            <a:srgbClr val="142233"/>
                          </a:solidFill>
                          <a:latin typeface="League Spartan"/>
                        </a:rPr>
                        <a:t>21.4%</a:t>
                      </a:r>
                    </a:p>
                  </a:txBody>
                  <a:tcPr marL="36576" marR="36576" marT="18288" marB="18288" anchor="ctr">
                    <a:solidFill>
                      <a:srgbClr val="E5E8EB"/>
                    </a:solidFill>
                  </a:tcPr>
                </a:tc>
                <a:tc>
                  <a:txBody>
                    <a:bodyPr/>
                    <a:lstStyle/>
                    <a:p>
                      <a:pPr algn="ctr"/>
                      <a:r>
                        <a:rPr sz="2000" b="0">
                          <a:solidFill>
                            <a:srgbClr val="142233"/>
                          </a:solidFill>
                          <a:latin typeface="League Spartan"/>
                        </a:rPr>
                        <a:t>16.9%</a:t>
                      </a:r>
                    </a:p>
                  </a:txBody>
                  <a:tcPr marL="36576" marR="36576" marT="18288" marB="18288" anchor="ctr">
                    <a:solidFill>
                      <a:srgbClr val="E5E8EB"/>
                    </a:solidFill>
                  </a:tcPr>
                </a:tc>
                <a:tc>
                  <a:txBody>
                    <a:bodyPr/>
                    <a:lstStyle/>
                    <a:p>
                      <a:pPr algn="ctr"/>
                      <a:r>
                        <a:rPr sz="2000" b="0">
                          <a:solidFill>
                            <a:srgbClr val="142233"/>
                          </a:solidFill>
                          <a:latin typeface="League Spartan"/>
                        </a:rPr>
                        <a:t>13.3%</a:t>
                      </a:r>
                    </a:p>
                  </a:txBody>
                  <a:tcPr marL="36576" marR="36576" marT="18288" marB="18288" anchor="ctr">
                    <a:solidFill>
                      <a:srgbClr val="E5E8EB"/>
                    </a:solidFill>
                  </a:tcPr>
                </a:tc>
                <a:extLst>
                  <a:ext uri="{0D108BD9-81ED-4DB2-BD59-A6C34878D82A}">
                    <a16:rowId xmlns:a16="http://schemas.microsoft.com/office/drawing/2014/main" val="10006"/>
                  </a:ext>
                </a:extLst>
              </a:tr>
              <a:tr h="566928">
                <a:tc>
                  <a:txBody>
                    <a:bodyPr/>
                    <a:lstStyle/>
                    <a:p>
                      <a:pPr algn="ctr"/>
                      <a:r>
                        <a:rPr sz="2000" b="1">
                          <a:solidFill>
                            <a:srgbClr val="FFFFFF"/>
                          </a:solidFill>
                          <a:latin typeface="League Spartan"/>
                        </a:rPr>
                        <a:t>20%</a:t>
                      </a:r>
                    </a:p>
                  </a:txBody>
                  <a:tcPr marL="36576" marR="36576" marT="18288" marB="18288" anchor="ctr">
                    <a:solidFill>
                      <a:srgbClr val="303B4F"/>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2000" b="0">
                          <a:solidFill>
                            <a:srgbClr val="142233"/>
                          </a:solidFill>
                          <a:latin typeface="League Spartan"/>
                        </a:rPr>
                        <a:t>300.0%</a:t>
                      </a:r>
                    </a:p>
                  </a:txBody>
                  <a:tcPr marL="36576" marR="36576" marT="18288" marB="18288" anchor="ctr">
                    <a:solidFill>
                      <a:srgbClr val="FFFFFF"/>
                    </a:solidFill>
                  </a:tcPr>
                </a:tc>
                <a:tc>
                  <a:txBody>
                    <a:bodyPr/>
                    <a:lstStyle/>
                    <a:p>
                      <a:pPr algn="ctr"/>
                      <a:r>
                        <a:rPr sz="2000" b="0">
                          <a:solidFill>
                            <a:srgbClr val="142233"/>
                          </a:solidFill>
                          <a:latin typeface="League Spartan"/>
                        </a:rPr>
                        <a:t>140.0%</a:t>
                      </a:r>
                    </a:p>
                  </a:txBody>
                  <a:tcPr marL="36576" marR="36576" marT="18288" marB="18288" anchor="ctr">
                    <a:solidFill>
                      <a:srgbClr val="FFFFFF"/>
                    </a:solidFill>
                  </a:tcPr>
                </a:tc>
                <a:tc>
                  <a:txBody>
                    <a:bodyPr/>
                    <a:lstStyle/>
                    <a:p>
                      <a:pPr algn="ctr"/>
                      <a:r>
                        <a:rPr sz="2000" b="0">
                          <a:solidFill>
                            <a:srgbClr val="142233"/>
                          </a:solidFill>
                          <a:latin typeface="League Spartan"/>
                        </a:rPr>
                        <a:t>86.7%</a:t>
                      </a:r>
                    </a:p>
                  </a:txBody>
                  <a:tcPr marL="36576" marR="36576" marT="18288" marB="18288" anchor="ctr">
                    <a:solidFill>
                      <a:srgbClr val="FFFFFF"/>
                    </a:solidFill>
                  </a:tcPr>
                </a:tc>
                <a:tc>
                  <a:txBody>
                    <a:bodyPr/>
                    <a:lstStyle/>
                    <a:p>
                      <a:pPr algn="ctr"/>
                      <a:r>
                        <a:rPr sz="2000" b="0">
                          <a:solidFill>
                            <a:srgbClr val="142233"/>
                          </a:solidFill>
                          <a:latin typeface="League Spartan"/>
                        </a:rPr>
                        <a:t>60.0%</a:t>
                      </a:r>
                    </a:p>
                  </a:txBody>
                  <a:tcPr marL="36576" marR="36576" marT="18288" marB="18288" anchor="ctr">
                    <a:solidFill>
                      <a:srgbClr val="FFFFFF"/>
                    </a:solidFill>
                  </a:tcPr>
                </a:tc>
                <a:tc>
                  <a:txBody>
                    <a:bodyPr/>
                    <a:lstStyle/>
                    <a:p>
                      <a:pPr algn="ctr"/>
                      <a:r>
                        <a:rPr sz="2000" b="0">
                          <a:solidFill>
                            <a:srgbClr val="142233"/>
                          </a:solidFill>
                          <a:latin typeface="League Spartan"/>
                        </a:rPr>
                        <a:t>44.0%</a:t>
                      </a:r>
                    </a:p>
                  </a:txBody>
                  <a:tcPr marL="36576" marR="36576" marT="18288" marB="18288" anchor="ctr">
                    <a:solidFill>
                      <a:srgbClr val="FFFFFF"/>
                    </a:solidFill>
                  </a:tcPr>
                </a:tc>
                <a:tc>
                  <a:txBody>
                    <a:bodyPr/>
                    <a:lstStyle/>
                    <a:p>
                      <a:pPr algn="ctr"/>
                      <a:r>
                        <a:rPr sz="2000" b="1">
                          <a:solidFill>
                            <a:srgbClr val="FFFFFF"/>
                          </a:solidFill>
                          <a:latin typeface="League Spartan"/>
                        </a:rPr>
                        <a:t>33.3%</a:t>
                      </a:r>
                    </a:p>
                  </a:txBody>
                  <a:tcPr marL="36576" marR="36576" marT="18288" marB="18288" anchor="ctr">
                    <a:solidFill>
                      <a:srgbClr val="FF7900"/>
                    </a:solidFill>
                  </a:tcPr>
                </a:tc>
                <a:tc>
                  <a:txBody>
                    <a:bodyPr/>
                    <a:lstStyle/>
                    <a:p>
                      <a:pPr algn="ctr"/>
                      <a:r>
                        <a:rPr sz="2000" b="0">
                          <a:solidFill>
                            <a:srgbClr val="142233"/>
                          </a:solidFill>
                          <a:latin typeface="League Spartan"/>
                        </a:rPr>
                        <a:t>25.7%</a:t>
                      </a:r>
                    </a:p>
                  </a:txBody>
                  <a:tcPr marL="36576" marR="36576" marT="18288" marB="18288" anchor="ctr">
                    <a:solidFill>
                      <a:srgbClr val="FFFFFF"/>
                    </a:solidFill>
                  </a:tcPr>
                </a:tc>
                <a:tc>
                  <a:txBody>
                    <a:bodyPr/>
                    <a:lstStyle/>
                    <a:p>
                      <a:pPr algn="ctr"/>
                      <a:r>
                        <a:rPr sz="2000" b="0">
                          <a:solidFill>
                            <a:srgbClr val="142233"/>
                          </a:solidFill>
                          <a:latin typeface="League Spartan"/>
                        </a:rPr>
                        <a:t>20.0%</a:t>
                      </a:r>
                    </a:p>
                  </a:txBody>
                  <a:tcPr marL="36576" marR="36576" marT="18288" marB="18288" anchor="ctr">
                    <a:solidFill>
                      <a:srgbClr val="FFFFFF"/>
                    </a:solidFill>
                  </a:tcPr>
                </a:tc>
                <a:extLst>
                  <a:ext uri="{0D108BD9-81ED-4DB2-BD59-A6C34878D82A}">
                    <a16:rowId xmlns:a16="http://schemas.microsoft.com/office/drawing/2014/main" val="10007"/>
                  </a:ext>
                </a:extLst>
              </a:tr>
              <a:tr h="566928">
                <a:tc>
                  <a:txBody>
                    <a:bodyPr/>
                    <a:lstStyle/>
                    <a:p>
                      <a:pPr algn="ctr"/>
                      <a:r>
                        <a:rPr sz="2000" b="1">
                          <a:solidFill>
                            <a:srgbClr val="FFFFFF"/>
                          </a:solidFill>
                          <a:latin typeface="League Spartan"/>
                        </a:rPr>
                        <a:t>25%</a:t>
                      </a:r>
                    </a:p>
                  </a:txBody>
                  <a:tcPr marL="36576" marR="36576" marT="18288" marB="18288" anchor="ctr">
                    <a:solidFill>
                      <a:srgbClr val="303B4F"/>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2000" b="0">
                          <a:solidFill>
                            <a:srgbClr val="142233"/>
                          </a:solidFill>
                          <a:latin typeface="League Spartan"/>
                        </a:rPr>
                        <a:t>350.0%</a:t>
                      </a:r>
                    </a:p>
                  </a:txBody>
                  <a:tcPr marL="36576" marR="36576" marT="18288" marB="18288" anchor="ctr">
                    <a:solidFill>
                      <a:srgbClr val="E5E8EB"/>
                    </a:solidFill>
                  </a:tcPr>
                </a:tc>
                <a:tc>
                  <a:txBody>
                    <a:bodyPr/>
                    <a:lstStyle/>
                    <a:p>
                      <a:pPr algn="ctr"/>
                      <a:r>
                        <a:rPr sz="2000" b="0">
                          <a:solidFill>
                            <a:srgbClr val="142233"/>
                          </a:solidFill>
                          <a:latin typeface="League Spartan"/>
                        </a:rPr>
                        <a:t>162.5%</a:t>
                      </a:r>
                    </a:p>
                  </a:txBody>
                  <a:tcPr marL="36576" marR="36576" marT="18288" marB="18288" anchor="ctr">
                    <a:solidFill>
                      <a:srgbClr val="E5E8EB"/>
                    </a:solidFill>
                  </a:tcPr>
                </a:tc>
                <a:tc>
                  <a:txBody>
                    <a:bodyPr/>
                    <a:lstStyle/>
                    <a:p>
                      <a:pPr algn="ctr"/>
                      <a:r>
                        <a:rPr sz="2000" b="0">
                          <a:solidFill>
                            <a:srgbClr val="142233"/>
                          </a:solidFill>
                          <a:latin typeface="League Spartan"/>
                        </a:rPr>
                        <a:t>100.0%</a:t>
                      </a:r>
                    </a:p>
                  </a:txBody>
                  <a:tcPr marL="36576" marR="36576" marT="18288" marB="18288" anchor="ctr">
                    <a:solidFill>
                      <a:srgbClr val="E5E8EB"/>
                    </a:solidFill>
                  </a:tcPr>
                </a:tc>
                <a:tc>
                  <a:txBody>
                    <a:bodyPr/>
                    <a:lstStyle/>
                    <a:p>
                      <a:pPr algn="ctr"/>
                      <a:r>
                        <a:rPr sz="2000" b="0">
                          <a:solidFill>
                            <a:srgbClr val="142233"/>
                          </a:solidFill>
                          <a:latin typeface="League Spartan"/>
                        </a:rPr>
                        <a:t>68.8%</a:t>
                      </a:r>
                    </a:p>
                  </a:txBody>
                  <a:tcPr marL="36576" marR="36576" marT="18288" marB="18288" anchor="ctr">
                    <a:solidFill>
                      <a:srgbClr val="E5E8EB"/>
                    </a:solidFill>
                  </a:tcPr>
                </a:tc>
                <a:tc>
                  <a:txBody>
                    <a:bodyPr/>
                    <a:lstStyle/>
                    <a:p>
                      <a:pPr algn="ctr"/>
                      <a:r>
                        <a:rPr sz="2000" b="0">
                          <a:solidFill>
                            <a:srgbClr val="142233"/>
                          </a:solidFill>
                          <a:latin typeface="League Spartan"/>
                        </a:rPr>
                        <a:t>50.0%</a:t>
                      </a:r>
                    </a:p>
                  </a:txBody>
                  <a:tcPr marL="36576" marR="36576" marT="18288" marB="18288" anchor="ctr">
                    <a:solidFill>
                      <a:srgbClr val="E5E8EB"/>
                    </a:solidFill>
                  </a:tcPr>
                </a:tc>
                <a:tc>
                  <a:txBody>
                    <a:bodyPr/>
                    <a:lstStyle/>
                    <a:p>
                      <a:pPr algn="ctr"/>
                      <a:r>
                        <a:rPr sz="2000" b="0">
                          <a:solidFill>
                            <a:srgbClr val="142233"/>
                          </a:solidFill>
                          <a:latin typeface="League Spartan"/>
                        </a:rPr>
                        <a:t>37.5%</a:t>
                      </a:r>
                    </a:p>
                  </a:txBody>
                  <a:tcPr marL="36576" marR="36576" marT="18288" marB="18288" anchor="ctr">
                    <a:solidFill>
                      <a:srgbClr val="E5E8EB"/>
                    </a:solidFill>
                  </a:tcPr>
                </a:tc>
                <a:tc>
                  <a:txBody>
                    <a:bodyPr/>
                    <a:lstStyle/>
                    <a:p>
                      <a:pPr algn="ctr"/>
                      <a:r>
                        <a:rPr sz="2000" b="0">
                          <a:solidFill>
                            <a:srgbClr val="142233"/>
                          </a:solidFill>
                          <a:latin typeface="League Spartan"/>
                        </a:rPr>
                        <a:t>28.6%</a:t>
                      </a:r>
                    </a:p>
                  </a:txBody>
                  <a:tcPr marL="36576" marR="36576" marT="18288" marB="18288" anchor="ctr">
                    <a:solidFill>
                      <a:srgbClr val="E5E8EB"/>
                    </a:solidFill>
                  </a:tcPr>
                </a:tc>
                <a:extLst>
                  <a:ext uri="{0D108BD9-81ED-4DB2-BD59-A6C34878D82A}">
                    <a16:rowId xmlns:a16="http://schemas.microsoft.com/office/drawing/2014/main" val="10008"/>
                  </a:ext>
                </a:extLst>
              </a:tr>
              <a:tr h="566928">
                <a:tc>
                  <a:txBody>
                    <a:bodyPr/>
                    <a:lstStyle/>
                    <a:p>
                      <a:pPr algn="ctr"/>
                      <a:r>
                        <a:rPr sz="2000" b="1">
                          <a:solidFill>
                            <a:srgbClr val="FFFFFF"/>
                          </a:solidFill>
                          <a:latin typeface="League Spartan"/>
                        </a:rPr>
                        <a:t>30%</a:t>
                      </a:r>
                    </a:p>
                  </a:txBody>
                  <a:tcPr marL="36576" marR="36576" marT="18288" marB="18288" anchor="ctr">
                    <a:solidFill>
                      <a:srgbClr val="303B4F"/>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a:solidFill>
                            <a:srgbClr val="FFFFFF"/>
                          </a:solidFill>
                          <a:latin typeface="League Spartan"/>
                        </a:rPr>
                        <a:t>not possible</a:t>
                      </a:r>
                    </a:p>
                  </a:txBody>
                  <a:tcPr marL="36576" marR="36576" marT="18288" marB="18288" anchor="ctr">
                    <a:solidFill>
                      <a:srgbClr val="F04E23"/>
                    </a:solidFill>
                  </a:tcPr>
                </a:tc>
                <a:tc>
                  <a:txBody>
                    <a:bodyPr/>
                    <a:lstStyle/>
                    <a:p>
                      <a:pPr algn="ctr"/>
                      <a:r>
                        <a:rPr sz="1600" b="0" dirty="0">
                          <a:solidFill>
                            <a:srgbClr val="FFFFFF"/>
                          </a:solidFill>
                          <a:latin typeface="League Spartan"/>
                        </a:rPr>
                        <a:t>not possible</a:t>
                      </a:r>
                    </a:p>
                  </a:txBody>
                  <a:tcPr marL="36576" marR="36576" marT="18288" marB="18288" anchor="ctr">
                    <a:solidFill>
                      <a:srgbClr val="F04E23"/>
                    </a:solidFill>
                  </a:tcPr>
                </a:tc>
                <a:tc>
                  <a:txBody>
                    <a:bodyPr/>
                    <a:lstStyle/>
                    <a:p>
                      <a:pPr algn="ctr"/>
                      <a:r>
                        <a:rPr sz="2000" b="0">
                          <a:solidFill>
                            <a:srgbClr val="142233"/>
                          </a:solidFill>
                          <a:latin typeface="League Spartan"/>
                        </a:rPr>
                        <a:t>390.0%</a:t>
                      </a:r>
                    </a:p>
                  </a:txBody>
                  <a:tcPr marL="36576" marR="36576" marT="18288" marB="18288" anchor="ctr">
                    <a:solidFill>
                      <a:srgbClr val="FFFFFF"/>
                    </a:solidFill>
                  </a:tcPr>
                </a:tc>
                <a:tc>
                  <a:txBody>
                    <a:bodyPr/>
                    <a:lstStyle/>
                    <a:p>
                      <a:pPr algn="ctr"/>
                      <a:r>
                        <a:rPr sz="2000" b="0">
                          <a:solidFill>
                            <a:srgbClr val="142233"/>
                          </a:solidFill>
                          <a:latin typeface="League Spartan"/>
                        </a:rPr>
                        <a:t>180.0%</a:t>
                      </a:r>
                    </a:p>
                  </a:txBody>
                  <a:tcPr marL="36576" marR="36576" marT="18288" marB="18288" anchor="ctr">
                    <a:solidFill>
                      <a:srgbClr val="FFFFFF"/>
                    </a:solidFill>
                  </a:tcPr>
                </a:tc>
                <a:tc>
                  <a:txBody>
                    <a:bodyPr/>
                    <a:lstStyle/>
                    <a:p>
                      <a:pPr algn="ctr"/>
                      <a:r>
                        <a:rPr sz="2000" b="0">
                          <a:solidFill>
                            <a:srgbClr val="142233"/>
                          </a:solidFill>
                          <a:latin typeface="League Spartan"/>
                        </a:rPr>
                        <a:t>110.0%</a:t>
                      </a:r>
                    </a:p>
                  </a:txBody>
                  <a:tcPr marL="36576" marR="36576" marT="18288" marB="18288" anchor="ctr">
                    <a:solidFill>
                      <a:srgbClr val="FFFFFF"/>
                    </a:solidFill>
                  </a:tcPr>
                </a:tc>
                <a:tc>
                  <a:txBody>
                    <a:bodyPr/>
                    <a:lstStyle/>
                    <a:p>
                      <a:pPr algn="ctr"/>
                      <a:r>
                        <a:rPr sz="2000" b="0">
                          <a:solidFill>
                            <a:srgbClr val="142233"/>
                          </a:solidFill>
                          <a:latin typeface="League Spartan"/>
                        </a:rPr>
                        <a:t>75.0%</a:t>
                      </a:r>
                    </a:p>
                  </a:txBody>
                  <a:tcPr marL="36576" marR="36576" marT="18288" marB="18288" anchor="ctr">
                    <a:solidFill>
                      <a:srgbClr val="FFFFFF"/>
                    </a:solidFill>
                  </a:tcPr>
                </a:tc>
                <a:tc>
                  <a:txBody>
                    <a:bodyPr/>
                    <a:lstStyle/>
                    <a:p>
                      <a:pPr algn="ctr"/>
                      <a:r>
                        <a:rPr sz="2000" b="0">
                          <a:solidFill>
                            <a:srgbClr val="142233"/>
                          </a:solidFill>
                          <a:latin typeface="League Spartan"/>
                        </a:rPr>
                        <a:t>54.0%</a:t>
                      </a:r>
                    </a:p>
                  </a:txBody>
                  <a:tcPr marL="36576" marR="36576" marT="18288" marB="18288" anchor="ctr">
                    <a:solidFill>
                      <a:srgbClr val="FFFFFF"/>
                    </a:solidFill>
                  </a:tcPr>
                </a:tc>
                <a:tc>
                  <a:txBody>
                    <a:bodyPr/>
                    <a:lstStyle/>
                    <a:p>
                      <a:pPr algn="ctr"/>
                      <a:r>
                        <a:rPr sz="2000" b="0" dirty="0">
                          <a:solidFill>
                            <a:srgbClr val="142233"/>
                          </a:solidFill>
                          <a:latin typeface="League Spartan"/>
                        </a:rPr>
                        <a:t>40.0%</a:t>
                      </a:r>
                    </a:p>
                  </a:txBody>
                  <a:tcPr marL="36576" marR="36576" marT="18288" marB="18288" anchor="ctr">
                    <a:solidFill>
                      <a:srgbClr val="FFFFFF"/>
                    </a:solidFill>
                  </a:tcPr>
                </a:tc>
                <a:extLst>
                  <a:ext uri="{0D108BD9-81ED-4DB2-BD59-A6C34878D82A}">
                    <a16:rowId xmlns:a16="http://schemas.microsoft.com/office/drawing/2014/main" val="10009"/>
                  </a:ext>
                </a:extLst>
              </a:tr>
            </a:tbl>
          </a:graphicData>
        </a:graphic>
      </p:graphicFrame>
      <p:grpSp>
        <p:nvGrpSpPr>
          <p:cNvPr id="23" name="Group 22">
            <a:extLst>
              <a:ext uri="{FF2B5EF4-FFF2-40B4-BE49-F238E27FC236}">
                <a16:creationId xmlns:a16="http://schemas.microsoft.com/office/drawing/2014/main" id="{EFF31F5C-8371-EACD-575F-1DCA49306EB2}"/>
              </a:ext>
            </a:extLst>
          </p:cNvPr>
          <p:cNvGrpSpPr/>
          <p:nvPr/>
        </p:nvGrpSpPr>
        <p:grpSpPr>
          <a:xfrm>
            <a:off x="3200400" y="8293310"/>
            <a:ext cx="11887200" cy="914400"/>
            <a:chOff x="3200400" y="8458200"/>
            <a:chExt cx="11887200" cy="914400"/>
          </a:xfrm>
        </p:grpSpPr>
        <p:sp>
          <p:nvSpPr>
            <p:cNvPr id="10" name="Rectangle 9"/>
            <p:cNvSpPr/>
            <p:nvPr/>
          </p:nvSpPr>
          <p:spPr>
            <a:xfrm>
              <a:off x="3200400" y="8458200"/>
              <a:ext cx="11887200" cy="914400"/>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8458200"/>
              <a:ext cx="11521440" cy="914400"/>
            </a:xfrm>
            <a:prstGeom prst="rect">
              <a:avLst/>
            </a:prstGeom>
            <a:noFill/>
          </p:spPr>
          <p:txBody>
            <a:bodyPr wrap="square" lIns="45720" tIns="0" rIns="45720" bIns="0" anchor="ctr">
              <a:spAutoFit/>
            </a:bodyPr>
            <a:lstStyle/>
            <a:p>
              <a:pPr algn="ctr">
                <a:lnSpc>
                  <a:spcPct val="115000"/>
                </a:lnSpc>
              </a:pPr>
              <a:r>
                <a:rPr sz="2000" b="1" i="0">
                  <a:solidFill>
                    <a:srgbClr val="142233"/>
                  </a:solidFill>
                  <a:latin typeface="League Spartan"/>
                </a:rPr>
                <a:t>This table is the receipt.</a:t>
              </a:r>
            </a:p>
            <a:p>
              <a:pPr algn="ctr">
                <a:lnSpc>
                  <a:spcPct val="115000"/>
                </a:lnSpc>
              </a:pPr>
              <a:r>
                <a:rPr sz="1800" b="0" i="1">
                  <a:solidFill>
                    <a:srgbClr val="303B4F"/>
                  </a:solidFill>
                  <a:latin typeface="League Spartan"/>
                </a:rPr>
                <a:t>Low-margin businesses get crushed first — at a 20% margin, a 5% discount needs 26.7% more volume just to stand still.</a:t>
              </a:r>
            </a:p>
          </p:txBody>
        </p:sp>
      </p:grpSp>
      <p:grpSp>
        <p:nvGrpSpPr>
          <p:cNvPr id="22" name="Group 21">
            <a:extLst>
              <a:ext uri="{FF2B5EF4-FFF2-40B4-BE49-F238E27FC236}">
                <a16:creationId xmlns:a16="http://schemas.microsoft.com/office/drawing/2014/main" id="{1B4A9960-E8E5-E8CE-73A8-6E7C631E8AA4}"/>
              </a:ext>
            </a:extLst>
          </p:cNvPr>
          <p:cNvGrpSpPr/>
          <p:nvPr/>
        </p:nvGrpSpPr>
        <p:grpSpPr>
          <a:xfrm>
            <a:off x="13990320" y="1983950"/>
            <a:ext cx="3337560" cy="6080760"/>
            <a:chOff x="13990320" y="2148840"/>
            <a:chExt cx="3337560" cy="6080760"/>
          </a:xfrm>
        </p:grpSpPr>
        <p:sp>
          <p:nvSpPr>
            <p:cNvPr id="12" name="Rounded Rectangle 11"/>
            <p:cNvSpPr/>
            <p:nvPr/>
          </p:nvSpPr>
          <p:spPr>
            <a:xfrm>
              <a:off x="13990320" y="2148840"/>
              <a:ext cx="3337560" cy="6080760"/>
            </a:xfrm>
            <a:prstGeom prst="roundRect">
              <a:avLst>
                <a:gd name="adj" fmla="val 4493"/>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64640" y="2423160"/>
              <a:ext cx="2788920" cy="320040"/>
            </a:xfrm>
            <a:prstGeom prst="rect">
              <a:avLst/>
            </a:prstGeom>
            <a:noFill/>
          </p:spPr>
          <p:txBody>
            <a:bodyPr wrap="square" lIns="45720" tIns="0" rIns="45720" bIns="0" anchor="t">
              <a:spAutoFit/>
            </a:bodyPr>
            <a:lstStyle/>
            <a:p>
              <a:pPr algn="l"/>
              <a:r>
                <a:rPr sz="1400" b="1" i="0">
                  <a:solidFill>
                    <a:srgbClr val="FF7900"/>
                  </a:solidFill>
                  <a:latin typeface="League Spartan"/>
                </a:rPr>
                <a:t>WORKED EXAMPLE</a:t>
              </a:r>
            </a:p>
          </p:txBody>
        </p:sp>
        <p:sp>
          <p:nvSpPr>
            <p:cNvPr id="14" name="TextBox 13"/>
            <p:cNvSpPr txBox="1"/>
            <p:nvPr/>
          </p:nvSpPr>
          <p:spPr>
            <a:xfrm>
              <a:off x="14264640" y="2880360"/>
              <a:ext cx="2788920" cy="1554480"/>
            </a:xfrm>
            <a:prstGeom prst="rect">
              <a:avLst/>
            </a:prstGeom>
            <a:noFill/>
          </p:spPr>
          <p:txBody>
            <a:bodyPr wrap="square" lIns="45720" tIns="0" rIns="45720" bIns="0" anchor="t">
              <a:spAutoFit/>
            </a:bodyPr>
            <a:lstStyle/>
            <a:p>
              <a:pPr algn="l">
                <a:lnSpc>
                  <a:spcPct val="125000"/>
                </a:lnSpc>
              </a:pPr>
              <a:r>
                <a:rPr sz="2400" b="1" i="0">
                  <a:solidFill>
                    <a:srgbClr val="FFFFFF"/>
                  </a:solidFill>
                  <a:latin typeface="League Spartan"/>
                </a:rPr>
                <a:t>$10M revenue</a:t>
              </a:r>
            </a:p>
            <a:p>
              <a:pPr algn="l">
                <a:lnSpc>
                  <a:spcPct val="125000"/>
                </a:lnSpc>
              </a:pPr>
              <a:r>
                <a:rPr sz="2400" b="1" i="0">
                  <a:solidFill>
                    <a:srgbClr val="FFFFFF"/>
                  </a:solidFill>
                  <a:latin typeface="League Spartan"/>
                </a:rPr>
                <a:t>50% gross margin</a:t>
              </a:r>
            </a:p>
            <a:p>
              <a:pPr algn="l">
                <a:lnSpc>
                  <a:spcPct val="125000"/>
                </a:lnSpc>
              </a:pPr>
              <a:r>
                <a:rPr sz="2400" b="1" i="0">
                  <a:solidFill>
                    <a:srgbClr val="FFFFFF"/>
                  </a:solidFill>
                  <a:latin typeface="League Spartan"/>
                </a:rPr>
                <a:t>−20% price</a:t>
              </a:r>
            </a:p>
          </p:txBody>
        </p:sp>
        <p:sp>
          <p:nvSpPr>
            <p:cNvPr id="15" name="TextBox 14"/>
            <p:cNvSpPr txBox="1"/>
            <p:nvPr/>
          </p:nvSpPr>
          <p:spPr>
            <a:xfrm>
              <a:off x="14264640" y="4434840"/>
              <a:ext cx="2788920" cy="914400"/>
            </a:xfrm>
            <a:prstGeom prst="rect">
              <a:avLst/>
            </a:prstGeom>
            <a:noFill/>
          </p:spPr>
          <p:txBody>
            <a:bodyPr wrap="square" lIns="45720" tIns="0" rIns="45720" bIns="0" anchor="ctr">
              <a:spAutoFit/>
            </a:bodyPr>
            <a:lstStyle/>
            <a:p>
              <a:pPr algn="l"/>
              <a:r>
                <a:rPr sz="6000" b="1" i="0">
                  <a:solidFill>
                    <a:srgbClr val="FF7900"/>
                  </a:solidFill>
                  <a:latin typeface="League Spartan"/>
                </a:rPr>
                <a:t>33.3%</a:t>
              </a:r>
            </a:p>
          </p:txBody>
        </p:sp>
        <p:sp>
          <p:nvSpPr>
            <p:cNvPr id="16" name="TextBox 15"/>
            <p:cNvSpPr txBox="1"/>
            <p:nvPr/>
          </p:nvSpPr>
          <p:spPr>
            <a:xfrm>
              <a:off x="14264640" y="5532120"/>
              <a:ext cx="2788920" cy="1737360"/>
            </a:xfrm>
            <a:prstGeom prst="rect">
              <a:avLst/>
            </a:prstGeom>
            <a:noFill/>
          </p:spPr>
          <p:txBody>
            <a:bodyPr wrap="square" lIns="45720" tIns="0" rIns="45720" bIns="0" anchor="t">
              <a:spAutoFit/>
            </a:bodyPr>
            <a:lstStyle/>
            <a:p>
              <a:pPr algn="l">
                <a:lnSpc>
                  <a:spcPct val="115000"/>
                </a:lnSpc>
              </a:pPr>
              <a:r>
                <a:rPr sz="2000" b="0" i="0">
                  <a:solidFill>
                    <a:srgbClr val="E5E8EB"/>
                  </a:solidFill>
                  <a:latin typeface="League Spartan"/>
                </a:rPr>
                <a:t>more sales you need just to keep the same gross profit — it collapses from $5M to $3.33M.</a:t>
              </a:r>
            </a:p>
          </p:txBody>
        </p:sp>
        <p:sp>
          <p:nvSpPr>
            <p:cNvPr id="17" name="TextBox 16"/>
            <p:cNvSpPr txBox="1"/>
            <p:nvPr/>
          </p:nvSpPr>
          <p:spPr>
            <a:xfrm>
              <a:off x="14264640" y="7178040"/>
              <a:ext cx="2788920" cy="822960"/>
            </a:xfrm>
            <a:prstGeom prst="rect">
              <a:avLst/>
            </a:prstGeom>
            <a:noFill/>
          </p:spPr>
          <p:txBody>
            <a:bodyPr wrap="square" lIns="45720" tIns="0" rIns="45720" bIns="0" anchor="t">
              <a:spAutoFit/>
            </a:bodyPr>
            <a:lstStyle/>
            <a:p>
              <a:pPr algn="l">
                <a:lnSpc>
                  <a:spcPct val="115000"/>
                </a:lnSpc>
              </a:pPr>
              <a:r>
                <a:rPr sz="1400" b="0" i="1">
                  <a:solidFill>
                    <a:srgbClr val="A5AAAF"/>
                  </a:solidFill>
                  <a:latin typeface="League Spartan"/>
                </a:rPr>
                <a:t>→ the orange cell. And below 20% margin, it isn't possible at all.</a:t>
              </a:r>
            </a:p>
          </p:txBody>
        </p:sp>
      </p:grpSp>
      <p:grpSp>
        <p:nvGrpSpPr>
          <p:cNvPr id="4" name="Group 3">
            <a:extLst>
              <a:ext uri="{FF2B5EF4-FFF2-40B4-BE49-F238E27FC236}">
                <a16:creationId xmlns:a16="http://schemas.microsoft.com/office/drawing/2014/main" id="{B702E2AC-7F69-F3ED-47DB-235336D69B10}"/>
              </a:ext>
            </a:extLst>
          </p:cNvPr>
          <p:cNvGrpSpPr/>
          <p:nvPr/>
        </p:nvGrpSpPr>
        <p:grpSpPr>
          <a:xfrm>
            <a:off x="950976" y="274320"/>
            <a:ext cx="18022836" cy="1609665"/>
            <a:chOff x="950976" y="274320"/>
            <a:chExt cx="18022836" cy="1609665"/>
          </a:xfrm>
        </p:grpSpPr>
        <p:sp>
          <p:nvSpPr>
            <p:cNvPr id="2" name="Text 0"/>
            <p:cNvSpPr/>
            <p:nvPr/>
          </p:nvSpPr>
          <p:spPr>
            <a:xfrm>
              <a:off x="952453" y="585216"/>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Table B — Price Discount</a:t>
              </a:r>
              <a:endParaRPr lang="en-US" sz="4800" dirty="0">
                <a:latin typeface="League Spartan" pitchFamily="2" charset="77"/>
              </a:endParaRPr>
            </a:p>
          </p:txBody>
        </p:sp>
        <p:sp>
          <p:nvSpPr>
            <p:cNvPr id="6" name="TextBox 5"/>
            <p:cNvSpPr txBox="1"/>
            <p:nvPr/>
          </p:nvSpPr>
          <p:spPr>
            <a:xfrm>
              <a:off x="950976" y="1314873"/>
              <a:ext cx="12710160" cy="307777"/>
            </a:xfrm>
            <a:prstGeom prst="rect">
              <a:avLst/>
            </a:prstGeom>
            <a:noFill/>
          </p:spPr>
          <p:txBody>
            <a:bodyPr wrap="square" lIns="45720" tIns="0" rIns="45720" bIns="0" anchor="t">
              <a:spAutoFit/>
            </a:bodyPr>
            <a:lstStyle/>
            <a:p>
              <a:pPr algn="l"/>
              <a:r>
                <a:rPr sz="2000" b="0" i="1" dirty="0">
                  <a:solidFill>
                    <a:srgbClr val="303B4F"/>
                  </a:solidFill>
                  <a:latin typeface="League Spartan"/>
                </a:rPr>
                <a:t>Percentage increase in sales required to keep the same gross profit dollars after a price discount.</a:t>
              </a:r>
            </a:p>
          </p:txBody>
        </p:sp>
        <p:pic>
          <p:nvPicPr>
            <p:cNvPr id="18" name="Picture 17" descr="image.png"/>
            <p:cNvPicPr>
              <a:picLocks noChangeAspect="1"/>
            </p:cNvPicPr>
            <p:nvPr/>
          </p:nvPicPr>
          <p:blipFill>
            <a:blip r:embed="rId3"/>
            <a:stretch>
              <a:fillRect/>
            </a:stretch>
          </p:blipFill>
          <p:spPr>
            <a:xfrm>
              <a:off x="16276320" y="274320"/>
              <a:ext cx="1005840" cy="1609665"/>
            </a:xfrm>
            <a:prstGeom prst="rect">
              <a:avLst/>
            </a:prstGeom>
            <a:ln w="6350">
              <a:solidFill>
                <a:srgbClr val="142233"/>
              </a:solidFill>
            </a:ln>
          </p:spPr>
        </p:pic>
        <p:sp>
          <p:nvSpPr>
            <p:cNvPr id="19" name="Rounded Rectangle 18"/>
            <p:cNvSpPr/>
            <p:nvPr/>
          </p:nvSpPr>
          <p:spPr>
            <a:xfrm>
              <a:off x="16166592" y="1335345"/>
              <a:ext cx="1225296" cy="329184"/>
            </a:xfrm>
            <a:prstGeom prst="roundRect">
              <a:avLst>
                <a:gd name="adj" fmla="val 50000"/>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eague Spartan"/>
                </a:rPr>
                <a:t>P. 64</a:t>
              </a:r>
            </a:p>
          </p:txBody>
        </p:sp>
      </p:grpSp>
      <p:pic>
        <p:nvPicPr>
          <p:cNvPr id="21" name="Picture 20"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5" fill="hold" nodeType="afterEffect">
                                  <p:stCondLst>
                                    <p:cond delay="2000"/>
                                  </p:stCondLst>
                                  <p:childTnLst>
                                    <p:set>
                                      <p:cBhvr>
                                        <p:cTn id="9" dur="1" fill="hold">
                                          <p:stCondLst>
                                            <p:cond delay="0"/>
                                          </p:stCondLst>
                                        </p:cTn>
                                        <p:tgtEl>
                                          <p:spTgt spid="9"/>
                                        </p:tgtEl>
                                        <p:attrNameLst>
                                          <p:attrName>style.visibility</p:attrName>
                                        </p:attrNameLst>
                                      </p:cBhvr>
                                      <p:to>
                                        <p:strVal val="visible"/>
                                      </p:to>
                                    </p:set>
                                    <p:animEffect transition="in" filter="checkerboard(down)">
                                      <p:cBhvr>
                                        <p:cTn id="10" dur="1000"/>
                                        <p:tgtEl>
                                          <p:spTgt spid="9"/>
                                        </p:tgtEl>
                                      </p:cBhvr>
                                    </p:animEffect>
                                  </p:childTnLst>
                                </p:cTn>
                              </p:par>
                            </p:childTnLst>
                          </p:cTn>
                        </p:par>
                        <p:par>
                          <p:cTn id="11" fill="hold">
                            <p:stCondLst>
                              <p:cond delay="4000"/>
                            </p:stCondLst>
                            <p:childTnLst>
                              <p:par>
                                <p:cTn id="12" presetID="1" presetClass="entr" presetSubtype="0" fill="hold" grpId="0" nodeType="afterEffect">
                                  <p:stCondLst>
                                    <p:cond delay="100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5000"/>
                            </p:stCondLst>
                            <p:childTnLst>
                              <p:par>
                                <p:cTn id="15" presetID="1" presetClass="entr" presetSubtype="0" fill="hold" grpId="0" nodeType="afterEffect">
                                  <p:stCondLst>
                                    <p:cond delay="100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6000"/>
                            </p:stCondLst>
                            <p:childTnLst>
                              <p:par>
                                <p:cTn id="18" presetID="5" presetClass="entr" presetSubtype="5" fill="hold" nodeType="afterEffect">
                                  <p:stCondLst>
                                    <p:cond delay="3000"/>
                                  </p:stCondLst>
                                  <p:childTnLst>
                                    <p:set>
                                      <p:cBhvr>
                                        <p:cTn id="19" dur="1" fill="hold">
                                          <p:stCondLst>
                                            <p:cond delay="0"/>
                                          </p:stCondLst>
                                        </p:cTn>
                                        <p:tgtEl>
                                          <p:spTgt spid="22"/>
                                        </p:tgtEl>
                                        <p:attrNameLst>
                                          <p:attrName>style.visibility</p:attrName>
                                        </p:attrNameLst>
                                      </p:cBhvr>
                                      <p:to>
                                        <p:strVal val="visible"/>
                                      </p:to>
                                    </p:set>
                                    <p:animEffect transition="in" filter="checkerboard(down)">
                                      <p:cBhvr>
                                        <p:cTn id="20" dur="1000"/>
                                        <p:tgtEl>
                                          <p:spTgt spid="22"/>
                                        </p:tgtEl>
                                      </p:cBhvr>
                                    </p:animEffect>
                                  </p:childTnLst>
                                </p:cTn>
                              </p:par>
                            </p:childTnLst>
                          </p:cTn>
                        </p:par>
                        <p:par>
                          <p:cTn id="21" fill="hold">
                            <p:stCondLst>
                              <p:cond delay="10000"/>
                            </p:stCondLst>
                            <p:childTnLst>
                              <p:par>
                                <p:cTn id="22" presetID="3" presetClass="entr" presetSubtype="10" fill="hold" nodeType="afterEffect">
                                  <p:stCondLst>
                                    <p:cond delay="3000"/>
                                  </p:stCondLst>
                                  <p:childTnLst>
                                    <p:set>
                                      <p:cBhvr>
                                        <p:cTn id="23" dur="1" fill="hold">
                                          <p:stCondLst>
                                            <p:cond delay="0"/>
                                          </p:stCondLst>
                                        </p:cTn>
                                        <p:tgtEl>
                                          <p:spTgt spid="23"/>
                                        </p:tgtEl>
                                        <p:attrNameLst>
                                          <p:attrName>style.visibility</p:attrName>
                                        </p:attrNameLst>
                                      </p:cBhvr>
                                      <p:to>
                                        <p:strVal val="visible"/>
                                      </p:to>
                                    </p:set>
                                    <p:animEffect transition="in" filter="blinds(horizontal)">
                                      <p:cBhvr>
                                        <p:cTn id="24"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634893"/>
            <a:ext cx="14519900" cy="1371574"/>
          </a:xfrm>
          <a:prstGeom prst="rect">
            <a:avLst/>
          </a:prstGeom>
          <a:noFill/>
          <a:ln/>
        </p:spPr>
        <p:txBody>
          <a:bodyPr wrap="square" lIns="25400" tIns="25400" rIns="25400" bIns="25400" rtlCol="0" anchor="t">
            <a:normAutofit fontScale="92500"/>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1% of price, at your margin, is nearly 3% of Gross Profit — there is no other dial where one unit of courage buys three units of strength.</a:t>
            </a:r>
            <a:endParaRPr lang="en-US" sz="4200" dirty="0">
              <a:latin typeface="League Spartan" pitchFamily="2" charset="77"/>
            </a:endParaRPr>
          </a:p>
        </p:txBody>
      </p:sp>
      <p:grpSp>
        <p:nvGrpSpPr>
          <p:cNvPr id="8" name="Group 7">
            <a:extLst>
              <a:ext uri="{FF2B5EF4-FFF2-40B4-BE49-F238E27FC236}">
                <a16:creationId xmlns:a16="http://schemas.microsoft.com/office/drawing/2014/main" id="{E2B1976D-9252-416A-4A26-D5A85A97B6BB}"/>
              </a:ext>
            </a:extLst>
          </p:cNvPr>
          <p:cNvGrpSpPr/>
          <p:nvPr/>
        </p:nvGrpSpPr>
        <p:grpSpPr>
          <a:xfrm>
            <a:off x="1527048" y="6428232"/>
            <a:ext cx="12801600" cy="873229"/>
            <a:chOff x="1527048" y="6428232"/>
            <a:chExt cx="12801600" cy="873229"/>
          </a:xfrm>
        </p:grpSpPr>
        <p:sp>
          <p:nvSpPr>
            <p:cNvPr id="5" name="Text 3"/>
            <p:cNvSpPr/>
            <p:nvPr/>
          </p:nvSpPr>
          <p:spPr>
            <a:xfrm>
              <a:off x="1527048" y="6428232"/>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p:cNvSpPr/>
            <p:nvPr/>
          </p:nvSpPr>
          <p:spPr>
            <a:xfrm>
              <a:off x="1527048" y="6967728"/>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Power of X · Book Two, Clarus Leadership Series</a:t>
              </a:r>
              <a:endParaRPr lang="en-US" sz="2550" dirty="0">
                <a:latin typeface="League Spartan" pitchFamily="2" charset="77"/>
              </a:endParaRPr>
            </a:p>
          </p:txBody>
        </p:sp>
      </p:gr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2000"/>
                                        <p:tgtEl>
                                          <p:spTgt spid="4"/>
                                        </p:tgtEl>
                                      </p:cBhvr>
                                    </p:animEffect>
                                  </p:childTnLst>
                                </p:cTn>
                              </p:par>
                            </p:childTnLst>
                          </p:cTn>
                        </p:par>
                        <p:par>
                          <p:cTn id="8" fill="hold">
                            <p:stCondLst>
                              <p:cond delay="3000"/>
                            </p:stCondLst>
                            <p:childTnLst>
                              <p:par>
                                <p:cTn id="9" presetID="3" presetClass="entr" presetSubtype="10" fill="hold" nodeType="afterEffect">
                                  <p:stCondLst>
                                    <p:cond delay="100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First Move</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Monday</a:t>
            </a:r>
            <a:endParaRPr lang="en-US" sz="10500" dirty="0">
              <a:latin typeface="League Spartan" pitchFamily="2" charset="77"/>
            </a:endParaRP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hp2-2.png"/>
          <p:cNvPicPr>
            <a:picLocks noChangeAspect="1"/>
          </p:cNvPicPr>
          <p:nvPr/>
        </p:nvPicPr>
        <p:blipFill>
          <a:blip r:embed="rId3"/>
          <a:stretch>
            <a:fillRect/>
          </a:stretch>
        </p:blipFill>
        <p:spPr>
          <a:xfrm>
            <a:off x="950976" y="2249126"/>
            <a:ext cx="8677656" cy="6647688"/>
          </a:xfrm>
          <a:prstGeom prst="rect">
            <a:avLst/>
          </a:prstGeom>
        </p:spPr>
      </p:pic>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First Move Monday  —  3 Minutes</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lnSpcReduction="10000"/>
          </a:bodyPr>
          <a:lstStyle/>
          <a:p>
            <a:pPr>
              <a:spcAft>
                <a:spcPts val="2400"/>
              </a:spcAft>
              <a:buClr>
                <a:srgbClr val="FF7900"/>
              </a:buClr>
              <a:buSzPct val="110000"/>
            </a:pPr>
            <a:r>
              <a:rPr lang="en-US" sz="3600" b="1" dirty="0">
                <a:latin typeface="League Spartan" pitchFamily="2" charset="77"/>
                <a:ea typeface="Arial" pitchFamily="34" charset="-122"/>
                <a:cs typeface="Arial" pitchFamily="34" charset="-120"/>
              </a:rPr>
              <a:t>Handout, page 2 — section 4</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Circle the move with the most leverage — not the easiest</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Name the owner. Name the quarter.</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Write the move you'll make Monday morning</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Put it on the Scorecard — so red triggers action</a:t>
            </a:r>
          </a:p>
        </p:txBody>
      </p:sp>
      <p:sp>
        <p:nvSpPr>
          <p:cNvPr id="10" name="Rounded Rectangle 9">
            <a:extLst>
              <a:ext uri="{FF2B5EF4-FFF2-40B4-BE49-F238E27FC236}">
                <a16:creationId xmlns:a16="http://schemas.microsoft.com/office/drawing/2014/main" id="{305C8AAF-7A04-180B-224D-606D0FCDEFC2}"/>
              </a:ext>
            </a:extLst>
          </p:cNvPr>
          <p:cNvSpPr/>
          <p:nvPr/>
        </p:nvSpPr>
        <p:spPr>
          <a:xfrm>
            <a:off x="687421" y="7048728"/>
            <a:ext cx="9131585" cy="971757"/>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texas_mark_light.png"/>
          <p:cNvPicPr>
            <a:picLocks noChangeAspect="1"/>
          </p:cNvPicPr>
          <p:nvPr/>
        </p:nvPicPr>
        <p:blipFill>
          <a:blip r:embed="rId4"/>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5" presetClass="entr" presetSubtype="10" fill="hold" nodeType="afterEffect">
                                  <p:stCondLst>
                                    <p:cond delay="2000"/>
                                  </p:stCondLst>
                                  <p:childTnLst>
                                    <p:set>
                                      <p:cBhvr>
                                        <p:cTn id="9" dur="1" fill="hold">
                                          <p:stCondLst>
                                            <p:cond delay="0"/>
                                          </p:stCondLst>
                                        </p:cTn>
                                        <p:tgtEl>
                                          <p:spTgt spid="18"/>
                                        </p:tgtEl>
                                        <p:attrNameLst>
                                          <p:attrName>style.visibility</p:attrName>
                                        </p:attrNameLst>
                                      </p:cBhvr>
                                      <p:to>
                                        <p:strVal val="visible"/>
                                      </p:to>
                                    </p:set>
                                    <p:animEffect transition="in" filter="checkerboard(across)">
                                      <p:cBhvr>
                                        <p:cTn id="10" dur="1000"/>
                                        <p:tgtEl>
                                          <p:spTgt spid="18"/>
                                        </p:tgtEl>
                                      </p:cBhvr>
                                    </p:animEffect>
                                  </p:childTnLst>
                                </p:cTn>
                              </p:par>
                            </p:childTnLst>
                          </p:cTn>
                        </p:par>
                        <p:par>
                          <p:cTn id="11" fill="hold">
                            <p:stCondLst>
                              <p:cond delay="4000"/>
                            </p:stCondLst>
                            <p:childTnLst>
                              <p:par>
                                <p:cTn id="12" presetID="1" presetClass="entr" presetSubtype="0" fill="hold" grpId="0" nodeType="afterEffect">
                                  <p:stCondLst>
                                    <p:cond delay="1000"/>
                                  </p:stCondLst>
                                  <p:childTnLst>
                                    <p:set>
                                      <p:cBhvr>
                                        <p:cTn id="13" dur="1" fill="hold">
                                          <p:stCondLst>
                                            <p:cond delay="0"/>
                                          </p:stCondLst>
                                        </p:cTn>
                                        <p:tgtEl>
                                          <p:spTgt spid="10"/>
                                        </p:tgtEl>
                                        <p:attrNameLst>
                                          <p:attrName>style.visibility</p:attrName>
                                        </p:attrNameLst>
                                      </p:cBhvr>
                                      <p:to>
                                        <p:strVal val="visible"/>
                                      </p:to>
                                    </p:set>
                                  </p:childTnLst>
                                </p:cTn>
                              </p:par>
                            </p:childTnLst>
                          </p:cTn>
                        </p:par>
                        <p:par>
                          <p:cTn id="14" fill="hold">
                            <p:stCondLst>
                              <p:cond delay="5000"/>
                            </p:stCondLst>
                            <p:childTnLst>
                              <p:par>
                                <p:cTn id="15" presetID="1" presetClass="entr" presetSubtype="0" fill="hold" nodeType="afterEffect">
                                  <p:stCondLst>
                                    <p:cond delay="300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childTnLst>
                          </p:cTn>
                        </p:par>
                        <p:par>
                          <p:cTn id="17" fill="hold">
                            <p:stCondLst>
                              <p:cond delay="8000"/>
                            </p:stCondLst>
                            <p:childTnLst>
                              <p:par>
                                <p:cTn id="18" presetID="1" presetClass="entr" presetSubtype="0" fill="hold" nodeType="afterEffect">
                                  <p:stCondLst>
                                    <p:cond delay="3000"/>
                                  </p:stCondLst>
                                  <p:childTnLst>
                                    <p:set>
                                      <p:cBhvr>
                                        <p:cTn id="19" dur="1" fill="hold">
                                          <p:stCondLst>
                                            <p:cond delay="0"/>
                                          </p:stCondLst>
                                        </p:cTn>
                                        <p:tgtEl>
                                          <p:spTgt spid="17">
                                            <p:txEl>
                                              <p:pRg st="1" end="1"/>
                                            </p:txEl>
                                          </p:spTgt>
                                        </p:tgtEl>
                                        <p:attrNameLst>
                                          <p:attrName>style.visibility</p:attrName>
                                        </p:attrNameLst>
                                      </p:cBhvr>
                                      <p:to>
                                        <p:strVal val="visible"/>
                                      </p:to>
                                    </p:set>
                                  </p:childTnLst>
                                </p:cTn>
                              </p:par>
                            </p:childTnLst>
                          </p:cTn>
                        </p:par>
                        <p:par>
                          <p:cTn id="20" fill="hold">
                            <p:stCondLst>
                              <p:cond delay="11000"/>
                            </p:stCondLst>
                            <p:childTnLst>
                              <p:par>
                                <p:cTn id="21" presetID="1" presetClass="entr" presetSubtype="0" fill="hold" nodeType="afterEffect">
                                  <p:stCondLst>
                                    <p:cond delay="300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childTnLst>
                          </p:cTn>
                        </p:par>
                        <p:par>
                          <p:cTn id="23" fill="hold">
                            <p:stCondLst>
                              <p:cond delay="14000"/>
                            </p:stCondLst>
                            <p:childTnLst>
                              <p:par>
                                <p:cTn id="24" presetID="1" presetClass="entr" presetSubtype="0" fill="hold" nodeType="afterEffect">
                                  <p:stCondLst>
                                    <p:cond delay="3000"/>
                                  </p:stCondLst>
                                  <p:childTnLst>
                                    <p:set>
                                      <p:cBhvr>
                                        <p:cTn id="25" dur="1" fill="hold">
                                          <p:stCondLst>
                                            <p:cond delay="0"/>
                                          </p:stCondLst>
                                        </p:cTn>
                                        <p:tgtEl>
                                          <p:spTgt spid="17">
                                            <p:txEl>
                                              <p:pRg st="3" end="3"/>
                                            </p:txEl>
                                          </p:spTgt>
                                        </p:tgtEl>
                                        <p:attrNameLst>
                                          <p:attrName>style.visibility</p:attrName>
                                        </p:attrNameLst>
                                      </p:cBhvr>
                                      <p:to>
                                        <p:strVal val="visible"/>
                                      </p:to>
                                    </p:set>
                                  </p:childTnLst>
                                </p:cTn>
                              </p:par>
                            </p:childTnLst>
                          </p:cTn>
                        </p:par>
                        <p:par>
                          <p:cTn id="26" fill="hold">
                            <p:stCondLst>
                              <p:cond delay="17000"/>
                            </p:stCondLst>
                            <p:childTnLst>
                              <p:par>
                                <p:cTn id="27" presetID="1" presetClass="entr" presetSubtype="0" fill="hold" nodeType="afterEffect">
                                  <p:stCondLst>
                                    <p:cond delay="3000"/>
                                  </p:stCondLst>
                                  <p:childTnLst>
                                    <p:set>
                                      <p:cBhvr>
                                        <p:cTn id="28"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2798113" y="4634893"/>
            <a:ext cx="14519900" cy="1371574"/>
          </a:xfrm>
          <a:prstGeom prst="rect">
            <a:avLst/>
          </a:prstGeom>
          <a:noFill/>
          <a:ln/>
        </p:spPr>
        <p:txBody>
          <a:bodyPr wrap="square" lIns="25400" tIns="25400" rIns="25400" bIns="25400" rtlCol="0" anchor="t">
            <a:normAutofit/>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Gross profit, not revenue.</a:t>
            </a:r>
            <a:endParaRPr lang="en-US" sz="4200" dirty="0">
              <a:latin typeface="League Spartan" pitchFamily="2" charset="77"/>
            </a:endParaRPr>
          </a:p>
        </p:txBody>
      </p:sp>
      <p:grpSp>
        <p:nvGrpSpPr>
          <p:cNvPr id="8" name="Group 7">
            <a:extLst>
              <a:ext uri="{FF2B5EF4-FFF2-40B4-BE49-F238E27FC236}">
                <a16:creationId xmlns:a16="http://schemas.microsoft.com/office/drawing/2014/main" id="{5F791301-843B-4535-D070-DD5DDA087C88}"/>
              </a:ext>
            </a:extLst>
          </p:cNvPr>
          <p:cNvGrpSpPr/>
          <p:nvPr/>
        </p:nvGrpSpPr>
        <p:grpSpPr>
          <a:xfrm>
            <a:off x="2951110" y="5738686"/>
            <a:ext cx="12801600" cy="873229"/>
            <a:chOff x="1676948" y="5738686"/>
            <a:chExt cx="12801600" cy="873229"/>
          </a:xfrm>
        </p:grpSpPr>
        <p:sp>
          <p:nvSpPr>
            <p:cNvPr id="5" name="Text 3"/>
            <p:cNvSpPr/>
            <p:nvPr/>
          </p:nvSpPr>
          <p:spPr>
            <a:xfrm>
              <a:off x="1676948" y="5738686"/>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Josh Storey, Owner, Storey Program Management</a:t>
              </a:r>
              <a:endParaRPr lang="en-US" sz="2550" dirty="0">
                <a:latin typeface="League Spartan" pitchFamily="2" charset="77"/>
              </a:endParaRPr>
            </a:p>
          </p:txBody>
        </p:sp>
        <p:sp>
          <p:nvSpPr>
            <p:cNvPr id="6" name="Text 4"/>
            <p:cNvSpPr/>
            <p:nvPr/>
          </p:nvSpPr>
          <p:spPr>
            <a:xfrm>
              <a:off x="1676948" y="6278182"/>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$250,000 in impact found · Data-Driven Leader Workshop, Charlotte</a:t>
              </a:r>
              <a:endParaRPr lang="en-US" sz="2550" dirty="0">
                <a:latin typeface="League Spartan" pitchFamily="2" charset="77"/>
              </a:endParaRPr>
            </a:p>
          </p:txBody>
        </p:sp>
      </p:gr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par>
                          <p:cTn id="8" fill="hold">
                            <p:stCondLst>
                              <p:cond delay="2000"/>
                            </p:stCondLst>
                            <p:childTnLst>
                              <p:par>
                                <p:cTn id="9" presetID="9" presetClass="entr" presetSubtype="0" fill="hold" nodeType="afterEffect">
                                  <p:stCondLst>
                                    <p:cond delay="100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1"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554980" cy="10287000"/>
          </a:xfrm>
          <a:prstGeom prst="rect">
            <a:avLst/>
          </a:prstGeom>
          <a:solidFill>
            <a:srgbClr val="142233"/>
          </a:solidFill>
          <a:ln/>
        </p:spPr>
        <p:txBody>
          <a:bodyPr/>
          <a:lstStyle/>
          <a:p>
            <a:endParaRPr lang="en-US" sz="2700"/>
          </a:p>
        </p:txBody>
      </p:sp>
      <p:pic>
        <p:nvPicPr>
          <p:cNvPr id="20" name="Image 5" descr="a_logo_unstoppable.png"/>
          <p:cNvPicPr>
            <a:picLocks noChangeAspect="1"/>
          </p:cNvPicPr>
          <p:nvPr/>
        </p:nvPicPr>
        <p:blipFill>
          <a:blip r:embed="rId3"/>
          <a:stretch>
            <a:fillRect/>
          </a:stretch>
        </p:blipFill>
        <p:spPr>
          <a:xfrm>
            <a:off x="10924794" y="301752"/>
            <a:ext cx="2057400" cy="1179576"/>
          </a:xfrm>
          <a:prstGeom prst="rect">
            <a:avLst/>
          </a:prstGeom>
        </p:spPr>
      </p:pic>
      <p:sp>
        <p:nvSpPr>
          <p:cNvPr id="21" name="Text 13"/>
          <p:cNvSpPr/>
          <p:nvPr/>
        </p:nvSpPr>
        <p:spPr>
          <a:xfrm>
            <a:off x="6309360" y="1563624"/>
            <a:ext cx="11288268" cy="356616"/>
          </a:xfrm>
          <a:prstGeom prst="rect">
            <a:avLst/>
          </a:prstGeom>
          <a:noFill/>
          <a:ln/>
        </p:spPr>
        <p:txBody>
          <a:bodyPr wrap="square" lIns="0" tIns="0" rIns="0" bIns="0" rtlCol="0" anchor="ctr"/>
          <a:lstStyle/>
          <a:p>
            <a:pPr algn="ctr"/>
            <a:r>
              <a:rPr lang="en-US" sz="1725" b="1" kern="0" spc="300" dirty="0">
                <a:solidFill>
                  <a:srgbClr val="142233"/>
                </a:solidFill>
                <a:latin typeface="League Spartan" pitchFamily="34" charset="0"/>
                <a:ea typeface="League Spartan" pitchFamily="34" charset="-122"/>
                <a:cs typeface="League Spartan" pitchFamily="34" charset="-120"/>
              </a:rPr>
              <a:t>THE 2026 TOUR  •  ACROSS NORTH AMERICA</a:t>
            </a:r>
            <a:endParaRPr lang="en-US" sz="1725" dirty="0"/>
          </a:p>
        </p:txBody>
      </p:sp>
      <p:sp>
        <p:nvSpPr>
          <p:cNvPr id="22" name="Text 14"/>
          <p:cNvSpPr/>
          <p:nvPr/>
        </p:nvSpPr>
        <p:spPr>
          <a:xfrm>
            <a:off x="6309360" y="1920240"/>
            <a:ext cx="11288268" cy="754380"/>
          </a:xfrm>
          <a:prstGeom prst="rect">
            <a:avLst/>
          </a:prstGeom>
          <a:noFill/>
          <a:ln/>
        </p:spPr>
        <p:txBody>
          <a:bodyPr wrap="square" lIns="0" tIns="0" rIns="0" bIns="0" rtlCol="0" anchor="ctr"/>
          <a:lstStyle/>
          <a:p>
            <a:pPr algn="ctr"/>
            <a:r>
              <a:rPr lang="en-US" sz="4500" b="1" dirty="0">
                <a:solidFill>
                  <a:srgbClr val="142233"/>
                </a:solidFill>
                <a:latin typeface="League Spartan" pitchFamily="34" charset="0"/>
                <a:ea typeface="League Spartan" pitchFamily="34" charset="-122"/>
                <a:cs typeface="League Spartan" pitchFamily="34" charset="-120"/>
              </a:rPr>
              <a:t>DATA-DRIVEN LEADER WORKSHOP</a:t>
            </a:r>
            <a:endParaRPr lang="en-US" sz="4500" dirty="0"/>
          </a:p>
        </p:txBody>
      </p:sp>
      <p:sp>
        <p:nvSpPr>
          <p:cNvPr id="23" name="Text 15"/>
          <p:cNvSpPr/>
          <p:nvPr/>
        </p:nvSpPr>
        <p:spPr>
          <a:xfrm>
            <a:off x="6309360" y="2660904"/>
            <a:ext cx="11288268" cy="384048"/>
          </a:xfrm>
          <a:prstGeom prst="rect">
            <a:avLst/>
          </a:prstGeom>
          <a:noFill/>
          <a:ln/>
        </p:spPr>
        <p:txBody>
          <a:bodyPr wrap="square" lIns="0" tIns="0" rIns="0" bIns="0" rtlCol="0" anchor="ctr"/>
          <a:lstStyle/>
          <a:p>
            <a:pPr algn="ctr"/>
            <a:r>
              <a:rPr lang="en-US" sz="1875" i="1" dirty="0">
                <a:solidFill>
                  <a:srgbClr val="F04E23"/>
                </a:solidFill>
                <a:latin typeface="League Spartan" pitchFamily="34" charset="0"/>
                <a:ea typeface="League Spartan" pitchFamily="34" charset="-122"/>
                <a:cs typeface="League Spartan" pitchFamily="34" charset="-120"/>
              </a:rPr>
              <a:t>Harness Your Numbers To Go From Uncertain To UNSTOPPABLE!</a:t>
            </a:r>
            <a:endParaRPr lang="en-US" sz="1875" dirty="0"/>
          </a:p>
        </p:txBody>
      </p:sp>
      <p:sp>
        <p:nvSpPr>
          <p:cNvPr id="24" name="Text 16"/>
          <p:cNvSpPr/>
          <p:nvPr/>
        </p:nvSpPr>
        <p:spPr>
          <a:xfrm>
            <a:off x="6309360" y="3429000"/>
            <a:ext cx="5966460" cy="2743200"/>
          </a:xfrm>
          <a:prstGeom prst="rect">
            <a:avLst/>
          </a:prstGeom>
          <a:noFill/>
          <a:ln/>
        </p:spPr>
        <p:txBody>
          <a:bodyPr wrap="square" lIns="0" tIns="0" rIns="0" bIns="0" rtlCol="0" anchor="t"/>
          <a:lstStyle/>
          <a:p>
            <a:pPr>
              <a:lnSpc>
                <a:spcPct val="105000"/>
              </a:lnSpc>
              <a:spcAft>
                <a:spcPts val="900"/>
              </a:spcAft>
            </a:pPr>
            <a:r>
              <a:rPr lang="en-US" sz="2400" b="1" dirty="0">
                <a:solidFill>
                  <a:srgbClr val="F04E23"/>
                </a:solidFill>
                <a:latin typeface="League Spartan" pitchFamily="34" charset="0"/>
                <a:ea typeface="League Spartan" pitchFamily="34" charset="-122"/>
                <a:cs typeface="League Spartan" pitchFamily="34" charset="-120"/>
              </a:rPr>
              <a:t>3  Takeaways:</a:t>
            </a:r>
            <a:endParaRPr lang="en-US" sz="2400" dirty="0"/>
          </a:p>
          <a:p>
            <a:pPr>
              <a:lnSpc>
                <a:spcPct val="105000"/>
              </a:lnSpc>
            </a:pPr>
            <a:r>
              <a:rPr lang="en-US" sz="2025" b="1" dirty="0">
                <a:solidFill>
                  <a:srgbClr val="142233"/>
                </a:solidFill>
                <a:latin typeface="League Spartan" pitchFamily="34" charset="0"/>
                <a:ea typeface="League Spartan" pitchFamily="34" charset="-122"/>
                <a:cs typeface="League Spartan" pitchFamily="34" charset="-120"/>
              </a:rPr>
              <a:t>1.   Find More Profit &amp; Cash</a:t>
            </a:r>
            <a:r>
              <a:rPr lang="en-US" sz="1725" i="1" dirty="0">
                <a:solidFill>
                  <a:srgbClr val="142233"/>
                </a:solidFill>
                <a:latin typeface="League Spartan" pitchFamily="34" charset="0"/>
                <a:ea typeface="League Spartan" pitchFamily="34" charset="-122"/>
                <a:cs typeface="League Spartan" pitchFamily="34" charset="-120"/>
              </a:rPr>
              <a:t>  — ½ day on this</a:t>
            </a:r>
            <a:endParaRPr lang="en-US" sz="2400" dirty="0"/>
          </a:p>
          <a:p>
            <a:pPr>
              <a:lnSpc>
                <a:spcPct val="105000"/>
              </a:lnSpc>
              <a:spcAft>
                <a:spcPts val="750"/>
              </a:spcAft>
            </a:pPr>
            <a:r>
              <a:rPr lang="en-US" sz="2025" b="1" dirty="0">
                <a:solidFill>
                  <a:srgbClr val="142233"/>
                </a:solidFill>
                <a:latin typeface="League Spartan" pitchFamily="34" charset="0"/>
                <a:ea typeface="League Spartan" pitchFamily="34" charset="-122"/>
                <a:cs typeface="League Spartan" pitchFamily="34" charset="-120"/>
              </a:rPr>
              <a:t>2.  A Scorecard You LOVE!</a:t>
            </a:r>
            <a:endParaRPr lang="en-US" sz="2400" dirty="0"/>
          </a:p>
          <a:p>
            <a:pPr>
              <a:lnSpc>
                <a:spcPct val="105000"/>
              </a:lnSpc>
              <a:spcAft>
                <a:spcPts val="1050"/>
              </a:spcAft>
            </a:pPr>
            <a:r>
              <a:rPr lang="en-US" sz="2025" b="1" dirty="0">
                <a:solidFill>
                  <a:srgbClr val="142233"/>
                </a:solidFill>
                <a:latin typeface="League Spartan" pitchFamily="34" charset="0"/>
                <a:ea typeface="League Spartan" pitchFamily="34" charset="-122"/>
                <a:cs typeface="League Spartan" pitchFamily="34" charset="-120"/>
              </a:rPr>
              <a:t>3</a:t>
            </a:r>
            <a:r>
              <a:rPr lang="en-US" sz="2025" b="1">
                <a:solidFill>
                  <a:srgbClr val="142233"/>
                </a:solidFill>
                <a:latin typeface="League Spartan" pitchFamily="34" charset="0"/>
                <a:ea typeface="League Spartan" pitchFamily="34" charset="-122"/>
                <a:cs typeface="League Spartan" pitchFamily="34" charset="-120"/>
              </a:rPr>
              <a:t>.  Measurables </a:t>
            </a:r>
            <a:r>
              <a:rPr lang="en-US" sz="2025" b="1" dirty="0">
                <a:solidFill>
                  <a:srgbClr val="142233"/>
                </a:solidFill>
                <a:latin typeface="League Spartan" pitchFamily="34" charset="0"/>
                <a:ea typeface="League Spartan" pitchFamily="34" charset="-122"/>
                <a:cs typeface="League Spartan" pitchFamily="34" charset="-120"/>
              </a:rPr>
              <a:t>That Drive Performance</a:t>
            </a:r>
            <a:endParaRPr lang="en-US" sz="2400" dirty="0"/>
          </a:p>
          <a:p>
            <a:pPr>
              <a:lnSpc>
                <a:spcPct val="105000"/>
              </a:lnSpc>
            </a:pPr>
            <a:r>
              <a:rPr lang="en-US" sz="1650" i="1" dirty="0">
                <a:solidFill>
                  <a:srgbClr val="142233"/>
                </a:solidFill>
                <a:latin typeface="League Spartan" pitchFamily="34" charset="0"/>
                <a:ea typeface="League Spartan" pitchFamily="34" charset="-122"/>
                <a:cs typeface="League Spartan" pitchFamily="34" charset="-120"/>
              </a:rPr>
              <a:t>All the content we could not fit in the Data Book.</a:t>
            </a:r>
            <a:endParaRPr lang="en-US" sz="2400" dirty="0"/>
          </a:p>
        </p:txBody>
      </p:sp>
      <p:sp>
        <p:nvSpPr>
          <p:cNvPr id="25" name="Shape 17"/>
          <p:cNvSpPr/>
          <p:nvPr/>
        </p:nvSpPr>
        <p:spPr>
          <a:xfrm>
            <a:off x="12824460" y="3429000"/>
            <a:ext cx="4773168" cy="850392"/>
          </a:xfrm>
          <a:prstGeom prst="rect">
            <a:avLst/>
          </a:prstGeom>
          <a:solidFill>
            <a:srgbClr val="142233"/>
          </a:solidFill>
          <a:ln/>
        </p:spPr>
        <p:txBody>
          <a:bodyPr/>
          <a:lstStyle/>
          <a:p>
            <a:endParaRPr lang="en-US" sz="2700"/>
          </a:p>
        </p:txBody>
      </p:sp>
      <p:sp>
        <p:nvSpPr>
          <p:cNvPr id="26" name="Text 18"/>
          <p:cNvSpPr/>
          <p:nvPr/>
        </p:nvSpPr>
        <p:spPr>
          <a:xfrm>
            <a:off x="13030200" y="3429000"/>
            <a:ext cx="4361688" cy="850392"/>
          </a:xfrm>
          <a:prstGeom prst="rect">
            <a:avLst/>
          </a:prstGeom>
          <a:noFill/>
          <a:ln/>
        </p:spPr>
        <p:txBody>
          <a:bodyPr wrap="square" lIns="0" tIns="0" rIns="0" bIns="0" rtlCol="0" anchor="ctr"/>
          <a:lstStyle/>
          <a:p>
            <a:pPr>
              <a:lnSpc>
                <a:spcPct val="110000"/>
              </a:lnSpc>
            </a:pPr>
            <a:r>
              <a:rPr lang="en-US" sz="1950" b="1" dirty="0">
                <a:solidFill>
                  <a:srgbClr val="FFFFFF"/>
                </a:solidFill>
                <a:latin typeface="League Spartan" pitchFamily="34" charset="0"/>
                <a:ea typeface="League Spartan" pitchFamily="34" charset="-122"/>
                <a:cs typeface="League Spartan" pitchFamily="34" charset="-120"/>
              </a:rPr>
              <a:t>Impact Counter</a:t>
            </a:r>
            <a:endParaRPr lang="en-US" sz="1950" dirty="0"/>
          </a:p>
          <a:p>
            <a:pPr>
              <a:lnSpc>
                <a:spcPct val="110000"/>
              </a:lnSpc>
            </a:pPr>
            <a:r>
              <a:rPr lang="en-US" sz="1350" i="1" dirty="0">
                <a:solidFill>
                  <a:srgbClr val="FFFFFF"/>
                </a:solidFill>
                <a:latin typeface="League Spartan" pitchFamily="34" charset="0"/>
                <a:ea typeface="League Spartan" pitchFamily="34" charset="-122"/>
                <a:cs typeface="League Spartan" pitchFamily="34" charset="-120"/>
              </a:rPr>
              <a:t>Our own data through July 2026</a:t>
            </a:r>
            <a:endParaRPr lang="en-US" sz="1950" dirty="0"/>
          </a:p>
        </p:txBody>
      </p:sp>
      <p:sp>
        <p:nvSpPr>
          <p:cNvPr id="27" name="Shape 19"/>
          <p:cNvSpPr/>
          <p:nvPr/>
        </p:nvSpPr>
        <p:spPr>
          <a:xfrm>
            <a:off x="12824460" y="4279392"/>
            <a:ext cx="4773168" cy="1234440"/>
          </a:xfrm>
          <a:prstGeom prst="rect">
            <a:avLst/>
          </a:prstGeom>
          <a:solidFill>
            <a:srgbClr val="ECEEF1"/>
          </a:solidFill>
          <a:ln/>
        </p:spPr>
        <p:txBody>
          <a:bodyPr/>
          <a:lstStyle/>
          <a:p>
            <a:endParaRPr lang="en-US" sz="2700"/>
          </a:p>
        </p:txBody>
      </p:sp>
      <p:sp>
        <p:nvSpPr>
          <p:cNvPr id="28" name="Text 20"/>
          <p:cNvSpPr/>
          <p:nvPr/>
        </p:nvSpPr>
        <p:spPr>
          <a:xfrm>
            <a:off x="12824460"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Workshops</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14</a:t>
            </a:r>
            <a:endParaRPr lang="en-US" sz="1350" dirty="0"/>
          </a:p>
        </p:txBody>
      </p:sp>
      <p:sp>
        <p:nvSpPr>
          <p:cNvPr id="29" name="Text 21"/>
          <p:cNvSpPr/>
          <p:nvPr/>
        </p:nvSpPr>
        <p:spPr>
          <a:xfrm>
            <a:off x="14017752"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Leaders</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580</a:t>
            </a:r>
            <a:endParaRPr lang="en-US" sz="1350" dirty="0"/>
          </a:p>
        </p:txBody>
      </p:sp>
      <p:sp>
        <p:nvSpPr>
          <p:cNvPr id="30" name="Text 22"/>
          <p:cNvSpPr/>
          <p:nvPr/>
        </p:nvSpPr>
        <p:spPr>
          <a:xfrm>
            <a:off x="15211044"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Impact</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$300M</a:t>
            </a:r>
            <a:endParaRPr lang="en-US" sz="1350" dirty="0"/>
          </a:p>
        </p:txBody>
      </p:sp>
      <p:sp>
        <p:nvSpPr>
          <p:cNvPr id="31" name="Text 23"/>
          <p:cNvSpPr/>
          <p:nvPr/>
        </p:nvSpPr>
        <p:spPr>
          <a:xfrm>
            <a:off x="16404336"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Per Leader</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$500K+</a:t>
            </a:r>
            <a:endParaRPr lang="en-US" sz="1350" dirty="0"/>
          </a:p>
        </p:txBody>
      </p:sp>
      <p:sp>
        <p:nvSpPr>
          <p:cNvPr id="32" name="Text 24"/>
          <p:cNvSpPr/>
          <p:nvPr/>
        </p:nvSpPr>
        <p:spPr>
          <a:xfrm>
            <a:off x="12824460" y="5596128"/>
            <a:ext cx="4773168" cy="329184"/>
          </a:xfrm>
          <a:prstGeom prst="rect">
            <a:avLst/>
          </a:prstGeom>
          <a:noFill/>
          <a:ln/>
        </p:spPr>
        <p:txBody>
          <a:bodyPr wrap="square" lIns="572" tIns="572" rIns="572" bIns="572" rtlCol="0" anchor="ctr"/>
          <a:lstStyle/>
          <a:p>
            <a:r>
              <a:rPr lang="en-US" sz="1350" i="1" dirty="0">
                <a:solidFill>
                  <a:srgbClr val="303B4F"/>
                </a:solidFill>
                <a:latin typeface="League Spartan" pitchFamily="34" charset="0"/>
                <a:ea typeface="League Spartan" pitchFamily="34" charset="-122"/>
                <a:cs typeface="League Spartan" pitchFamily="34" charset="-120"/>
              </a:rPr>
              <a:t>The impact reported by leaders at the workshops.</a:t>
            </a:r>
            <a:endParaRPr lang="en-US" sz="1350" dirty="0"/>
          </a:p>
        </p:txBody>
      </p:sp>
      <p:sp>
        <p:nvSpPr>
          <p:cNvPr id="33" name="Shape 25"/>
          <p:cNvSpPr/>
          <p:nvPr/>
        </p:nvSpPr>
        <p:spPr>
          <a:xfrm>
            <a:off x="6309360" y="6189142"/>
            <a:ext cx="11288268" cy="1069848"/>
          </a:xfrm>
          <a:prstGeom prst="rect">
            <a:avLst/>
          </a:prstGeom>
          <a:solidFill>
            <a:srgbClr val="142233"/>
          </a:solidFill>
          <a:ln/>
        </p:spPr>
        <p:txBody>
          <a:bodyPr/>
          <a:lstStyle/>
          <a:p>
            <a:endParaRPr lang="en-US" sz="2700"/>
          </a:p>
        </p:txBody>
      </p:sp>
      <p:sp>
        <p:nvSpPr>
          <p:cNvPr id="34" name="Text 26"/>
          <p:cNvSpPr/>
          <p:nvPr/>
        </p:nvSpPr>
        <p:spPr>
          <a:xfrm>
            <a:off x="6309360" y="6189142"/>
            <a:ext cx="11288268" cy="1069848"/>
          </a:xfrm>
          <a:prstGeom prst="rect">
            <a:avLst/>
          </a:prstGeom>
          <a:noFill/>
          <a:ln/>
        </p:spPr>
        <p:txBody>
          <a:bodyPr wrap="square" lIns="0" tIns="0" rIns="0" bIns="0" rtlCol="0" anchor="ctr"/>
          <a:lstStyle/>
          <a:p>
            <a:pPr algn="ctr">
              <a:lnSpc>
                <a:spcPct val="115000"/>
              </a:lnSpc>
            </a:pPr>
            <a:r>
              <a:rPr lang="en-US" sz="2250" b="1" dirty="0">
                <a:solidFill>
                  <a:srgbClr val="FFFFFF"/>
                </a:solidFill>
                <a:latin typeface="League Spartan" pitchFamily="34" charset="0"/>
                <a:ea typeface="League Spartan" pitchFamily="34" charset="-122"/>
                <a:cs typeface="League Spartan" pitchFamily="34" charset="-120"/>
              </a:rPr>
              <a:t>THE </a:t>
            </a:r>
            <a:r>
              <a:rPr lang="en-US" sz="2250" b="1" dirty="0">
                <a:solidFill>
                  <a:srgbClr val="FF7900"/>
                </a:solidFill>
                <a:latin typeface="League Spartan" pitchFamily="34" charset="0"/>
                <a:ea typeface="League Spartan" pitchFamily="34" charset="-122"/>
                <a:cs typeface="League Spartan" pitchFamily="34" charset="-120"/>
              </a:rPr>
              <a:t>10X</a:t>
            </a:r>
            <a:r>
              <a:rPr lang="en-US" sz="2250" b="1" dirty="0">
                <a:solidFill>
                  <a:srgbClr val="FFFFFF"/>
                </a:solidFill>
                <a:latin typeface="League Spartan" pitchFamily="34" charset="0"/>
                <a:ea typeface="League Spartan" pitchFamily="34" charset="-122"/>
                <a:cs typeface="League Spartan" pitchFamily="34" charset="-120"/>
              </a:rPr>
              <a:t> GUARANTEE</a:t>
            </a:r>
            <a:endParaRPr lang="en-US" sz="2250" dirty="0"/>
          </a:p>
          <a:p>
            <a:pPr algn="ctr">
              <a:lnSpc>
                <a:spcPct val="115000"/>
              </a:lnSpc>
            </a:pPr>
            <a:r>
              <a:rPr lang="en-US" sz="1725" i="1" dirty="0">
                <a:solidFill>
                  <a:srgbClr val="FFFFFF"/>
                </a:solidFill>
                <a:latin typeface="League Spartan" pitchFamily="34" charset="0"/>
                <a:ea typeface="League Spartan" pitchFamily="34" charset="-122"/>
                <a:cs typeface="League Spartan" pitchFamily="34" charset="-120"/>
              </a:rPr>
              <a:t>If you don't find 10X your investment in impact — you don't pay.</a:t>
            </a:r>
            <a:endParaRPr lang="en-US" sz="2250" dirty="0"/>
          </a:p>
        </p:txBody>
      </p:sp>
      <p:pic>
        <p:nvPicPr>
          <p:cNvPr id="35" name="Image 6" descr="a_mark.png"/>
          <p:cNvPicPr>
            <a:picLocks noChangeAspect="1"/>
          </p:cNvPicPr>
          <p:nvPr/>
        </p:nvPicPr>
        <p:blipFill>
          <a:blip r:embed="rId4"/>
          <a:stretch>
            <a:fillRect/>
          </a:stretch>
        </p:blipFill>
        <p:spPr>
          <a:xfrm>
            <a:off x="6515101" y="7927848"/>
            <a:ext cx="1266644" cy="1851660"/>
          </a:xfrm>
          <a:prstGeom prst="rect">
            <a:avLst/>
          </a:prstGeom>
        </p:spPr>
      </p:pic>
      <p:sp>
        <p:nvSpPr>
          <p:cNvPr id="36" name="Text 27"/>
          <p:cNvSpPr/>
          <p:nvPr/>
        </p:nvSpPr>
        <p:spPr>
          <a:xfrm>
            <a:off x="6172201" y="9820656"/>
            <a:ext cx="1952444" cy="301752"/>
          </a:xfrm>
          <a:prstGeom prst="rect">
            <a:avLst/>
          </a:prstGeom>
          <a:noFill/>
          <a:ln/>
        </p:spPr>
        <p:txBody>
          <a:bodyPr wrap="square" lIns="0" tIns="0" rIns="0" bIns="0" rtlCol="0" anchor="ctr"/>
          <a:lstStyle/>
          <a:p>
            <a:pPr algn="ctr"/>
            <a:r>
              <a:rPr lang="en-US" sz="1425" b="1" dirty="0">
                <a:solidFill>
                  <a:srgbClr val="142233"/>
                </a:solidFill>
                <a:latin typeface="League Spartan" pitchFamily="34" charset="0"/>
                <a:ea typeface="League Spartan" pitchFamily="34" charset="-122"/>
                <a:cs typeface="League Spartan" pitchFamily="34" charset="-120"/>
              </a:rPr>
              <a:t>Mark Stanley</a:t>
            </a:r>
            <a:endParaRPr lang="en-US" sz="1425" dirty="0"/>
          </a:p>
        </p:txBody>
      </p:sp>
      <p:pic>
        <p:nvPicPr>
          <p:cNvPr id="37" name="Image 7" descr="a_book.png"/>
          <p:cNvPicPr>
            <a:picLocks noChangeAspect="1"/>
          </p:cNvPicPr>
          <p:nvPr/>
        </p:nvPicPr>
        <p:blipFill>
          <a:blip r:embed="rId5"/>
          <a:stretch>
            <a:fillRect/>
          </a:stretch>
        </p:blipFill>
        <p:spPr>
          <a:xfrm>
            <a:off x="8536124" y="7927848"/>
            <a:ext cx="1239807" cy="1851660"/>
          </a:xfrm>
          <a:prstGeom prst="rect">
            <a:avLst/>
          </a:prstGeom>
        </p:spPr>
      </p:pic>
      <p:sp>
        <p:nvSpPr>
          <p:cNvPr id="38" name="Text 28"/>
          <p:cNvSpPr/>
          <p:nvPr/>
        </p:nvSpPr>
        <p:spPr>
          <a:xfrm>
            <a:off x="8056064" y="9820656"/>
            <a:ext cx="2199927" cy="301752"/>
          </a:xfrm>
          <a:prstGeom prst="rect">
            <a:avLst/>
          </a:prstGeom>
          <a:noFill/>
          <a:ln/>
        </p:spPr>
        <p:txBody>
          <a:bodyPr wrap="square" lIns="0" tIns="0" rIns="0" bIns="0" rtlCol="0" anchor="ctr"/>
          <a:lstStyle/>
          <a:p>
            <a:pPr algn="ctr"/>
            <a:r>
              <a:rPr lang="en-US" sz="1200" i="1" dirty="0">
                <a:solidFill>
                  <a:srgbClr val="142233"/>
                </a:solidFill>
                <a:latin typeface="League Spartan" pitchFamily="34" charset="0"/>
                <a:ea typeface="League Spartan" pitchFamily="34" charset="-122"/>
                <a:cs typeface="League Spartan" pitchFamily="34" charset="-120"/>
              </a:rPr>
              <a:t>THE EOS MASTERY SERIES</a:t>
            </a:r>
            <a:endParaRPr lang="en-US" sz="1200" dirty="0"/>
          </a:p>
        </p:txBody>
      </p:sp>
      <p:pic>
        <p:nvPicPr>
          <p:cNvPr id="39" name="Image 8" descr="a_angela.png"/>
          <p:cNvPicPr>
            <a:picLocks noChangeAspect="1"/>
          </p:cNvPicPr>
          <p:nvPr/>
        </p:nvPicPr>
        <p:blipFill>
          <a:blip r:embed="rId6"/>
          <a:stretch>
            <a:fillRect/>
          </a:stretch>
        </p:blipFill>
        <p:spPr>
          <a:xfrm>
            <a:off x="10530311" y="7927848"/>
            <a:ext cx="1528584" cy="1851660"/>
          </a:xfrm>
          <a:prstGeom prst="rect">
            <a:avLst/>
          </a:prstGeom>
        </p:spPr>
      </p:pic>
      <p:sp>
        <p:nvSpPr>
          <p:cNvPr id="40" name="Text 29"/>
          <p:cNvSpPr/>
          <p:nvPr/>
        </p:nvSpPr>
        <p:spPr>
          <a:xfrm>
            <a:off x="10187411" y="9820656"/>
            <a:ext cx="2214384" cy="301752"/>
          </a:xfrm>
          <a:prstGeom prst="rect">
            <a:avLst/>
          </a:prstGeom>
          <a:noFill/>
          <a:ln/>
        </p:spPr>
        <p:txBody>
          <a:bodyPr wrap="square" lIns="0" tIns="0" rIns="0" bIns="0" rtlCol="0" anchor="ctr"/>
          <a:lstStyle/>
          <a:p>
            <a:pPr algn="ctr"/>
            <a:r>
              <a:rPr lang="en-US" sz="1425" b="1" dirty="0">
                <a:solidFill>
                  <a:srgbClr val="142233"/>
                </a:solidFill>
                <a:latin typeface="League Spartan" pitchFamily="34" charset="0"/>
                <a:ea typeface="League Spartan" pitchFamily="34" charset="-122"/>
                <a:cs typeface="League Spartan" pitchFamily="34" charset="-120"/>
              </a:rPr>
              <a:t>Angela Kalemis</a:t>
            </a:r>
            <a:endParaRPr lang="en-US" sz="1425" dirty="0"/>
          </a:p>
        </p:txBody>
      </p:sp>
      <p:pic>
        <p:nvPicPr>
          <p:cNvPr id="41" name="Image 9" descr="a_eos.png"/>
          <p:cNvPicPr>
            <a:picLocks noChangeAspect="1"/>
          </p:cNvPicPr>
          <p:nvPr/>
        </p:nvPicPr>
        <p:blipFill>
          <a:blip r:embed="rId7"/>
          <a:stretch>
            <a:fillRect/>
          </a:stretch>
        </p:blipFill>
        <p:spPr>
          <a:xfrm>
            <a:off x="14073881" y="8092441"/>
            <a:ext cx="2331720" cy="895412"/>
          </a:xfrm>
          <a:prstGeom prst="rect">
            <a:avLst/>
          </a:prstGeom>
        </p:spPr>
      </p:pic>
      <p:sp>
        <p:nvSpPr>
          <p:cNvPr id="42" name="Text 30"/>
          <p:cNvSpPr/>
          <p:nvPr/>
        </p:nvSpPr>
        <p:spPr>
          <a:xfrm>
            <a:off x="13019015" y="9166160"/>
            <a:ext cx="4578614" cy="1165860"/>
          </a:xfrm>
          <a:prstGeom prst="rect">
            <a:avLst/>
          </a:prstGeom>
          <a:noFill/>
          <a:ln/>
        </p:spPr>
        <p:txBody>
          <a:bodyPr wrap="square" lIns="0" tIns="0" rIns="0" bIns="0" rtlCol="0" anchor="t"/>
          <a:lstStyle/>
          <a:p>
            <a:pPr algn="ctr">
              <a:lnSpc>
                <a:spcPct val="110000"/>
              </a:lnSpc>
            </a:pPr>
            <a:r>
              <a:rPr lang="en-US" sz="1575" dirty="0">
                <a:solidFill>
                  <a:srgbClr val="303B4F"/>
                </a:solidFill>
                <a:latin typeface="League Spartan" pitchFamily="34" charset="0"/>
                <a:ea typeface="League Spartan" pitchFamily="34" charset="-122"/>
                <a:cs typeface="League Spartan" pitchFamily="34" charset="-120"/>
              </a:rPr>
              <a:t>Led by the Co-Authors of the </a:t>
            </a:r>
            <a:r>
              <a:rPr lang="en-US" sz="1575" b="1" dirty="0">
                <a:solidFill>
                  <a:srgbClr val="303B4F"/>
                </a:solidFill>
                <a:latin typeface="League Spartan" pitchFamily="34" charset="0"/>
                <a:ea typeface="League Spartan" pitchFamily="34" charset="-122"/>
                <a:cs typeface="League Spartan" pitchFamily="34" charset="-120"/>
              </a:rPr>
              <a:t>Data Book</a:t>
            </a:r>
            <a:r>
              <a:rPr lang="en-US" sz="1575" dirty="0">
                <a:solidFill>
                  <a:srgbClr val="303B4F"/>
                </a:solidFill>
                <a:latin typeface="League Spartan" pitchFamily="34" charset="0"/>
                <a:ea typeface="League Spartan" pitchFamily="34" charset="-122"/>
                <a:cs typeface="League Spartan" pitchFamily="34" charset="-120"/>
              </a:rPr>
              <a:t> and Expert EOS Implementers with over 2,200 session days.</a:t>
            </a:r>
            <a:endParaRPr lang="en-US" sz="1575" dirty="0"/>
          </a:p>
        </p:txBody>
      </p:sp>
      <p:sp>
        <p:nvSpPr>
          <p:cNvPr id="43" name="TextBox 42"/>
          <p:cNvSpPr txBox="1"/>
          <p:nvPr/>
        </p:nvSpPr>
        <p:spPr>
          <a:xfrm>
            <a:off x="0" y="371167"/>
            <a:ext cx="5554980" cy="300082"/>
          </a:xfrm>
          <a:prstGeom prst="rect">
            <a:avLst/>
          </a:prstGeom>
          <a:noFill/>
        </p:spPr>
        <p:txBody>
          <a:bodyPr wrap="square" lIns="0" tIns="0" rIns="0" bIns="0" anchor="ctr">
            <a:spAutoFit/>
          </a:bodyPr>
          <a:lstStyle/>
          <a:p>
            <a:pPr algn="ctr"/>
            <a:r>
              <a:rPr sz="1950" b="1" spc="450">
                <a:solidFill>
                  <a:srgbClr val="FF7900"/>
                </a:solidFill>
                <a:latin typeface="League Spartan"/>
              </a:rPr>
              <a:t>2026 WORKSHOPS</a:t>
            </a:r>
          </a:p>
        </p:txBody>
      </p:sp>
      <p:sp>
        <p:nvSpPr>
          <p:cNvPr id="44" name="TextBox 43"/>
          <p:cNvSpPr txBox="1"/>
          <p:nvPr/>
        </p:nvSpPr>
        <p:spPr>
          <a:xfrm>
            <a:off x="521208" y="93494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HOUSTON</a:t>
            </a:r>
          </a:p>
        </p:txBody>
      </p:sp>
      <p:sp>
        <p:nvSpPr>
          <p:cNvPr id="45" name="TextBox 44"/>
          <p:cNvSpPr txBox="1"/>
          <p:nvPr/>
        </p:nvSpPr>
        <p:spPr>
          <a:xfrm>
            <a:off x="4005072" y="93494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9/10</a:t>
            </a:r>
          </a:p>
        </p:txBody>
      </p:sp>
      <p:sp>
        <p:nvSpPr>
          <p:cNvPr id="46" name="Rectangle 45"/>
          <p:cNvSpPr/>
          <p:nvPr/>
        </p:nvSpPr>
        <p:spPr>
          <a:xfrm>
            <a:off x="521208" y="126187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521208" y="134642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BIRMINGHAM</a:t>
            </a:r>
          </a:p>
        </p:txBody>
      </p:sp>
      <p:sp>
        <p:nvSpPr>
          <p:cNvPr id="48" name="TextBox 47"/>
          <p:cNvSpPr txBox="1"/>
          <p:nvPr/>
        </p:nvSpPr>
        <p:spPr>
          <a:xfrm>
            <a:off x="4005072" y="134642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9/15</a:t>
            </a:r>
          </a:p>
        </p:txBody>
      </p:sp>
      <p:sp>
        <p:nvSpPr>
          <p:cNvPr id="49" name="Rectangle 48"/>
          <p:cNvSpPr/>
          <p:nvPr/>
        </p:nvSpPr>
        <p:spPr>
          <a:xfrm>
            <a:off x="521208" y="167335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521208" y="175790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KANSAS CITY</a:t>
            </a:r>
          </a:p>
        </p:txBody>
      </p:sp>
      <p:sp>
        <p:nvSpPr>
          <p:cNvPr id="51" name="TextBox 50"/>
          <p:cNvSpPr txBox="1"/>
          <p:nvPr/>
        </p:nvSpPr>
        <p:spPr>
          <a:xfrm>
            <a:off x="4005072" y="175790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9/16</a:t>
            </a:r>
          </a:p>
        </p:txBody>
      </p:sp>
      <p:sp>
        <p:nvSpPr>
          <p:cNvPr id="52" name="Rectangle 51"/>
          <p:cNvSpPr/>
          <p:nvPr/>
        </p:nvSpPr>
        <p:spPr>
          <a:xfrm>
            <a:off x="521208" y="208483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521208" y="216938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RALEIGH</a:t>
            </a:r>
          </a:p>
        </p:txBody>
      </p:sp>
      <p:sp>
        <p:nvSpPr>
          <p:cNvPr id="54" name="TextBox 53"/>
          <p:cNvSpPr txBox="1"/>
          <p:nvPr/>
        </p:nvSpPr>
        <p:spPr>
          <a:xfrm>
            <a:off x="4005072" y="216938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9/17</a:t>
            </a:r>
          </a:p>
        </p:txBody>
      </p:sp>
      <p:sp>
        <p:nvSpPr>
          <p:cNvPr id="55" name="Rectangle 54"/>
          <p:cNvSpPr/>
          <p:nvPr/>
        </p:nvSpPr>
        <p:spPr>
          <a:xfrm>
            <a:off x="521208" y="249631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21208" y="258086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ALLENTOWN</a:t>
            </a:r>
          </a:p>
        </p:txBody>
      </p:sp>
      <p:sp>
        <p:nvSpPr>
          <p:cNvPr id="57" name="TextBox 56"/>
          <p:cNvSpPr txBox="1"/>
          <p:nvPr/>
        </p:nvSpPr>
        <p:spPr>
          <a:xfrm>
            <a:off x="4005072" y="258086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a:t>
            </a:r>
          </a:p>
        </p:txBody>
      </p:sp>
      <p:sp>
        <p:nvSpPr>
          <p:cNvPr id="58" name="Rectangle 57"/>
          <p:cNvSpPr/>
          <p:nvPr/>
        </p:nvSpPr>
        <p:spPr>
          <a:xfrm>
            <a:off x="521208" y="290779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521208" y="299234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TAMPA</a:t>
            </a:r>
          </a:p>
        </p:txBody>
      </p:sp>
      <p:sp>
        <p:nvSpPr>
          <p:cNvPr id="60" name="TextBox 59"/>
          <p:cNvSpPr txBox="1"/>
          <p:nvPr/>
        </p:nvSpPr>
        <p:spPr>
          <a:xfrm>
            <a:off x="4005072" y="299234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10/6</a:t>
            </a:r>
          </a:p>
        </p:txBody>
      </p:sp>
      <p:sp>
        <p:nvSpPr>
          <p:cNvPr id="61" name="Rectangle 60"/>
          <p:cNvSpPr/>
          <p:nvPr/>
        </p:nvSpPr>
        <p:spPr>
          <a:xfrm>
            <a:off x="521208" y="331927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521208" y="340382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BATON ROUGE</a:t>
            </a:r>
          </a:p>
        </p:txBody>
      </p:sp>
      <p:sp>
        <p:nvSpPr>
          <p:cNvPr id="63" name="TextBox 62"/>
          <p:cNvSpPr txBox="1"/>
          <p:nvPr/>
        </p:nvSpPr>
        <p:spPr>
          <a:xfrm>
            <a:off x="4005072" y="340382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10/7</a:t>
            </a:r>
          </a:p>
        </p:txBody>
      </p:sp>
      <p:sp>
        <p:nvSpPr>
          <p:cNvPr id="64" name="Rectangle 63"/>
          <p:cNvSpPr/>
          <p:nvPr/>
        </p:nvSpPr>
        <p:spPr>
          <a:xfrm>
            <a:off x="521208" y="373075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521208" y="381530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COLUMBUS</a:t>
            </a:r>
          </a:p>
        </p:txBody>
      </p:sp>
      <p:sp>
        <p:nvSpPr>
          <p:cNvPr id="66" name="TextBox 65"/>
          <p:cNvSpPr txBox="1"/>
          <p:nvPr/>
        </p:nvSpPr>
        <p:spPr>
          <a:xfrm>
            <a:off x="4005072" y="381530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10/15</a:t>
            </a:r>
          </a:p>
        </p:txBody>
      </p:sp>
      <p:sp>
        <p:nvSpPr>
          <p:cNvPr id="67" name="Rectangle 66"/>
          <p:cNvSpPr/>
          <p:nvPr/>
        </p:nvSpPr>
        <p:spPr>
          <a:xfrm>
            <a:off x="521208" y="414223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7"/>
          <p:cNvSpPr txBox="1"/>
          <p:nvPr/>
        </p:nvSpPr>
        <p:spPr>
          <a:xfrm>
            <a:off x="521208" y="422678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SAN DIEGO</a:t>
            </a:r>
          </a:p>
        </p:txBody>
      </p:sp>
      <p:sp>
        <p:nvSpPr>
          <p:cNvPr id="69" name="TextBox 68"/>
          <p:cNvSpPr txBox="1"/>
          <p:nvPr/>
        </p:nvSpPr>
        <p:spPr>
          <a:xfrm>
            <a:off x="4005072" y="422678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10/16</a:t>
            </a:r>
          </a:p>
        </p:txBody>
      </p:sp>
      <p:sp>
        <p:nvSpPr>
          <p:cNvPr id="70" name="Rectangle 69"/>
          <p:cNvSpPr/>
          <p:nvPr/>
        </p:nvSpPr>
        <p:spPr>
          <a:xfrm>
            <a:off x="521208" y="455371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521208" y="463826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DES MOINES</a:t>
            </a:r>
          </a:p>
        </p:txBody>
      </p:sp>
      <p:sp>
        <p:nvSpPr>
          <p:cNvPr id="72" name="TextBox 71"/>
          <p:cNvSpPr txBox="1"/>
          <p:nvPr/>
        </p:nvSpPr>
        <p:spPr>
          <a:xfrm>
            <a:off x="4005072" y="463826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10/22</a:t>
            </a:r>
          </a:p>
        </p:txBody>
      </p:sp>
      <p:sp>
        <p:nvSpPr>
          <p:cNvPr id="73" name="Rectangle 72"/>
          <p:cNvSpPr/>
          <p:nvPr/>
        </p:nvSpPr>
        <p:spPr>
          <a:xfrm>
            <a:off x="521208" y="496519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521208" y="504974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MINNEAPOLIS</a:t>
            </a:r>
          </a:p>
        </p:txBody>
      </p:sp>
      <p:sp>
        <p:nvSpPr>
          <p:cNvPr id="75" name="TextBox 74"/>
          <p:cNvSpPr txBox="1"/>
          <p:nvPr/>
        </p:nvSpPr>
        <p:spPr>
          <a:xfrm>
            <a:off x="4005072" y="504974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10/23</a:t>
            </a:r>
          </a:p>
        </p:txBody>
      </p:sp>
      <p:sp>
        <p:nvSpPr>
          <p:cNvPr id="76" name="Rectangle 75"/>
          <p:cNvSpPr/>
          <p:nvPr/>
        </p:nvSpPr>
        <p:spPr>
          <a:xfrm>
            <a:off x="521208" y="537667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521208" y="546122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TORONTO</a:t>
            </a:r>
            <a:r>
              <a:rPr sz="1125" b="1">
                <a:solidFill>
                  <a:srgbClr val="C9D2DC"/>
                </a:solidFill>
                <a:latin typeface="League Spartan"/>
              </a:rPr>
              <a:t>  $795 USD</a:t>
            </a:r>
          </a:p>
        </p:txBody>
      </p:sp>
      <p:sp>
        <p:nvSpPr>
          <p:cNvPr id="78" name="TextBox 77"/>
          <p:cNvSpPr txBox="1"/>
          <p:nvPr/>
        </p:nvSpPr>
        <p:spPr>
          <a:xfrm>
            <a:off x="4005072" y="546122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11/6</a:t>
            </a:r>
          </a:p>
        </p:txBody>
      </p:sp>
      <p:sp>
        <p:nvSpPr>
          <p:cNvPr id="79" name="Rectangle 78"/>
          <p:cNvSpPr/>
          <p:nvPr/>
        </p:nvSpPr>
        <p:spPr>
          <a:xfrm>
            <a:off x="521208" y="578815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TextBox 79"/>
          <p:cNvSpPr txBox="1"/>
          <p:nvPr/>
        </p:nvSpPr>
        <p:spPr>
          <a:xfrm>
            <a:off x="521208" y="587270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CALGARY</a:t>
            </a:r>
            <a:r>
              <a:rPr sz="1125" b="1">
                <a:solidFill>
                  <a:srgbClr val="C9D2DC"/>
                </a:solidFill>
                <a:latin typeface="League Spartan"/>
              </a:rPr>
              <a:t>  $795 USD</a:t>
            </a:r>
          </a:p>
        </p:txBody>
      </p:sp>
      <p:sp>
        <p:nvSpPr>
          <p:cNvPr id="81" name="TextBox 80"/>
          <p:cNvSpPr txBox="1"/>
          <p:nvPr/>
        </p:nvSpPr>
        <p:spPr>
          <a:xfrm>
            <a:off x="4005072" y="587270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11/25</a:t>
            </a:r>
          </a:p>
        </p:txBody>
      </p:sp>
      <p:sp>
        <p:nvSpPr>
          <p:cNvPr id="82" name="Rectangle 81"/>
          <p:cNvSpPr/>
          <p:nvPr/>
        </p:nvSpPr>
        <p:spPr>
          <a:xfrm>
            <a:off x="521208" y="619963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3" name="TextBox 82"/>
          <p:cNvSpPr txBox="1"/>
          <p:nvPr/>
        </p:nvSpPr>
        <p:spPr>
          <a:xfrm>
            <a:off x="0" y="6366479"/>
            <a:ext cx="5554980" cy="242374"/>
          </a:xfrm>
          <a:prstGeom prst="rect">
            <a:avLst/>
          </a:prstGeom>
          <a:noFill/>
        </p:spPr>
        <p:txBody>
          <a:bodyPr wrap="square" lIns="0" tIns="0" rIns="0" bIns="0" anchor="ctr">
            <a:spAutoFit/>
          </a:bodyPr>
          <a:lstStyle/>
          <a:p>
            <a:pPr algn="ctr"/>
            <a:r>
              <a:rPr sz="1575" b="1" spc="300">
                <a:solidFill>
                  <a:srgbClr val="FF7900"/>
                </a:solidFill>
                <a:latin typeface="League Spartan"/>
              </a:rPr>
              <a:t>COMING 2027</a:t>
            </a:r>
          </a:p>
        </p:txBody>
      </p:sp>
      <p:sp>
        <p:nvSpPr>
          <p:cNvPr id="84" name="TextBox 83"/>
          <p:cNvSpPr txBox="1"/>
          <p:nvPr/>
        </p:nvSpPr>
        <p:spPr>
          <a:xfrm>
            <a:off x="0" y="6684123"/>
            <a:ext cx="5554980" cy="265457"/>
          </a:xfrm>
          <a:prstGeom prst="rect">
            <a:avLst/>
          </a:prstGeom>
          <a:noFill/>
        </p:spPr>
        <p:txBody>
          <a:bodyPr wrap="square" lIns="0" tIns="0" rIns="0" bIns="0" anchor="ctr">
            <a:spAutoFit/>
          </a:bodyPr>
          <a:lstStyle/>
          <a:p>
            <a:pPr algn="ctr"/>
            <a:r>
              <a:rPr sz="1725" b="1">
                <a:solidFill>
                  <a:srgbClr val="FFFFFF"/>
                </a:solidFill>
                <a:latin typeface="League Spartan"/>
              </a:rPr>
              <a:t>Chicago  •  Atlanta  •  Cleveland</a:t>
            </a:r>
          </a:p>
        </p:txBody>
      </p:sp>
      <p:sp>
        <p:nvSpPr>
          <p:cNvPr id="85" name="TextBox 84"/>
          <p:cNvSpPr txBox="1"/>
          <p:nvPr/>
        </p:nvSpPr>
        <p:spPr>
          <a:xfrm>
            <a:off x="0" y="7070345"/>
            <a:ext cx="5554980" cy="288541"/>
          </a:xfrm>
          <a:prstGeom prst="rect">
            <a:avLst/>
          </a:prstGeom>
          <a:noFill/>
        </p:spPr>
        <p:txBody>
          <a:bodyPr wrap="square" lIns="0" tIns="0" rIns="0" bIns="0" anchor="ctr">
            <a:spAutoFit/>
          </a:bodyPr>
          <a:lstStyle/>
          <a:p>
            <a:pPr algn="ctr"/>
            <a:r>
              <a:rPr sz="1875" b="1">
                <a:solidFill>
                  <a:srgbClr val="FFFFFF"/>
                </a:solidFill>
                <a:latin typeface="League Spartan"/>
              </a:rPr>
              <a:t>$995 per seat</a:t>
            </a:r>
          </a:p>
        </p:txBody>
      </p:sp>
      <p:sp>
        <p:nvSpPr>
          <p:cNvPr id="86" name="TextBox 85"/>
          <p:cNvSpPr txBox="1"/>
          <p:nvPr/>
        </p:nvSpPr>
        <p:spPr>
          <a:xfrm>
            <a:off x="0" y="7479651"/>
            <a:ext cx="5554980" cy="265457"/>
          </a:xfrm>
          <a:prstGeom prst="rect">
            <a:avLst/>
          </a:prstGeom>
          <a:noFill/>
        </p:spPr>
        <p:txBody>
          <a:bodyPr wrap="square" lIns="0" tIns="0" rIns="0" bIns="0" anchor="ctr">
            <a:spAutoFit/>
          </a:bodyPr>
          <a:lstStyle/>
          <a:p>
            <a:pPr algn="ctr"/>
            <a:r>
              <a:rPr sz="1725" b="1" spc="300">
                <a:solidFill>
                  <a:srgbClr val="FF7900"/>
                </a:solidFill>
                <a:latin typeface="League Spartan"/>
              </a:rPr>
              <a:t>SCAN TO REGISTER</a:t>
            </a:r>
          </a:p>
        </p:txBody>
      </p:sp>
      <p:sp>
        <p:nvSpPr>
          <p:cNvPr id="87" name="Rectangle 86"/>
          <p:cNvSpPr/>
          <p:nvPr/>
        </p:nvSpPr>
        <p:spPr>
          <a:xfrm>
            <a:off x="1892808" y="7749539"/>
            <a:ext cx="1769364" cy="17693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88" name="Picture 87" descr="a_qr_tour.png"/>
          <p:cNvPicPr>
            <a:picLocks noChangeAspect="1"/>
          </p:cNvPicPr>
          <p:nvPr/>
        </p:nvPicPr>
        <p:blipFill>
          <a:blip r:embed="rId8"/>
          <a:stretch>
            <a:fillRect/>
          </a:stretch>
        </p:blipFill>
        <p:spPr>
          <a:xfrm>
            <a:off x="1988820" y="7845551"/>
            <a:ext cx="1577340" cy="1577340"/>
          </a:xfrm>
          <a:prstGeom prst="rect">
            <a:avLst/>
          </a:prstGeom>
        </p:spPr>
      </p:pic>
      <p:sp>
        <p:nvSpPr>
          <p:cNvPr id="89" name="TextBox 88"/>
          <p:cNvSpPr txBox="1"/>
          <p:nvPr/>
        </p:nvSpPr>
        <p:spPr>
          <a:xfrm>
            <a:off x="0" y="9658319"/>
            <a:ext cx="5554980" cy="242374"/>
          </a:xfrm>
          <a:prstGeom prst="rect">
            <a:avLst/>
          </a:prstGeom>
          <a:noFill/>
        </p:spPr>
        <p:txBody>
          <a:bodyPr wrap="square" lIns="0" tIns="0" rIns="0" bIns="0" anchor="ctr">
            <a:spAutoFit/>
          </a:bodyPr>
          <a:lstStyle/>
          <a:p>
            <a:pPr algn="ctr"/>
            <a:r>
              <a:rPr sz="1575" b="1">
                <a:solidFill>
                  <a:srgbClr val="FFFFFF"/>
                </a:solidFill>
                <a:latin typeface="League Spartan"/>
              </a:rPr>
              <a:t>WWW.UNSTOPPABLE-BIZ.COM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96"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grpSp>
        <p:nvGrpSpPr>
          <p:cNvPr id="10" name="Group 9">
            <a:extLst>
              <a:ext uri="{FF2B5EF4-FFF2-40B4-BE49-F238E27FC236}">
                <a16:creationId xmlns:a16="http://schemas.microsoft.com/office/drawing/2014/main" id="{8577E970-1815-F87F-5FD7-2E2E10E7F565}"/>
              </a:ext>
            </a:extLst>
          </p:cNvPr>
          <p:cNvGrpSpPr/>
          <p:nvPr/>
        </p:nvGrpSpPr>
        <p:grpSpPr>
          <a:xfrm>
            <a:off x="4206252" y="6186504"/>
            <a:ext cx="12967330" cy="868680"/>
            <a:chOff x="4206252" y="6186504"/>
            <a:chExt cx="12967330" cy="868680"/>
          </a:xfrm>
        </p:grpSpPr>
        <p:sp>
          <p:nvSpPr>
            <p:cNvPr id="19" name="Rounded Rectangle 18"/>
            <p:cNvSpPr/>
            <p:nvPr/>
          </p:nvSpPr>
          <p:spPr>
            <a:xfrm>
              <a:off x="4206252" y="618650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4617730" y="6424248"/>
              <a:ext cx="2480807" cy="369332"/>
            </a:xfrm>
            <a:prstGeom prst="rect">
              <a:avLst/>
            </a:prstGeom>
            <a:noFill/>
          </p:spPr>
          <p:txBody>
            <a:bodyPr wrap="square" lIns="0" tIns="0" rIns="0" bIns="0" anchor="t">
              <a:spAutoFit/>
            </a:bodyPr>
            <a:lstStyle/>
            <a:p>
              <a:pPr algn="l"/>
              <a:r>
                <a:rPr sz="2400" b="1" dirty="0">
                  <a:solidFill>
                    <a:srgbClr val="FF7900"/>
                  </a:solidFill>
                  <a:latin typeface="League Spartan"/>
                </a:rPr>
                <a:t>TO</a:t>
              </a:r>
              <a:r>
                <a:rPr lang="en-US" sz="2400" b="1" dirty="0">
                  <a:solidFill>
                    <a:srgbClr val="FF7900"/>
                  </a:solidFill>
                  <a:latin typeface="League Spartan"/>
                </a:rPr>
                <a:t>DAY</a:t>
              </a:r>
              <a:endParaRPr sz="2400" b="1" dirty="0">
                <a:solidFill>
                  <a:srgbClr val="FF7900"/>
                </a:solidFill>
                <a:latin typeface="League Spartan"/>
              </a:endParaRPr>
            </a:p>
          </p:txBody>
        </p:sp>
        <p:sp>
          <p:nvSpPr>
            <p:cNvPr id="21" name="TextBox 20"/>
            <p:cNvSpPr txBox="1"/>
            <p:nvPr/>
          </p:nvSpPr>
          <p:spPr>
            <a:xfrm>
              <a:off x="6666555" y="6424248"/>
              <a:ext cx="10507026" cy="369332"/>
            </a:xfrm>
            <a:prstGeom prst="rect">
              <a:avLst/>
            </a:prstGeom>
            <a:noFill/>
          </p:spPr>
          <p:txBody>
            <a:bodyPr wrap="square" lIns="0" tIns="0" rIns="0" bIns="0" anchor="t">
              <a:spAutoFit/>
            </a:bodyPr>
            <a:lstStyle/>
            <a:p>
              <a:pPr algn="l"/>
              <a:r>
                <a:rPr sz="2400" b="0" dirty="0">
                  <a:solidFill>
                    <a:srgbClr val="142233"/>
                  </a:solidFill>
                  <a:latin typeface="League Spartan"/>
                </a:rPr>
                <a:t>Every attendee takes home Data — </a:t>
              </a:r>
              <a:r>
                <a:rPr lang="en-US" sz="2400" b="0" dirty="0">
                  <a:solidFill>
                    <a:srgbClr val="142233"/>
                  </a:solidFill>
                  <a:latin typeface="League Spartan"/>
                </a:rPr>
                <a:t>From the EOS Mastery Series</a:t>
              </a:r>
              <a:endParaRPr sz="2400" b="0" dirty="0">
                <a:solidFill>
                  <a:srgbClr val="142233"/>
                </a:solidFill>
                <a:latin typeface="League Spartan"/>
              </a:endParaRPr>
            </a:p>
          </p:txBody>
        </p:sp>
      </p:grpSp>
      <p:grpSp>
        <p:nvGrpSpPr>
          <p:cNvPr id="11" name="Group 10">
            <a:extLst>
              <a:ext uri="{FF2B5EF4-FFF2-40B4-BE49-F238E27FC236}">
                <a16:creationId xmlns:a16="http://schemas.microsoft.com/office/drawing/2014/main" id="{9070A008-DA2C-6765-4838-FBCBE62EC2B8}"/>
              </a:ext>
            </a:extLst>
          </p:cNvPr>
          <p:cNvGrpSpPr/>
          <p:nvPr/>
        </p:nvGrpSpPr>
        <p:grpSpPr>
          <a:xfrm>
            <a:off x="4206252" y="7238064"/>
            <a:ext cx="12967330" cy="868680"/>
            <a:chOff x="4206252" y="7238064"/>
            <a:chExt cx="12967330" cy="868680"/>
          </a:xfrm>
        </p:grpSpPr>
        <p:sp>
          <p:nvSpPr>
            <p:cNvPr id="22" name="Rounded Rectangle 21"/>
            <p:cNvSpPr/>
            <p:nvPr/>
          </p:nvSpPr>
          <p:spPr>
            <a:xfrm>
              <a:off x="4206252" y="723806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4617731" y="7475808"/>
              <a:ext cx="1650482" cy="369332"/>
            </a:xfrm>
            <a:prstGeom prst="rect">
              <a:avLst/>
            </a:prstGeom>
            <a:noFill/>
          </p:spPr>
          <p:txBody>
            <a:bodyPr wrap="square" lIns="0" tIns="0" rIns="0" bIns="0" anchor="t">
              <a:spAutoFit/>
            </a:bodyPr>
            <a:lstStyle/>
            <a:p>
              <a:pPr algn="l"/>
              <a:r>
                <a:rPr sz="2400" b="1" dirty="0">
                  <a:solidFill>
                    <a:srgbClr val="FF7900"/>
                  </a:solidFill>
                  <a:latin typeface="League Spartan"/>
                </a:rPr>
                <a:t>FIRST 100</a:t>
              </a:r>
            </a:p>
          </p:txBody>
        </p:sp>
        <p:sp>
          <p:nvSpPr>
            <p:cNvPr id="24" name="TextBox 23"/>
            <p:cNvSpPr txBox="1"/>
            <p:nvPr/>
          </p:nvSpPr>
          <p:spPr>
            <a:xfrm>
              <a:off x="6666555" y="7475808"/>
              <a:ext cx="10327569" cy="369332"/>
            </a:xfrm>
            <a:prstGeom prst="rect">
              <a:avLst/>
            </a:prstGeom>
            <a:noFill/>
          </p:spPr>
          <p:txBody>
            <a:bodyPr wrap="square" lIns="0" tIns="0" rIns="0" bIns="0" anchor="t">
              <a:spAutoFit/>
            </a:bodyPr>
            <a:lstStyle/>
            <a:p>
              <a:pPr algn="l"/>
              <a:r>
                <a:rPr sz="2400" b="0" dirty="0">
                  <a:solidFill>
                    <a:srgbClr val="142233"/>
                  </a:solidFill>
                  <a:latin typeface="League Spartan"/>
                </a:rPr>
                <a:t>Join the Clarus platform waitlist — take The Profit Power Ratio, Book One, with you</a:t>
              </a:r>
            </a:p>
          </p:txBody>
        </p:sp>
      </p:grpSp>
      <p:grpSp>
        <p:nvGrpSpPr>
          <p:cNvPr id="12" name="Group 11">
            <a:extLst>
              <a:ext uri="{FF2B5EF4-FFF2-40B4-BE49-F238E27FC236}">
                <a16:creationId xmlns:a16="http://schemas.microsoft.com/office/drawing/2014/main" id="{80ED714C-0D0A-AB29-B67C-3CD87481C685}"/>
              </a:ext>
            </a:extLst>
          </p:cNvPr>
          <p:cNvGrpSpPr/>
          <p:nvPr/>
        </p:nvGrpSpPr>
        <p:grpSpPr>
          <a:xfrm>
            <a:off x="4206252" y="8289624"/>
            <a:ext cx="12967330" cy="868680"/>
            <a:chOff x="4206252" y="8289624"/>
            <a:chExt cx="12967330" cy="868680"/>
          </a:xfrm>
        </p:grpSpPr>
        <p:sp>
          <p:nvSpPr>
            <p:cNvPr id="25" name="Rounded Rectangle 24"/>
            <p:cNvSpPr/>
            <p:nvPr/>
          </p:nvSpPr>
          <p:spPr>
            <a:xfrm>
              <a:off x="4206252" y="828962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617730" y="8527368"/>
              <a:ext cx="2480807" cy="369332"/>
            </a:xfrm>
            <a:prstGeom prst="rect">
              <a:avLst/>
            </a:prstGeom>
            <a:noFill/>
          </p:spPr>
          <p:txBody>
            <a:bodyPr wrap="square" lIns="0" tIns="0" rIns="0" bIns="0" anchor="t">
              <a:spAutoFit/>
            </a:bodyPr>
            <a:lstStyle/>
            <a:p>
              <a:pPr algn="l"/>
              <a:r>
                <a:rPr sz="2400" b="1">
                  <a:solidFill>
                    <a:srgbClr val="FF7900"/>
                  </a:solidFill>
                  <a:latin typeface="League Spartan"/>
                </a:rPr>
                <a:t>KEEP GOING</a:t>
              </a:r>
            </a:p>
          </p:txBody>
        </p:sp>
        <p:sp>
          <p:nvSpPr>
            <p:cNvPr id="27" name="TextBox 26"/>
            <p:cNvSpPr txBox="1"/>
            <p:nvPr/>
          </p:nvSpPr>
          <p:spPr>
            <a:xfrm>
              <a:off x="6666555" y="8527368"/>
              <a:ext cx="10207043" cy="369332"/>
            </a:xfrm>
            <a:prstGeom prst="rect">
              <a:avLst/>
            </a:prstGeom>
            <a:noFill/>
          </p:spPr>
          <p:txBody>
            <a:bodyPr wrap="square" lIns="0" tIns="0" rIns="0" bIns="0" anchor="t">
              <a:spAutoFit/>
            </a:bodyPr>
            <a:lstStyle/>
            <a:p>
              <a:pPr algn="l"/>
              <a:r>
                <a:rPr sz="2400" b="0" dirty="0">
                  <a:solidFill>
                    <a:srgbClr val="142233"/>
                  </a:solidFill>
                  <a:latin typeface="League Spartan"/>
                </a:rPr>
                <a:t>Books 1–4 are on Amazon — follow Cole's journey from uncertain to in control</a:t>
              </a:r>
            </a:p>
          </p:txBody>
        </p:sp>
      </p:grpSp>
      <p:grpSp>
        <p:nvGrpSpPr>
          <p:cNvPr id="9" name="Group 8">
            <a:extLst>
              <a:ext uri="{FF2B5EF4-FFF2-40B4-BE49-F238E27FC236}">
                <a16:creationId xmlns:a16="http://schemas.microsoft.com/office/drawing/2014/main" id="{1EE5870A-3804-FEB9-1189-D21C04A18002}"/>
              </a:ext>
            </a:extLst>
          </p:cNvPr>
          <p:cNvGrpSpPr/>
          <p:nvPr/>
        </p:nvGrpSpPr>
        <p:grpSpPr>
          <a:xfrm>
            <a:off x="505752" y="6148295"/>
            <a:ext cx="3282408" cy="3174145"/>
            <a:chOff x="505752" y="6148295"/>
            <a:chExt cx="3282408" cy="3174145"/>
          </a:xfrm>
        </p:grpSpPr>
        <p:sp>
          <p:nvSpPr>
            <p:cNvPr id="28" name="TextBox 27"/>
            <p:cNvSpPr txBox="1"/>
            <p:nvPr/>
          </p:nvSpPr>
          <p:spPr>
            <a:xfrm>
              <a:off x="505752" y="8583776"/>
              <a:ext cx="3282408" cy="738664"/>
            </a:xfrm>
            <a:prstGeom prst="rect">
              <a:avLst/>
            </a:prstGeom>
            <a:noFill/>
          </p:spPr>
          <p:txBody>
            <a:bodyPr wrap="square" lIns="0" tIns="0" rIns="0" bIns="0" anchor="t">
              <a:spAutoFit/>
            </a:bodyPr>
            <a:lstStyle/>
            <a:p>
              <a:pPr algn="ctr"/>
              <a:r>
                <a:rPr sz="2800" b="1" dirty="0" err="1">
                  <a:solidFill>
                    <a:srgbClr val="142233"/>
                  </a:solidFill>
                  <a:latin typeface="League Spartan"/>
                </a:rPr>
                <a:t>askclarus.com</a:t>
              </a:r>
              <a:r>
                <a:rPr sz="2400" b="0" dirty="0">
                  <a:solidFill>
                    <a:srgbClr val="303B4F"/>
                  </a:solidFill>
                  <a:latin typeface="League Spartan"/>
                </a:rPr>
                <a:t> </a:t>
              </a:r>
              <a:endParaRPr lang="en-US" sz="2400" b="0" dirty="0">
                <a:solidFill>
                  <a:srgbClr val="303B4F"/>
                </a:solidFill>
                <a:latin typeface="League Spartan"/>
              </a:endParaRPr>
            </a:p>
            <a:p>
              <a:pPr algn="ctr"/>
              <a:r>
                <a:rPr sz="2000" b="0" i="1" dirty="0">
                  <a:solidFill>
                    <a:srgbClr val="303B4F"/>
                  </a:solidFill>
                  <a:latin typeface="League Spartan"/>
                </a:rPr>
                <a:t>scan to join the waitlist</a:t>
              </a:r>
            </a:p>
          </p:txBody>
        </p:sp>
        <p:pic>
          <p:nvPicPr>
            <p:cNvPr id="29" name="Picture 28" descr="clarus_front-000.png"/>
            <p:cNvPicPr>
              <a:picLocks noChangeAspect="1"/>
            </p:cNvPicPr>
            <p:nvPr/>
          </p:nvPicPr>
          <p:blipFill>
            <a:blip r:embed="rId3"/>
            <a:stretch>
              <a:fillRect/>
            </a:stretch>
          </p:blipFill>
          <p:spPr>
            <a:xfrm>
              <a:off x="904343" y="6148295"/>
              <a:ext cx="2485227" cy="2485227"/>
            </a:xfrm>
            <a:prstGeom prst="rect">
              <a:avLst/>
            </a:prstGeom>
          </p:spPr>
        </p:pic>
      </p:grpSp>
      <p:grpSp>
        <p:nvGrpSpPr>
          <p:cNvPr id="6" name="Group 5">
            <a:extLst>
              <a:ext uri="{FF2B5EF4-FFF2-40B4-BE49-F238E27FC236}">
                <a16:creationId xmlns:a16="http://schemas.microsoft.com/office/drawing/2014/main" id="{2B0F4317-FE0D-EF99-9DCA-9040AD4D1251}"/>
              </a:ext>
            </a:extLst>
          </p:cNvPr>
          <p:cNvGrpSpPr/>
          <p:nvPr/>
        </p:nvGrpSpPr>
        <p:grpSpPr>
          <a:xfrm>
            <a:off x="864108" y="2310010"/>
            <a:ext cx="5513832" cy="3426886"/>
            <a:chOff x="864108" y="2310010"/>
            <a:chExt cx="5513832" cy="3426886"/>
          </a:xfrm>
        </p:grpSpPr>
        <p:sp>
          <p:nvSpPr>
            <p:cNvPr id="30" name="Rectangle 29">
              <a:extLst>
                <a:ext uri="{FF2B5EF4-FFF2-40B4-BE49-F238E27FC236}">
                  <a16:creationId xmlns:a16="http://schemas.microsoft.com/office/drawing/2014/main" id="{54FE7007-C714-9496-E4A3-FEA29EF448E8}"/>
                </a:ext>
              </a:extLst>
            </p:cNvPr>
            <p:cNvSpPr/>
            <p:nvPr/>
          </p:nvSpPr>
          <p:spPr>
            <a:xfrm>
              <a:off x="939546"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1" name="Picture 30" descr="image.png">
              <a:extLst>
                <a:ext uri="{FF2B5EF4-FFF2-40B4-BE49-F238E27FC236}">
                  <a16:creationId xmlns:a16="http://schemas.microsoft.com/office/drawing/2014/main" id="{A62015A5-E28A-A8E9-675A-2D941B337B0E}"/>
                </a:ext>
              </a:extLst>
            </p:cNvPr>
            <p:cNvPicPr>
              <a:picLocks noChangeAspect="1"/>
            </p:cNvPicPr>
            <p:nvPr/>
          </p:nvPicPr>
          <p:blipFill>
            <a:blip r:embed="rId4"/>
            <a:stretch>
              <a:fillRect/>
            </a:stretch>
          </p:blipFill>
          <p:spPr>
            <a:xfrm>
              <a:off x="960120" y="2330584"/>
              <a:ext cx="1162431" cy="1860261"/>
            </a:xfrm>
            <a:prstGeom prst="rect">
              <a:avLst/>
            </a:prstGeom>
          </p:spPr>
        </p:pic>
        <p:sp>
          <p:nvSpPr>
            <p:cNvPr id="32" name="Oval 31">
              <a:extLst>
                <a:ext uri="{FF2B5EF4-FFF2-40B4-BE49-F238E27FC236}">
                  <a16:creationId xmlns:a16="http://schemas.microsoft.com/office/drawing/2014/main" id="{C59ECAD5-3840-62AD-1AD6-0BDFFF3F5E15}"/>
                </a:ext>
              </a:extLst>
            </p:cNvPr>
            <p:cNvSpPr/>
            <p:nvPr/>
          </p:nvSpPr>
          <p:spPr>
            <a:xfrm>
              <a:off x="1793367"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a:t>
              </a:r>
            </a:p>
          </p:txBody>
        </p:sp>
        <p:sp>
          <p:nvSpPr>
            <p:cNvPr id="33" name="TextBox 32">
              <a:extLst>
                <a:ext uri="{FF2B5EF4-FFF2-40B4-BE49-F238E27FC236}">
                  <a16:creationId xmlns:a16="http://schemas.microsoft.com/office/drawing/2014/main" id="{28D79401-7F45-A8E7-5E55-8B5C5A65827E}"/>
                </a:ext>
              </a:extLst>
            </p:cNvPr>
            <p:cNvSpPr txBox="1"/>
            <p:nvPr/>
          </p:nvSpPr>
          <p:spPr>
            <a:xfrm>
              <a:off x="864108"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Profit</a:t>
              </a:r>
            </a:p>
            <a:p>
              <a:pPr algn="ctr">
                <a:lnSpc>
                  <a:spcPct val="118000"/>
                </a:lnSpc>
              </a:pPr>
              <a:r>
                <a:rPr sz="1200" b="1">
                  <a:solidFill>
                    <a:srgbClr val="0E2763"/>
                  </a:solidFill>
                  <a:latin typeface="Montserrat"/>
                </a:rPr>
                <a:t>Power Ratio</a:t>
              </a:r>
            </a:p>
          </p:txBody>
        </p:sp>
        <p:sp>
          <p:nvSpPr>
            <p:cNvPr id="34" name="Rectangle 33">
              <a:extLst>
                <a:ext uri="{FF2B5EF4-FFF2-40B4-BE49-F238E27FC236}">
                  <a16:creationId xmlns:a16="http://schemas.microsoft.com/office/drawing/2014/main" id="{D93EEDFB-0FF2-2C6D-3E58-BDE9355E8515}"/>
                </a:ext>
              </a:extLst>
            </p:cNvPr>
            <p:cNvSpPr/>
            <p:nvPr/>
          </p:nvSpPr>
          <p:spPr>
            <a:xfrm>
              <a:off x="2321433"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5" name="Picture 34" descr="image.png">
              <a:extLst>
                <a:ext uri="{FF2B5EF4-FFF2-40B4-BE49-F238E27FC236}">
                  <a16:creationId xmlns:a16="http://schemas.microsoft.com/office/drawing/2014/main" id="{9177A584-0D11-E975-2F62-B76F9BF64CD6}"/>
                </a:ext>
              </a:extLst>
            </p:cNvPr>
            <p:cNvPicPr>
              <a:picLocks noChangeAspect="1"/>
            </p:cNvPicPr>
            <p:nvPr/>
          </p:nvPicPr>
          <p:blipFill>
            <a:blip r:embed="rId5"/>
            <a:stretch>
              <a:fillRect/>
            </a:stretch>
          </p:blipFill>
          <p:spPr>
            <a:xfrm>
              <a:off x="2342007" y="2330584"/>
              <a:ext cx="1162431" cy="1860261"/>
            </a:xfrm>
            <a:prstGeom prst="rect">
              <a:avLst/>
            </a:prstGeom>
          </p:spPr>
        </p:pic>
        <p:sp>
          <p:nvSpPr>
            <p:cNvPr id="36" name="Oval 35">
              <a:extLst>
                <a:ext uri="{FF2B5EF4-FFF2-40B4-BE49-F238E27FC236}">
                  <a16:creationId xmlns:a16="http://schemas.microsoft.com/office/drawing/2014/main" id="{A9CE10B0-8CF4-6D8B-B55D-42B30564EDC4}"/>
                </a:ext>
              </a:extLst>
            </p:cNvPr>
            <p:cNvSpPr/>
            <p:nvPr/>
          </p:nvSpPr>
          <p:spPr>
            <a:xfrm>
              <a:off x="3175254"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2</a:t>
              </a:r>
            </a:p>
          </p:txBody>
        </p:sp>
        <p:sp>
          <p:nvSpPr>
            <p:cNvPr id="37" name="TextBox 36">
              <a:extLst>
                <a:ext uri="{FF2B5EF4-FFF2-40B4-BE49-F238E27FC236}">
                  <a16:creationId xmlns:a16="http://schemas.microsoft.com/office/drawing/2014/main" id="{8A948A5B-AA6D-0B78-AD38-85FBC9DBD5B4}"/>
                </a:ext>
              </a:extLst>
            </p:cNvPr>
            <p:cNvSpPr txBox="1"/>
            <p:nvPr/>
          </p:nvSpPr>
          <p:spPr>
            <a:xfrm>
              <a:off x="2245995"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Power</a:t>
              </a:r>
            </a:p>
            <a:p>
              <a:pPr algn="ctr">
                <a:lnSpc>
                  <a:spcPct val="118000"/>
                </a:lnSpc>
              </a:pPr>
              <a:r>
                <a:rPr sz="1200" b="1">
                  <a:solidFill>
                    <a:srgbClr val="0E2763"/>
                  </a:solidFill>
                  <a:latin typeface="Montserrat"/>
                </a:rPr>
                <a:t>of X</a:t>
              </a:r>
            </a:p>
          </p:txBody>
        </p:sp>
        <p:sp>
          <p:nvSpPr>
            <p:cNvPr id="38" name="Rectangle 37">
              <a:extLst>
                <a:ext uri="{FF2B5EF4-FFF2-40B4-BE49-F238E27FC236}">
                  <a16:creationId xmlns:a16="http://schemas.microsoft.com/office/drawing/2014/main" id="{C1FF6B67-FEB4-BC35-D08C-E7A6C995EC01}"/>
                </a:ext>
              </a:extLst>
            </p:cNvPr>
            <p:cNvSpPr/>
            <p:nvPr/>
          </p:nvSpPr>
          <p:spPr>
            <a:xfrm>
              <a:off x="3703320"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9" name="Picture 38" descr="image.png">
              <a:extLst>
                <a:ext uri="{FF2B5EF4-FFF2-40B4-BE49-F238E27FC236}">
                  <a16:creationId xmlns:a16="http://schemas.microsoft.com/office/drawing/2014/main" id="{A6EE8ACC-2E79-339D-28B2-5DC072916DA5}"/>
                </a:ext>
              </a:extLst>
            </p:cNvPr>
            <p:cNvPicPr>
              <a:picLocks noChangeAspect="1"/>
            </p:cNvPicPr>
            <p:nvPr/>
          </p:nvPicPr>
          <p:blipFill>
            <a:blip r:embed="rId6"/>
            <a:stretch>
              <a:fillRect/>
            </a:stretch>
          </p:blipFill>
          <p:spPr>
            <a:xfrm>
              <a:off x="3723894" y="2330584"/>
              <a:ext cx="1162431" cy="1860261"/>
            </a:xfrm>
            <a:prstGeom prst="rect">
              <a:avLst/>
            </a:prstGeom>
          </p:spPr>
        </p:pic>
        <p:sp>
          <p:nvSpPr>
            <p:cNvPr id="40" name="Oval 39">
              <a:extLst>
                <a:ext uri="{FF2B5EF4-FFF2-40B4-BE49-F238E27FC236}">
                  <a16:creationId xmlns:a16="http://schemas.microsoft.com/office/drawing/2014/main" id="{28B5AD51-CAC4-D549-D1C3-103B1FBA671E}"/>
                </a:ext>
              </a:extLst>
            </p:cNvPr>
            <p:cNvSpPr/>
            <p:nvPr/>
          </p:nvSpPr>
          <p:spPr>
            <a:xfrm>
              <a:off x="4557141"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3</a:t>
              </a:r>
            </a:p>
          </p:txBody>
        </p:sp>
        <p:sp>
          <p:nvSpPr>
            <p:cNvPr id="41" name="TextBox 40">
              <a:extLst>
                <a:ext uri="{FF2B5EF4-FFF2-40B4-BE49-F238E27FC236}">
                  <a16:creationId xmlns:a16="http://schemas.microsoft.com/office/drawing/2014/main" id="{8BC1A213-9F3B-5461-2A0E-B08EB6EDFC25}"/>
                </a:ext>
              </a:extLst>
            </p:cNvPr>
            <p:cNvSpPr txBox="1"/>
            <p:nvPr/>
          </p:nvSpPr>
          <p:spPr>
            <a:xfrm>
              <a:off x="3627882"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Core</a:t>
              </a:r>
            </a:p>
            <a:p>
              <a:pPr algn="ctr">
                <a:lnSpc>
                  <a:spcPct val="118000"/>
                </a:lnSpc>
              </a:pPr>
              <a:r>
                <a:rPr sz="1200" b="1">
                  <a:solidFill>
                    <a:srgbClr val="0E2763"/>
                  </a:solidFill>
                  <a:latin typeface="Montserrat"/>
                </a:rPr>
                <a:t>Driver</a:t>
              </a:r>
            </a:p>
          </p:txBody>
        </p:sp>
        <p:sp>
          <p:nvSpPr>
            <p:cNvPr id="42" name="Rectangle 41">
              <a:extLst>
                <a:ext uri="{FF2B5EF4-FFF2-40B4-BE49-F238E27FC236}">
                  <a16:creationId xmlns:a16="http://schemas.microsoft.com/office/drawing/2014/main" id="{B6A99321-CA2C-96DD-AA1F-136BEDE80616}"/>
                </a:ext>
              </a:extLst>
            </p:cNvPr>
            <p:cNvSpPr/>
            <p:nvPr/>
          </p:nvSpPr>
          <p:spPr>
            <a:xfrm>
              <a:off x="5085207"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3" name="Picture 42" descr="image.png">
              <a:extLst>
                <a:ext uri="{FF2B5EF4-FFF2-40B4-BE49-F238E27FC236}">
                  <a16:creationId xmlns:a16="http://schemas.microsoft.com/office/drawing/2014/main" id="{6D4F4543-98C7-A5BC-27ED-AA8632497237}"/>
                </a:ext>
              </a:extLst>
            </p:cNvPr>
            <p:cNvPicPr>
              <a:picLocks noChangeAspect="1"/>
            </p:cNvPicPr>
            <p:nvPr/>
          </p:nvPicPr>
          <p:blipFill>
            <a:blip r:embed="rId7"/>
            <a:stretch>
              <a:fillRect/>
            </a:stretch>
          </p:blipFill>
          <p:spPr>
            <a:xfrm>
              <a:off x="5105781" y="2330584"/>
              <a:ext cx="1162431" cy="1860261"/>
            </a:xfrm>
            <a:prstGeom prst="rect">
              <a:avLst/>
            </a:prstGeom>
          </p:spPr>
        </p:pic>
        <p:sp>
          <p:nvSpPr>
            <p:cNvPr id="44" name="Oval 43">
              <a:extLst>
                <a:ext uri="{FF2B5EF4-FFF2-40B4-BE49-F238E27FC236}">
                  <a16:creationId xmlns:a16="http://schemas.microsoft.com/office/drawing/2014/main" id="{125D77AB-BACD-545C-064A-614FB30AE845}"/>
                </a:ext>
              </a:extLst>
            </p:cNvPr>
            <p:cNvSpPr/>
            <p:nvPr/>
          </p:nvSpPr>
          <p:spPr>
            <a:xfrm>
              <a:off x="5939028"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4</a:t>
              </a:r>
            </a:p>
          </p:txBody>
        </p:sp>
        <p:sp>
          <p:nvSpPr>
            <p:cNvPr id="45" name="TextBox 44">
              <a:extLst>
                <a:ext uri="{FF2B5EF4-FFF2-40B4-BE49-F238E27FC236}">
                  <a16:creationId xmlns:a16="http://schemas.microsoft.com/office/drawing/2014/main" id="{784E35F7-2ECF-171C-32C6-99F8D2C64330}"/>
                </a:ext>
              </a:extLst>
            </p:cNvPr>
            <p:cNvSpPr txBox="1"/>
            <p:nvPr/>
          </p:nvSpPr>
          <p:spPr>
            <a:xfrm>
              <a:off x="5009769" y="4328006"/>
              <a:ext cx="1354455" cy="201465"/>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Signal</a:t>
              </a:r>
            </a:p>
          </p:txBody>
        </p:sp>
        <p:sp>
          <p:nvSpPr>
            <p:cNvPr id="86" name="Rectangle 85">
              <a:extLst>
                <a:ext uri="{FF2B5EF4-FFF2-40B4-BE49-F238E27FC236}">
                  <a16:creationId xmlns:a16="http://schemas.microsoft.com/office/drawing/2014/main" id="{32B9210C-A86A-9AF6-8528-456E13719488}"/>
                </a:ext>
              </a:extLst>
            </p:cNvPr>
            <p:cNvSpPr/>
            <p:nvPr/>
          </p:nvSpPr>
          <p:spPr>
            <a:xfrm>
              <a:off x="960120" y="4879475"/>
              <a:ext cx="5308092" cy="68580"/>
            </a:xfrm>
            <a:prstGeom prst="rect">
              <a:avLst/>
            </a:prstGeom>
            <a:solidFill>
              <a:srgbClr val="3F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TextBox 86">
              <a:extLst>
                <a:ext uri="{FF2B5EF4-FFF2-40B4-BE49-F238E27FC236}">
                  <a16:creationId xmlns:a16="http://schemas.microsoft.com/office/drawing/2014/main" id="{D58023D8-D8CD-84E9-29E7-7F8CCAE5331E}"/>
                </a:ext>
              </a:extLst>
            </p:cNvPr>
            <p:cNvSpPr txBox="1"/>
            <p:nvPr/>
          </p:nvSpPr>
          <p:spPr>
            <a:xfrm>
              <a:off x="960120" y="5098931"/>
              <a:ext cx="5308092" cy="300082"/>
            </a:xfrm>
            <a:prstGeom prst="rect">
              <a:avLst/>
            </a:prstGeom>
            <a:noFill/>
          </p:spPr>
          <p:txBody>
            <a:bodyPr wrap="square" lIns="0" tIns="0" rIns="0" bIns="0">
              <a:spAutoFit/>
            </a:bodyPr>
            <a:lstStyle/>
            <a:p>
              <a:pPr algn="l">
                <a:lnSpc>
                  <a:spcPct val="100000"/>
                </a:lnSpc>
              </a:pPr>
              <a:r>
                <a:rPr sz="1950" b="1" spc="270">
                  <a:solidFill>
                    <a:srgbClr val="3F6389"/>
                  </a:solidFill>
                  <a:latin typeface="Montserrat"/>
                </a:rPr>
                <a:t>CLARITY</a:t>
              </a:r>
            </a:p>
          </p:txBody>
        </p:sp>
        <p:sp>
          <p:nvSpPr>
            <p:cNvPr id="88" name="TextBox 87">
              <a:extLst>
                <a:ext uri="{FF2B5EF4-FFF2-40B4-BE49-F238E27FC236}">
                  <a16:creationId xmlns:a16="http://schemas.microsoft.com/office/drawing/2014/main" id="{E3AEB407-D9C4-F5E8-7F99-9946335569BF}"/>
                </a:ext>
              </a:extLst>
            </p:cNvPr>
            <p:cNvSpPr txBox="1"/>
            <p:nvPr/>
          </p:nvSpPr>
          <p:spPr>
            <a:xfrm>
              <a:off x="960120" y="5482980"/>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1–4 · written, taught, in the platform</a:t>
              </a:r>
            </a:p>
          </p:txBody>
        </p:sp>
      </p:grpSp>
      <p:grpSp>
        <p:nvGrpSpPr>
          <p:cNvPr id="7" name="Group 6">
            <a:extLst>
              <a:ext uri="{FF2B5EF4-FFF2-40B4-BE49-F238E27FC236}">
                <a16:creationId xmlns:a16="http://schemas.microsoft.com/office/drawing/2014/main" id="{4170CA96-FB47-3CE1-9077-259358354789}"/>
              </a:ext>
            </a:extLst>
          </p:cNvPr>
          <p:cNvGrpSpPr/>
          <p:nvPr/>
        </p:nvGrpSpPr>
        <p:grpSpPr>
          <a:xfrm>
            <a:off x="6391656" y="2310010"/>
            <a:ext cx="5513832" cy="3426885"/>
            <a:chOff x="6391656" y="2310010"/>
            <a:chExt cx="5513832" cy="3426885"/>
          </a:xfrm>
        </p:grpSpPr>
        <p:sp>
          <p:nvSpPr>
            <p:cNvPr id="46" name="Rectangle 45">
              <a:extLst>
                <a:ext uri="{FF2B5EF4-FFF2-40B4-BE49-F238E27FC236}">
                  <a16:creationId xmlns:a16="http://schemas.microsoft.com/office/drawing/2014/main" id="{BD83B216-EBCD-99FF-411E-7E6442230E3F}"/>
                </a:ext>
              </a:extLst>
            </p:cNvPr>
            <p:cNvSpPr/>
            <p:nvPr/>
          </p:nvSpPr>
          <p:spPr>
            <a:xfrm>
              <a:off x="6467094"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7" name="Picture 46" descr="image.png">
              <a:extLst>
                <a:ext uri="{FF2B5EF4-FFF2-40B4-BE49-F238E27FC236}">
                  <a16:creationId xmlns:a16="http://schemas.microsoft.com/office/drawing/2014/main" id="{8EE06C8B-9FBE-CC1F-0708-5C6FE27660AF}"/>
                </a:ext>
              </a:extLst>
            </p:cNvPr>
            <p:cNvPicPr>
              <a:picLocks noChangeAspect="1"/>
            </p:cNvPicPr>
            <p:nvPr/>
          </p:nvPicPr>
          <p:blipFill>
            <a:blip r:embed="rId8"/>
            <a:stretch>
              <a:fillRect/>
            </a:stretch>
          </p:blipFill>
          <p:spPr>
            <a:xfrm>
              <a:off x="6487668" y="2330584"/>
              <a:ext cx="1162431" cy="1860261"/>
            </a:xfrm>
            <a:prstGeom prst="rect">
              <a:avLst/>
            </a:prstGeom>
          </p:spPr>
        </p:pic>
        <p:sp>
          <p:nvSpPr>
            <p:cNvPr id="48" name="Rectangle 47">
              <a:extLst>
                <a:ext uri="{FF2B5EF4-FFF2-40B4-BE49-F238E27FC236}">
                  <a16:creationId xmlns:a16="http://schemas.microsoft.com/office/drawing/2014/main" id="{D89BA456-212C-5324-D8E6-FFC3A81E3D07}"/>
                </a:ext>
              </a:extLst>
            </p:cNvPr>
            <p:cNvSpPr/>
            <p:nvPr/>
          </p:nvSpPr>
          <p:spPr>
            <a:xfrm>
              <a:off x="6487668"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a:extLst>
                <a:ext uri="{FF2B5EF4-FFF2-40B4-BE49-F238E27FC236}">
                  <a16:creationId xmlns:a16="http://schemas.microsoft.com/office/drawing/2014/main" id="{8A41AEEC-4E17-B211-39BF-D2E8C61CC8B8}"/>
                </a:ext>
              </a:extLst>
            </p:cNvPr>
            <p:cNvSpPr/>
            <p:nvPr/>
          </p:nvSpPr>
          <p:spPr>
            <a:xfrm>
              <a:off x="7320915"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5</a:t>
              </a:r>
            </a:p>
          </p:txBody>
        </p:sp>
        <p:sp>
          <p:nvSpPr>
            <p:cNvPr id="50" name="TextBox 49">
              <a:extLst>
                <a:ext uri="{FF2B5EF4-FFF2-40B4-BE49-F238E27FC236}">
                  <a16:creationId xmlns:a16="http://schemas.microsoft.com/office/drawing/2014/main" id="{0C340A8A-14B2-247C-D4DF-5111FF6AAC4D}"/>
                </a:ext>
              </a:extLst>
            </p:cNvPr>
            <p:cNvSpPr txBox="1"/>
            <p:nvPr/>
          </p:nvSpPr>
          <p:spPr>
            <a:xfrm>
              <a:off x="6391656" y="4328006"/>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Flow</a:t>
              </a:r>
            </a:p>
          </p:txBody>
        </p:sp>
        <p:sp>
          <p:nvSpPr>
            <p:cNvPr id="51" name="Rectangle 50">
              <a:extLst>
                <a:ext uri="{FF2B5EF4-FFF2-40B4-BE49-F238E27FC236}">
                  <a16:creationId xmlns:a16="http://schemas.microsoft.com/office/drawing/2014/main" id="{45423FD6-04CB-BA4E-5A51-1E53FB2B8A13}"/>
                </a:ext>
              </a:extLst>
            </p:cNvPr>
            <p:cNvSpPr/>
            <p:nvPr/>
          </p:nvSpPr>
          <p:spPr>
            <a:xfrm>
              <a:off x="7848981"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52" name="Picture 51" descr="image.png">
              <a:extLst>
                <a:ext uri="{FF2B5EF4-FFF2-40B4-BE49-F238E27FC236}">
                  <a16:creationId xmlns:a16="http://schemas.microsoft.com/office/drawing/2014/main" id="{D22A5945-861C-3A41-6047-E9ED90DF3B72}"/>
                </a:ext>
              </a:extLst>
            </p:cNvPr>
            <p:cNvPicPr>
              <a:picLocks noChangeAspect="1"/>
            </p:cNvPicPr>
            <p:nvPr/>
          </p:nvPicPr>
          <p:blipFill>
            <a:blip r:embed="rId9"/>
            <a:stretch>
              <a:fillRect/>
            </a:stretch>
          </p:blipFill>
          <p:spPr>
            <a:xfrm>
              <a:off x="7869555" y="2330584"/>
              <a:ext cx="1162431" cy="1860261"/>
            </a:xfrm>
            <a:prstGeom prst="rect">
              <a:avLst/>
            </a:prstGeom>
          </p:spPr>
        </p:pic>
        <p:sp>
          <p:nvSpPr>
            <p:cNvPr id="53" name="Rectangle 52">
              <a:extLst>
                <a:ext uri="{FF2B5EF4-FFF2-40B4-BE49-F238E27FC236}">
                  <a16:creationId xmlns:a16="http://schemas.microsoft.com/office/drawing/2014/main" id="{135EEE92-7B81-0A8A-355F-E9B0B3B5416F}"/>
                </a:ext>
              </a:extLst>
            </p:cNvPr>
            <p:cNvSpPr/>
            <p:nvPr/>
          </p:nvSpPr>
          <p:spPr>
            <a:xfrm>
              <a:off x="7869555"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Oval 53">
              <a:extLst>
                <a:ext uri="{FF2B5EF4-FFF2-40B4-BE49-F238E27FC236}">
                  <a16:creationId xmlns:a16="http://schemas.microsoft.com/office/drawing/2014/main" id="{7BAC1901-8C96-4E19-E598-670451CE0E5E}"/>
                </a:ext>
              </a:extLst>
            </p:cNvPr>
            <p:cNvSpPr/>
            <p:nvPr/>
          </p:nvSpPr>
          <p:spPr>
            <a:xfrm>
              <a:off x="8702802"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6</a:t>
              </a:r>
            </a:p>
          </p:txBody>
        </p:sp>
        <p:sp>
          <p:nvSpPr>
            <p:cNvPr id="55" name="TextBox 54">
              <a:extLst>
                <a:ext uri="{FF2B5EF4-FFF2-40B4-BE49-F238E27FC236}">
                  <a16:creationId xmlns:a16="http://schemas.microsoft.com/office/drawing/2014/main" id="{279C761A-9BB8-FFD2-6420-880F9C8287F2}"/>
                </a:ext>
              </a:extLst>
            </p:cNvPr>
            <p:cNvSpPr txBox="1"/>
            <p:nvPr/>
          </p:nvSpPr>
          <p:spPr>
            <a:xfrm>
              <a:off x="7773543"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Alignment</a:t>
              </a:r>
            </a:p>
          </p:txBody>
        </p:sp>
        <p:sp>
          <p:nvSpPr>
            <p:cNvPr id="56" name="Rectangle 55">
              <a:extLst>
                <a:ext uri="{FF2B5EF4-FFF2-40B4-BE49-F238E27FC236}">
                  <a16:creationId xmlns:a16="http://schemas.microsoft.com/office/drawing/2014/main" id="{386ACB62-A86C-305C-A24D-1A35FCDB1A04}"/>
                </a:ext>
              </a:extLst>
            </p:cNvPr>
            <p:cNvSpPr/>
            <p:nvPr/>
          </p:nvSpPr>
          <p:spPr>
            <a:xfrm>
              <a:off x="9230868"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57" name="Picture 56" descr="image.png">
              <a:extLst>
                <a:ext uri="{FF2B5EF4-FFF2-40B4-BE49-F238E27FC236}">
                  <a16:creationId xmlns:a16="http://schemas.microsoft.com/office/drawing/2014/main" id="{8EAAD012-B5F3-7D17-4FED-BB167F22BC8C}"/>
                </a:ext>
              </a:extLst>
            </p:cNvPr>
            <p:cNvPicPr>
              <a:picLocks noChangeAspect="1"/>
            </p:cNvPicPr>
            <p:nvPr/>
          </p:nvPicPr>
          <p:blipFill>
            <a:blip r:embed="rId10"/>
            <a:stretch>
              <a:fillRect/>
            </a:stretch>
          </p:blipFill>
          <p:spPr>
            <a:xfrm>
              <a:off x="9251442" y="2330584"/>
              <a:ext cx="1162431" cy="1860261"/>
            </a:xfrm>
            <a:prstGeom prst="rect">
              <a:avLst/>
            </a:prstGeom>
          </p:spPr>
        </p:pic>
        <p:sp>
          <p:nvSpPr>
            <p:cNvPr id="58" name="Rectangle 57">
              <a:extLst>
                <a:ext uri="{FF2B5EF4-FFF2-40B4-BE49-F238E27FC236}">
                  <a16:creationId xmlns:a16="http://schemas.microsoft.com/office/drawing/2014/main" id="{6D9B830D-FCAA-66CB-0EA9-E5F6C842D279}"/>
                </a:ext>
              </a:extLst>
            </p:cNvPr>
            <p:cNvSpPr/>
            <p:nvPr/>
          </p:nvSpPr>
          <p:spPr>
            <a:xfrm>
              <a:off x="9251442"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a:extLst>
                <a:ext uri="{FF2B5EF4-FFF2-40B4-BE49-F238E27FC236}">
                  <a16:creationId xmlns:a16="http://schemas.microsoft.com/office/drawing/2014/main" id="{4B1E224D-F075-20CC-4BD2-EE54AC6DE5DF}"/>
                </a:ext>
              </a:extLst>
            </p:cNvPr>
            <p:cNvSpPr/>
            <p:nvPr/>
          </p:nvSpPr>
          <p:spPr>
            <a:xfrm>
              <a:off x="10084689"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7</a:t>
              </a:r>
            </a:p>
          </p:txBody>
        </p:sp>
        <p:sp>
          <p:nvSpPr>
            <p:cNvPr id="60" name="TextBox 59">
              <a:extLst>
                <a:ext uri="{FF2B5EF4-FFF2-40B4-BE49-F238E27FC236}">
                  <a16:creationId xmlns:a16="http://schemas.microsoft.com/office/drawing/2014/main" id="{BC55EA30-B162-DC3B-3682-6C4ED9A7F056}"/>
                </a:ext>
              </a:extLst>
            </p:cNvPr>
            <p:cNvSpPr txBox="1"/>
            <p:nvPr/>
          </p:nvSpPr>
          <p:spPr>
            <a:xfrm>
              <a:off x="9155430"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Demand</a:t>
              </a:r>
            </a:p>
          </p:txBody>
        </p:sp>
        <p:sp>
          <p:nvSpPr>
            <p:cNvPr id="61" name="Rectangle 60">
              <a:extLst>
                <a:ext uri="{FF2B5EF4-FFF2-40B4-BE49-F238E27FC236}">
                  <a16:creationId xmlns:a16="http://schemas.microsoft.com/office/drawing/2014/main" id="{8FEBFC7C-EEEC-A35D-7A45-6946B5069305}"/>
                </a:ext>
              </a:extLst>
            </p:cNvPr>
            <p:cNvSpPr/>
            <p:nvPr/>
          </p:nvSpPr>
          <p:spPr>
            <a:xfrm>
              <a:off x="10612755"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2" name="Picture 61" descr="image.png">
              <a:extLst>
                <a:ext uri="{FF2B5EF4-FFF2-40B4-BE49-F238E27FC236}">
                  <a16:creationId xmlns:a16="http://schemas.microsoft.com/office/drawing/2014/main" id="{F7A5EE4B-0FC5-450F-7DD9-DFEDA6789F29}"/>
                </a:ext>
              </a:extLst>
            </p:cNvPr>
            <p:cNvPicPr>
              <a:picLocks noChangeAspect="1"/>
            </p:cNvPicPr>
            <p:nvPr/>
          </p:nvPicPr>
          <p:blipFill>
            <a:blip r:embed="rId11"/>
            <a:stretch>
              <a:fillRect/>
            </a:stretch>
          </p:blipFill>
          <p:spPr>
            <a:xfrm>
              <a:off x="10633329" y="2330584"/>
              <a:ext cx="1162431" cy="1860261"/>
            </a:xfrm>
            <a:prstGeom prst="rect">
              <a:avLst/>
            </a:prstGeom>
          </p:spPr>
        </p:pic>
        <p:sp>
          <p:nvSpPr>
            <p:cNvPr id="63" name="Rectangle 62">
              <a:extLst>
                <a:ext uri="{FF2B5EF4-FFF2-40B4-BE49-F238E27FC236}">
                  <a16:creationId xmlns:a16="http://schemas.microsoft.com/office/drawing/2014/main" id="{53A58C24-54A0-35F4-EB3A-03DB85071A79}"/>
                </a:ext>
              </a:extLst>
            </p:cNvPr>
            <p:cNvSpPr/>
            <p:nvPr/>
          </p:nvSpPr>
          <p:spPr>
            <a:xfrm>
              <a:off x="10633329"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Oval 63">
              <a:extLst>
                <a:ext uri="{FF2B5EF4-FFF2-40B4-BE49-F238E27FC236}">
                  <a16:creationId xmlns:a16="http://schemas.microsoft.com/office/drawing/2014/main" id="{980AB479-374C-835A-55F8-61446C92F746}"/>
                </a:ext>
              </a:extLst>
            </p:cNvPr>
            <p:cNvSpPr/>
            <p:nvPr/>
          </p:nvSpPr>
          <p:spPr>
            <a:xfrm>
              <a:off x="11466576"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8</a:t>
              </a:r>
            </a:p>
          </p:txBody>
        </p:sp>
        <p:sp>
          <p:nvSpPr>
            <p:cNvPr id="65" name="TextBox 64">
              <a:extLst>
                <a:ext uri="{FF2B5EF4-FFF2-40B4-BE49-F238E27FC236}">
                  <a16:creationId xmlns:a16="http://schemas.microsoft.com/office/drawing/2014/main" id="{545ABF7D-DEC5-45CE-2D73-9B145EFEC309}"/>
                </a:ext>
              </a:extLst>
            </p:cNvPr>
            <p:cNvSpPr txBox="1"/>
            <p:nvPr/>
          </p:nvSpPr>
          <p:spPr>
            <a:xfrm>
              <a:off x="10537317"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Operation</a:t>
              </a:r>
            </a:p>
          </p:txBody>
        </p:sp>
        <p:sp>
          <p:nvSpPr>
            <p:cNvPr id="89" name="Rectangle 88">
              <a:extLst>
                <a:ext uri="{FF2B5EF4-FFF2-40B4-BE49-F238E27FC236}">
                  <a16:creationId xmlns:a16="http://schemas.microsoft.com/office/drawing/2014/main" id="{B5D42DAA-D18D-EE38-79E8-7719F7B53356}"/>
                </a:ext>
              </a:extLst>
            </p:cNvPr>
            <p:cNvSpPr/>
            <p:nvPr/>
          </p:nvSpPr>
          <p:spPr>
            <a:xfrm>
              <a:off x="6487668" y="4879475"/>
              <a:ext cx="5308092" cy="68580"/>
            </a:xfrm>
            <a:prstGeom prst="rect">
              <a:avLst/>
            </a:prstGeom>
            <a:solidFill>
              <a:srgbClr val="2F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0" name="TextBox 89">
              <a:extLst>
                <a:ext uri="{FF2B5EF4-FFF2-40B4-BE49-F238E27FC236}">
                  <a16:creationId xmlns:a16="http://schemas.microsoft.com/office/drawing/2014/main" id="{26719983-B79B-79BE-D7C8-6175F277A84B}"/>
                </a:ext>
              </a:extLst>
            </p:cNvPr>
            <p:cNvSpPr txBox="1"/>
            <p:nvPr/>
          </p:nvSpPr>
          <p:spPr>
            <a:xfrm>
              <a:off x="6487668" y="5098931"/>
              <a:ext cx="5308092" cy="300082"/>
            </a:xfrm>
            <a:prstGeom prst="rect">
              <a:avLst/>
            </a:prstGeom>
            <a:noFill/>
          </p:spPr>
          <p:txBody>
            <a:bodyPr wrap="square" lIns="0" tIns="0" rIns="0" bIns="0">
              <a:spAutoFit/>
            </a:bodyPr>
            <a:lstStyle/>
            <a:p>
              <a:pPr algn="l">
                <a:lnSpc>
                  <a:spcPct val="100000"/>
                </a:lnSpc>
              </a:pPr>
              <a:r>
                <a:rPr sz="1950" b="1" spc="270">
                  <a:solidFill>
                    <a:srgbClr val="2F7A63"/>
                  </a:solidFill>
                  <a:latin typeface="Montserrat"/>
                </a:rPr>
                <a:t>CONFIDENCE</a:t>
              </a:r>
            </a:p>
          </p:txBody>
        </p:sp>
        <p:sp>
          <p:nvSpPr>
            <p:cNvPr id="91" name="TextBox 90">
              <a:extLst>
                <a:ext uri="{FF2B5EF4-FFF2-40B4-BE49-F238E27FC236}">
                  <a16:creationId xmlns:a16="http://schemas.microsoft.com/office/drawing/2014/main" id="{DC65ADD5-E8B7-0B89-7931-DAA1B25601E1}"/>
                </a:ext>
              </a:extLst>
            </p:cNvPr>
            <p:cNvSpPr txBox="1"/>
            <p:nvPr/>
          </p:nvSpPr>
          <p:spPr>
            <a:xfrm>
              <a:off x="6487668" y="5482979"/>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5–8 · being written</a:t>
              </a:r>
            </a:p>
          </p:txBody>
        </p:sp>
      </p:grpSp>
      <p:grpSp>
        <p:nvGrpSpPr>
          <p:cNvPr id="8" name="Group 7">
            <a:extLst>
              <a:ext uri="{FF2B5EF4-FFF2-40B4-BE49-F238E27FC236}">
                <a16:creationId xmlns:a16="http://schemas.microsoft.com/office/drawing/2014/main" id="{1177EC44-2910-D1C2-89DA-D4CA31B57E70}"/>
              </a:ext>
            </a:extLst>
          </p:cNvPr>
          <p:cNvGrpSpPr/>
          <p:nvPr/>
        </p:nvGrpSpPr>
        <p:grpSpPr>
          <a:xfrm>
            <a:off x="11919204" y="2310010"/>
            <a:ext cx="5513832" cy="3426885"/>
            <a:chOff x="11919204" y="2310010"/>
            <a:chExt cx="5513832" cy="3426885"/>
          </a:xfrm>
        </p:grpSpPr>
        <p:sp>
          <p:nvSpPr>
            <p:cNvPr id="66" name="Rectangle 65">
              <a:extLst>
                <a:ext uri="{FF2B5EF4-FFF2-40B4-BE49-F238E27FC236}">
                  <a16:creationId xmlns:a16="http://schemas.microsoft.com/office/drawing/2014/main" id="{E6D3C93F-0B5E-0073-F79A-87DFD03BB44B}"/>
                </a:ext>
              </a:extLst>
            </p:cNvPr>
            <p:cNvSpPr/>
            <p:nvPr/>
          </p:nvSpPr>
          <p:spPr>
            <a:xfrm>
              <a:off x="11994642"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7" name="Picture 66" descr="image.png">
              <a:extLst>
                <a:ext uri="{FF2B5EF4-FFF2-40B4-BE49-F238E27FC236}">
                  <a16:creationId xmlns:a16="http://schemas.microsoft.com/office/drawing/2014/main" id="{432B9DB6-706C-BBF5-2976-59A53E5ED4A4}"/>
                </a:ext>
              </a:extLst>
            </p:cNvPr>
            <p:cNvPicPr>
              <a:picLocks noChangeAspect="1"/>
            </p:cNvPicPr>
            <p:nvPr/>
          </p:nvPicPr>
          <p:blipFill>
            <a:blip r:embed="rId12"/>
            <a:stretch>
              <a:fillRect/>
            </a:stretch>
          </p:blipFill>
          <p:spPr>
            <a:xfrm>
              <a:off x="12015216" y="2330584"/>
              <a:ext cx="1162431" cy="1860261"/>
            </a:xfrm>
            <a:prstGeom prst="rect">
              <a:avLst/>
            </a:prstGeom>
          </p:spPr>
        </p:pic>
        <p:sp>
          <p:nvSpPr>
            <p:cNvPr id="68" name="Rectangle 67">
              <a:extLst>
                <a:ext uri="{FF2B5EF4-FFF2-40B4-BE49-F238E27FC236}">
                  <a16:creationId xmlns:a16="http://schemas.microsoft.com/office/drawing/2014/main" id="{E94A8B87-7794-0784-E91D-6BE9B95D83F4}"/>
                </a:ext>
              </a:extLst>
            </p:cNvPr>
            <p:cNvSpPr/>
            <p:nvPr/>
          </p:nvSpPr>
          <p:spPr>
            <a:xfrm>
              <a:off x="12015216"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a:extLst>
                <a:ext uri="{FF2B5EF4-FFF2-40B4-BE49-F238E27FC236}">
                  <a16:creationId xmlns:a16="http://schemas.microsoft.com/office/drawing/2014/main" id="{9C12C0F7-DBC7-7661-0CA4-4FADAE70AC3C}"/>
                </a:ext>
              </a:extLst>
            </p:cNvPr>
            <p:cNvSpPr/>
            <p:nvPr/>
          </p:nvSpPr>
          <p:spPr>
            <a:xfrm>
              <a:off x="12848463"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9</a:t>
              </a:r>
            </a:p>
          </p:txBody>
        </p:sp>
        <p:sp>
          <p:nvSpPr>
            <p:cNvPr id="70" name="TextBox 69">
              <a:extLst>
                <a:ext uri="{FF2B5EF4-FFF2-40B4-BE49-F238E27FC236}">
                  <a16:creationId xmlns:a16="http://schemas.microsoft.com/office/drawing/2014/main" id="{CAC946F4-0914-1D75-3425-348DCD53FF08}"/>
                </a:ext>
              </a:extLst>
            </p:cNvPr>
            <p:cNvSpPr txBox="1"/>
            <p:nvPr/>
          </p:nvSpPr>
          <p:spPr>
            <a:xfrm>
              <a:off x="11919204"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Behaviors</a:t>
              </a:r>
            </a:p>
          </p:txBody>
        </p:sp>
        <p:sp>
          <p:nvSpPr>
            <p:cNvPr id="71" name="Rectangle 70">
              <a:extLst>
                <a:ext uri="{FF2B5EF4-FFF2-40B4-BE49-F238E27FC236}">
                  <a16:creationId xmlns:a16="http://schemas.microsoft.com/office/drawing/2014/main" id="{62C44B1F-C617-D6B6-00F3-067DA8E1DF7D}"/>
                </a:ext>
              </a:extLst>
            </p:cNvPr>
            <p:cNvSpPr/>
            <p:nvPr/>
          </p:nvSpPr>
          <p:spPr>
            <a:xfrm>
              <a:off x="13376529"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72" name="Picture 71" descr="image.png">
              <a:extLst>
                <a:ext uri="{FF2B5EF4-FFF2-40B4-BE49-F238E27FC236}">
                  <a16:creationId xmlns:a16="http://schemas.microsoft.com/office/drawing/2014/main" id="{D2A16FEE-F040-AE2D-70DA-EE15F31CB0C4}"/>
                </a:ext>
              </a:extLst>
            </p:cNvPr>
            <p:cNvPicPr>
              <a:picLocks noChangeAspect="1"/>
            </p:cNvPicPr>
            <p:nvPr/>
          </p:nvPicPr>
          <p:blipFill>
            <a:blip r:embed="rId13"/>
            <a:stretch>
              <a:fillRect/>
            </a:stretch>
          </p:blipFill>
          <p:spPr>
            <a:xfrm>
              <a:off x="13397103" y="2330584"/>
              <a:ext cx="1162431" cy="1860261"/>
            </a:xfrm>
            <a:prstGeom prst="rect">
              <a:avLst/>
            </a:prstGeom>
          </p:spPr>
        </p:pic>
        <p:sp>
          <p:nvSpPr>
            <p:cNvPr id="73" name="Rectangle 72">
              <a:extLst>
                <a:ext uri="{FF2B5EF4-FFF2-40B4-BE49-F238E27FC236}">
                  <a16:creationId xmlns:a16="http://schemas.microsoft.com/office/drawing/2014/main" id="{B30ADEDA-D87A-747A-2361-AF0C88C3A052}"/>
                </a:ext>
              </a:extLst>
            </p:cNvPr>
            <p:cNvSpPr/>
            <p:nvPr/>
          </p:nvSpPr>
          <p:spPr>
            <a:xfrm>
              <a:off x="13397103"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Oval 73">
              <a:extLst>
                <a:ext uri="{FF2B5EF4-FFF2-40B4-BE49-F238E27FC236}">
                  <a16:creationId xmlns:a16="http://schemas.microsoft.com/office/drawing/2014/main" id="{8B6E1717-C65C-67BC-9700-C704229416AE}"/>
                </a:ext>
              </a:extLst>
            </p:cNvPr>
            <p:cNvSpPr/>
            <p:nvPr/>
          </p:nvSpPr>
          <p:spPr>
            <a:xfrm>
              <a:off x="14230350"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10</a:t>
              </a:r>
            </a:p>
          </p:txBody>
        </p:sp>
        <p:sp>
          <p:nvSpPr>
            <p:cNvPr id="75" name="TextBox 74">
              <a:extLst>
                <a:ext uri="{FF2B5EF4-FFF2-40B4-BE49-F238E27FC236}">
                  <a16:creationId xmlns:a16="http://schemas.microsoft.com/office/drawing/2014/main" id="{2375F133-917E-9EFA-1D9B-2A4A76C98B5C}"/>
                </a:ext>
              </a:extLst>
            </p:cNvPr>
            <p:cNvSpPr txBox="1"/>
            <p:nvPr/>
          </p:nvSpPr>
          <p:spPr>
            <a:xfrm>
              <a:off x="13301091"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Constraint</a:t>
              </a:r>
            </a:p>
          </p:txBody>
        </p:sp>
        <p:sp>
          <p:nvSpPr>
            <p:cNvPr id="76" name="Rectangle 75">
              <a:extLst>
                <a:ext uri="{FF2B5EF4-FFF2-40B4-BE49-F238E27FC236}">
                  <a16:creationId xmlns:a16="http://schemas.microsoft.com/office/drawing/2014/main" id="{DDEF631B-A5FC-A939-71A7-16FCC453813D}"/>
                </a:ext>
              </a:extLst>
            </p:cNvPr>
            <p:cNvSpPr/>
            <p:nvPr/>
          </p:nvSpPr>
          <p:spPr>
            <a:xfrm>
              <a:off x="14758416"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77" name="Picture 76" descr="image.png">
              <a:extLst>
                <a:ext uri="{FF2B5EF4-FFF2-40B4-BE49-F238E27FC236}">
                  <a16:creationId xmlns:a16="http://schemas.microsoft.com/office/drawing/2014/main" id="{98DC3A76-E654-AE69-42DE-784BF9DC2795}"/>
                </a:ext>
              </a:extLst>
            </p:cNvPr>
            <p:cNvPicPr>
              <a:picLocks noChangeAspect="1"/>
            </p:cNvPicPr>
            <p:nvPr/>
          </p:nvPicPr>
          <p:blipFill>
            <a:blip r:embed="rId14"/>
            <a:stretch>
              <a:fillRect/>
            </a:stretch>
          </p:blipFill>
          <p:spPr>
            <a:xfrm>
              <a:off x="14778990" y="2330584"/>
              <a:ext cx="1162431" cy="1860261"/>
            </a:xfrm>
            <a:prstGeom prst="rect">
              <a:avLst/>
            </a:prstGeom>
          </p:spPr>
        </p:pic>
        <p:sp>
          <p:nvSpPr>
            <p:cNvPr id="78" name="Rectangle 77">
              <a:extLst>
                <a:ext uri="{FF2B5EF4-FFF2-40B4-BE49-F238E27FC236}">
                  <a16:creationId xmlns:a16="http://schemas.microsoft.com/office/drawing/2014/main" id="{ACB6AF58-2C89-167E-41F3-3A91F2E56987}"/>
                </a:ext>
              </a:extLst>
            </p:cNvPr>
            <p:cNvSpPr/>
            <p:nvPr/>
          </p:nvSpPr>
          <p:spPr>
            <a:xfrm>
              <a:off x="14778990"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Oval 78">
              <a:extLst>
                <a:ext uri="{FF2B5EF4-FFF2-40B4-BE49-F238E27FC236}">
                  <a16:creationId xmlns:a16="http://schemas.microsoft.com/office/drawing/2014/main" id="{5524F42A-2BEC-06D9-E07B-0A511FCB46F3}"/>
                </a:ext>
              </a:extLst>
            </p:cNvPr>
            <p:cNvSpPr/>
            <p:nvPr/>
          </p:nvSpPr>
          <p:spPr>
            <a:xfrm>
              <a:off x="15612237"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11</a:t>
              </a:r>
            </a:p>
          </p:txBody>
        </p:sp>
        <p:sp>
          <p:nvSpPr>
            <p:cNvPr id="80" name="TextBox 79">
              <a:extLst>
                <a:ext uri="{FF2B5EF4-FFF2-40B4-BE49-F238E27FC236}">
                  <a16:creationId xmlns:a16="http://schemas.microsoft.com/office/drawing/2014/main" id="{88197C1A-DF63-E324-E220-551B478EA30C}"/>
                </a:ext>
              </a:extLst>
            </p:cNvPr>
            <p:cNvSpPr txBox="1"/>
            <p:nvPr/>
          </p:nvSpPr>
          <p:spPr>
            <a:xfrm>
              <a:off x="14682978"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Variation</a:t>
              </a:r>
            </a:p>
          </p:txBody>
        </p:sp>
        <p:sp>
          <p:nvSpPr>
            <p:cNvPr id="81" name="Rectangle 80">
              <a:extLst>
                <a:ext uri="{FF2B5EF4-FFF2-40B4-BE49-F238E27FC236}">
                  <a16:creationId xmlns:a16="http://schemas.microsoft.com/office/drawing/2014/main" id="{51A9BADB-CE59-77FD-5F2D-B06D9A8DFF74}"/>
                </a:ext>
              </a:extLst>
            </p:cNvPr>
            <p:cNvSpPr/>
            <p:nvPr/>
          </p:nvSpPr>
          <p:spPr>
            <a:xfrm>
              <a:off x="16140303"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82" name="Picture 81" descr="image.png">
              <a:extLst>
                <a:ext uri="{FF2B5EF4-FFF2-40B4-BE49-F238E27FC236}">
                  <a16:creationId xmlns:a16="http://schemas.microsoft.com/office/drawing/2014/main" id="{B0BBB85D-3670-EBF3-3EB3-D9DD3CEEB8AF}"/>
                </a:ext>
              </a:extLst>
            </p:cNvPr>
            <p:cNvPicPr>
              <a:picLocks noChangeAspect="1"/>
            </p:cNvPicPr>
            <p:nvPr/>
          </p:nvPicPr>
          <p:blipFill>
            <a:blip r:embed="rId15"/>
            <a:stretch>
              <a:fillRect/>
            </a:stretch>
          </p:blipFill>
          <p:spPr>
            <a:xfrm>
              <a:off x="16160877" y="2330584"/>
              <a:ext cx="1162431" cy="1860261"/>
            </a:xfrm>
            <a:prstGeom prst="rect">
              <a:avLst/>
            </a:prstGeom>
          </p:spPr>
        </p:pic>
        <p:sp>
          <p:nvSpPr>
            <p:cNvPr id="83" name="Rectangle 82">
              <a:extLst>
                <a:ext uri="{FF2B5EF4-FFF2-40B4-BE49-F238E27FC236}">
                  <a16:creationId xmlns:a16="http://schemas.microsoft.com/office/drawing/2014/main" id="{B151F399-D91D-0C33-DD9C-8A3CAC21EF91}"/>
                </a:ext>
              </a:extLst>
            </p:cNvPr>
            <p:cNvSpPr/>
            <p:nvPr/>
          </p:nvSpPr>
          <p:spPr>
            <a:xfrm>
              <a:off x="16160877"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Oval 83">
              <a:extLst>
                <a:ext uri="{FF2B5EF4-FFF2-40B4-BE49-F238E27FC236}">
                  <a16:creationId xmlns:a16="http://schemas.microsoft.com/office/drawing/2014/main" id="{50D911B1-940F-6C68-1C24-DBDE65B94AEF}"/>
                </a:ext>
              </a:extLst>
            </p:cNvPr>
            <p:cNvSpPr/>
            <p:nvPr/>
          </p:nvSpPr>
          <p:spPr>
            <a:xfrm>
              <a:off x="16994124"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12</a:t>
              </a:r>
            </a:p>
          </p:txBody>
        </p:sp>
        <p:sp>
          <p:nvSpPr>
            <p:cNvPr id="85" name="TextBox 84">
              <a:extLst>
                <a:ext uri="{FF2B5EF4-FFF2-40B4-BE49-F238E27FC236}">
                  <a16:creationId xmlns:a16="http://schemas.microsoft.com/office/drawing/2014/main" id="{98ED095E-7D15-06C0-8EBF-6DB8EF42990C}"/>
                </a:ext>
              </a:extLst>
            </p:cNvPr>
            <p:cNvSpPr txBox="1"/>
            <p:nvPr/>
          </p:nvSpPr>
          <p:spPr>
            <a:xfrm>
              <a:off x="16064865" y="4328006"/>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Waste</a:t>
              </a:r>
            </a:p>
          </p:txBody>
        </p:sp>
        <p:sp>
          <p:nvSpPr>
            <p:cNvPr id="92" name="Rectangle 91">
              <a:extLst>
                <a:ext uri="{FF2B5EF4-FFF2-40B4-BE49-F238E27FC236}">
                  <a16:creationId xmlns:a16="http://schemas.microsoft.com/office/drawing/2014/main" id="{891B7C03-2B3A-7204-B6A6-01D83CF9713D}"/>
                </a:ext>
              </a:extLst>
            </p:cNvPr>
            <p:cNvSpPr/>
            <p:nvPr/>
          </p:nvSpPr>
          <p:spPr>
            <a:xfrm>
              <a:off x="12015216" y="4879475"/>
              <a:ext cx="5308092" cy="68580"/>
            </a:xfrm>
            <a:prstGeom prst="rect">
              <a:avLst/>
            </a:prstGeom>
            <a:solidFill>
              <a:srgbClr val="8A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TextBox 92">
              <a:extLst>
                <a:ext uri="{FF2B5EF4-FFF2-40B4-BE49-F238E27FC236}">
                  <a16:creationId xmlns:a16="http://schemas.microsoft.com/office/drawing/2014/main" id="{E3F8AC94-EBF4-3D6D-1702-C28A811F5988}"/>
                </a:ext>
              </a:extLst>
            </p:cNvPr>
            <p:cNvSpPr txBox="1"/>
            <p:nvPr/>
          </p:nvSpPr>
          <p:spPr>
            <a:xfrm>
              <a:off x="12015216" y="5098931"/>
              <a:ext cx="5308092" cy="300082"/>
            </a:xfrm>
            <a:prstGeom prst="rect">
              <a:avLst/>
            </a:prstGeom>
            <a:noFill/>
          </p:spPr>
          <p:txBody>
            <a:bodyPr wrap="square" lIns="0" tIns="0" rIns="0" bIns="0">
              <a:spAutoFit/>
            </a:bodyPr>
            <a:lstStyle/>
            <a:p>
              <a:pPr algn="l">
                <a:lnSpc>
                  <a:spcPct val="100000"/>
                </a:lnSpc>
              </a:pPr>
              <a:r>
                <a:rPr sz="1950" b="1" spc="270">
                  <a:solidFill>
                    <a:srgbClr val="8A5A2B"/>
                  </a:solidFill>
                  <a:latin typeface="Montserrat"/>
                </a:rPr>
                <a:t>CONTROL</a:t>
              </a:r>
            </a:p>
          </p:txBody>
        </p:sp>
        <p:sp>
          <p:nvSpPr>
            <p:cNvPr id="94" name="TextBox 93">
              <a:extLst>
                <a:ext uri="{FF2B5EF4-FFF2-40B4-BE49-F238E27FC236}">
                  <a16:creationId xmlns:a16="http://schemas.microsoft.com/office/drawing/2014/main" id="{DEB8547D-560C-0268-24FD-8E9F95B40AE2}"/>
                </a:ext>
              </a:extLst>
            </p:cNvPr>
            <p:cNvSpPr txBox="1"/>
            <p:nvPr/>
          </p:nvSpPr>
          <p:spPr>
            <a:xfrm>
              <a:off x="12015216" y="5482979"/>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9–12 · the last third</a:t>
              </a:r>
            </a:p>
          </p:txBody>
        </p:sp>
      </p:grpSp>
      <p:grpSp>
        <p:nvGrpSpPr>
          <p:cNvPr id="4" name="Group 3">
            <a:extLst>
              <a:ext uri="{FF2B5EF4-FFF2-40B4-BE49-F238E27FC236}">
                <a16:creationId xmlns:a16="http://schemas.microsoft.com/office/drawing/2014/main" id="{16FFFDFF-4581-3B6B-C944-BECEEDC8AC8C}"/>
              </a:ext>
            </a:extLst>
          </p:cNvPr>
          <p:cNvGrpSpPr/>
          <p:nvPr/>
        </p:nvGrpSpPr>
        <p:grpSpPr>
          <a:xfrm>
            <a:off x="780345" y="502047"/>
            <a:ext cx="16250357" cy="1536953"/>
            <a:chOff x="780345" y="502047"/>
            <a:chExt cx="16250357" cy="1536953"/>
          </a:xfrm>
        </p:grpSpPr>
        <p:sp>
          <p:nvSpPr>
            <p:cNvPr id="2" name="Text 0"/>
            <p:cNvSpPr/>
            <p:nvPr/>
          </p:nvSpPr>
          <p:spPr>
            <a:xfrm>
              <a:off x="780345" y="502047"/>
              <a:ext cx="16250357"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Keep Going — The Clarus Leadership Series</a:t>
              </a:r>
              <a:endParaRPr lang="en-US" sz="4800" dirty="0">
                <a:latin typeface="League Spartan" pitchFamily="2" charset="77"/>
              </a:endParaRPr>
            </a:p>
          </p:txBody>
        </p:sp>
        <p:sp>
          <p:nvSpPr>
            <p:cNvPr id="95" name="TextBox 94">
              <a:extLst>
                <a:ext uri="{FF2B5EF4-FFF2-40B4-BE49-F238E27FC236}">
                  <a16:creationId xmlns:a16="http://schemas.microsoft.com/office/drawing/2014/main" id="{9D129CB5-118C-084F-7B57-F5945B576F57}"/>
                </a:ext>
              </a:extLst>
            </p:cNvPr>
            <p:cNvSpPr txBox="1"/>
            <p:nvPr/>
          </p:nvSpPr>
          <p:spPr>
            <a:xfrm>
              <a:off x="904343" y="1323163"/>
              <a:ext cx="12416409" cy="715837"/>
            </a:xfrm>
            <a:prstGeom prst="rect">
              <a:avLst/>
            </a:prstGeom>
            <a:noFill/>
          </p:spPr>
          <p:txBody>
            <a:bodyPr wrap="square" lIns="0" tIns="0" rIns="0" bIns="0">
              <a:spAutoFit/>
            </a:bodyPr>
            <a:lstStyle/>
            <a:p>
              <a:pPr algn="l">
                <a:lnSpc>
                  <a:spcPct val="130000"/>
                </a:lnSpc>
              </a:pPr>
              <a:r>
                <a:rPr sz="1875" dirty="0">
                  <a:solidFill>
                    <a:srgbClr val="0E2763"/>
                  </a:solidFill>
                  <a:latin typeface="Montserrat"/>
                </a:rPr>
                <a:t>The four Clarity books are written, taught, and already in the platform. </a:t>
              </a:r>
              <a:endParaRPr lang="en-US" sz="1875" dirty="0">
                <a:solidFill>
                  <a:srgbClr val="0E2763"/>
                </a:solidFill>
                <a:latin typeface="Montserrat"/>
              </a:endParaRPr>
            </a:p>
            <a:p>
              <a:pPr algn="l">
                <a:lnSpc>
                  <a:spcPct val="130000"/>
                </a:lnSpc>
              </a:pPr>
              <a:r>
                <a:rPr sz="1875" dirty="0">
                  <a:solidFill>
                    <a:srgbClr val="0E2763"/>
                  </a:solidFill>
                  <a:latin typeface="Montserrat"/>
                </a:rPr>
                <a:t>The other eight are the runway — and each one unlocks the capability it teaches.</a:t>
              </a:r>
            </a:p>
          </p:txBody>
        </p:sp>
      </p:grpSp>
      <p:pic>
        <p:nvPicPr>
          <p:cNvPr id="97" name="Picture 96" descr="texas_mark_light.png"/>
          <p:cNvPicPr>
            <a:picLocks noChangeAspect="1"/>
          </p:cNvPicPr>
          <p:nvPr/>
        </p:nvPicPr>
        <p:blipFill>
          <a:blip r:embed="rId16"/>
          <a:stretch>
            <a:fillRect/>
          </a:stretch>
        </p:blipFill>
        <p:spPr>
          <a:xfrm>
            <a:off x="16687858" y="9334388"/>
            <a:ext cx="647649" cy="609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1000"/>
                            </p:stCondLst>
                            <p:childTnLst>
                              <p:par>
                                <p:cTn id="8" presetID="5" presetClass="entr" presetSubtype="10" fill="hold" nodeType="afterEffect">
                                  <p:stCondLst>
                                    <p:cond delay="300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1000"/>
                                        <p:tgtEl>
                                          <p:spTgt spid="6"/>
                                        </p:tgtEl>
                                      </p:cBhvr>
                                    </p:animEffect>
                                  </p:childTnLst>
                                </p:cTn>
                              </p:par>
                            </p:childTnLst>
                          </p:cTn>
                        </p:par>
                        <p:par>
                          <p:cTn id="11" fill="hold">
                            <p:stCondLst>
                              <p:cond delay="5000"/>
                            </p:stCondLst>
                            <p:childTnLst>
                              <p:par>
                                <p:cTn id="12" presetID="5" presetClass="entr" presetSubtype="10" fill="hold" nodeType="afterEffect">
                                  <p:stCondLst>
                                    <p:cond delay="3000"/>
                                  </p:stCondLst>
                                  <p:childTnLst>
                                    <p:set>
                                      <p:cBhvr>
                                        <p:cTn id="13" dur="1" fill="hold">
                                          <p:stCondLst>
                                            <p:cond delay="0"/>
                                          </p:stCondLst>
                                        </p:cTn>
                                        <p:tgtEl>
                                          <p:spTgt spid="7"/>
                                        </p:tgtEl>
                                        <p:attrNameLst>
                                          <p:attrName>style.visibility</p:attrName>
                                        </p:attrNameLst>
                                      </p:cBhvr>
                                      <p:to>
                                        <p:strVal val="visible"/>
                                      </p:to>
                                    </p:set>
                                    <p:animEffect transition="in" filter="checkerboard(across)">
                                      <p:cBhvr>
                                        <p:cTn id="14" dur="1000"/>
                                        <p:tgtEl>
                                          <p:spTgt spid="7"/>
                                        </p:tgtEl>
                                      </p:cBhvr>
                                    </p:animEffect>
                                  </p:childTnLst>
                                </p:cTn>
                              </p:par>
                            </p:childTnLst>
                          </p:cTn>
                        </p:par>
                        <p:par>
                          <p:cTn id="15" fill="hold">
                            <p:stCondLst>
                              <p:cond delay="9000"/>
                            </p:stCondLst>
                            <p:childTnLst>
                              <p:par>
                                <p:cTn id="16" presetID="5" presetClass="entr" presetSubtype="10" fill="hold" nodeType="afterEffect">
                                  <p:stCondLst>
                                    <p:cond delay="300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1000"/>
                                        <p:tgtEl>
                                          <p:spTgt spid="8"/>
                                        </p:tgtEl>
                                      </p:cBhvr>
                                    </p:animEffect>
                                  </p:childTnLst>
                                </p:cTn>
                              </p:par>
                            </p:childTnLst>
                          </p:cTn>
                        </p:par>
                        <p:par>
                          <p:cTn id="19" fill="hold">
                            <p:stCondLst>
                              <p:cond delay="13000"/>
                            </p:stCondLst>
                            <p:childTnLst>
                              <p:par>
                                <p:cTn id="20" presetID="9" presetClass="entr" presetSubtype="0" fill="hold" nodeType="afterEffect">
                                  <p:stCondLst>
                                    <p:cond delay="200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1000"/>
                                        <p:tgtEl>
                                          <p:spTgt spid="9"/>
                                        </p:tgtEl>
                                      </p:cBhvr>
                                    </p:animEffect>
                                  </p:childTnLst>
                                </p:cTn>
                              </p:par>
                            </p:childTnLst>
                          </p:cTn>
                        </p:par>
                        <p:par>
                          <p:cTn id="23" fill="hold">
                            <p:stCondLst>
                              <p:cond delay="16000"/>
                            </p:stCondLst>
                            <p:childTnLst>
                              <p:par>
                                <p:cTn id="24" presetID="3" presetClass="entr" presetSubtype="10" fill="hold" nodeType="afterEffect">
                                  <p:stCondLst>
                                    <p:cond delay="200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1000"/>
                                        <p:tgtEl>
                                          <p:spTgt spid="10"/>
                                        </p:tgtEl>
                                      </p:cBhvr>
                                    </p:animEffect>
                                  </p:childTnLst>
                                </p:cTn>
                              </p:par>
                            </p:childTnLst>
                          </p:cTn>
                        </p:par>
                        <p:par>
                          <p:cTn id="27" fill="hold">
                            <p:stCondLst>
                              <p:cond delay="19000"/>
                            </p:stCondLst>
                            <p:childTnLst>
                              <p:par>
                                <p:cTn id="28" presetID="3" presetClass="entr" presetSubtype="10" fill="hold" nodeType="afterEffect">
                                  <p:stCondLst>
                                    <p:cond delay="200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1000"/>
                                        <p:tgtEl>
                                          <p:spTgt spid="11"/>
                                        </p:tgtEl>
                                      </p:cBhvr>
                                    </p:animEffect>
                                  </p:childTnLst>
                                </p:cTn>
                              </p:par>
                            </p:childTnLst>
                          </p:cTn>
                        </p:par>
                        <p:par>
                          <p:cTn id="31" fill="hold">
                            <p:stCondLst>
                              <p:cond delay="22000"/>
                            </p:stCondLst>
                            <p:childTnLst>
                              <p:par>
                                <p:cTn id="32" presetID="3" presetClass="entr" presetSubtype="10" fill="hold" nodeType="afterEffect">
                                  <p:stCondLst>
                                    <p:cond delay="200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7"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867958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One More Thing</a:t>
            </a:r>
            <a:endParaRPr lang="en-US" sz="4800" dirty="0">
              <a:latin typeface="League Spartan" pitchFamily="2" charset="77"/>
            </a:endParaRPr>
          </a:p>
        </p:txBody>
      </p:sp>
      <p:sp>
        <p:nvSpPr>
          <p:cNvPr id="10" name="Text 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2" name="Text 11">
            <a:extLst>
              <a:ext uri="{FF2B5EF4-FFF2-40B4-BE49-F238E27FC236}">
                <a16:creationId xmlns:a16="http://schemas.microsoft.com/office/drawing/2014/main" id="{C578A636-B8F7-5039-F960-1AC76A9FB4F7}"/>
              </a:ext>
            </a:extLst>
          </p:cNvPr>
          <p:cNvSpPr/>
          <p:nvPr/>
        </p:nvSpPr>
        <p:spPr>
          <a:xfrm>
            <a:off x="933433" y="2339614"/>
            <a:ext cx="7498079" cy="5120640"/>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The Fort Dodge Steel flag — out of the attic, out of the box</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Founded 1899. Closed 2015. The scores that mattered were never on the wall.</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This time, the scores that matter go on the wall.</a:t>
            </a:r>
          </a:p>
        </p:txBody>
      </p:sp>
      <p:pic>
        <p:nvPicPr>
          <p:cNvPr id="14" name="Picture 13" descr="flag_new.jpg"/>
          <p:cNvPicPr>
            <a:picLocks noChangeAspect="1"/>
          </p:cNvPicPr>
          <p:nvPr/>
        </p:nvPicPr>
        <p:blipFill>
          <a:blip r:embed="rId3"/>
          <a:stretch>
            <a:fillRect/>
          </a:stretch>
        </p:blipFill>
        <p:spPr>
          <a:xfrm>
            <a:off x="8686800" y="2340864"/>
            <a:ext cx="8641080" cy="5030286"/>
          </a:xfrm>
          <a:prstGeom prst="rect">
            <a:avLst/>
          </a:prstGeom>
          <a:ln w="12700">
            <a:solidFill>
              <a:srgbClr val="142233"/>
            </a:solidFill>
          </a:ln>
        </p:spPr>
      </p:pic>
      <p:grpSp>
        <p:nvGrpSpPr>
          <p:cNvPr id="5" name="Group 4">
            <a:extLst>
              <a:ext uri="{FF2B5EF4-FFF2-40B4-BE49-F238E27FC236}">
                <a16:creationId xmlns:a16="http://schemas.microsoft.com/office/drawing/2014/main" id="{7BCBE7E0-E9AD-F4E3-112B-A4024155CD84}"/>
              </a:ext>
            </a:extLst>
          </p:cNvPr>
          <p:cNvGrpSpPr/>
          <p:nvPr/>
        </p:nvGrpSpPr>
        <p:grpSpPr>
          <a:xfrm>
            <a:off x="2286000" y="8081950"/>
            <a:ext cx="13716000" cy="1024128"/>
            <a:chOff x="2286000" y="8081950"/>
            <a:chExt cx="13716000" cy="1024128"/>
          </a:xfrm>
        </p:grpSpPr>
        <p:sp>
          <p:nvSpPr>
            <p:cNvPr id="15" name="Rounded Rectangle 14"/>
            <p:cNvSpPr/>
            <p:nvPr/>
          </p:nvSpPr>
          <p:spPr>
            <a:xfrm>
              <a:off x="2286000" y="8081950"/>
              <a:ext cx="13716000" cy="1024128"/>
            </a:xfrm>
            <a:prstGeom prst="roundRect">
              <a:avLst>
                <a:gd name="adj" fmla="val 14642"/>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8880" y="8081950"/>
              <a:ext cx="13350240" cy="1024128"/>
            </a:xfrm>
            <a:prstGeom prst="rect">
              <a:avLst/>
            </a:prstGeom>
            <a:noFill/>
          </p:spPr>
          <p:txBody>
            <a:bodyPr wrap="square" tIns="0" bIns="0" anchor="ctr">
              <a:spAutoFit/>
            </a:bodyPr>
            <a:lstStyle/>
            <a:p>
              <a:pPr algn="ctr">
                <a:lnSpc>
                  <a:spcPct val="110000"/>
                </a:lnSpc>
              </a:pPr>
              <a:r>
                <a:rPr sz="2800" b="1" i="0">
                  <a:solidFill>
                    <a:srgbClr val="142233"/>
                  </a:solidFill>
                  <a:latin typeface="League Spartan"/>
                </a:rPr>
                <a:t>Stronger — or just bigger?</a:t>
              </a:r>
            </a:p>
            <a:p>
              <a:pPr algn="ctr">
                <a:lnSpc>
                  <a:spcPct val="110000"/>
                </a:lnSpc>
              </a:pPr>
              <a:r>
                <a:rPr sz="2400" b="0" i="1">
                  <a:solidFill>
                    <a:srgbClr val="303B4F"/>
                  </a:solidFill>
                  <a:latin typeface="League Spartan"/>
                </a:rPr>
                <a:t>Five numbers. One ratio. Seven moves. Now you know how to tell.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1000"/>
                                  </p:stCondLst>
                                  <p:childTnLst>
                                    <p:set>
                                      <p:cBhvr>
                                        <p:cTn id="9" dur="1" fill="hold">
                                          <p:stCondLst>
                                            <p:cond delay="0"/>
                                          </p:stCondLst>
                                        </p:cTn>
                                        <p:tgtEl>
                                          <p:spTgt spid="12">
                                            <p:txEl>
                                              <p:pRg st="0" end="0"/>
                                            </p:txEl>
                                          </p:spTgt>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12">
                                            <p:txEl>
                                              <p:pRg st="2" end="2"/>
                                            </p:txEl>
                                          </p:spTgt>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2000"/>
                                  </p:stCondLst>
                                  <p:childTnLst>
                                    <p:set>
                                      <p:cBhvr>
                                        <p:cTn id="18" dur="1" fill="hold">
                                          <p:stCondLst>
                                            <p:cond delay="0"/>
                                          </p:stCondLst>
                                        </p:cTn>
                                        <p:tgtEl>
                                          <p:spTgt spid="14"/>
                                        </p:tgtEl>
                                        <p:attrNameLst>
                                          <p:attrName>style.visibility</p:attrName>
                                        </p:attrNameLst>
                                      </p:cBhvr>
                                      <p:to>
                                        <p:strVal val="visible"/>
                                      </p:to>
                                    </p:set>
                                  </p:childTnLst>
                                </p:cTn>
                              </p:par>
                            </p:childTnLst>
                          </p:cTn>
                        </p:par>
                        <p:par>
                          <p:cTn id="19" fill="hold">
                            <p:stCondLst>
                              <p:cond delay="6000"/>
                            </p:stCondLst>
                            <p:childTnLst>
                              <p:par>
                                <p:cTn id="20" presetID="1" presetClass="entr" presetSubtype="0" fill="hold" nodeType="afterEffect">
                                  <p:stCondLst>
                                    <p:cond delay="200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Shape 1"/>
          <p:cNvSpPr/>
          <p:nvPr/>
        </p:nvSpPr>
        <p:spPr>
          <a:xfrm>
            <a:off x="1428713" y="3871287"/>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4" name="Text 2"/>
          <p:cNvSpPr/>
          <p:nvPr/>
        </p:nvSpPr>
        <p:spPr>
          <a:xfrm>
            <a:off x="1428713" y="4252241"/>
            <a:ext cx="8512872"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FFFFFF"/>
                </a:solidFill>
                <a:latin typeface="League Spartan" pitchFamily="2" charset="77"/>
                <a:ea typeface="Arial" pitchFamily="34" charset="-122"/>
                <a:cs typeface="Arial" pitchFamily="34" charset="-120"/>
              </a:rPr>
              <a:t>Session Survey</a:t>
            </a:r>
            <a:endParaRPr lang="en-US" sz="4800" dirty="0">
              <a:latin typeface="League Spartan" pitchFamily="2" charset="77"/>
            </a:endParaRPr>
          </a:p>
        </p:txBody>
      </p:sp>
      <p:sp>
        <p:nvSpPr>
          <p:cNvPr id="5" name="Text 3"/>
          <p:cNvSpPr/>
          <p:nvPr/>
        </p:nvSpPr>
        <p:spPr>
          <a:xfrm>
            <a:off x="1428713" y="5299389"/>
            <a:ext cx="8512872" cy="518164"/>
          </a:xfrm>
          <a:prstGeom prst="rect">
            <a:avLst/>
          </a:prstGeom>
          <a:noFill/>
          <a:ln/>
        </p:spPr>
        <p:txBody>
          <a:bodyPr wrap="square" lIns="25400" tIns="25400" rIns="25400" bIns="25400" rtlCol="0" anchor="t">
            <a:normAutofit/>
          </a:bodyPr>
          <a:lstStyle/>
          <a:p>
            <a:pPr marL="0" indent="0" algn="l">
              <a:lnSpc>
                <a:spcPct val="121342"/>
              </a:lnSpc>
              <a:buNone/>
            </a:pPr>
            <a:r>
              <a:rPr lang="en-US" sz="2700" dirty="0">
                <a:solidFill>
                  <a:srgbClr val="C9D0D9"/>
                </a:solidFill>
                <a:latin typeface="League Spartan" pitchFamily="2" charset="77"/>
                <a:ea typeface="Arial" pitchFamily="34" charset="-122"/>
                <a:cs typeface="Arial" pitchFamily="34" charset="-120"/>
              </a:rPr>
              <a:t>Scan the code to share quick feedback on this session.</a:t>
            </a:r>
            <a:endParaRPr lang="en-US" sz="2700" dirty="0">
              <a:latin typeface="League Spartan" pitchFamily="2" charset="77"/>
            </a:endParaRPr>
          </a:p>
        </p:txBody>
      </p:sp>
      <p:sp>
        <p:nvSpPr>
          <p:cNvPr id="6" name="Text 4"/>
          <p:cNvSpPr/>
          <p:nvPr/>
        </p:nvSpPr>
        <p:spPr>
          <a:xfrm>
            <a:off x="1428713" y="6046148"/>
            <a:ext cx="8512872"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Thank you for your feedback.</a:t>
            </a:r>
            <a:endParaRPr lang="en-US" sz="2550" dirty="0">
              <a:latin typeface="League Spartan" pitchFamily="2" charset="77"/>
            </a:endParaRPr>
          </a:p>
        </p:txBody>
      </p:sp>
      <p:sp>
        <p:nvSpPr>
          <p:cNvPr id="7" name="Shape 5"/>
          <p:cNvSpPr/>
          <p:nvPr/>
        </p:nvSpPr>
        <p:spPr>
          <a:xfrm>
            <a:off x="12763516" y="3095590"/>
            <a:ext cx="4095729" cy="4095729"/>
          </a:xfrm>
          <a:prstGeom prst="roundRect">
            <a:avLst>
              <a:gd name="adj" fmla="val 5581"/>
            </a:avLst>
          </a:prstGeom>
          <a:solidFill>
            <a:srgbClr val="FFFFFF"/>
          </a:solidFill>
          <a:ln/>
        </p:spPr>
        <p:txBody>
          <a:bodyPr/>
          <a:lstStyle/>
          <a:p>
            <a:endParaRPr lang="en-US">
              <a:latin typeface="League Spartan" pitchFamily="2" charset="77"/>
            </a:endParaRPr>
          </a:p>
        </p:txBody>
      </p:sp>
      <p:sp>
        <p:nvSpPr>
          <p:cNvPr id="8" name="Text 6"/>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4" name="LED Lower-Third Gradient"/>
          <p:cNvSpPr/>
          <p:nvPr/>
        </p:nvSpPr>
        <p:spPr>
          <a:xfrm>
            <a:off x="-45720" y="6858000"/>
            <a:ext cx="18379440" cy="3474720"/>
          </a:xfrm>
          <a:prstGeom prst="rect">
            <a:avLst/>
          </a:prstGeom>
          <a:gradFill rotWithShape="1">
            <a:gsLst>
              <a:gs pos="0">
                <a:srgbClr val="FFFFFF"/>
              </a:gs>
              <a:gs pos="100000">
                <a:srgbClr val="14223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952453" y="761976"/>
            <a:ext cx="18021359" cy="607629"/>
          </a:xfrm>
          <a:prstGeom prst="rect">
            <a:avLst/>
          </a:prstGeom>
          <a:noFill/>
          <a:ln/>
        </p:spPr>
        <p:txBody>
          <a:bodyPr wrap="square" lIns="25400" tIns="25400" rIns="25400" bIns="25400" rtlCol="0" anchor="t">
            <a:normAutofit lnSpcReduction="10000"/>
          </a:bodyPr>
          <a:lstStyle/>
          <a:p>
            <a:pPr marL="0" indent="0" algn="l">
              <a:buNone/>
            </a:pPr>
            <a:r>
              <a:rPr lang="en-US" sz="3900" b="1" kern="0" spc="-39" dirty="0">
                <a:solidFill>
                  <a:srgbClr val="142233"/>
                </a:solidFill>
                <a:latin typeface="League Spartan" pitchFamily="2" charset="77"/>
                <a:ea typeface="Arial" pitchFamily="34" charset="-122"/>
                <a:cs typeface="Arial" pitchFamily="34" charset="-120"/>
              </a:rPr>
              <a:t>Thank You to Our Sponsors</a:t>
            </a:r>
            <a:endParaRPr lang="en-US" sz="3900" dirty="0">
              <a:latin typeface="League Spartan" pitchFamily="2" charset="77"/>
            </a:endParaRPr>
          </a:p>
        </p:txBody>
      </p:sp>
      <p:sp>
        <p:nvSpPr>
          <p:cNvPr id="3" name="Text 1"/>
          <p:cNvSpPr/>
          <p:nvPr/>
        </p:nvSpPr>
        <p:spPr>
          <a:xfrm>
            <a:off x="952453" y="1617220"/>
            <a:ext cx="2883803"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TITLE SPONSORS</a:t>
            </a:r>
            <a:endParaRPr lang="en-US" sz="1800" dirty="0">
              <a:latin typeface="League Spartan" pitchFamily="2" charset="77"/>
            </a:endParaRPr>
          </a:p>
        </p:txBody>
      </p:sp>
      <p:sp>
        <p:nvSpPr>
          <p:cNvPr id="4" name="Shape 2"/>
          <p:cNvSpPr/>
          <p:nvPr/>
        </p:nvSpPr>
        <p:spPr>
          <a:xfrm>
            <a:off x="3745480" y="1740310"/>
            <a:ext cx="13590026" cy="19021"/>
          </a:xfrm>
          <a:prstGeom prst="rect">
            <a:avLst/>
          </a:prstGeom>
          <a:solidFill>
            <a:srgbClr val="E5E8EB"/>
          </a:solidFill>
          <a:ln/>
        </p:spPr>
        <p:txBody>
          <a:bodyPr/>
          <a:lstStyle/>
          <a:p>
            <a:endParaRPr lang="en-US">
              <a:latin typeface="League Spartan" pitchFamily="2" charset="77"/>
            </a:endParaRPr>
          </a:p>
        </p:txBody>
      </p:sp>
      <p:sp>
        <p:nvSpPr>
          <p:cNvPr id="5" name="Shape 3"/>
          <p:cNvSpPr/>
          <p:nvPr/>
        </p:nvSpPr>
        <p:spPr>
          <a:xfrm>
            <a:off x="4057688" y="1996679"/>
            <a:ext cx="4952944" cy="1409692"/>
          </a:xfrm>
          <a:prstGeom prst="roundRect">
            <a:avLst>
              <a:gd name="adj" fmla="val 6757"/>
            </a:avLst>
          </a:prstGeom>
          <a:ln w="17390">
            <a:solidFill>
              <a:srgbClr val="E5E8EB"/>
            </a:solidFill>
            <a:prstDash val="solid"/>
          </a:ln>
        </p:spPr>
        <p:txBody>
          <a:bodyPr/>
          <a:lstStyle/>
          <a:p>
            <a:endParaRPr lang="en-US">
              <a:latin typeface="League Spartan" pitchFamily="2" charset="77"/>
            </a:endParaRPr>
          </a:p>
        </p:txBody>
      </p:sp>
      <p:pic>
        <p:nvPicPr>
          <p:cNvPr id="6" name="Image 0" descr="preencoded.png"/>
          <p:cNvPicPr>
            <a:picLocks noChangeAspect="1"/>
          </p:cNvPicPr>
          <p:nvPr/>
        </p:nvPicPr>
        <p:blipFill>
          <a:blip r:embed="rId3"/>
          <a:srcRect/>
          <a:stretch/>
        </p:blipFill>
        <p:spPr>
          <a:xfrm>
            <a:off x="5267665" y="2242655"/>
            <a:ext cx="2532922" cy="917672"/>
          </a:xfrm>
          <a:prstGeom prst="rect">
            <a:avLst/>
          </a:prstGeom>
        </p:spPr>
      </p:pic>
      <p:sp>
        <p:nvSpPr>
          <p:cNvPr id="7" name="Shape 4"/>
          <p:cNvSpPr/>
          <p:nvPr/>
        </p:nvSpPr>
        <p:spPr>
          <a:xfrm>
            <a:off x="9277327" y="1996679"/>
            <a:ext cx="4952944" cy="1409692"/>
          </a:xfrm>
          <a:prstGeom prst="roundRect">
            <a:avLst>
              <a:gd name="adj" fmla="val 6757"/>
            </a:avLst>
          </a:prstGeom>
          <a:ln w="17390">
            <a:solidFill>
              <a:srgbClr val="E5E8EB"/>
            </a:solidFill>
            <a:prstDash val="solid"/>
          </a:ln>
        </p:spPr>
        <p:txBody>
          <a:bodyPr/>
          <a:lstStyle/>
          <a:p>
            <a:endParaRPr lang="en-US">
              <a:latin typeface="League Spartan" pitchFamily="2" charset="77"/>
            </a:endParaRPr>
          </a:p>
        </p:txBody>
      </p:sp>
      <p:pic>
        <p:nvPicPr>
          <p:cNvPr id="8" name="Image 1" descr="preencoded.png"/>
          <p:cNvPicPr>
            <a:picLocks noChangeAspect="1"/>
          </p:cNvPicPr>
          <p:nvPr/>
        </p:nvPicPr>
        <p:blipFill>
          <a:blip r:embed="rId4"/>
          <a:srcRect l="-3" r="-3"/>
          <a:stretch/>
        </p:blipFill>
        <p:spPr>
          <a:xfrm>
            <a:off x="10317002" y="2242655"/>
            <a:ext cx="2873525" cy="917672"/>
          </a:xfrm>
          <a:prstGeom prst="rect">
            <a:avLst/>
          </a:prstGeom>
        </p:spPr>
      </p:pic>
      <p:sp>
        <p:nvSpPr>
          <p:cNvPr id="9" name="Text 5"/>
          <p:cNvSpPr/>
          <p:nvPr/>
        </p:nvSpPr>
        <p:spPr>
          <a:xfrm>
            <a:off x="952453" y="3634957"/>
            <a:ext cx="2875509"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BOOK SPONSORS</a:t>
            </a:r>
            <a:endParaRPr lang="en-US" sz="1800" dirty="0">
              <a:latin typeface="League Spartan" pitchFamily="2" charset="77"/>
            </a:endParaRPr>
          </a:p>
        </p:txBody>
      </p:sp>
      <p:sp>
        <p:nvSpPr>
          <p:cNvPr id="10" name="Shape 6"/>
          <p:cNvSpPr/>
          <p:nvPr/>
        </p:nvSpPr>
        <p:spPr>
          <a:xfrm>
            <a:off x="3737940" y="3758047"/>
            <a:ext cx="13597567" cy="19021"/>
          </a:xfrm>
          <a:prstGeom prst="rect">
            <a:avLst/>
          </a:prstGeom>
          <a:solidFill>
            <a:srgbClr val="E5E8EB"/>
          </a:solidFill>
          <a:ln/>
        </p:spPr>
        <p:txBody>
          <a:bodyPr/>
          <a:lstStyle/>
          <a:p>
            <a:endParaRPr lang="en-US">
              <a:latin typeface="League Spartan" pitchFamily="2" charset="77"/>
            </a:endParaRPr>
          </a:p>
        </p:txBody>
      </p:sp>
      <p:sp>
        <p:nvSpPr>
          <p:cNvPr id="11" name="Shape 7"/>
          <p:cNvSpPr/>
          <p:nvPr/>
        </p:nvSpPr>
        <p:spPr>
          <a:xfrm>
            <a:off x="5219706" y="4014417"/>
            <a:ext cx="3809946" cy="1104888"/>
          </a:xfrm>
          <a:prstGeom prst="roundRect">
            <a:avLst>
              <a:gd name="adj" fmla="val 8621"/>
            </a:avLst>
          </a:prstGeom>
          <a:ln w="17390">
            <a:solidFill>
              <a:srgbClr val="E5E8EB"/>
            </a:solidFill>
            <a:prstDash val="solid"/>
          </a:ln>
        </p:spPr>
        <p:txBody>
          <a:bodyPr/>
          <a:lstStyle/>
          <a:p>
            <a:endParaRPr lang="en-US">
              <a:latin typeface="League Spartan" pitchFamily="2" charset="77"/>
            </a:endParaRPr>
          </a:p>
        </p:txBody>
      </p:sp>
      <p:pic>
        <p:nvPicPr>
          <p:cNvPr id="12" name="Image 2" descr="preencoded.png"/>
          <p:cNvPicPr>
            <a:picLocks noChangeAspect="1"/>
          </p:cNvPicPr>
          <p:nvPr/>
        </p:nvPicPr>
        <p:blipFill>
          <a:blip r:embed="rId5"/>
          <a:srcRect l="-215" r="-215"/>
          <a:stretch/>
        </p:blipFill>
        <p:spPr>
          <a:xfrm>
            <a:off x="5683128" y="4203195"/>
            <a:ext cx="2883103" cy="727263"/>
          </a:xfrm>
          <a:prstGeom prst="rect">
            <a:avLst/>
          </a:prstGeom>
        </p:spPr>
      </p:pic>
      <p:sp>
        <p:nvSpPr>
          <p:cNvPr id="13" name="Shape 8"/>
          <p:cNvSpPr/>
          <p:nvPr/>
        </p:nvSpPr>
        <p:spPr>
          <a:xfrm>
            <a:off x="9258238" y="4014417"/>
            <a:ext cx="3809946" cy="1104888"/>
          </a:xfrm>
          <a:prstGeom prst="roundRect">
            <a:avLst>
              <a:gd name="adj" fmla="val 8621"/>
            </a:avLst>
          </a:prstGeom>
          <a:ln w="17390">
            <a:solidFill>
              <a:srgbClr val="E5E8EB"/>
            </a:solidFill>
            <a:prstDash val="solid"/>
          </a:ln>
        </p:spPr>
        <p:txBody>
          <a:bodyPr/>
          <a:lstStyle/>
          <a:p>
            <a:endParaRPr lang="en-US">
              <a:latin typeface="League Spartan" pitchFamily="2" charset="77"/>
            </a:endParaRPr>
          </a:p>
        </p:txBody>
      </p:sp>
      <p:pic>
        <p:nvPicPr>
          <p:cNvPr id="14" name="Image 3" descr="preencoded.png"/>
          <p:cNvPicPr>
            <a:picLocks noChangeAspect="1"/>
          </p:cNvPicPr>
          <p:nvPr/>
        </p:nvPicPr>
        <p:blipFill>
          <a:blip r:embed="rId6"/>
          <a:srcRect l="-4" r="-4"/>
          <a:stretch/>
        </p:blipFill>
        <p:spPr>
          <a:xfrm>
            <a:off x="10162120" y="4203195"/>
            <a:ext cx="2002182" cy="727263"/>
          </a:xfrm>
          <a:prstGeom prst="rect">
            <a:avLst/>
          </a:prstGeom>
        </p:spPr>
      </p:pic>
      <p:sp>
        <p:nvSpPr>
          <p:cNvPr id="15" name="Text 9"/>
          <p:cNvSpPr/>
          <p:nvPr/>
        </p:nvSpPr>
        <p:spPr>
          <a:xfrm>
            <a:off x="952453" y="5347891"/>
            <a:ext cx="3890777"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HAPPY HOUR SPONSOR</a:t>
            </a:r>
            <a:endParaRPr lang="en-US" sz="1800" dirty="0">
              <a:latin typeface="League Spartan" pitchFamily="2" charset="77"/>
            </a:endParaRPr>
          </a:p>
        </p:txBody>
      </p:sp>
      <p:sp>
        <p:nvSpPr>
          <p:cNvPr id="16" name="Shape 10"/>
          <p:cNvSpPr/>
          <p:nvPr/>
        </p:nvSpPr>
        <p:spPr>
          <a:xfrm>
            <a:off x="4660911" y="5470981"/>
            <a:ext cx="12674596" cy="19021"/>
          </a:xfrm>
          <a:prstGeom prst="rect">
            <a:avLst/>
          </a:prstGeom>
          <a:solidFill>
            <a:srgbClr val="E5E8EB"/>
          </a:solidFill>
          <a:ln/>
        </p:spPr>
        <p:txBody>
          <a:bodyPr/>
          <a:lstStyle/>
          <a:p>
            <a:endParaRPr lang="en-US">
              <a:latin typeface="League Spartan" pitchFamily="2" charset="77"/>
            </a:endParaRPr>
          </a:p>
        </p:txBody>
      </p:sp>
      <p:sp>
        <p:nvSpPr>
          <p:cNvPr id="17" name="Shape 11"/>
          <p:cNvSpPr/>
          <p:nvPr/>
        </p:nvSpPr>
        <p:spPr>
          <a:xfrm>
            <a:off x="7572341" y="5727350"/>
            <a:ext cx="3143209" cy="933432"/>
          </a:xfrm>
          <a:prstGeom prst="roundRect">
            <a:avLst>
              <a:gd name="adj" fmla="val 10204"/>
            </a:avLst>
          </a:prstGeom>
          <a:ln w="17390">
            <a:solidFill>
              <a:srgbClr val="E5E8EB"/>
            </a:solidFill>
            <a:prstDash val="solid"/>
          </a:ln>
        </p:spPr>
        <p:txBody>
          <a:bodyPr/>
          <a:lstStyle/>
          <a:p>
            <a:endParaRPr lang="en-US">
              <a:latin typeface="League Spartan" pitchFamily="2" charset="77"/>
            </a:endParaRPr>
          </a:p>
        </p:txBody>
      </p:sp>
      <p:pic>
        <p:nvPicPr>
          <p:cNvPr id="18" name="Image 4" descr="preencoded.png"/>
          <p:cNvPicPr>
            <a:picLocks noChangeAspect="1"/>
          </p:cNvPicPr>
          <p:nvPr/>
        </p:nvPicPr>
        <p:blipFill>
          <a:blip r:embed="rId7"/>
          <a:srcRect l="-6" r="-6"/>
          <a:stretch/>
        </p:blipFill>
        <p:spPr>
          <a:xfrm>
            <a:off x="8550471" y="5897109"/>
            <a:ext cx="1186948" cy="593848"/>
          </a:xfrm>
          <a:prstGeom prst="rect">
            <a:avLst/>
          </a:prstGeom>
        </p:spPr>
      </p:pic>
      <p:sp>
        <p:nvSpPr>
          <p:cNvPr id="19" name="Text 12"/>
          <p:cNvSpPr/>
          <p:nvPr/>
        </p:nvSpPr>
        <p:spPr>
          <a:xfrm>
            <a:off x="952453" y="6889368"/>
            <a:ext cx="3710020"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SWAG BAG SPONSORS</a:t>
            </a:r>
            <a:endParaRPr lang="en-US" sz="1800" dirty="0">
              <a:latin typeface="League Spartan" pitchFamily="2" charset="77"/>
            </a:endParaRPr>
          </a:p>
        </p:txBody>
      </p:sp>
      <p:sp>
        <p:nvSpPr>
          <p:cNvPr id="20" name="Shape 13"/>
          <p:cNvSpPr/>
          <p:nvPr/>
        </p:nvSpPr>
        <p:spPr>
          <a:xfrm>
            <a:off x="4496587" y="7012459"/>
            <a:ext cx="12838920" cy="19021"/>
          </a:xfrm>
          <a:prstGeom prst="rect">
            <a:avLst/>
          </a:prstGeom>
          <a:solidFill>
            <a:srgbClr val="E5E8EB"/>
          </a:solidFill>
          <a:ln/>
        </p:spPr>
        <p:txBody>
          <a:bodyPr/>
          <a:lstStyle/>
          <a:p>
            <a:endParaRPr lang="en-US">
              <a:latin typeface="League Spartan" pitchFamily="2" charset="77"/>
            </a:endParaRPr>
          </a:p>
        </p:txBody>
      </p:sp>
      <p:sp>
        <p:nvSpPr>
          <p:cNvPr id="21" name="Shape 14"/>
          <p:cNvSpPr/>
          <p:nvPr/>
        </p:nvSpPr>
        <p:spPr>
          <a:xfrm>
            <a:off x="6467520" y="7268828"/>
            <a:ext cx="2571710" cy="819105"/>
          </a:xfrm>
          <a:prstGeom prst="roundRect">
            <a:avLst>
              <a:gd name="adj" fmla="val 11629"/>
            </a:avLst>
          </a:prstGeom>
          <a:ln w="17390">
            <a:solidFill>
              <a:srgbClr val="E5E8EB"/>
            </a:solidFill>
            <a:prstDash val="solid"/>
          </a:ln>
        </p:spPr>
        <p:txBody>
          <a:bodyPr/>
          <a:lstStyle/>
          <a:p>
            <a:endParaRPr lang="en-US">
              <a:latin typeface="League Spartan" pitchFamily="2" charset="77"/>
            </a:endParaRPr>
          </a:p>
        </p:txBody>
      </p:sp>
      <p:pic>
        <p:nvPicPr>
          <p:cNvPr id="22" name="Image 5" descr="preencoded.png"/>
          <p:cNvPicPr>
            <a:picLocks noChangeAspect="1"/>
          </p:cNvPicPr>
          <p:nvPr/>
        </p:nvPicPr>
        <p:blipFill>
          <a:blip r:embed="rId8"/>
          <a:srcRect l="-4" r="-4"/>
          <a:stretch/>
        </p:blipFill>
        <p:spPr>
          <a:xfrm>
            <a:off x="6814509" y="7400477"/>
            <a:ext cx="1877665" cy="555739"/>
          </a:xfrm>
          <a:prstGeom prst="rect">
            <a:avLst/>
          </a:prstGeom>
        </p:spPr>
      </p:pic>
      <p:sp>
        <p:nvSpPr>
          <p:cNvPr id="23" name="Shape 15"/>
          <p:cNvSpPr/>
          <p:nvPr/>
        </p:nvSpPr>
        <p:spPr>
          <a:xfrm>
            <a:off x="9248728" y="7268828"/>
            <a:ext cx="2571710" cy="819105"/>
          </a:xfrm>
          <a:prstGeom prst="roundRect">
            <a:avLst>
              <a:gd name="adj" fmla="val 11629"/>
            </a:avLst>
          </a:prstGeom>
          <a:ln w="17390">
            <a:solidFill>
              <a:srgbClr val="E5E8EB"/>
            </a:solidFill>
            <a:prstDash val="solid"/>
          </a:ln>
        </p:spPr>
        <p:txBody>
          <a:bodyPr/>
          <a:lstStyle/>
          <a:p>
            <a:endParaRPr lang="en-US">
              <a:latin typeface="League Spartan" pitchFamily="2" charset="77"/>
            </a:endParaRPr>
          </a:p>
        </p:txBody>
      </p:sp>
      <p:pic>
        <p:nvPicPr>
          <p:cNvPr id="24" name="Image 6" descr="preencoded.png"/>
          <p:cNvPicPr>
            <a:picLocks noChangeAspect="1"/>
          </p:cNvPicPr>
          <p:nvPr/>
        </p:nvPicPr>
        <p:blipFill>
          <a:blip r:embed="rId9"/>
          <a:srcRect l="-2" r="-2"/>
          <a:stretch/>
        </p:blipFill>
        <p:spPr>
          <a:xfrm>
            <a:off x="9380377" y="7405300"/>
            <a:ext cx="2308412" cy="546161"/>
          </a:xfrm>
          <a:prstGeom prst="rect">
            <a:avLst/>
          </a:prstGeom>
        </p:spPr>
      </p:pic>
      <p:sp>
        <p:nvSpPr>
          <p:cNvPr id="25" name="Text 16"/>
          <p:cNvSpPr/>
          <p:nvPr/>
        </p:nvSpPr>
        <p:spPr>
          <a:xfrm>
            <a:off x="952453" y="8316519"/>
            <a:ext cx="3093328"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BOOTH SPONSORS</a:t>
            </a:r>
            <a:endParaRPr lang="en-US" sz="1800" dirty="0">
              <a:latin typeface="League Spartan" pitchFamily="2" charset="77"/>
            </a:endParaRPr>
          </a:p>
        </p:txBody>
      </p:sp>
      <p:sp>
        <p:nvSpPr>
          <p:cNvPr id="26" name="Shape 17"/>
          <p:cNvSpPr/>
          <p:nvPr/>
        </p:nvSpPr>
        <p:spPr>
          <a:xfrm>
            <a:off x="3935957" y="8439609"/>
            <a:ext cx="13399550" cy="19021"/>
          </a:xfrm>
          <a:prstGeom prst="rect">
            <a:avLst/>
          </a:prstGeom>
          <a:solidFill>
            <a:srgbClr val="E5E8EB"/>
          </a:solidFill>
          <a:ln/>
        </p:spPr>
        <p:txBody>
          <a:bodyPr/>
          <a:lstStyle/>
          <a:p>
            <a:endParaRPr lang="en-US">
              <a:latin typeface="League Spartan" pitchFamily="2" charset="77"/>
            </a:endParaRPr>
          </a:p>
        </p:txBody>
      </p:sp>
      <p:sp>
        <p:nvSpPr>
          <p:cNvPr id="27" name="Shape 18"/>
          <p:cNvSpPr/>
          <p:nvPr/>
        </p:nvSpPr>
        <p:spPr>
          <a:xfrm>
            <a:off x="1295705"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28" name="Image 7" descr="preencoded.png"/>
          <p:cNvPicPr>
            <a:picLocks noChangeAspect="1"/>
          </p:cNvPicPr>
          <p:nvPr/>
        </p:nvPicPr>
        <p:blipFill>
          <a:blip r:embed="rId10"/>
          <a:srcRect l="-5" r="-5"/>
          <a:stretch/>
        </p:blipFill>
        <p:spPr>
          <a:xfrm>
            <a:off x="1687664" y="8827627"/>
            <a:ext cx="1311465" cy="498609"/>
          </a:xfrm>
          <a:prstGeom prst="rect">
            <a:avLst/>
          </a:prstGeom>
        </p:spPr>
      </p:pic>
      <p:sp>
        <p:nvSpPr>
          <p:cNvPr id="29" name="Shape 19"/>
          <p:cNvSpPr/>
          <p:nvPr/>
        </p:nvSpPr>
        <p:spPr>
          <a:xfrm>
            <a:off x="3562544"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0" name="Image 8" descr="preencoded.png"/>
          <p:cNvPicPr>
            <a:picLocks noChangeAspect="1"/>
          </p:cNvPicPr>
          <p:nvPr/>
        </p:nvPicPr>
        <p:blipFill>
          <a:blip r:embed="rId11"/>
          <a:srcRect l="-105" r="-105"/>
          <a:stretch/>
        </p:blipFill>
        <p:spPr>
          <a:xfrm>
            <a:off x="4197218" y="8827627"/>
            <a:ext cx="826102" cy="498609"/>
          </a:xfrm>
          <a:prstGeom prst="rect">
            <a:avLst/>
          </a:prstGeom>
        </p:spPr>
      </p:pic>
      <p:sp>
        <p:nvSpPr>
          <p:cNvPr id="31" name="Shape 20"/>
          <p:cNvSpPr/>
          <p:nvPr/>
        </p:nvSpPr>
        <p:spPr>
          <a:xfrm>
            <a:off x="5829382"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2" name="Image 9" descr="preencoded.png"/>
          <p:cNvPicPr>
            <a:picLocks noChangeAspect="1"/>
          </p:cNvPicPr>
          <p:nvPr/>
        </p:nvPicPr>
        <p:blipFill>
          <a:blip r:embed="rId12"/>
          <a:srcRect/>
          <a:stretch/>
        </p:blipFill>
        <p:spPr>
          <a:xfrm>
            <a:off x="5961031" y="8936180"/>
            <a:ext cx="1832152" cy="281572"/>
          </a:xfrm>
          <a:prstGeom prst="rect">
            <a:avLst/>
          </a:prstGeom>
        </p:spPr>
      </p:pic>
      <p:sp>
        <p:nvSpPr>
          <p:cNvPr id="33" name="Shape 21"/>
          <p:cNvSpPr/>
          <p:nvPr/>
        </p:nvSpPr>
        <p:spPr>
          <a:xfrm>
            <a:off x="8096220"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4" name="Image 10" descr="preencoded.png"/>
          <p:cNvPicPr>
            <a:picLocks noChangeAspect="1"/>
          </p:cNvPicPr>
          <p:nvPr/>
        </p:nvPicPr>
        <p:blipFill>
          <a:blip r:embed="rId13"/>
          <a:srcRect t="-206" b="-206"/>
          <a:stretch/>
        </p:blipFill>
        <p:spPr>
          <a:xfrm>
            <a:off x="8227870" y="8920556"/>
            <a:ext cx="1832152" cy="312752"/>
          </a:xfrm>
          <a:prstGeom prst="rect">
            <a:avLst/>
          </a:prstGeom>
        </p:spPr>
      </p:pic>
      <p:sp>
        <p:nvSpPr>
          <p:cNvPr id="35" name="Shape 22"/>
          <p:cNvSpPr/>
          <p:nvPr/>
        </p:nvSpPr>
        <p:spPr>
          <a:xfrm>
            <a:off x="10363059"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6" name="Image 11" descr="preencoded.png"/>
          <p:cNvPicPr>
            <a:picLocks noChangeAspect="1"/>
          </p:cNvPicPr>
          <p:nvPr/>
        </p:nvPicPr>
        <p:blipFill>
          <a:blip r:embed="rId14"/>
          <a:srcRect l="-9" r="-9"/>
          <a:stretch/>
        </p:blipFill>
        <p:spPr>
          <a:xfrm>
            <a:off x="10494708" y="8892161"/>
            <a:ext cx="1832152" cy="369609"/>
          </a:xfrm>
          <a:prstGeom prst="rect">
            <a:avLst/>
          </a:prstGeom>
        </p:spPr>
      </p:pic>
      <p:sp>
        <p:nvSpPr>
          <p:cNvPr id="37" name="Shape 23"/>
          <p:cNvSpPr/>
          <p:nvPr/>
        </p:nvSpPr>
        <p:spPr>
          <a:xfrm>
            <a:off x="12629898"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8" name="Image 12" descr="preencoded.png"/>
          <p:cNvPicPr>
            <a:picLocks noChangeAspect="1"/>
          </p:cNvPicPr>
          <p:nvPr/>
        </p:nvPicPr>
        <p:blipFill>
          <a:blip r:embed="rId15"/>
          <a:srcRect l="-8" r="-8"/>
          <a:stretch/>
        </p:blipFill>
        <p:spPr>
          <a:xfrm>
            <a:off x="12761547" y="8984343"/>
            <a:ext cx="1832152" cy="185246"/>
          </a:xfrm>
          <a:prstGeom prst="rect">
            <a:avLst/>
          </a:prstGeom>
        </p:spPr>
      </p:pic>
      <p:sp>
        <p:nvSpPr>
          <p:cNvPr id="39" name="Shape 24"/>
          <p:cNvSpPr/>
          <p:nvPr/>
        </p:nvSpPr>
        <p:spPr>
          <a:xfrm>
            <a:off x="14896736"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40" name="Image 13" descr="preencoded.png"/>
          <p:cNvPicPr>
            <a:picLocks noChangeAspect="1"/>
          </p:cNvPicPr>
          <p:nvPr/>
        </p:nvPicPr>
        <p:blipFill>
          <a:blip r:embed="rId16"/>
          <a:srcRect l="-6" r="-6"/>
          <a:stretch/>
        </p:blipFill>
        <p:spPr>
          <a:xfrm>
            <a:off x="15047542" y="8827627"/>
            <a:ext cx="1793771" cy="498609"/>
          </a:xfrm>
          <a:prstGeom prst="rect">
            <a:avLst/>
          </a:prstGeom>
        </p:spPr>
      </p:pic>
      <p:sp>
        <p:nvSpPr>
          <p:cNvPr id="41" name="Text 25"/>
          <p:cNvSpPr/>
          <p:nvPr/>
        </p:nvSpPr>
        <p:spPr>
          <a:xfrm>
            <a:off x="952453" y="9731102"/>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43" name="Text 26"/>
          <p:cNvSpPr/>
          <p:nvPr/>
        </p:nvSpPr>
        <p:spPr>
          <a:xfrm>
            <a:off x="17049791" y="9446406"/>
            <a:ext cx="335083" cy="152427"/>
          </a:xfrm>
          <a:prstGeom prst="rect">
            <a:avLst/>
          </a:prstGeom>
          <a:noFill/>
          <a:ln/>
        </p:spPr>
        <p:txBody>
          <a:bodyPr wrap="square" lIns="25400" tIns="25400" rIns="25400" bIns="25400" rtlCol="0" anchor="t">
            <a:normAutofit fontScale="92500" lnSpcReduction="10000"/>
          </a:bodyPr>
          <a:lstStyle/>
          <a:p>
            <a:pPr marL="0" indent="0" algn="l">
              <a:lnSpc>
                <a:spcPct val="84809"/>
              </a:lnSpc>
              <a:buNone/>
            </a:pPr>
            <a:r>
              <a:rPr lang="en-US" sz="900" b="1" kern="0" spc="9" dirty="0">
                <a:solidFill>
                  <a:srgbClr val="FF7900">
                    <a:alpha val="35000"/>
                  </a:srgbClr>
                </a:solidFill>
                <a:latin typeface="League Spartan" pitchFamily="2" charset="77"/>
                <a:ea typeface="Arial" pitchFamily="34" charset="-122"/>
                <a:cs typeface="Arial" pitchFamily="34" charset="-120"/>
              </a:rPr>
              <a:t>2026</a:t>
            </a:r>
            <a:endParaRPr lang="en-US" sz="900" dirty="0">
              <a:latin typeface="League Spartan" pitchFamily="2" charset="77"/>
            </a:endParaRPr>
          </a:p>
        </p:txBody>
      </p:sp>
      <p:pic>
        <p:nvPicPr>
          <p:cNvPr id="45" name="Picture 44" descr="texas_mark_light.png"/>
          <p:cNvPicPr>
            <a:picLocks noChangeAspect="1"/>
          </p:cNvPicPr>
          <p:nvPr/>
        </p:nvPicPr>
        <p:blipFill>
          <a:blip r:embed="rId17"/>
          <a:stretch>
            <a:fillRect/>
          </a:stretch>
        </p:blipFill>
        <p:spPr>
          <a:xfrm>
            <a:off x="16725966" y="9427385"/>
            <a:ext cx="609540" cy="57387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stretch>
            <a:fillRect/>
          </a:stretch>
        </p:blipFill>
        <p:spPr>
          <a:xfrm>
            <a:off x="7524722" y="2165011"/>
            <a:ext cx="3238447" cy="3048989"/>
          </a:xfrm>
          <a:prstGeom prst="rect">
            <a:avLst/>
          </a:prstGeom>
        </p:spPr>
      </p:pic>
      <p:sp>
        <p:nvSpPr>
          <p:cNvPr id="4" name="Text 1"/>
          <p:cNvSpPr/>
          <p:nvPr/>
        </p:nvSpPr>
        <p:spPr>
          <a:xfrm>
            <a:off x="9239218" y="2269759"/>
            <a:ext cx="1494768" cy="638197"/>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4725" b="1" kern="0" spc="47" dirty="0">
                <a:solidFill>
                  <a:srgbClr val="FF7900"/>
                </a:solidFill>
                <a:latin typeface="League Spartan" pitchFamily="2" charset="77"/>
                <a:ea typeface="Arial" pitchFamily="34" charset="-122"/>
                <a:cs typeface="Arial" pitchFamily="34" charset="-120"/>
              </a:rPr>
              <a:t>2026</a:t>
            </a:r>
            <a:endParaRPr lang="en-US" sz="4725" dirty="0">
              <a:latin typeface="League Spartan" pitchFamily="2" charset="77"/>
            </a:endParaRPr>
          </a:p>
        </p:txBody>
      </p:sp>
      <p:sp>
        <p:nvSpPr>
          <p:cNvPr id="5" name="Text 2"/>
          <p:cNvSpPr/>
          <p:nvPr/>
        </p:nvSpPr>
        <p:spPr>
          <a:xfrm>
            <a:off x="6323033" y="5594954"/>
            <a:ext cx="6206083" cy="1172810"/>
          </a:xfrm>
          <a:prstGeom prst="rect">
            <a:avLst/>
          </a:prstGeom>
          <a:noFill/>
          <a:ln/>
        </p:spPr>
        <p:txBody>
          <a:bodyPr wrap="square" lIns="25400" tIns="25400" rIns="25400" bIns="25400" rtlCol="0" anchor="t">
            <a:normAutofit lnSpcReduction="10000"/>
          </a:bodyPr>
          <a:lstStyle/>
          <a:p>
            <a:pPr marL="0" indent="0" algn="l">
              <a:buNone/>
            </a:pPr>
            <a:r>
              <a:rPr lang="en-US" sz="7800" b="1" kern="0" spc="-78" dirty="0">
                <a:solidFill>
                  <a:srgbClr val="FFFFFF"/>
                </a:solidFill>
                <a:latin typeface="League Spartan" pitchFamily="2" charset="77"/>
                <a:ea typeface="Arial" pitchFamily="34" charset="-122"/>
                <a:cs typeface="Arial" pitchFamily="34" charset="-120"/>
              </a:rPr>
              <a:t>Thanks, </a:t>
            </a:r>
            <a:r>
              <a:rPr lang="en-US" sz="7800" b="1" kern="0" spc="-78" dirty="0">
                <a:solidFill>
                  <a:srgbClr val="FF7900"/>
                </a:solidFill>
                <a:latin typeface="League Spartan" pitchFamily="2" charset="77"/>
                <a:ea typeface="Arial" pitchFamily="34" charset="-122"/>
                <a:cs typeface="Arial" pitchFamily="34" charset="-120"/>
              </a:rPr>
              <a:t>y’all!</a:t>
            </a:r>
            <a:endParaRPr lang="en-US" sz="7800" dirty="0">
              <a:latin typeface="League Spartan" pitchFamily="2" charset="77"/>
            </a:endParaRPr>
          </a:p>
        </p:txBody>
      </p:sp>
      <p:sp>
        <p:nvSpPr>
          <p:cNvPr id="6" name="Text 3"/>
          <p:cNvSpPr/>
          <p:nvPr/>
        </p:nvSpPr>
        <p:spPr>
          <a:xfrm>
            <a:off x="3844815" y="7110618"/>
            <a:ext cx="10598330" cy="298953"/>
          </a:xfrm>
          <a:prstGeom prst="rect">
            <a:avLst/>
          </a:prstGeom>
          <a:noFill/>
          <a:ln/>
        </p:spPr>
        <p:txBody>
          <a:bodyPr wrap="square" lIns="25400" tIns="25400" rIns="25400" bIns="25400" rtlCol="0" anchor="t">
            <a:normAutofit fontScale="85000" lnSpcReduction="20000"/>
          </a:bodyPr>
          <a:lstStyle/>
          <a:p>
            <a:pPr marL="0" indent="0" algn="ctr">
              <a:buNone/>
            </a:pPr>
            <a:r>
              <a:rPr lang="en-US" sz="2250" b="1" kern="0" spc="315" dirty="0">
                <a:solidFill>
                  <a:srgbClr val="AEB7C2"/>
                </a:solidFill>
                <a:latin typeface="League Spartan" pitchFamily="2" charset="77"/>
                <a:ea typeface="Arial" pitchFamily="34" charset="-122"/>
                <a:cs typeface="Arial" pitchFamily="34" charset="-120"/>
              </a:rPr>
              <a:t>FIFTH ANNUAL · SEPTEMBER 14, 2026 · THE STATLER DALLAS</a:t>
            </a:r>
            <a:endParaRPr lang="en-US" sz="2250" dirty="0">
              <a:latin typeface="League Spartan" pitchFamily="2" charset="77"/>
            </a:endParaRPr>
          </a:p>
        </p:txBody>
      </p:sp>
      <p:sp>
        <p:nvSpPr>
          <p:cNvPr id="7" name="Text 4"/>
          <p:cNvSpPr/>
          <p:nvPr/>
        </p:nvSpPr>
        <p:spPr>
          <a:xfrm>
            <a:off x="3383280" y="7752424"/>
            <a:ext cx="4206240" cy="407642"/>
          </a:xfrm>
          <a:prstGeom prst="rect">
            <a:avLst/>
          </a:prstGeom>
          <a:noFill/>
          <a:ln/>
        </p:spPr>
        <p:txBody>
          <a:bodyPr wrap="square" lIns="25400" tIns="25400" rIns="25400" bIns="25400" rtlCol="0" anchor="t">
            <a:normAutofit fontScale="85000"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linkedin.com/in/markstanleyprofile</a:t>
            </a:r>
            <a:endParaRPr lang="en-US" sz="2550" dirty="0">
              <a:latin typeface="League Spartan" pitchFamily="2" charset="77"/>
            </a:endParaRPr>
          </a:p>
        </p:txBody>
      </p:sp>
      <p:sp>
        <p:nvSpPr>
          <p:cNvPr id="8" name="Text 5"/>
          <p:cNvSpPr/>
          <p:nvPr/>
        </p:nvSpPr>
        <p:spPr>
          <a:xfrm>
            <a:off x="8703315" y="7821985"/>
            <a:ext cx="2879095"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b="1" dirty="0">
                <a:solidFill>
                  <a:srgbClr val="C9D0D9"/>
                </a:solidFill>
                <a:latin typeface="League Spartan" pitchFamily="2" charset="77"/>
                <a:ea typeface="Arial" pitchFamily="34" charset="-122"/>
                <a:cs typeface="Arial" pitchFamily="34" charset="-120"/>
              </a:rPr>
              <a:t>eosnorthtexas.com</a:t>
            </a:r>
            <a:endParaRPr lang="en-US" sz="2550" dirty="0">
              <a:latin typeface="League Spartan" pitchFamily="2" charset="77"/>
            </a:endParaRPr>
          </a:p>
        </p:txBody>
      </p:sp>
      <p:sp>
        <p:nvSpPr>
          <p:cNvPr id="9" name="Text 6"/>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2197</TotalTime>
  <Words>9444</Words>
  <Application>Microsoft Macintosh PowerPoint</Application>
  <PresentationFormat>Custom</PresentationFormat>
  <Paragraphs>1142</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Bradley Hand ITC</vt:lpstr>
      <vt:lpstr>League Spartan</vt:lpstr>
      <vt:lpstr>Montserrat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Stanley</cp:lastModifiedBy>
  <cp:revision>43</cp:revision>
  <cp:lastPrinted>2026-09-08T11:32:43Z</cp:lastPrinted>
  <dcterms:created xsi:type="dcterms:W3CDTF">2026-08-15T20:19:34Z</dcterms:created>
  <dcterms:modified xsi:type="dcterms:W3CDTF">2026-09-08T12:29:00Z</dcterms:modified>
</cp:coreProperties>
</file>