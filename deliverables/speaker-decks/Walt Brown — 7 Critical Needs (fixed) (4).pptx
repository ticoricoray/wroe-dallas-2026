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Lst>
  <p:sldSz cy="10287000" cx="18288000"/>
  <p:notesSz cx="6858000" cy="9144000"/>
  <p:embeddedFontLst>
    <p:embeddedFont>
      <p:font typeface="League Spartan"/>
      <p:regular r:id="rId63"/>
      <p:bold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5" roundtripDataSignature="AMtx7mjmMpl2JssqfLnx/kNMBl7sWh7n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font" Target="fonts/LeagueSpartan-bold.fntdata"/><Relationship Id="rId63" Type="http://schemas.openxmlformats.org/officeDocument/2006/relationships/font" Target="fonts/LeagueSpartan-regular.fntdata"/><Relationship Id="rId22" Type="http://schemas.openxmlformats.org/officeDocument/2006/relationships/slide" Target="slides/slide18.xml"/><Relationship Id="rId21" Type="http://schemas.openxmlformats.org/officeDocument/2006/relationships/slide" Target="slides/slide17.xml"/><Relationship Id="rId65"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Title slide. Replace the title, your name, and handle. Leave the logo, event line, and footer as they are.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Almost 15 months ago, June 29th 2025 I was laying on the ceramic tile floor of a condominium we rented in Amelia Island Florida for our extended family July 4th vacation.</a:t>
            </a:r>
            <a:endParaRPr/>
          </a:p>
          <a:p>
            <a:pPr indent="0" lvl="0" marL="0" rtl="0" algn="l">
              <a:spcBef>
                <a:spcPts val="0"/>
              </a:spcBef>
              <a:spcAft>
                <a:spcPts val="0"/>
              </a:spcAft>
              <a:buNone/>
            </a:pPr>
            <a:r>
              <a:rPr lang="en-US" sz="1200">
                <a:latin typeface="Arial"/>
                <a:ea typeface="Arial"/>
                <a:cs typeface="Arial"/>
                <a:sym typeface="Arial"/>
              </a:rPr>
              <a:t>And on my chest was my youngest daughter Jane 3rd year medical student and she was in the process of administering 9 minutes of CPR and to her right on her knees was my oldest daughter Marion and Marion was singing the tune staying alive staying alive staying alive La La La La stay alive apparently that is the correct cpr rhythm, standing over them was my wife with one year old granddaughter Ashby </a:t>
            </a:r>
            <a:endParaRPr/>
          </a:p>
          <a:p>
            <a:pPr indent="0" lvl="0" marL="0" rtl="0" algn="l">
              <a:spcBef>
                <a:spcPts val="0"/>
              </a:spcBef>
              <a:spcAft>
                <a:spcPts val="0"/>
              </a:spcAft>
              <a:buNone/>
            </a:pPr>
            <a:r>
              <a:rPr lang="en-US" sz="1200">
                <a:latin typeface="Arial"/>
                <a:ea typeface="Arial"/>
                <a:cs typeface="Arial"/>
                <a:sym typeface="Arial"/>
              </a:rPr>
              <a:t>and over the next 18 hours three different times groups of doctors sat down with my wife and daughters and told them these words do not hold out hope, do not hold out hope </a:t>
            </a:r>
            <a:endParaRPr/>
          </a:p>
          <a:p>
            <a:pPr indent="0" lvl="0" marL="0" rtl="0" algn="l">
              <a:spcBef>
                <a:spcPts val="0"/>
              </a:spcBef>
              <a:spcAft>
                <a:spcPts val="0"/>
              </a:spcAft>
              <a:buNone/>
            </a:pPr>
            <a:r>
              <a:rPr lang="en-US" sz="1200">
                <a:latin typeface="Arial"/>
                <a:ea typeface="Arial"/>
                <a:cs typeface="Arial"/>
                <a:sym typeface="Arial"/>
              </a:rPr>
              <a:t>I had suffered from what's called an aortic dissection which is basically a big rupture in your aorta above your heart and your heart pumps all of your blood into your chest cavity </a:t>
            </a:r>
            <a:endParaRPr/>
          </a:p>
          <a:p>
            <a:pPr indent="0" lvl="0" marL="0" rtl="0" algn="l">
              <a:spcBef>
                <a:spcPts val="0"/>
              </a:spcBef>
              <a:spcAft>
                <a:spcPts val="0"/>
              </a:spcAft>
              <a:buNone/>
            </a:pPr>
            <a:r>
              <a:rPr lang="en-US" sz="1200">
                <a:latin typeface="Arial"/>
                <a:ea typeface="Arial"/>
                <a:cs typeface="Arial"/>
                <a:sym typeface="Arial"/>
              </a:rPr>
              <a:t>it's a big deal they cut me open and went in and replaced my aortic arch with a man made version </a:t>
            </a:r>
            <a:endParaRPr/>
          </a:p>
          <a:p>
            <a:pPr indent="0" lvl="0" marL="0" rtl="0" algn="l">
              <a:spcBef>
                <a:spcPts val="0"/>
              </a:spcBef>
              <a:spcAft>
                <a:spcPts val="0"/>
              </a:spcAft>
              <a:buNone/>
            </a:pPr>
            <a:r>
              <a:rPr lang="en-US" sz="1200">
                <a:latin typeface="Arial"/>
                <a:ea typeface="Arial"/>
                <a:cs typeface="Arial"/>
                <a:sym typeface="Arial"/>
              </a:rPr>
              <a:t>during the surgery, my Sister-in-law Dr. Marion and her husband doctor Kelly both surgeons out of Seattle show up and say this to my wife and daughters do not hold out hope and if he does survive, he will had a severe heart attack or a life crippling stroke and then probably will die from complications soon after</a:t>
            </a:r>
            <a:endParaRPr/>
          </a:p>
          <a:p>
            <a:pPr indent="0" lvl="0" marL="0" rtl="0" algn="l">
              <a:spcBef>
                <a:spcPts val="0"/>
              </a:spcBef>
              <a:spcAft>
                <a:spcPts val="0"/>
              </a:spcAft>
              <a:buNone/>
            </a:pPr>
            <a:r>
              <a:rPr lang="en-US" sz="1200">
                <a:latin typeface="Arial"/>
                <a:ea typeface="Arial"/>
                <a:cs typeface="Arial"/>
                <a:sym typeface="Arial"/>
              </a:rPr>
              <a:t> Fast forward this past July and I'm sitting on the beach feet in the sand and water one of those low chairs under an umbrella Jane to my left Marion to my right and Jane says you know dad for the first 5 minutes of the 9 minutes you weren't breathing and Marion pipes up yeah dad you were grey  I know what a dead person looks like.</a:t>
            </a:r>
            <a:endParaRPr/>
          </a:p>
          <a:p>
            <a:pPr indent="0" lvl="0" marL="0" rtl="0" algn="l">
              <a:spcBef>
                <a:spcPts val="0"/>
              </a:spcBef>
              <a:spcAft>
                <a:spcPts val="0"/>
              </a:spcAft>
              <a:buNone/>
            </a:pPr>
            <a:r>
              <a:rPr lang="en-US" sz="1200">
                <a:latin typeface="Arial"/>
                <a:ea typeface="Arial"/>
                <a:cs typeface="Arial"/>
                <a:sym typeface="Arial"/>
              </a:rPr>
              <a:t>Yes, this type of event that will make one reflect and think pretty deeply about why you were left on earth, why St. Peter threw you back… </a:t>
            </a:r>
            <a:endParaRPr/>
          </a:p>
          <a:p>
            <a:pPr indent="0" lvl="0" marL="0" rtl="0" algn="l">
              <a:spcBef>
                <a:spcPts val="0"/>
              </a:spcBef>
              <a:spcAft>
                <a:spcPts val="0"/>
              </a:spcAft>
              <a:buNone/>
            </a:pPr>
            <a:r>
              <a:rPr lang="en-US" sz="1200">
                <a:latin typeface="Arial"/>
                <a:ea typeface="Arial"/>
                <a:cs typeface="Arial"/>
                <a:sym typeface="Arial"/>
              </a:rPr>
              <a:t>But I really didn't have to go that far, it was right in front of me, I was left on earth to finish my life’s work, I was left on earth to complete the mission to extend the mission to extend the mission of what I was doing on earth through EOS</a:t>
            </a:r>
            <a:endParaRPr/>
          </a:p>
          <a:p>
            <a:pPr indent="0" lvl="0" marL="0" rtl="0" algn="l">
              <a:spcBef>
                <a:spcPts val="0"/>
              </a:spcBef>
              <a:spcAft>
                <a:spcPts val="0"/>
              </a:spcAft>
              <a:buNone/>
            </a:pPr>
            <a:r>
              <a:rPr lang="en-US" sz="1200">
                <a:latin typeface="Arial"/>
                <a:ea typeface="Arial"/>
                <a:cs typeface="Arial"/>
                <a:sym typeface="Arial"/>
              </a:rPr>
              <a:t>And what we do through EOS is we remove the confusion and dysfunction that exists in companies and organizations that holds people back from living in a life of hope and peace we destroy the confusion, and we destroy the dysfunction that creates the fear that creates more confusion and dysfunction that keeps them from living in peace, and hope.  4:26</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At EOS we call this Healthy. (Pause, then click to Healthy Matters and Pause)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As in Patrick Lencioni’s Healthy and Smart (Video)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I’m going to invite in our special guest , Patrick lencioni to explain healthy better than I can.  3:12</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3490fa10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Thank you patrick.</a:t>
            </a:r>
            <a:endParaRPr/>
          </a:p>
          <a:p>
            <a:pPr indent="0" lvl="0" marL="0" rtl="0" algn="l">
              <a:spcBef>
                <a:spcPts val="0"/>
              </a:spcBef>
              <a:spcAft>
                <a:spcPts val="0"/>
              </a:spcAft>
              <a:buNone/>
            </a:pPr>
            <a:r>
              <a:rPr lang="en-US"/>
              <a:t>I want you to Please reflect on one line from that video: Where he says, and that’s pretty hard to measure, right? and patrick says, Yes it is….  Well today we are leaving that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EOS makes Healthy Actionable - im going to point out that the 7 Critical Needs makes Healthy Measurable </a:t>
            </a:r>
            <a:endParaRPr/>
          </a:p>
        </p:txBody>
      </p:sp>
      <p:sp>
        <p:nvSpPr>
          <p:cNvPr id="59" name="Google Shape;59;g3fb3490fa1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900"/>
              <a:t>Vision Traction Healthy  The three EOS Core Promise these are our three core promises we make to our clients, our brand promises </a:t>
            </a:r>
            <a:endParaRPr sz="600"/>
          </a:p>
          <a:p>
            <a:pPr indent="0" lvl="0" marL="0" rtl="0" algn="l">
              <a:spcBef>
                <a:spcPts val="0"/>
              </a:spcBef>
              <a:spcAft>
                <a:spcPts val="0"/>
              </a:spcAft>
              <a:buNone/>
            </a:pPr>
            <a:r>
              <a:rPr lang="en-US" sz="900"/>
              <a:t>And we say: </a:t>
            </a:r>
            <a:endParaRPr sz="600"/>
          </a:p>
          <a:p>
            <a:pPr indent="0" lvl="0" marL="0" rtl="0" algn="l">
              <a:spcBef>
                <a:spcPts val="0"/>
              </a:spcBef>
              <a:spcAft>
                <a:spcPts val="0"/>
              </a:spcAft>
              <a:buNone/>
            </a:pPr>
            <a:r>
              <a:t/>
            </a:r>
            <a:endParaRPr sz="600"/>
          </a:p>
          <a:p>
            <a:pPr indent="0" lvl="0" marL="0" rtl="0" algn="l">
              <a:spcBef>
                <a:spcPts val="0"/>
              </a:spcBef>
              <a:spcAft>
                <a:spcPts val="0"/>
              </a:spcAft>
              <a:buNone/>
            </a:pPr>
            <a:r>
              <a:rPr lang="en-US" sz="900"/>
              <a:t>We work with owners and </a:t>
            </a:r>
            <a:r>
              <a:rPr b="1" lang="en-US" sz="600"/>
              <a:t>leadership</a:t>
            </a:r>
            <a:r>
              <a:rPr lang="en-US" sz="900"/>
              <a:t> teams of privately held companies to help them get what they want from their business. </a:t>
            </a:r>
            <a:endParaRPr sz="600"/>
          </a:p>
          <a:p>
            <a:pPr indent="0" lvl="0" marL="0" rtl="0" algn="l">
              <a:spcBef>
                <a:spcPts val="0"/>
              </a:spcBef>
              <a:spcAft>
                <a:spcPts val="0"/>
              </a:spcAft>
              <a:buNone/>
            </a:pPr>
            <a:r>
              <a:rPr lang="en-US" sz="900"/>
              <a:t>We do this by bringing a complete system with a simple set of tools that when properly installed allows you to permanently enjoy three things we call vision, traction, healthy.</a:t>
            </a:r>
            <a:endParaRPr sz="600"/>
          </a:p>
          <a:p>
            <a:pPr indent="0" lvl="0" marL="0" rtl="0" algn="l">
              <a:spcBef>
                <a:spcPts val="0"/>
              </a:spcBef>
              <a:spcAft>
                <a:spcPts val="0"/>
              </a:spcAft>
              <a:buNone/>
            </a:pPr>
            <a:r>
              <a:t/>
            </a:r>
            <a:endParaRPr/>
          </a:p>
          <a:p>
            <a:pPr indent="0" lvl="0" marL="0" rtl="0" algn="l">
              <a:spcBef>
                <a:spcPts val="0"/>
              </a:spcBef>
              <a:spcAft>
                <a:spcPts val="0"/>
              </a:spcAft>
              <a:buNone/>
            </a:pPr>
            <a:r>
              <a:rPr lang="en-US" sz="1500"/>
              <a:t>1. Vision, from the standpoint of first getting your </a:t>
            </a:r>
            <a:r>
              <a:rPr b="1" lang="en-US"/>
              <a:t>leaders</a:t>
            </a:r>
            <a:r>
              <a:rPr lang="en-US" sz="1500"/>
              <a:t> 100% on the same page with where your </a:t>
            </a:r>
            <a:endParaRPr/>
          </a:p>
          <a:p>
            <a:pPr indent="0" lvl="0" marL="0" rtl="0" algn="l">
              <a:spcBef>
                <a:spcPts val="0"/>
              </a:spcBef>
              <a:spcAft>
                <a:spcPts val="0"/>
              </a:spcAft>
              <a:buNone/>
            </a:pPr>
            <a:r>
              <a:rPr lang="en-US" sz="1500"/>
              <a:t>organization is going and how it is going to get there.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500"/>
              <a:t>2. Traction, from the standpoint of helping your</a:t>
            </a:r>
            <a:r>
              <a:rPr b="1" lang="en-US"/>
              <a:t> leaders</a:t>
            </a:r>
            <a:r>
              <a:rPr lang="en-US" sz="1500"/>
              <a:t> become more accountable and disciplined, rowing together</a:t>
            </a:r>
            <a:endParaRPr/>
          </a:p>
          <a:p>
            <a:pPr indent="0" lvl="0" marL="0" rtl="0" algn="l">
              <a:spcBef>
                <a:spcPts val="0"/>
              </a:spcBef>
              <a:spcAft>
                <a:spcPts val="0"/>
              </a:spcAft>
              <a:buNone/>
            </a:pPr>
            <a:r>
              <a:rPr lang="en-US" sz="1500"/>
              <a:t>executing really well to achieve every part of your vision.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500"/>
              <a:t>3. Healthy, meaning helping your </a:t>
            </a:r>
            <a:r>
              <a:rPr b="1" lang="en-US"/>
              <a:t>leaders</a:t>
            </a:r>
            <a:r>
              <a:rPr lang="en-US" sz="1500"/>
              <a:t> to become a healthy, functional, cohesive leadership team, because unfortunately, leaders often don’t function well as a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500"/>
              <a:t>From there, </a:t>
            </a:r>
            <a:r>
              <a:rPr b="1" i="1" lang="en-US"/>
              <a:t>as goes your leadership team, so goes the rest of your organization</a:t>
            </a:r>
            <a:r>
              <a:rPr lang="en-US" sz="1500"/>
              <a:t>. You get to the point where your entire organization is crystal clear on your vision, all much more and accountable and disciplined, executing well, gaining consistent traction,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500"/>
              <a:t>And we are Advancing as a healthy, functional, cohesive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500"/>
              <a:t>That’s what I’m selling, would you like to buy some? 1:52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But then,</a:t>
            </a:r>
            <a:endParaRPr/>
          </a:p>
          <a:p>
            <a:pPr indent="0" lvl="0" marL="0" rtl="0" algn="l">
              <a:spcBef>
                <a:spcPts val="0"/>
              </a:spcBef>
              <a:spcAft>
                <a:spcPts val="0"/>
              </a:spcAft>
              <a:buNone/>
            </a:pPr>
            <a:r>
              <a:rPr lang="en-US" sz="2000"/>
              <a:t>EOS hits a ceiling.</a:t>
            </a:r>
            <a:endParaRPr/>
          </a:p>
          <a:p>
            <a:pPr indent="0" lvl="0" marL="0" rtl="0" algn="l">
              <a:spcBef>
                <a:spcPts val="0"/>
              </a:spcBef>
              <a:spcAft>
                <a:spcPts val="0"/>
              </a:spcAft>
              <a:buNone/>
            </a:pPr>
            <a:r>
              <a:rPr lang="en-US" sz="2000"/>
              <a:t>EOS breaks down.</a:t>
            </a:r>
            <a:endParaRPr/>
          </a:p>
          <a:p>
            <a:pPr indent="0" lvl="0" marL="0" rtl="0" algn="l">
              <a:spcBef>
                <a:spcPts val="0"/>
              </a:spcBef>
              <a:spcAft>
                <a:spcPts val="0"/>
              </a:spcAft>
              <a:buNone/>
            </a:pPr>
            <a:r>
              <a:rPr lang="en-US" sz="2000"/>
              <a:t>And it is our fault.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And this is the problem</a:t>
            </a:r>
            <a:endParaRPr/>
          </a:p>
          <a:p>
            <a:pPr indent="0" lvl="0" marL="0" rtl="0" algn="l">
              <a:spcBef>
                <a:spcPts val="0"/>
              </a:spcBef>
              <a:spcAft>
                <a:spcPts val="0"/>
              </a:spcAft>
              <a:buNone/>
            </a:pPr>
            <a:r>
              <a:rPr lang="en-US" sz="2000"/>
              <a:t>We are so focused on the Sr. Leadership team that we lose sight of everyone else.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We make a bold assumptive claim:</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“as goes the leadership team goes so goes the rest of the organization “</a:t>
            </a:r>
            <a:endParaRPr/>
          </a:p>
          <a:p>
            <a:pPr indent="0" lvl="0" marL="0" rtl="0" algn="l">
              <a:spcBef>
                <a:spcPts val="0"/>
              </a:spcBef>
              <a:spcAft>
                <a:spcPts val="0"/>
              </a:spcAft>
              <a:buNone/>
            </a:pPr>
            <a:r>
              <a:t/>
            </a:r>
            <a:endParaRPr b="1"/>
          </a:p>
          <a:p>
            <a:pPr indent="0" lvl="0" marL="0" rtl="0" algn="l">
              <a:spcBef>
                <a:spcPts val="0"/>
              </a:spcBef>
              <a:spcAft>
                <a:spcPts val="0"/>
              </a:spcAft>
              <a:buNone/>
            </a:pPr>
            <a:r>
              <a:rPr lang="en-US" sz="1300"/>
              <a:t>And this is what I'm here to talk to you about today </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US" sz="1300"/>
              <a:t>Yeah, EOS does an amazing job in creating clarity around vision at the </a:t>
            </a:r>
            <a:r>
              <a:rPr b="1" lang="en-US" sz="700"/>
              <a:t>Sr. Leadership Team</a:t>
            </a:r>
            <a:r>
              <a:rPr lang="en-US" sz="1300"/>
              <a:t> Level, and it does a great job to create traction, individual accountability and discipline, at the </a:t>
            </a:r>
            <a:r>
              <a:rPr b="1" lang="en-US" sz="700"/>
              <a:t>Sr. Leadership Team</a:t>
            </a:r>
            <a:r>
              <a:rPr lang="en-US" sz="1300"/>
              <a:t> Level.</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US" sz="1300"/>
              <a:t>And it does a great job at creating healthy, functional cohesive </a:t>
            </a:r>
            <a:r>
              <a:rPr b="1" lang="en-US" sz="700"/>
              <a:t>Senior leadership Teams</a:t>
            </a:r>
            <a:endParaRPr sz="700"/>
          </a:p>
          <a:p>
            <a:pPr indent="0" lvl="0" marL="0" rtl="0" algn="l">
              <a:spcBef>
                <a:spcPts val="0"/>
              </a:spcBef>
              <a:spcAft>
                <a:spcPts val="0"/>
              </a:spcAft>
              <a:buNone/>
            </a:pPr>
            <a:r>
              <a:t/>
            </a:r>
            <a:endParaRPr b="1" sz="700"/>
          </a:p>
          <a:p>
            <a:pPr indent="0" lvl="0" marL="0" rtl="0" algn="l">
              <a:spcBef>
                <a:spcPts val="0"/>
              </a:spcBef>
              <a:spcAft>
                <a:spcPts val="0"/>
              </a:spcAft>
              <a:buNone/>
            </a:pPr>
            <a:r>
              <a:rPr lang="en-US" sz="1300"/>
              <a:t>Nobody can match us here.</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US" sz="1300"/>
              <a:t>And </a:t>
            </a:r>
            <a:r>
              <a:rPr lang="en-US" sz="1300"/>
              <a:t>oftentimes</a:t>
            </a:r>
            <a:r>
              <a:rPr lang="en-US" sz="1300"/>
              <a:t>, for smaller companies, for the original core target of EOS, this is enough.</a:t>
            </a:r>
            <a:endParaRPr sz="700"/>
          </a:p>
          <a:p>
            <a:pPr indent="0" lvl="0" marL="0" rtl="0" algn="l">
              <a:spcBef>
                <a:spcPts val="0"/>
              </a:spcBef>
              <a:spcAft>
                <a:spcPts val="0"/>
              </a:spcAft>
              <a:buNone/>
            </a:pPr>
            <a:r>
              <a:t/>
            </a:r>
            <a:endParaRPr/>
          </a:p>
          <a:p>
            <a:pPr indent="0" lvl="0" marL="0" rtl="0" algn="l">
              <a:spcBef>
                <a:spcPts val="0"/>
              </a:spcBef>
              <a:spcAft>
                <a:spcPts val="0"/>
              </a:spcAft>
              <a:buNone/>
            </a:pPr>
            <a:r>
              <a:rPr lang="en-US" sz="1800"/>
              <a:t>But very, very often: EOS hits the ceiling, it breaks down as we try to get outside of the Sr. Leadership Team.</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“as goes the leadership team, so goes the rest of the organization.”</a:t>
            </a:r>
            <a:r>
              <a:rPr lang="en-US" sz="1800"/>
              <a:t> </a:t>
            </a:r>
            <a:endParaRPr/>
          </a:p>
          <a:p>
            <a:pPr indent="0" lvl="0" marL="0" rtl="0" algn="l">
              <a:spcBef>
                <a:spcPts val="0"/>
              </a:spcBef>
              <a:spcAft>
                <a:spcPts val="0"/>
              </a:spcAft>
              <a:buNone/>
            </a:pPr>
            <a:r>
              <a:rPr lang="en-US" sz="1800"/>
              <a:t>Is a little presumptive. A little open ended. I think it is a little naive.  And Frankly it is a bit lazy leaving things to chance.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Where it breaks down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where it breaks down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 is it never gets out to or embraced by the front lines!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where it breaks down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is in the buy in and belief in EOS beyond leadership and management.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where it breaks down is in the rollout,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because you don’t have a message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(Maybe Beth will talk about this later today, maybe.)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We call this break down  Hitting the Ceiling in EOS Language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This is the fact:</a:t>
            </a:r>
            <a:endParaRPr/>
          </a:p>
          <a:p>
            <a:pPr indent="0" lvl="0" marL="0" rtl="0" algn="l">
              <a:spcBef>
                <a:spcPts val="0"/>
              </a:spcBef>
              <a:spcAft>
                <a:spcPts val="0"/>
              </a:spcAft>
              <a:buNone/>
            </a:pPr>
            <a:r>
              <a:rPr lang="en-US" sz="2000"/>
              <a:t>Your Employees see EOS as being done to them and not for them, </a:t>
            </a:r>
            <a:endParaRPr/>
          </a:p>
          <a:p>
            <a:pPr indent="0" lvl="0" marL="0" rtl="0" algn="l">
              <a:spcBef>
                <a:spcPts val="0"/>
              </a:spcBef>
              <a:spcAft>
                <a:spcPts val="0"/>
              </a:spcAft>
              <a:buNone/>
            </a:pPr>
            <a:r>
              <a:rPr lang="en-US" sz="2000"/>
              <a:t>They do not understand the Why, </a:t>
            </a:r>
            <a:endParaRPr/>
          </a:p>
          <a:p>
            <a:pPr indent="0" lvl="0" marL="0" rtl="0" algn="l">
              <a:spcBef>
                <a:spcPts val="0"/>
              </a:spcBef>
              <a:spcAft>
                <a:spcPts val="0"/>
              </a:spcAft>
              <a:buNone/>
            </a:pPr>
            <a:r>
              <a:rPr lang="en-US" sz="2000"/>
              <a:t>They cannot tune into their favorite radio station,  WIIFM, what’s in it for me, they do not understand what is in it for them.</a:t>
            </a:r>
            <a:endParaRPr/>
          </a:p>
          <a:p>
            <a:pPr indent="0" lvl="0" marL="0" rtl="0" algn="l">
              <a:spcBef>
                <a:spcPts val="0"/>
              </a:spcBef>
              <a:spcAft>
                <a:spcPts val="0"/>
              </a:spcAft>
              <a:buNone/>
            </a:pPr>
            <a:r>
              <a:rPr lang="en-US" sz="2000"/>
              <a:t>We must flip the script – we must have them buy in to the fact that EOS is being done For them and not To them.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This is the fact:</a:t>
            </a:r>
            <a:endParaRPr/>
          </a:p>
          <a:p>
            <a:pPr indent="0" lvl="0" marL="0" rtl="0" algn="l">
              <a:spcBef>
                <a:spcPts val="0"/>
              </a:spcBef>
              <a:spcAft>
                <a:spcPts val="0"/>
              </a:spcAft>
              <a:buNone/>
            </a:pPr>
            <a:r>
              <a:rPr lang="en-US" sz="2000"/>
              <a:t>Your Employees see EOS as being done to them and not for them, </a:t>
            </a:r>
            <a:endParaRPr/>
          </a:p>
          <a:p>
            <a:pPr indent="0" lvl="0" marL="0" rtl="0" algn="l">
              <a:spcBef>
                <a:spcPts val="0"/>
              </a:spcBef>
              <a:spcAft>
                <a:spcPts val="0"/>
              </a:spcAft>
              <a:buNone/>
            </a:pPr>
            <a:r>
              <a:rPr lang="en-US" sz="2000"/>
              <a:t>They do not understand the Why, </a:t>
            </a:r>
            <a:endParaRPr/>
          </a:p>
          <a:p>
            <a:pPr indent="0" lvl="0" marL="0" rtl="0" algn="l">
              <a:spcBef>
                <a:spcPts val="0"/>
              </a:spcBef>
              <a:spcAft>
                <a:spcPts val="0"/>
              </a:spcAft>
              <a:buNone/>
            </a:pPr>
            <a:r>
              <a:rPr lang="en-US" sz="2000"/>
              <a:t>They cannot tune into their favorite radio station,  WIIFM, what’s in it for me, they do not understand what is in it for them.</a:t>
            </a:r>
            <a:endParaRPr/>
          </a:p>
          <a:p>
            <a:pPr indent="0" lvl="0" marL="0" rtl="0" algn="l">
              <a:spcBef>
                <a:spcPts val="0"/>
              </a:spcBef>
              <a:spcAft>
                <a:spcPts val="0"/>
              </a:spcAft>
              <a:buNone/>
            </a:pPr>
            <a:r>
              <a:rPr lang="en-US" sz="2000"/>
              <a:t>We must flip the script – we must have them buy in to the fact that EOS is being done For them and not To them.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This is the fact:</a:t>
            </a:r>
            <a:endParaRPr/>
          </a:p>
          <a:p>
            <a:pPr indent="0" lvl="0" marL="0" rtl="0" algn="l">
              <a:spcBef>
                <a:spcPts val="0"/>
              </a:spcBef>
              <a:spcAft>
                <a:spcPts val="0"/>
              </a:spcAft>
              <a:buNone/>
            </a:pPr>
            <a:r>
              <a:rPr lang="en-US" sz="2000"/>
              <a:t>Your Employees see EOS as being done to them and not for them, </a:t>
            </a:r>
            <a:endParaRPr/>
          </a:p>
          <a:p>
            <a:pPr indent="0" lvl="0" marL="0" rtl="0" algn="l">
              <a:spcBef>
                <a:spcPts val="0"/>
              </a:spcBef>
              <a:spcAft>
                <a:spcPts val="0"/>
              </a:spcAft>
              <a:buNone/>
            </a:pPr>
            <a:r>
              <a:rPr lang="en-US" sz="2000"/>
              <a:t>They do not understand the Why, </a:t>
            </a:r>
            <a:endParaRPr/>
          </a:p>
          <a:p>
            <a:pPr indent="0" lvl="0" marL="0" rtl="0" algn="l">
              <a:spcBef>
                <a:spcPts val="0"/>
              </a:spcBef>
              <a:spcAft>
                <a:spcPts val="0"/>
              </a:spcAft>
              <a:buNone/>
            </a:pPr>
            <a:r>
              <a:rPr lang="en-US" sz="2000"/>
              <a:t>They cannot tune into their favorite radio station,  WIIFM, what’s in it for me, they do not understand what is in it for them.</a:t>
            </a:r>
            <a:endParaRPr/>
          </a:p>
          <a:p>
            <a:pPr indent="0" lvl="0" marL="0" rtl="0" algn="l">
              <a:spcBef>
                <a:spcPts val="0"/>
              </a:spcBef>
              <a:spcAft>
                <a:spcPts val="0"/>
              </a:spcAft>
              <a:buNone/>
            </a:pPr>
            <a:r>
              <a:rPr lang="en-US" sz="2000"/>
              <a:t>We must flip the script – we must have them buy in to the fact that EOS is being done For them and not To them.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We must break through this ceiling… 4:28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So far 4:26, 3:12, 4:28.  11:30 so far.</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And this is where the 7 Critical Needs come in.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The 7 Critical Needs is the easy how.</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The 7 Critical Needs has been added as an official EOS Trust Builder.  </a:t>
            </a:r>
            <a:endParaRPr/>
          </a:p>
          <a:p>
            <a:pPr indent="0" lvl="0" marL="0" rtl="0" algn="l">
              <a:spcBef>
                <a:spcPts val="0"/>
              </a:spcBef>
              <a:spcAft>
                <a:spcPts val="0"/>
              </a:spcAft>
              <a:buNone/>
            </a:pPr>
            <a:r>
              <a:rPr lang="en-US" sz="2000"/>
              <a:t>It is part of the EOS Cannon – can I get an Amen.</a:t>
            </a:r>
            <a:endParaRPr/>
          </a:p>
          <a:p>
            <a:pPr indent="0" lvl="0" marL="0" rtl="0" algn="l">
              <a:spcBef>
                <a:spcPts val="0"/>
              </a:spcBef>
              <a:spcAft>
                <a:spcPts val="0"/>
              </a:spcAft>
              <a:buNone/>
            </a:pPr>
            <a:r>
              <a:rPr lang="en-US" sz="2000"/>
              <a:t>As Gino says: “This is proven, we are not practicing on you.”</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Why this is significant.</a:t>
            </a:r>
            <a:endParaRPr/>
          </a:p>
          <a:p>
            <a:pPr indent="0" lvl="0" marL="0" rtl="0" algn="l">
              <a:spcBef>
                <a:spcPts val="0"/>
              </a:spcBef>
              <a:spcAft>
                <a:spcPts val="0"/>
              </a:spcAft>
              <a:buNone/>
            </a:pPr>
            <a:r>
              <a:rPr lang="en-US" sz="2000"/>
              <a:t>The last time a tool was added to the trust builder toolbox was back in 2019 - Patrick Lencioni’s 6 working geniuses. </a:t>
            </a:r>
            <a:endParaRPr/>
          </a:p>
          <a:p>
            <a:pPr indent="0" lvl="0" marL="0" rtl="0" algn="l">
              <a:spcBef>
                <a:spcPts val="0"/>
              </a:spcBef>
              <a:spcAft>
                <a:spcPts val="0"/>
              </a:spcAft>
              <a:buNone/>
            </a:pPr>
            <a:r>
              <a:rPr lang="en-US" sz="2000"/>
              <a:t>There were none before.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Across the entire tool box, there have only been 1 or 2 other changes or additions. We took out the Assistance Track and added in the 5 Rule of the Game…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This is significant.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b3490fa10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g3fb3490fa10_0_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The 7 Critical Needs has been added as an official EOS Trust Builder.  </a:t>
            </a:r>
            <a:endParaRPr/>
          </a:p>
          <a:p>
            <a:pPr indent="0" lvl="0" marL="0" rtl="0" algn="l">
              <a:spcBef>
                <a:spcPts val="0"/>
              </a:spcBef>
              <a:spcAft>
                <a:spcPts val="0"/>
              </a:spcAft>
              <a:buNone/>
            </a:pPr>
            <a:r>
              <a:rPr lang="en-US" sz="2000"/>
              <a:t>It is part of the EOS Cannon – can I get an Amen.</a:t>
            </a:r>
            <a:endParaRPr/>
          </a:p>
          <a:p>
            <a:pPr indent="0" lvl="0" marL="0" rtl="0" algn="l">
              <a:spcBef>
                <a:spcPts val="0"/>
              </a:spcBef>
              <a:spcAft>
                <a:spcPts val="0"/>
              </a:spcAft>
              <a:buNone/>
            </a:pPr>
            <a:r>
              <a:rPr lang="en-US" sz="2000"/>
              <a:t>As Gino says: “This is proven, we are not practicing on you.”</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May I tell you a little discovery story its called the story around the Millennial Myth. </a:t>
            </a:r>
            <a:endParaRPr/>
          </a:p>
          <a:p>
            <a:pPr indent="0" lvl="0" marL="0" rtl="0" algn="l">
              <a:spcBef>
                <a:spcPts val="0"/>
              </a:spcBef>
              <a:spcAft>
                <a:spcPts val="0"/>
              </a:spcAft>
              <a:buNone/>
            </a:pPr>
            <a:r>
              <a:rPr lang="en-US" sz="2000"/>
              <a:t>OK back in 2014, I was on EOS client number 72 or so, I’d been implementing EOS for 7 years. and was back when everyone was complaining about millennials </a:t>
            </a:r>
            <a:endParaRPr/>
          </a:p>
          <a:p>
            <a:pPr indent="0" lvl="0" marL="0" rtl="0" algn="l">
              <a:spcBef>
                <a:spcPts val="0"/>
              </a:spcBef>
              <a:spcAft>
                <a:spcPts val="0"/>
              </a:spcAft>
              <a:buNone/>
            </a:pPr>
            <a:r>
              <a:rPr lang="en-US" sz="2000"/>
              <a:t>and when I sat back and looked at all the complaints about millennials about how they were skipping jobs and bought not bought in and not dependable same complaints about every new generation I scratched my head and said I I'm not seeing that with my client as a matter of fact my client’s millennials are completely blowing up the stereotype and tearing up the mold </a:t>
            </a:r>
            <a:endParaRPr/>
          </a:p>
          <a:p>
            <a:pPr indent="0" lvl="0" marL="0" rtl="0" algn="l">
              <a:spcBef>
                <a:spcPts val="0"/>
              </a:spcBef>
              <a:spcAft>
                <a:spcPts val="0"/>
              </a:spcAft>
              <a:buNone/>
            </a:pPr>
            <a:r>
              <a:rPr lang="en-US" sz="2000"/>
              <a:t>My question was, what are we doing through EOS that's breaking the pattern and what I did was this.</a:t>
            </a:r>
            <a:endParaRPr/>
          </a:p>
          <a:p>
            <a:pPr indent="0" lvl="0" marL="0" rtl="0" algn="l">
              <a:spcBef>
                <a:spcPts val="0"/>
              </a:spcBef>
              <a:spcAft>
                <a:spcPts val="0"/>
              </a:spcAft>
              <a:buNone/>
            </a:pPr>
            <a:r>
              <a:rPr lang="en-US" sz="2000"/>
              <a:t>What I did was I asked my clients for permission to engage with their millennials in focus groups and conversations to figure out what it was that we were doing that was breaking the mold and blowing up the stereotype, and after about nine months a very clear pattern emerged, and this was the pattern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Millennials were asking themselves 7 questions about work, they were running a mental rubric, asking themselves questions about where they were working, </a:t>
            </a:r>
            <a:endParaRPr/>
          </a:p>
          <a:p>
            <a:pPr indent="0" lvl="0" marL="0" rtl="0" algn="l">
              <a:spcBef>
                <a:spcPts val="0"/>
              </a:spcBef>
              <a:spcAft>
                <a:spcPts val="0"/>
              </a:spcAft>
              <a:buNone/>
            </a:pPr>
            <a:r>
              <a:rPr lang="en-US" sz="2000"/>
              <a:t>They were asking themselves do I belong here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they were asking themselves do I believe, and what this company is all about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they were asking themselves do i understand and embrace what I'm accountable for especially as it ties to what I'm being asked to believe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do I understand and embrace how I'm being measured is it fair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they were asking themselves to understand and embrace how this organization listens, asking am I being heard</a:t>
            </a:r>
            <a:r>
              <a:rPr lang="en-US" sz="1200">
                <a:latin typeface="Arial"/>
                <a:ea typeface="Arial"/>
                <a:cs typeface="Arial"/>
                <a:sym typeface="Arial"/>
              </a:rPr>
              <a: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and they were asking themselves to understand how can I, be involved in my own development and am I am I being developed am I developing?</a:t>
            </a:r>
            <a:r>
              <a:rPr lang="en-US" sz="1200">
                <a:latin typeface="Arial"/>
                <a:ea typeface="Arial"/>
                <a:cs typeface="Arial"/>
                <a:sym typeface="Arial"/>
              </a:rPr>
              <a:t>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and finally, they were asking themselves about balance, is this a place where I can maintain balance both work life and how much the job pays – to make ends meet.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those were the seven questions and ultimately those seven questions turned into a mental stay or go rubric, and if they couldn't get to yes on any one of the seven, then it was a go decision for them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ultimately these seven questions turned into what we call the7 critical needs that every employee has at work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the need to belong to group whose values align with our own.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the need to believe in the mission and the strategy for achieving it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the need to be accountable for something meaningful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the need to be measured fairly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the need to be heard honestly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the need to be developed intentionally and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000"/>
              <a:t>the need to be balanced sustainably 5:08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So far 4:26, 3:12, 4:28, 5:08 =  16:38 so far.</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EOS. And what was happening with these millennials and in these companies, through an EOS implementation was EOS was forcing each company to come to grips with and be honest about what it means to belong at their organization they were defining their core values and they were hiring, firing rewarding and recognizing based on their values they're recruiting people in who had the skills to do the job, so people knew they belonged </a:t>
            </a:r>
            <a:endParaRPr/>
          </a:p>
          <a:p>
            <a:pPr indent="0" lvl="0" marL="0" rtl="0" algn="l">
              <a:spcBef>
                <a:spcPts val="0"/>
              </a:spcBef>
              <a:spcAft>
                <a:spcPts val="0"/>
              </a:spcAft>
              <a:buNone/>
            </a:pPr>
            <a:r>
              <a:rPr lang="en-US" sz="1500"/>
              <a:t>and it was forcing the companies to come to grips with what they were asking people to Believe. all the answers captured in our Vision Traction Organizer what's our core focus what's our niche what's our 10 year target what's our marketing strategy what's our three-year picture what's our one year plan what is our focus for the next 90 days and what are the issues that we know are out there but aren't getting worked on </a:t>
            </a:r>
            <a:endParaRPr/>
          </a:p>
          <a:p>
            <a:pPr indent="0" lvl="0" marL="0" rtl="0" algn="l">
              <a:spcBef>
                <a:spcPts val="0"/>
              </a:spcBef>
              <a:spcAft>
                <a:spcPts val="0"/>
              </a:spcAft>
              <a:buNone/>
            </a:pPr>
            <a:r>
              <a:rPr lang="en-US" sz="1500"/>
              <a:t>it was forcing the organization to get super clear on what people were accountable for, super clear role clarity that tied to seat,  what were the rocks they were committing to and we're accountable for what about the 7 Day two do they took from the weekly level 10 </a:t>
            </a:r>
            <a:endParaRPr/>
          </a:p>
          <a:p>
            <a:pPr indent="0" lvl="0" marL="0" rtl="0" algn="l">
              <a:spcBef>
                <a:spcPts val="0"/>
              </a:spcBef>
              <a:spcAft>
                <a:spcPts val="0"/>
              </a:spcAft>
              <a:buNone/>
            </a:pPr>
            <a:r>
              <a:rPr lang="en-US" sz="1500"/>
              <a:t>and then heard, it was forcing the organization to simplify and get comfortable and consistent with how the organization listens. So the individual knew when the channels open and when they closed. of course level 10 meetings IDs scorecards quarterly conversations </a:t>
            </a:r>
            <a:endParaRPr/>
          </a:p>
          <a:p>
            <a:pPr indent="0" lvl="0" marL="0" rtl="0" algn="l">
              <a:spcBef>
                <a:spcPts val="0"/>
              </a:spcBef>
              <a:spcAft>
                <a:spcPts val="0"/>
              </a:spcAft>
              <a:buNone/>
            </a:pPr>
            <a:r>
              <a:rPr lang="en-US" sz="1500"/>
              <a:t>it was forcing the organization to simplify how it offered people opportunities for development developing through identify discuss and solve, having open conversations during quarterly conversations around getting wanting and having the capacity to do each one of your roles – being developed during the issue solving of a meeting </a:t>
            </a:r>
            <a:endParaRPr/>
          </a:p>
          <a:p>
            <a:pPr indent="0" lvl="0" marL="0" rtl="0" algn="l">
              <a:spcBef>
                <a:spcPts val="0"/>
              </a:spcBef>
              <a:spcAft>
                <a:spcPts val="0"/>
              </a:spcAft>
              <a:buNone/>
            </a:pPr>
            <a:r>
              <a:rPr lang="en-US" sz="1500"/>
              <a:t>and ultimately was balanced. through meetings like the quarterly conversation where you're sitting down and talking about the capacity of each one of your roles and then clearly how much time the job took and what the job paid EOS was doing all of this work.  3:41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So far 4:26, 3:12, 4:28, 5:08, 3:41 =  20:54 so far.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EOS Coupled with the 7 Critical Needs is how we break through the ceiling.</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they Pull. </a:t>
            </a:r>
            <a:r>
              <a:rPr lang="en-US" sz="1200">
                <a:latin typeface="Arial"/>
                <a:ea typeface="Arial"/>
                <a:cs typeface="Arial"/>
                <a:sym typeface="Arial"/>
              </a:rPr>
              <a:t>With our people, This is how we break through the ceiling and keep breaking through – with our people.</a:t>
            </a:r>
            <a:endParaRPr/>
          </a:p>
          <a:p>
            <a:pPr indent="0" lvl="0" marL="0" rtl="0" algn="l">
              <a:spcBef>
                <a:spcPts val="0"/>
              </a:spcBef>
              <a:spcAft>
                <a:spcPts val="0"/>
              </a:spcAft>
              <a:buNone/>
            </a:pPr>
            <a:r>
              <a:rPr lang="en-US" sz="1200">
                <a:latin typeface="Arial"/>
                <a:ea typeface="Arial"/>
                <a:cs typeface="Arial"/>
                <a:sym typeface="Arial"/>
              </a:rPr>
              <a:t>With our people, This is how we flip the script, </a:t>
            </a:r>
            <a:endParaRPr/>
          </a:p>
          <a:p>
            <a:pPr indent="0" lvl="0" marL="0" rtl="0" algn="l">
              <a:spcBef>
                <a:spcPts val="0"/>
              </a:spcBef>
              <a:spcAft>
                <a:spcPts val="0"/>
              </a:spcAft>
              <a:buNone/>
            </a:pPr>
            <a:r>
              <a:rPr lang="en-US" sz="1200">
                <a:latin typeface="Arial"/>
                <a:ea typeface="Arial"/>
                <a:cs typeface="Arial"/>
                <a:sym typeface="Arial"/>
              </a:rPr>
              <a:t>This is how we explain that EOS is for you, not to you, </a:t>
            </a:r>
            <a:endParaRPr/>
          </a:p>
          <a:p>
            <a:pPr indent="0" lvl="0" marL="0" rtl="0" algn="l">
              <a:spcBef>
                <a:spcPts val="0"/>
              </a:spcBef>
              <a:spcAft>
                <a:spcPts val="0"/>
              </a:spcAft>
              <a:buNone/>
            </a:pPr>
            <a:r>
              <a:rPr lang="en-US" sz="1200">
                <a:latin typeface="Arial"/>
                <a:ea typeface="Arial"/>
                <a:cs typeface="Arial"/>
                <a:sym typeface="Arial"/>
              </a:rPr>
              <a:t>With our people, this is how we explain The Why EOS, </a:t>
            </a:r>
            <a:endParaRPr/>
          </a:p>
          <a:p>
            <a:pPr indent="0" lvl="0" marL="0" rtl="0" algn="l">
              <a:spcBef>
                <a:spcPts val="0"/>
              </a:spcBef>
              <a:spcAft>
                <a:spcPts val="0"/>
              </a:spcAft>
              <a:buNone/>
            </a:pPr>
            <a:r>
              <a:rPr lang="en-US" sz="1200">
                <a:latin typeface="Arial"/>
                <a:ea typeface="Arial"/>
                <a:cs typeface="Arial"/>
                <a:sym typeface="Arial"/>
              </a:rPr>
              <a:t>This is how we explain WIIFM.</a:t>
            </a:r>
            <a:endParaRPr/>
          </a:p>
          <a:p>
            <a:pPr indent="0" lvl="0" marL="0" rtl="0" algn="l">
              <a:spcBef>
                <a:spcPts val="0"/>
              </a:spcBef>
              <a:spcAft>
                <a:spcPts val="0"/>
              </a:spcAft>
              <a:buNone/>
            </a:pPr>
            <a:r>
              <a:rPr lang="en-US" sz="1200">
                <a:latin typeface="Arial"/>
                <a:ea typeface="Arial"/>
                <a:cs typeface="Arial"/>
                <a:sym typeface="Arial"/>
              </a:rPr>
              <a:t>This is how we get EOS Rolled out to and for the Front Line. :30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So far 4:26, 3:12, 4:28, 5:08, 3:41, :30 =  23:03 so far.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Inside of EOS we believe that “what gets measured gets done” </a:t>
            </a:r>
            <a:endParaRPr/>
          </a:p>
          <a:p>
            <a:pPr indent="0" lvl="0" marL="0" rtl="0" algn="l">
              <a:spcBef>
                <a:spcPts val="0"/>
              </a:spcBef>
              <a:spcAft>
                <a:spcPts val="0"/>
              </a:spcAft>
              <a:buNone/>
            </a:pPr>
            <a:r>
              <a:rPr lang="en-US" sz="1200">
                <a:latin typeface="Arial"/>
                <a:ea typeface="Arial"/>
                <a:cs typeface="Arial"/>
                <a:sym typeface="Arial"/>
              </a:rPr>
              <a:t>And we believe “you must inspect what you expect”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And thank you to our Millennials for building the Rubric we will 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in this case the seven critical needs become the Healthy rubric</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Inside of EOS we believe that “what gets measured gets done” </a:t>
            </a:r>
            <a:endParaRPr/>
          </a:p>
          <a:p>
            <a:pPr indent="0" lvl="0" marL="0" rtl="0" algn="l">
              <a:spcBef>
                <a:spcPts val="0"/>
              </a:spcBef>
              <a:spcAft>
                <a:spcPts val="0"/>
              </a:spcAft>
              <a:buNone/>
            </a:pPr>
            <a:r>
              <a:rPr lang="en-US" sz="1200">
                <a:latin typeface="Arial"/>
                <a:ea typeface="Arial"/>
                <a:cs typeface="Arial"/>
                <a:sym typeface="Arial"/>
              </a:rPr>
              <a:t>And we believe “you must inspect what you expect”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And thank you to our Millennials for building the Rubric we will 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in this case the seven critical needs become the Healthy rubric</a:t>
            </a:r>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7" name="Google Shape;437;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in this case the seven critical needs become the Healthy rubric = we now have measurable organizational health, not some touchy feely 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Remember Patrick earlier saying it is hard to measure…. Well, not any more.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it becomes the Measurable Organizational Health Rubric</a:t>
            </a:r>
            <a:endParaRPr sz="1200">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survey our people - asking them on a scale of 1 to 10 how they feel about each of their critical needs being met.  I’ll share the survey and Scoring with you in Q and A.</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Healthy Matters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fb3490fa10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g3fb3490fa10_0_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Healthy Matters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Remember “the answer is in the tools, you don’t need anymore tools”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This is our proven process. 4 steps measure, analyze come up with a plan, share the plan, execute the plan, then measure again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and how you go about doing this is right here in this little field guide I've shared with you called Healthy Matters and you can dig into this you can give us or your Implementer a call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8" name="Google Shape;508;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2:16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2000"/>
              <a:t>So far 4:26, 3:12, 4:28, 5:08, 3:41, :30, 2;16 =  22:49 so far.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Section break. Replace the two lines with your section name — keep the flame/orange two-tone. Duplicate this slide for each section.</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5" name="Google Shape;525;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and how you go about doing this is right here in this little field guide I've shared with you called Healthy Matters and you can dig into this you can give us or your Implementer a call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and how you go about doing this is right here in this little field guide I've shared with you called Healthy Matters and you can dig into this you can give us or your Implementer a call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Big graphic. Drop in a diagram, chart, or screenshot — it will aspect-fit, never stretch. Arrange or crop as needed.</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Sponsor thank-you. Logos are current as of the 2026 site — keep this slide as-is and show it at the end of your session.</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Session survey. Drop the survey QR code onto the white card. Leave this up while you take questions.</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Closing slide. Swap in your handle so the room can find you.</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tx">
  <p:cSld name="TITLE_AND_BODY">
    <p:spTree>
      <p:nvGrpSpPr>
        <p:cNvPr id="9" name="Shape 9"/>
        <p:cNvGrpSpPr/>
        <p:nvPr/>
      </p:nvGrpSpPr>
      <p:grpSpPr>
        <a:xfrm>
          <a:off x="0" y="0"/>
          <a:ext cx="0" cy="0"/>
          <a:chOff x="0" y="0"/>
          <a:chExt cx="0" cy="0"/>
        </a:xfrm>
      </p:grpSpPr>
      <p:sp>
        <p:nvSpPr>
          <p:cNvPr id="10" name="Google Shape;10;p57"/>
          <p:cNvSpPr txBox="1"/>
          <p:nvPr>
            <p:ph idx="12" type="sldNum"/>
          </p:nvPr>
        </p:nvSpPr>
        <p:spPr>
          <a:xfrm>
            <a:off x="8839200" y="9260681"/>
            <a:ext cx="4267200" cy="547688"/>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Calibri"/>
              <a:buNone/>
              <a:defRPr sz="1200"/>
            </a:lvl1pPr>
            <a:lvl2pPr indent="0" lvl="1" marL="0" algn="r">
              <a:lnSpc>
                <a:spcPct val="100000"/>
              </a:lnSpc>
              <a:spcBef>
                <a:spcPts val="0"/>
              </a:spcBef>
              <a:spcAft>
                <a:spcPts val="0"/>
              </a:spcAft>
              <a:buClr>
                <a:srgbClr val="000000"/>
              </a:buClr>
              <a:buSzPts val="1200"/>
              <a:buFont typeface="Calibri"/>
              <a:buNone/>
              <a:defRPr sz="1200"/>
            </a:lvl2pPr>
            <a:lvl3pPr indent="0" lvl="2" marL="0" algn="r">
              <a:lnSpc>
                <a:spcPct val="100000"/>
              </a:lnSpc>
              <a:spcBef>
                <a:spcPts val="0"/>
              </a:spcBef>
              <a:spcAft>
                <a:spcPts val="0"/>
              </a:spcAft>
              <a:buClr>
                <a:srgbClr val="000000"/>
              </a:buClr>
              <a:buSzPts val="1200"/>
              <a:buFont typeface="Calibri"/>
              <a:buNone/>
              <a:defRPr sz="1200"/>
            </a:lvl3pPr>
            <a:lvl4pPr indent="0" lvl="3" marL="0" algn="r">
              <a:lnSpc>
                <a:spcPct val="100000"/>
              </a:lnSpc>
              <a:spcBef>
                <a:spcPts val="0"/>
              </a:spcBef>
              <a:spcAft>
                <a:spcPts val="0"/>
              </a:spcAft>
              <a:buClr>
                <a:srgbClr val="000000"/>
              </a:buClr>
              <a:buSzPts val="1200"/>
              <a:buFont typeface="Calibri"/>
              <a:buNone/>
              <a:defRPr sz="1200"/>
            </a:lvl4pPr>
            <a:lvl5pPr indent="0" lvl="4" marL="0" algn="r">
              <a:lnSpc>
                <a:spcPct val="100000"/>
              </a:lnSpc>
              <a:spcBef>
                <a:spcPts val="0"/>
              </a:spcBef>
              <a:spcAft>
                <a:spcPts val="0"/>
              </a:spcAft>
              <a:buClr>
                <a:srgbClr val="000000"/>
              </a:buClr>
              <a:buSzPts val="1200"/>
              <a:buFont typeface="Calibri"/>
              <a:buNone/>
              <a:defRPr sz="1200"/>
            </a:lvl5pPr>
            <a:lvl6pPr indent="0" lvl="5" marL="0" algn="r">
              <a:lnSpc>
                <a:spcPct val="100000"/>
              </a:lnSpc>
              <a:spcBef>
                <a:spcPts val="0"/>
              </a:spcBef>
              <a:spcAft>
                <a:spcPts val="0"/>
              </a:spcAft>
              <a:buClr>
                <a:srgbClr val="000000"/>
              </a:buClr>
              <a:buSzPts val="1200"/>
              <a:buFont typeface="Calibri"/>
              <a:buNone/>
              <a:defRPr sz="1200"/>
            </a:lvl6pPr>
            <a:lvl7pPr indent="0" lvl="6" marL="0" algn="r">
              <a:lnSpc>
                <a:spcPct val="100000"/>
              </a:lnSpc>
              <a:spcBef>
                <a:spcPts val="0"/>
              </a:spcBef>
              <a:spcAft>
                <a:spcPts val="0"/>
              </a:spcAft>
              <a:buClr>
                <a:srgbClr val="000000"/>
              </a:buClr>
              <a:buSzPts val="1200"/>
              <a:buFont typeface="Calibri"/>
              <a:buNone/>
              <a:defRPr sz="1200"/>
            </a:lvl7pPr>
            <a:lvl8pPr indent="0" lvl="7" marL="0" algn="r">
              <a:lnSpc>
                <a:spcPct val="100000"/>
              </a:lnSpc>
              <a:spcBef>
                <a:spcPts val="0"/>
              </a:spcBef>
              <a:spcAft>
                <a:spcPts val="0"/>
              </a:spcAft>
              <a:buClr>
                <a:srgbClr val="000000"/>
              </a:buClr>
              <a:buSzPts val="1200"/>
              <a:buFont typeface="Calibri"/>
              <a:buNone/>
              <a:defRPr sz="1200"/>
            </a:lvl8pPr>
            <a:lvl9pPr indent="0" lvl="8" marL="0" algn="r">
              <a:lnSpc>
                <a:spcPct val="100000"/>
              </a:lnSpc>
              <a:spcBef>
                <a:spcPts val="0"/>
              </a:spcBef>
              <a:spcAft>
                <a:spcPts val="0"/>
              </a:spcAft>
              <a:buClr>
                <a:srgbClr val="000000"/>
              </a:buClr>
              <a:buSzPts val="1200"/>
              <a:buFont typeface="Calibri"/>
              <a:buNone/>
              <a:defRPr sz="12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914400" y="138112"/>
            <a:ext cx="16459200" cy="2262188"/>
          </a:xfrm>
          <a:prstGeom prst="rect">
            <a:avLst/>
          </a:prstGeom>
          <a:noFill/>
          <a:ln>
            <a:noFill/>
          </a:ln>
        </p:spPr>
        <p:txBody>
          <a:bodyPr anchorCtr="0" anchor="ctr" bIns="45700" lIns="45700" spcFirstLastPara="1" rIns="45700" wrap="square" tIns="45700">
            <a:noAutofit/>
          </a:bodyPr>
          <a:lstStyle>
            <a:lvl1pPr lvl="0"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56"/>
          <p:cNvSpPr txBox="1"/>
          <p:nvPr>
            <p:ph idx="1" type="body"/>
          </p:nvPr>
        </p:nvSpPr>
        <p:spPr>
          <a:xfrm>
            <a:off x="914400" y="2400300"/>
            <a:ext cx="16459200" cy="7886700"/>
          </a:xfrm>
          <a:prstGeom prst="rect">
            <a:avLst/>
          </a:prstGeom>
          <a:noFill/>
          <a:ln>
            <a:noFill/>
          </a:ln>
        </p:spPr>
        <p:txBody>
          <a:bodyPr anchorCtr="0" anchor="t" bIns="45700" lIns="45700" spcFirstLastPara="1" rIns="45700" wrap="square" tIns="45700">
            <a:noAutofit/>
          </a:bodyPr>
          <a:lstStyle>
            <a:lvl1pPr indent="-431800" lvl="0" marL="457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1pPr>
            <a:lvl2pPr indent="-431800" lvl="1" marL="914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2pPr>
            <a:lvl3pPr indent="-431800" lvl="2" marL="1371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3pPr>
            <a:lvl4pPr indent="-431800" lvl="3" marL="1828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4pPr>
            <a:lvl5pPr indent="-431800" lvl="4" marL="22860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5pPr>
            <a:lvl6pPr indent="-431800" lvl="5" marL="2743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6pPr>
            <a:lvl7pPr indent="-431800" lvl="6" marL="3200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7pPr>
            <a:lvl8pPr indent="-431800" lvl="7" marL="3657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8pPr>
            <a:lvl9pPr indent="-431800" lvl="8" marL="4114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9pPr>
          </a:lstStyle>
          <a:p/>
        </p:txBody>
      </p:sp>
      <p:sp>
        <p:nvSpPr>
          <p:cNvPr id="8" name="Google Shape;8;p56"/>
          <p:cNvSpPr txBox="1"/>
          <p:nvPr>
            <p:ph idx="12" type="sldNum"/>
          </p:nvPr>
        </p:nvSpPr>
        <p:spPr>
          <a:xfrm>
            <a:off x="8839200" y="9260681"/>
            <a:ext cx="4267200" cy="547688"/>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6.jpg"/><Relationship Id="rId5"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image" Target="../media/image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 Id="rId4" Type="http://schemas.openxmlformats.org/officeDocument/2006/relationships/image" Target="../media/image4.jpg"/><Relationship Id="rId5" Type="http://schemas.openxmlformats.org/officeDocument/2006/relationships/image" Target="../media/image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 Id="rId4" Type="http://schemas.openxmlformats.org/officeDocument/2006/relationships/image" Target="../media/image11.gif"/><Relationship Id="rId5" Type="http://schemas.openxmlformats.org/officeDocument/2006/relationships/image" Target="../media/image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9.png"/><Relationship Id="rId4" Type="http://schemas.openxmlformats.org/officeDocument/2006/relationships/image" Target="../media/image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 name="Shape 14"/>
        <p:cNvGrpSpPr/>
        <p:nvPr/>
      </p:nvGrpSpPr>
      <p:grpSpPr>
        <a:xfrm>
          <a:off x="0" y="0"/>
          <a:ext cx="0" cy="0"/>
          <a:chOff x="0" y="0"/>
          <a:chExt cx="0" cy="0"/>
        </a:xfrm>
      </p:grpSpPr>
      <p:sp>
        <p:nvSpPr>
          <p:cNvPr id="15" name="Google Shape;15;p1"/>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16" name="Google Shape;16;p1"/>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17" name="Google Shape;17;p1"/>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pic>
        <p:nvPicPr>
          <p:cNvPr descr="Image 0" id="18" name="Google Shape;18;p1"/>
          <p:cNvPicPr preferRelativeResize="0"/>
          <p:nvPr/>
        </p:nvPicPr>
        <p:blipFill rotWithShape="1">
          <a:blip r:embed="rId3">
            <a:alphaModFix/>
          </a:blip>
          <a:srcRect b="0" l="0" r="0" t="0"/>
          <a:stretch/>
        </p:blipFill>
        <p:spPr>
          <a:xfrm>
            <a:off x="1047690" y="3215419"/>
            <a:ext cx="4095731" cy="3856071"/>
          </a:xfrm>
          <a:prstGeom prst="rect">
            <a:avLst/>
          </a:prstGeom>
          <a:noFill/>
          <a:ln>
            <a:noFill/>
          </a:ln>
        </p:spPr>
      </p:pic>
      <p:sp>
        <p:nvSpPr>
          <p:cNvPr id="19" name="Google Shape;19;p1"/>
          <p:cNvSpPr txBox="1"/>
          <p:nvPr/>
        </p:nvSpPr>
        <p:spPr>
          <a:xfrm>
            <a:off x="3209849" y="3300943"/>
            <a:ext cx="1898201" cy="890220"/>
          </a:xfrm>
          <a:prstGeom prst="rect">
            <a:avLst/>
          </a:prstGeom>
          <a:noFill/>
          <a:ln>
            <a:noFill/>
          </a:ln>
        </p:spPr>
        <p:txBody>
          <a:bodyPr anchorCtr="0" anchor="t" bIns="25400" lIns="25400" spcFirstLastPara="1" rIns="25400" wrap="square" tIns="25400">
            <a:normAutofit/>
          </a:bodyPr>
          <a:lstStyle/>
          <a:p>
            <a:pPr indent="0" lvl="0" marL="0" marR="0" rtl="0" algn="l">
              <a:lnSpc>
                <a:spcPct val="86768"/>
              </a:lnSpc>
              <a:spcBef>
                <a:spcPts val="0"/>
              </a:spcBef>
              <a:spcAft>
                <a:spcPts val="0"/>
              </a:spcAft>
              <a:buClr>
                <a:srgbClr val="FF7900"/>
              </a:buClr>
              <a:buSzPts val="5460"/>
              <a:buFont typeface="League Spartan"/>
              <a:buNone/>
            </a:pPr>
            <a:r>
              <a:rPr b="1" i="0" lang="en-US" sz="5460" u="none" cap="none" strike="noStrike">
                <a:solidFill>
                  <a:srgbClr val="FF7900"/>
                </a:solidFill>
                <a:latin typeface="League Spartan"/>
                <a:ea typeface="League Spartan"/>
                <a:cs typeface="League Spartan"/>
                <a:sym typeface="League Spartan"/>
              </a:rPr>
              <a:t>2026</a:t>
            </a:r>
            <a:endParaRPr/>
          </a:p>
        </p:txBody>
      </p:sp>
      <p:sp>
        <p:nvSpPr>
          <p:cNvPr id="20" name="Google Shape;20;p1"/>
          <p:cNvSpPr txBox="1"/>
          <p:nvPr/>
        </p:nvSpPr>
        <p:spPr>
          <a:xfrm>
            <a:off x="6191111" y="3260321"/>
            <a:ext cx="11315676" cy="338082"/>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FF7900"/>
              </a:buClr>
              <a:buSzPts val="1940"/>
              <a:buFont typeface="League Spartan"/>
              <a:buNone/>
            </a:pPr>
            <a:r>
              <a:rPr b="1" i="0" lang="en-US" sz="1940" u="none" cap="none" strike="noStrike">
                <a:solidFill>
                  <a:srgbClr val="FF7900"/>
                </a:solidFill>
                <a:latin typeface="League Spartan"/>
                <a:ea typeface="League Spartan"/>
                <a:cs typeface="League Spartan"/>
                <a:sym typeface="League Spartan"/>
              </a:rPr>
              <a:t>FIFTH ANNUAL · SEPTEMBER 14, 2026 · THE STATLER DALLAS</a:t>
            </a:r>
            <a:endParaRPr/>
          </a:p>
        </p:txBody>
      </p:sp>
      <p:sp>
        <p:nvSpPr>
          <p:cNvPr id="21" name="Google Shape;21;p1"/>
          <p:cNvSpPr txBox="1"/>
          <p:nvPr/>
        </p:nvSpPr>
        <p:spPr>
          <a:xfrm>
            <a:off x="6191112" y="3884126"/>
            <a:ext cx="10595586" cy="1798177"/>
          </a:xfrm>
          <a:prstGeom prst="rect">
            <a:avLst/>
          </a:prstGeom>
          <a:noFill/>
          <a:ln>
            <a:noFill/>
          </a:ln>
        </p:spPr>
        <p:txBody>
          <a:bodyPr anchorCtr="0" anchor="t" bIns="25400" lIns="25400" spcFirstLastPara="1" rIns="25400" wrap="square" tIns="25400">
            <a:normAutofit/>
          </a:bodyPr>
          <a:lstStyle/>
          <a:p>
            <a:pPr indent="0" lvl="0" marL="0" marR="0" rtl="0" algn="l">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7 CRITICAL NEEDS™</a:t>
            </a:r>
            <a:endParaRPr/>
          </a:p>
          <a:p>
            <a:pPr indent="0" lvl="0" marL="0" marR="0" rtl="0" algn="l">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An EOS® Trust Builder™</a:t>
            </a:r>
            <a:endParaRPr/>
          </a:p>
        </p:txBody>
      </p:sp>
      <p:sp>
        <p:nvSpPr>
          <p:cNvPr id="22" name="Google Shape;22;p1"/>
          <p:cNvSpPr txBox="1"/>
          <p:nvPr/>
        </p:nvSpPr>
        <p:spPr>
          <a:xfrm>
            <a:off x="6191111" y="5968027"/>
            <a:ext cx="11315676" cy="403295"/>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C9D0D9"/>
              </a:buClr>
              <a:buSzPts val="2366"/>
              <a:buFont typeface="League Spartan"/>
              <a:buNone/>
            </a:pPr>
            <a:r>
              <a:rPr b="0" i="0" lang="en-US" sz="2366" u="none" cap="none" strike="noStrike">
                <a:solidFill>
                  <a:srgbClr val="C9D0D9"/>
                </a:solidFill>
                <a:latin typeface="League Spartan"/>
                <a:ea typeface="League Spartan"/>
                <a:cs typeface="League Spartan"/>
                <a:sym typeface="League Spartan"/>
              </a:rPr>
              <a:t>Walt Brown, Head Coach - EOS Worldwide</a:t>
            </a:r>
            <a:endParaRPr/>
          </a:p>
        </p:txBody>
      </p:sp>
      <p:sp>
        <p:nvSpPr>
          <p:cNvPr id="23" name="Google Shape;23;p1"/>
          <p:cNvSpPr txBox="1"/>
          <p:nvPr/>
        </p:nvSpPr>
        <p:spPr>
          <a:xfrm>
            <a:off x="6191111" y="6657047"/>
            <a:ext cx="11315676" cy="407642"/>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FF7900"/>
              </a:buClr>
              <a:buSzPts val="2375"/>
              <a:buFont typeface="League Spartan"/>
              <a:buNone/>
            </a:pPr>
            <a:r>
              <a:rPr b="1" i="0" lang="en-US" sz="2375" u="none" cap="none" strike="noStrike">
                <a:solidFill>
                  <a:srgbClr val="FF7900"/>
                </a:solidFill>
                <a:latin typeface="League Spartan"/>
                <a:ea typeface="League Spartan"/>
                <a:cs typeface="League Spartan"/>
                <a:sym typeface="League Spartan"/>
              </a:rPr>
              <a:t>Walt.Brown@eosworldwide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2"/>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29" name="Google Shape;29;p2"/>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30" name="Google Shape;30;p2"/>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31" name="Google Shape;31;p2"/>
          <p:cNvSpPr txBox="1"/>
          <p:nvPr/>
        </p:nvSpPr>
        <p:spPr>
          <a:xfrm>
            <a:off x="3846200" y="4244394"/>
            <a:ext cx="10595700" cy="2759100"/>
          </a:xfrm>
          <a:prstGeom prst="rect">
            <a:avLst/>
          </a:prstGeom>
          <a:noFill/>
          <a:ln>
            <a:noFill/>
          </a:ln>
        </p:spPr>
        <p:txBody>
          <a:bodyPr anchorCtr="0" anchor="t" bIns="25400" lIns="25400" spcFirstLastPara="1" rIns="25400" wrap="square" tIns="25400">
            <a:normAutofit/>
          </a:bodyPr>
          <a:lstStyle/>
          <a:p>
            <a:pPr indent="0" lvl="0" marL="0" marR="0" rtl="0" algn="ctr">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7 CRITICAL NEEDS™</a:t>
            </a:r>
            <a:endParaRPr/>
          </a:p>
          <a:p>
            <a:pPr indent="0" lvl="0" marL="0" marR="0" rtl="0" algn="ctr">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An EOS® Trust Builder™</a:t>
            </a:r>
            <a:endParaRPr b="1" i="0" sz="6270" u="none" cap="none" strike="noStrike">
              <a:solidFill>
                <a:srgbClr val="FFFFFF"/>
              </a:solidFill>
              <a:latin typeface="League Spartan"/>
              <a:ea typeface="League Spartan"/>
              <a:cs typeface="League Spartan"/>
              <a:sym typeface="League Spartan"/>
            </a:endParaRPr>
          </a:p>
          <a:p>
            <a:pPr indent="0" lvl="0" marL="0" marR="0" rtl="0" algn="ctr">
              <a:lnSpc>
                <a:spcPct val="82069"/>
              </a:lnSpc>
              <a:spcBef>
                <a:spcPts val="0"/>
              </a:spcBef>
              <a:spcAft>
                <a:spcPts val="0"/>
              </a:spcAft>
              <a:buClr>
                <a:srgbClr val="FFFFFF"/>
              </a:buClr>
              <a:buSzPts val="6270"/>
              <a:buFont typeface="League Spartan"/>
              <a:buNone/>
            </a:pPr>
            <a:r>
              <a:rPr b="1" lang="en-US" sz="6270">
                <a:solidFill>
                  <a:srgbClr val="FFFFFF"/>
                </a:solidFill>
                <a:latin typeface="League Spartan"/>
                <a:ea typeface="League Spartan"/>
                <a:cs typeface="League Spartan"/>
                <a:sym typeface="League Spartan"/>
              </a:rPr>
              <a:t>Actionable Advantage</a:t>
            </a:r>
            <a:endParaRPr b="1" sz="6270">
              <a:solidFill>
                <a:srgbClr val="FFFFFF"/>
              </a:solidFill>
              <a:latin typeface="League Spartan"/>
              <a:ea typeface="League Spartan"/>
              <a:cs typeface="League Spartan"/>
              <a:sym typeface="League Spart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3"/>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37" name="Google Shape;37;p3"/>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38" name="Google Shape;38;p3"/>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39" name="Google Shape;39;p3"/>
          <p:cNvSpPr txBox="1"/>
          <p:nvPr/>
        </p:nvSpPr>
        <p:spPr>
          <a:xfrm>
            <a:off x="6191112" y="3884126"/>
            <a:ext cx="10595586" cy="1798177"/>
          </a:xfrm>
          <a:prstGeom prst="rect">
            <a:avLst/>
          </a:prstGeom>
          <a:noFill/>
          <a:ln>
            <a:noFill/>
          </a:ln>
        </p:spPr>
        <p:txBody>
          <a:bodyPr anchorCtr="0" anchor="t" bIns="25400" lIns="25400" spcFirstLastPara="1" rIns="25400" wrap="square" tIns="25400">
            <a:normAutofit/>
          </a:bodyPr>
          <a:lstStyle/>
          <a:p>
            <a:pPr indent="0" lvl="0" marL="0" marR="0" rtl="0" algn="l">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HEALTHY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4"/>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45" name="Google Shape;45;p4"/>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46" name="Google Shape;46;p4"/>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47" name="Google Shape;47;p4"/>
          <p:cNvSpPr txBox="1"/>
          <p:nvPr/>
        </p:nvSpPr>
        <p:spPr>
          <a:xfrm>
            <a:off x="6191112" y="3884126"/>
            <a:ext cx="10595586" cy="1798177"/>
          </a:xfrm>
          <a:prstGeom prst="rect">
            <a:avLst/>
          </a:prstGeom>
          <a:noFill/>
          <a:ln>
            <a:noFill/>
          </a:ln>
        </p:spPr>
        <p:txBody>
          <a:bodyPr anchorCtr="0" anchor="t" bIns="25400" lIns="25400" spcFirstLastPara="1" rIns="25400" wrap="square" tIns="25400">
            <a:normAutofit/>
          </a:bodyPr>
          <a:lstStyle/>
          <a:p>
            <a:pPr indent="0" lvl="0" marL="0" marR="0" rtl="0" algn="l">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HEALTHY MATTERS™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5"/>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53" name="Google Shape;53;p5"/>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54" name="Google Shape;54;p5"/>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55" name="Google Shape;55;p5"/>
          <p:cNvSpPr txBox="1"/>
          <p:nvPr/>
        </p:nvSpPr>
        <p:spPr>
          <a:xfrm>
            <a:off x="6191112" y="3884126"/>
            <a:ext cx="10595586" cy="1798177"/>
          </a:xfrm>
          <a:prstGeom prst="rect">
            <a:avLst/>
          </a:prstGeom>
          <a:noFill/>
          <a:ln>
            <a:noFill/>
          </a:ln>
        </p:spPr>
        <p:txBody>
          <a:bodyPr anchorCtr="0" anchor="t" bIns="25400" lIns="25400" spcFirstLastPara="1" rIns="25400" wrap="square" tIns="25400">
            <a:normAutofit/>
          </a:bodyPr>
          <a:lstStyle/>
          <a:p>
            <a:pPr indent="0" lvl="0" marL="0" marR="0" rtl="0" algn="l">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HEALTHY MATTERS™</a:t>
            </a:r>
            <a:endParaRPr/>
          </a:p>
        </p:txBody>
      </p:sp>
      <p:pic>
        <p:nvPicPr>
          <p:cNvPr id="56" name="Google Shape;56;p5" title="Smart vs. Healthy Organizations by Patrick Lencioni"/>
          <p:cNvPicPr preferRelativeResize="0"/>
          <p:nvPr/>
        </p:nvPicPr>
        <p:blipFill rotWithShape="1">
          <a:blip r:embed="rId3">
            <a:alphaModFix/>
          </a:blip>
          <a:srcRect b="0" l="0" r="0" t="0"/>
          <a:stretch/>
        </p:blipFill>
        <p:spPr>
          <a:xfrm>
            <a:off x="1524000" y="838200"/>
            <a:ext cx="15240000" cy="861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1"/>
                                        <p:tgtEl>
                                          <p:spTgt spid="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g3fb3490fa10_0_0"/>
          <p:cNvSpPr/>
          <p:nvPr/>
        </p:nvSpPr>
        <p:spPr>
          <a:xfrm>
            <a:off x="0" y="-1"/>
            <a:ext cx="18288000" cy="10287000"/>
          </a:xfrm>
          <a:prstGeom prst="rect">
            <a:avLst/>
          </a:prstGeom>
          <a:gradFill>
            <a:gsLst>
              <a:gs pos="0">
                <a:srgbClr val="3A4759"/>
              </a:gs>
              <a:gs pos="48000">
                <a:srgbClr val="1F2C3F"/>
              </a:gs>
              <a:gs pos="100000">
                <a:srgbClr val="101B2B"/>
              </a:gs>
            </a:gsLst>
            <a:lin ang="8100019"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62" name="Google Shape;62;g3fb3490fa10_0_0"/>
          <p:cNvSpPr txBox="1"/>
          <p:nvPr/>
        </p:nvSpPr>
        <p:spPr>
          <a:xfrm>
            <a:off x="952453" y="9654885"/>
            <a:ext cx="2288700" cy="251100"/>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63" name="Google Shape;63;g3fb3490fa10_0_0"/>
          <p:cNvSpPr txBox="1"/>
          <p:nvPr/>
        </p:nvSpPr>
        <p:spPr>
          <a:xfrm>
            <a:off x="15076208" y="9654885"/>
            <a:ext cx="2485200" cy="251100"/>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64" name="Google Shape;64;g3fb3490fa10_0_0"/>
          <p:cNvSpPr txBox="1"/>
          <p:nvPr/>
        </p:nvSpPr>
        <p:spPr>
          <a:xfrm>
            <a:off x="6191100" y="3884125"/>
            <a:ext cx="11067000" cy="2146800"/>
          </a:xfrm>
          <a:prstGeom prst="rect">
            <a:avLst/>
          </a:prstGeom>
          <a:noFill/>
          <a:ln>
            <a:noFill/>
          </a:ln>
        </p:spPr>
        <p:txBody>
          <a:bodyPr anchorCtr="0" anchor="t" bIns="25400" lIns="25400" spcFirstLastPara="1" rIns="25400" wrap="square" tIns="25400">
            <a:normAutofit/>
          </a:bodyPr>
          <a:lstStyle/>
          <a:p>
            <a:pPr indent="0" lvl="0" marL="0" marR="0" rtl="0" algn="l">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HEALTHY MATTERS™</a:t>
            </a:r>
            <a:endParaRPr b="1" i="0" sz="6270" u="none" cap="none" strike="noStrike">
              <a:solidFill>
                <a:srgbClr val="FFFFFF"/>
              </a:solidFill>
              <a:latin typeface="League Spartan"/>
              <a:ea typeface="League Spartan"/>
              <a:cs typeface="League Spartan"/>
              <a:sym typeface="League Spartan"/>
            </a:endParaRPr>
          </a:p>
          <a:p>
            <a:pPr indent="0" lvl="0" marL="0" marR="0" rtl="0" algn="l">
              <a:lnSpc>
                <a:spcPct val="82069"/>
              </a:lnSpc>
              <a:spcBef>
                <a:spcPts val="0"/>
              </a:spcBef>
              <a:spcAft>
                <a:spcPts val="0"/>
              </a:spcAft>
              <a:buClr>
                <a:srgbClr val="FFFFFF"/>
              </a:buClr>
              <a:buSzPts val="6270"/>
              <a:buFont typeface="League Spartan"/>
              <a:buNone/>
            </a:pPr>
            <a:r>
              <a:rPr b="1" lang="en-US" sz="6270">
                <a:solidFill>
                  <a:srgbClr val="FFFFFF"/>
                </a:solidFill>
                <a:latin typeface="League Spartan"/>
                <a:ea typeface="League Spartan"/>
                <a:cs typeface="League Spartan"/>
                <a:sym typeface="League Spartan"/>
              </a:rPr>
              <a:t>It’s </a:t>
            </a:r>
            <a:r>
              <a:rPr b="1" i="1" lang="en-US" sz="6270">
                <a:solidFill>
                  <a:srgbClr val="FFFFFF"/>
                </a:solidFill>
                <a:latin typeface="League Spartan"/>
                <a:ea typeface="League Spartan"/>
                <a:cs typeface="League Spartan"/>
                <a:sym typeface="League Spartan"/>
              </a:rPr>
              <a:t>Actionable</a:t>
            </a:r>
            <a:r>
              <a:rPr b="1" lang="en-US" sz="6270">
                <a:solidFill>
                  <a:srgbClr val="FFFFFF"/>
                </a:solidFill>
                <a:latin typeface="League Spartan"/>
                <a:ea typeface="League Spartan"/>
                <a:cs typeface="League Spartan"/>
                <a:sym typeface="League Spartan"/>
              </a:rPr>
              <a:t> Advantage</a:t>
            </a:r>
            <a:endParaRPr b="1" sz="6270">
              <a:solidFill>
                <a:srgbClr val="FFFFFF"/>
              </a:solidFill>
              <a:latin typeface="League Spartan"/>
              <a:ea typeface="League Spartan"/>
              <a:cs typeface="League Spartan"/>
              <a:sym typeface="League Spart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6"/>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70" name="Google Shape;70;p6"/>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71" name="Google Shape;71;p6"/>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72" name="Google Shape;72;p6"/>
          <p:cNvSpPr txBox="1"/>
          <p:nvPr/>
        </p:nvSpPr>
        <p:spPr>
          <a:xfrm>
            <a:off x="3846207" y="4244412"/>
            <a:ext cx="10595586" cy="1798177"/>
          </a:xfrm>
          <a:prstGeom prst="rect">
            <a:avLst/>
          </a:prstGeom>
          <a:noFill/>
          <a:ln>
            <a:noFill/>
          </a:ln>
        </p:spPr>
        <p:txBody>
          <a:bodyPr anchorCtr="0" anchor="t" bIns="25400" lIns="25400" spcFirstLastPara="1" rIns="25400" wrap="square" tIns="25400">
            <a:normAutofit/>
          </a:bodyPr>
          <a:lstStyle/>
          <a:p>
            <a:pPr indent="0" lvl="0" marL="0" marR="0" rtl="0" algn="ctr">
              <a:lnSpc>
                <a:spcPct val="82069"/>
              </a:lnSpc>
              <a:spcBef>
                <a:spcPts val="0"/>
              </a:spcBef>
              <a:spcAft>
                <a:spcPts val="0"/>
              </a:spcAft>
              <a:buClr>
                <a:srgbClr val="FFFFFF"/>
              </a:buClr>
              <a:buSzPts val="5940"/>
              <a:buFont typeface="League Spartan"/>
              <a:buNone/>
            </a:pPr>
            <a:r>
              <a:rPr b="1" i="0" lang="en-US" sz="5940" u="none" cap="none" strike="noStrike">
                <a:solidFill>
                  <a:srgbClr val="FFFFFF"/>
                </a:solidFill>
                <a:latin typeface="League Spartan"/>
                <a:ea typeface="League Spartan"/>
                <a:cs typeface="League Spartan"/>
                <a:sym typeface="League Spartan"/>
              </a:rPr>
              <a:t>VISION, TRACTION, </a:t>
            </a:r>
            <a:r>
              <a:rPr b="1" i="1" lang="en-US" sz="5940" u="none" cap="none" strike="noStrike">
                <a:solidFill>
                  <a:srgbClr val="FFFFFF"/>
                </a:solidFill>
                <a:latin typeface="League Spartan"/>
                <a:ea typeface="League Spartan"/>
                <a:cs typeface="League Spartan"/>
                <a:sym typeface="League Spartan"/>
              </a:rPr>
              <a:t>HEALTHY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7"/>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78" name="Google Shape;78;p7"/>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79" name="Google Shape;79;p7"/>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80" name="Google Shape;80;p7"/>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81" name="Google Shape;81;p7"/>
          <p:cNvSpPr txBox="1"/>
          <p:nvPr/>
        </p:nvSpPr>
        <p:spPr>
          <a:xfrm>
            <a:off x="1279152" y="1587854"/>
            <a:ext cx="9417951" cy="3453421"/>
          </a:xfrm>
          <a:prstGeom prst="rect">
            <a:avLst/>
          </a:prstGeom>
          <a:noFill/>
          <a:ln>
            <a:noFill/>
          </a:ln>
        </p:spPr>
        <p:txBody>
          <a:bodyPr anchorCtr="0" anchor="t" bIns="45700" lIns="45700" spcFirstLastPara="1" rIns="45700" wrap="square" tIns="45700">
            <a:spAutoFit/>
          </a:bodyPr>
          <a:lstStyle/>
          <a:p>
            <a:pPr indent="0" lvl="0" marL="0" marR="0" rtl="0" algn="l">
              <a:lnSpc>
                <a:spcPct val="79766"/>
              </a:lnSpc>
              <a:spcBef>
                <a:spcPts val="0"/>
              </a:spcBef>
              <a:spcAft>
                <a:spcPts val="0"/>
              </a:spcAft>
              <a:buClr>
                <a:srgbClr val="F04E23"/>
              </a:buClr>
              <a:buSzPts val="8500"/>
              <a:buFont typeface="League Spartan"/>
              <a:buNone/>
            </a:pPr>
            <a:r>
              <a:rPr b="1" i="0" lang="en-US" sz="8500" u="none" cap="none" strike="noStrike">
                <a:solidFill>
                  <a:srgbClr val="F04E23"/>
                </a:solidFill>
                <a:latin typeface="League Spartan"/>
                <a:ea typeface="League Spartan"/>
                <a:cs typeface="League Spartan"/>
                <a:sym typeface="League Spartan"/>
              </a:rPr>
              <a:t>EOS hits a ceiling.</a:t>
            </a:r>
            <a:endParaRPr/>
          </a:p>
          <a:p>
            <a:pPr indent="0" lvl="0" marL="0" marR="0" rtl="0" algn="l">
              <a:lnSpc>
                <a:spcPct val="79766"/>
              </a:lnSpc>
              <a:spcBef>
                <a:spcPts val="0"/>
              </a:spcBef>
              <a:spcAft>
                <a:spcPts val="0"/>
              </a:spcAft>
              <a:buClr>
                <a:srgbClr val="F04E23"/>
              </a:buClr>
              <a:buSzPts val="1800"/>
              <a:buFont typeface="League Spartan"/>
              <a:buNone/>
            </a:pPr>
            <a:r>
              <a:t/>
            </a:r>
            <a:endParaRPr b="0" i="0" sz="1800" u="none" cap="none" strike="noStrike">
              <a:solidFill>
                <a:srgbClr val="000000"/>
              </a:solidFill>
              <a:latin typeface="Calibri"/>
              <a:ea typeface="Calibri"/>
              <a:cs typeface="Calibri"/>
              <a:sym typeface="Calibri"/>
            </a:endParaRPr>
          </a:p>
          <a:p>
            <a:pPr indent="0" lvl="0" marL="0" marR="0" rtl="0" algn="l">
              <a:lnSpc>
                <a:spcPct val="79766"/>
              </a:lnSpc>
              <a:spcBef>
                <a:spcPts val="0"/>
              </a:spcBef>
              <a:spcAft>
                <a:spcPts val="0"/>
              </a:spcAft>
              <a:buClr>
                <a:srgbClr val="F04E23"/>
              </a:buClr>
              <a:buSzPts val="8500"/>
              <a:buFont typeface="League Spartan"/>
              <a:buNone/>
            </a:pPr>
            <a:r>
              <a:rPr b="1" i="0" lang="en-US" sz="8500" u="none" cap="none" strike="noStrike">
                <a:solidFill>
                  <a:srgbClr val="F04E23"/>
                </a:solidFill>
                <a:latin typeface="League Spartan"/>
                <a:ea typeface="League Spartan"/>
                <a:cs typeface="League Spartan"/>
                <a:sym typeface="League Spartan"/>
              </a:rPr>
              <a:t>EOS breaks down.</a:t>
            </a:r>
            <a:endParaRPr/>
          </a:p>
        </p:txBody>
      </p:sp>
      <p:pic>
        <p:nvPicPr>
          <p:cNvPr descr="Image" id="82" name="Google Shape;82;p7"/>
          <p:cNvPicPr preferRelativeResize="0"/>
          <p:nvPr/>
        </p:nvPicPr>
        <p:blipFill rotWithShape="1">
          <a:blip r:embed="rId4">
            <a:alphaModFix/>
          </a:blip>
          <a:srcRect b="0" l="0" r="0" t="0"/>
          <a:stretch/>
        </p:blipFill>
        <p:spPr>
          <a:xfrm>
            <a:off x="8255724" y="2783267"/>
            <a:ext cx="8801101" cy="5651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8"/>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88" name="Google Shape;88;p8"/>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89" name="Google Shape;89;p8"/>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90" name="Google Shape;90;p8"/>
          <p:cNvSpPr txBox="1"/>
          <p:nvPr/>
        </p:nvSpPr>
        <p:spPr>
          <a:xfrm>
            <a:off x="3846207" y="3692473"/>
            <a:ext cx="10595586" cy="2902054"/>
          </a:xfrm>
          <a:prstGeom prst="rect">
            <a:avLst/>
          </a:prstGeom>
          <a:noFill/>
          <a:ln>
            <a:noFill/>
          </a:ln>
        </p:spPr>
        <p:txBody>
          <a:bodyPr anchorCtr="0" anchor="t" bIns="25400" lIns="25400" spcFirstLastPara="1" rIns="25400" wrap="square" tIns="25400">
            <a:normAutofit/>
          </a:bodyPr>
          <a:lstStyle/>
          <a:p>
            <a:pPr indent="0" lvl="0" marL="0" marR="0" rtl="0" algn="ctr">
              <a:lnSpc>
                <a:spcPct val="82069"/>
              </a:lnSpc>
              <a:spcBef>
                <a:spcPts val="0"/>
              </a:spcBef>
              <a:spcAft>
                <a:spcPts val="0"/>
              </a:spcAft>
              <a:buClr>
                <a:srgbClr val="FFFFFF"/>
              </a:buClr>
              <a:buSzPts val="6072"/>
              <a:buFont typeface="League Spartan"/>
              <a:buNone/>
            </a:pPr>
            <a:r>
              <a:rPr b="1" i="1" lang="en-US" sz="6072" u="none" cap="none" strike="noStrike">
                <a:solidFill>
                  <a:srgbClr val="FFFFFF"/>
                </a:solidFill>
                <a:latin typeface="League Spartan"/>
                <a:ea typeface="League Spartan"/>
                <a:cs typeface="League Spartan"/>
                <a:sym typeface="League Spartan"/>
              </a:rPr>
              <a:t>“As goes the leadership team</a:t>
            </a:r>
            <a:endParaRPr b="0" i="0" sz="1800" u="none" cap="none" strike="noStrike">
              <a:solidFill>
                <a:srgbClr val="000000"/>
              </a:solidFill>
              <a:latin typeface="Calibri"/>
              <a:ea typeface="Calibri"/>
              <a:cs typeface="Calibri"/>
              <a:sym typeface="Calibri"/>
            </a:endParaRPr>
          </a:p>
          <a:p>
            <a:pPr indent="0" lvl="0" marL="0" marR="0" rtl="0" algn="ctr">
              <a:lnSpc>
                <a:spcPct val="82069"/>
              </a:lnSpc>
              <a:spcBef>
                <a:spcPts val="0"/>
              </a:spcBef>
              <a:spcAft>
                <a:spcPts val="0"/>
              </a:spcAft>
              <a:buClr>
                <a:srgbClr val="FFFFFF"/>
              </a:buClr>
              <a:buSzPts val="6072"/>
              <a:buFont typeface="League Spartan"/>
              <a:buNone/>
            </a:pPr>
            <a:r>
              <a:rPr b="1" i="1" lang="en-US" sz="6072" u="none" cap="none" strike="noStrike">
                <a:solidFill>
                  <a:srgbClr val="FFFFFF"/>
                </a:solidFill>
                <a:latin typeface="League Spartan"/>
                <a:ea typeface="League Spartan"/>
                <a:cs typeface="League Spartan"/>
                <a:sym typeface="League Spartan"/>
              </a:rPr>
              <a:t>so goes</a:t>
            </a:r>
            <a:endParaRPr b="0" i="0" sz="1800" u="none" cap="none" strike="noStrike">
              <a:solidFill>
                <a:srgbClr val="000000"/>
              </a:solidFill>
              <a:latin typeface="Calibri"/>
              <a:ea typeface="Calibri"/>
              <a:cs typeface="Calibri"/>
              <a:sym typeface="Calibri"/>
            </a:endParaRPr>
          </a:p>
          <a:p>
            <a:pPr indent="0" lvl="0" marL="0" marR="0" rtl="0" algn="ctr">
              <a:lnSpc>
                <a:spcPct val="82069"/>
              </a:lnSpc>
              <a:spcBef>
                <a:spcPts val="0"/>
              </a:spcBef>
              <a:spcAft>
                <a:spcPts val="0"/>
              </a:spcAft>
              <a:buClr>
                <a:srgbClr val="FFFFFF"/>
              </a:buClr>
              <a:buSzPts val="6072"/>
              <a:buFont typeface="League Spartan"/>
              <a:buNone/>
            </a:pPr>
            <a:r>
              <a:rPr b="1" i="1" lang="en-US" sz="6072" u="none" cap="none" strike="noStrike">
                <a:solidFill>
                  <a:srgbClr val="FFFFFF"/>
                </a:solidFill>
                <a:latin typeface="League Spartan"/>
                <a:ea typeface="League Spartan"/>
                <a:cs typeface="League Spartan"/>
                <a:sym typeface="League Spartan"/>
              </a:rPr>
              <a:t>the rest of the organization.”</a:t>
            </a:r>
            <a:endParaRPr/>
          </a:p>
        </p:txBody>
      </p:sp>
      <p:pic>
        <p:nvPicPr>
          <p:cNvPr descr="Image" id="91" name="Google Shape;91;p8"/>
          <p:cNvPicPr preferRelativeResize="0"/>
          <p:nvPr/>
        </p:nvPicPr>
        <p:blipFill rotWithShape="1">
          <a:blip r:embed="rId3">
            <a:alphaModFix/>
          </a:blip>
          <a:srcRect b="0" l="0" r="0" t="0"/>
          <a:stretch/>
        </p:blipFill>
        <p:spPr>
          <a:xfrm>
            <a:off x="11490562" y="6047506"/>
            <a:ext cx="4519379" cy="29020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9"/>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97" name="Google Shape;97;p9"/>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98" name="Google Shape;98;p9"/>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99" name="Google Shape;99;p9"/>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100" name="Google Shape;100;p9"/>
          <p:cNvSpPr txBox="1"/>
          <p:nvPr/>
        </p:nvSpPr>
        <p:spPr>
          <a:xfrm>
            <a:off x="2309718" y="1860506"/>
            <a:ext cx="7227018" cy="10947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EOS Breaks Down</a:t>
            </a:r>
            <a:endParaRPr/>
          </a:p>
        </p:txBody>
      </p:sp>
      <p:pic>
        <p:nvPicPr>
          <p:cNvPr descr="Image" id="101" name="Google Shape;101;p9"/>
          <p:cNvPicPr preferRelativeResize="0"/>
          <p:nvPr/>
        </p:nvPicPr>
        <p:blipFill rotWithShape="1">
          <a:blip r:embed="rId4">
            <a:alphaModFix/>
          </a:blip>
          <a:srcRect b="0" l="0" r="0" t="0"/>
          <a:stretch/>
        </p:blipFill>
        <p:spPr>
          <a:xfrm>
            <a:off x="9532937" y="2444737"/>
            <a:ext cx="8801101" cy="5651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0"/>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107" name="Google Shape;107;p10"/>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108" name="Google Shape;108;p10"/>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109" name="Google Shape;109;p10"/>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110" name="Google Shape;110;p10"/>
          <p:cNvSpPr txBox="1"/>
          <p:nvPr/>
        </p:nvSpPr>
        <p:spPr>
          <a:xfrm>
            <a:off x="2309718" y="3361350"/>
            <a:ext cx="8176876" cy="43883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It fails to reach the</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frontlines. </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It is never embraced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by our workers.</a:t>
            </a:r>
            <a:endParaRPr/>
          </a:p>
        </p:txBody>
      </p:sp>
      <p:pic>
        <p:nvPicPr>
          <p:cNvPr descr="Image" id="111" name="Google Shape;111;p10"/>
          <p:cNvPicPr preferRelativeResize="0"/>
          <p:nvPr/>
        </p:nvPicPr>
        <p:blipFill rotWithShape="1">
          <a:blip r:embed="rId4">
            <a:alphaModFix/>
          </a:blip>
          <a:srcRect b="0" l="0" r="0" t="0"/>
          <a:stretch/>
        </p:blipFill>
        <p:spPr>
          <a:xfrm>
            <a:off x="9532937" y="2444737"/>
            <a:ext cx="8801101" cy="5651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1"/>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117" name="Google Shape;117;p11"/>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118" name="Google Shape;118;p11"/>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119" name="Google Shape;119;p11"/>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pic>
        <p:nvPicPr>
          <p:cNvPr descr="Image" id="120" name="Google Shape;120;p11"/>
          <p:cNvPicPr preferRelativeResize="0"/>
          <p:nvPr/>
        </p:nvPicPr>
        <p:blipFill rotWithShape="1">
          <a:blip r:embed="rId4">
            <a:alphaModFix/>
          </a:blip>
          <a:srcRect b="0" l="0" r="0" t="0"/>
          <a:stretch/>
        </p:blipFill>
        <p:spPr>
          <a:xfrm>
            <a:off x="9532937" y="2444737"/>
            <a:ext cx="8801101" cy="5651501"/>
          </a:xfrm>
          <a:prstGeom prst="rect">
            <a:avLst/>
          </a:prstGeom>
          <a:noFill/>
          <a:ln>
            <a:noFill/>
          </a:ln>
        </p:spPr>
      </p:pic>
      <p:sp>
        <p:nvSpPr>
          <p:cNvPr id="121" name="Google Shape;121;p11"/>
          <p:cNvSpPr txBox="1"/>
          <p:nvPr/>
        </p:nvSpPr>
        <p:spPr>
          <a:xfrm>
            <a:off x="2309718" y="3351518"/>
            <a:ext cx="8212930" cy="43883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No buy in or belief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in EOS®… </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especially by</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middle management.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2"/>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127" name="Google Shape;127;p12"/>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128" name="Google Shape;128;p12"/>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129" name="Google Shape;129;p12"/>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130" name="Google Shape;130;p12"/>
          <p:cNvSpPr txBox="1"/>
          <p:nvPr/>
        </p:nvSpPr>
        <p:spPr>
          <a:xfrm>
            <a:off x="2309718" y="3351518"/>
            <a:ext cx="11200903" cy="43883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Your rollout is a steamroller. </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You don’t have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a compelling</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message.</a:t>
            </a:r>
            <a:endParaRPr/>
          </a:p>
        </p:txBody>
      </p:sp>
      <p:pic>
        <p:nvPicPr>
          <p:cNvPr descr="Image" id="131" name="Google Shape;131;p12"/>
          <p:cNvPicPr preferRelativeResize="0"/>
          <p:nvPr/>
        </p:nvPicPr>
        <p:blipFill rotWithShape="1">
          <a:blip r:embed="rId4">
            <a:alphaModFix/>
          </a:blip>
          <a:srcRect b="0" l="0" r="0" t="0"/>
          <a:stretch/>
        </p:blipFill>
        <p:spPr>
          <a:xfrm>
            <a:off x="9532937" y="2444737"/>
            <a:ext cx="8801101" cy="5651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3"/>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137" name="Google Shape;137;p13"/>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138" name="Google Shape;138;p13"/>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139" name="Google Shape;139;p13"/>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140" name="Google Shape;140;p13"/>
          <p:cNvSpPr txBox="1"/>
          <p:nvPr/>
        </p:nvSpPr>
        <p:spPr>
          <a:xfrm>
            <a:off x="2309718" y="1860506"/>
            <a:ext cx="9281082" cy="35649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And You Hit The Ceiling</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Why?</a:t>
            </a:r>
            <a:endParaRPr/>
          </a:p>
        </p:txBody>
      </p:sp>
      <p:pic>
        <p:nvPicPr>
          <p:cNvPr descr="Image" id="141" name="Google Shape;141;p13"/>
          <p:cNvPicPr preferRelativeResize="0"/>
          <p:nvPr/>
        </p:nvPicPr>
        <p:blipFill rotWithShape="1">
          <a:blip r:embed="rId4">
            <a:alphaModFix/>
          </a:blip>
          <a:srcRect b="0" l="0" r="0" t="0"/>
          <a:stretch/>
        </p:blipFill>
        <p:spPr>
          <a:xfrm>
            <a:off x="9532937" y="2444737"/>
            <a:ext cx="8801101" cy="56515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4"/>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147" name="Google Shape;147;p14"/>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148" name="Google Shape;148;p14"/>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pic>
        <p:nvPicPr>
          <p:cNvPr descr="Image" id="149" name="Google Shape;149;p14"/>
          <p:cNvPicPr preferRelativeResize="0"/>
          <p:nvPr/>
        </p:nvPicPr>
        <p:blipFill rotWithShape="1">
          <a:blip r:embed="rId3">
            <a:alphaModFix/>
          </a:blip>
          <a:srcRect b="0" l="0" r="0" t="0"/>
          <a:stretch/>
        </p:blipFill>
        <p:spPr>
          <a:xfrm>
            <a:off x="11490562" y="6047506"/>
            <a:ext cx="4519379" cy="2902054"/>
          </a:xfrm>
          <a:prstGeom prst="rect">
            <a:avLst/>
          </a:prstGeom>
          <a:noFill/>
          <a:ln>
            <a:noFill/>
          </a:ln>
        </p:spPr>
      </p:pic>
      <p:sp>
        <p:nvSpPr>
          <p:cNvPr id="150" name="Google Shape;150;p14"/>
          <p:cNvSpPr txBox="1"/>
          <p:nvPr/>
        </p:nvSpPr>
        <p:spPr>
          <a:xfrm>
            <a:off x="2127008" y="1387251"/>
            <a:ext cx="6559895" cy="10947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Your employees,</a:t>
            </a:r>
            <a:endParaRPr/>
          </a:p>
        </p:txBody>
      </p:sp>
      <p:sp>
        <p:nvSpPr>
          <p:cNvPr id="151" name="Google Shape;151;p14"/>
          <p:cNvSpPr txBox="1"/>
          <p:nvPr/>
        </p:nvSpPr>
        <p:spPr>
          <a:xfrm>
            <a:off x="2241985" y="5639601"/>
            <a:ext cx="9005625" cy="10947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We must flip the script.</a:t>
            </a:r>
            <a:endParaRPr/>
          </a:p>
        </p:txBody>
      </p:sp>
      <p:sp>
        <p:nvSpPr>
          <p:cNvPr id="152" name="Google Shape;152;p14"/>
          <p:cNvSpPr txBox="1"/>
          <p:nvPr/>
        </p:nvSpPr>
        <p:spPr>
          <a:xfrm>
            <a:off x="3772627" y="3101726"/>
            <a:ext cx="9139893" cy="19181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Feel EOS is being done</a:t>
            </a:r>
            <a:endParaRPr/>
          </a:p>
          <a:p>
            <a:pPr indent="0" lvl="0" marL="0" marR="0" rtl="0" algn="l">
              <a:lnSpc>
                <a:spcPct val="82069"/>
              </a:lnSpc>
              <a:spcBef>
                <a:spcPts val="0"/>
              </a:spcBef>
              <a:spcAft>
                <a:spcPts val="0"/>
              </a:spcAft>
              <a:buClr>
                <a:srgbClr val="FFFFFF"/>
              </a:buClr>
              <a:buSzPts val="6600"/>
              <a:buFont typeface="League Spartan"/>
              <a:buNone/>
            </a:pPr>
            <a:r>
              <a:rPr b="1" i="1" lang="en-US" sz="6600" u="none" cap="none" strike="noStrike">
                <a:solidFill>
                  <a:srgbClr val="FFFFFF"/>
                </a:solidFill>
                <a:latin typeface="League Spartan"/>
                <a:ea typeface="League Spartan"/>
                <a:cs typeface="League Spartan"/>
                <a:sym typeface="League Spartan"/>
              </a:rPr>
              <a:t>To</a:t>
            </a:r>
            <a:r>
              <a:rPr b="1" i="0" lang="en-US" sz="6600" u="none" cap="none" strike="noStrike">
                <a:solidFill>
                  <a:srgbClr val="FFFFFF"/>
                </a:solidFill>
                <a:latin typeface="League Spartan"/>
                <a:ea typeface="League Spartan"/>
                <a:cs typeface="League Spartan"/>
                <a:sym typeface="League Spartan"/>
              </a:rPr>
              <a:t> them not </a:t>
            </a:r>
            <a:r>
              <a:rPr b="1" i="1" lang="en-US" sz="6600" u="none" cap="none" strike="noStrike">
                <a:solidFill>
                  <a:srgbClr val="FFFFFF"/>
                </a:solidFill>
                <a:latin typeface="League Spartan"/>
                <a:ea typeface="League Spartan"/>
                <a:cs typeface="League Spartan"/>
                <a:sym typeface="League Spartan"/>
              </a:rPr>
              <a:t>For </a:t>
            </a:r>
            <a:r>
              <a:rPr b="1" i="0" lang="en-US" sz="6600" u="none" cap="none" strike="noStrike">
                <a:solidFill>
                  <a:srgbClr val="FFFFFF"/>
                </a:solidFill>
                <a:latin typeface="League Spartan"/>
                <a:ea typeface="League Spartan"/>
                <a:cs typeface="League Spartan"/>
                <a:sym typeface="League Spartan"/>
              </a:rPr>
              <a:t>them.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5"/>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158" name="Google Shape;158;p15"/>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159" name="Google Shape;159;p15"/>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pic>
        <p:nvPicPr>
          <p:cNvPr descr="Image" id="160" name="Google Shape;160;p15"/>
          <p:cNvPicPr preferRelativeResize="0"/>
          <p:nvPr/>
        </p:nvPicPr>
        <p:blipFill rotWithShape="1">
          <a:blip r:embed="rId3">
            <a:alphaModFix/>
          </a:blip>
          <a:srcRect b="0" l="0" r="0" t="0"/>
          <a:stretch/>
        </p:blipFill>
        <p:spPr>
          <a:xfrm>
            <a:off x="11490562" y="6047506"/>
            <a:ext cx="4519379" cy="2902054"/>
          </a:xfrm>
          <a:prstGeom prst="rect">
            <a:avLst/>
          </a:prstGeom>
          <a:noFill/>
          <a:ln>
            <a:noFill/>
          </a:ln>
        </p:spPr>
      </p:pic>
      <p:sp>
        <p:nvSpPr>
          <p:cNvPr id="161" name="Google Shape;161;p15"/>
          <p:cNvSpPr txBox="1"/>
          <p:nvPr/>
        </p:nvSpPr>
        <p:spPr>
          <a:xfrm>
            <a:off x="2127007" y="1387251"/>
            <a:ext cx="6559896" cy="10947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Your employees,</a:t>
            </a:r>
            <a:endParaRPr/>
          </a:p>
        </p:txBody>
      </p:sp>
      <p:sp>
        <p:nvSpPr>
          <p:cNvPr id="162" name="Google Shape;162;p15"/>
          <p:cNvSpPr txBox="1"/>
          <p:nvPr/>
        </p:nvSpPr>
        <p:spPr>
          <a:xfrm>
            <a:off x="2127007" y="5639601"/>
            <a:ext cx="10724131" cy="10947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We must fill in the why gap.</a:t>
            </a:r>
            <a:endParaRPr/>
          </a:p>
        </p:txBody>
      </p:sp>
      <p:sp>
        <p:nvSpPr>
          <p:cNvPr id="163" name="Google Shape;163;p15"/>
          <p:cNvSpPr txBox="1"/>
          <p:nvPr/>
        </p:nvSpPr>
        <p:spPr>
          <a:xfrm>
            <a:off x="2917219" y="3513426"/>
            <a:ext cx="13248914" cy="10947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Don’t understand the why of EOS.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169" name="Google Shape;169;p16"/>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170" name="Google Shape;170;p16"/>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pic>
        <p:nvPicPr>
          <p:cNvPr descr="Image" id="171" name="Google Shape;171;p16"/>
          <p:cNvPicPr preferRelativeResize="0"/>
          <p:nvPr/>
        </p:nvPicPr>
        <p:blipFill rotWithShape="1">
          <a:blip r:embed="rId3">
            <a:alphaModFix/>
          </a:blip>
          <a:srcRect b="0" l="0" r="0" t="0"/>
          <a:stretch/>
        </p:blipFill>
        <p:spPr>
          <a:xfrm>
            <a:off x="11490562" y="6047506"/>
            <a:ext cx="4519379" cy="2902054"/>
          </a:xfrm>
          <a:prstGeom prst="rect">
            <a:avLst/>
          </a:prstGeom>
          <a:noFill/>
          <a:ln>
            <a:noFill/>
          </a:ln>
        </p:spPr>
      </p:pic>
      <p:sp>
        <p:nvSpPr>
          <p:cNvPr id="172" name="Google Shape;172;p16"/>
          <p:cNvSpPr txBox="1"/>
          <p:nvPr/>
        </p:nvSpPr>
        <p:spPr>
          <a:xfrm>
            <a:off x="2127007" y="1387251"/>
            <a:ext cx="6559896" cy="10947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Your employees,</a:t>
            </a:r>
            <a:endParaRPr/>
          </a:p>
        </p:txBody>
      </p:sp>
      <p:sp>
        <p:nvSpPr>
          <p:cNvPr id="173" name="Google Shape;173;p16"/>
          <p:cNvSpPr txBox="1"/>
          <p:nvPr/>
        </p:nvSpPr>
        <p:spPr>
          <a:xfrm>
            <a:off x="2127007" y="5639601"/>
            <a:ext cx="10656216" cy="10947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We must help them tune in.</a:t>
            </a:r>
            <a:endParaRPr/>
          </a:p>
        </p:txBody>
      </p:sp>
      <p:sp>
        <p:nvSpPr>
          <p:cNvPr id="174" name="Google Shape;174;p16"/>
          <p:cNvSpPr txBox="1"/>
          <p:nvPr/>
        </p:nvSpPr>
        <p:spPr>
          <a:xfrm>
            <a:off x="2917219" y="3513426"/>
            <a:ext cx="8844383" cy="10947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Can’t tune in to WIIFM.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p:nvPr/>
        </p:nvSpPr>
        <p:spPr>
          <a:xfrm>
            <a:off x="0" y="16174"/>
            <a:ext cx="18288000" cy="10287000"/>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180" name="Google Shape;180;p17"/>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181" name="Google Shape;181;p17"/>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182" name="Google Shape;182;p17"/>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183" name="Google Shape;183;p17"/>
          <p:cNvSpPr txBox="1"/>
          <p:nvPr/>
        </p:nvSpPr>
        <p:spPr>
          <a:xfrm>
            <a:off x="2309718" y="1860506"/>
            <a:ext cx="9833100" cy="926100"/>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lang="en-US" sz="6600">
                <a:solidFill>
                  <a:srgbClr val="FFFFFF"/>
                </a:solidFill>
                <a:latin typeface="League Spartan"/>
                <a:ea typeface="League Spartan"/>
                <a:cs typeface="League Spartan"/>
                <a:sym typeface="League Spartan"/>
              </a:rPr>
              <a:t>It's</a:t>
            </a:r>
            <a:r>
              <a:rPr b="1" i="0" lang="en-US" sz="6600" u="none" cap="none" strike="noStrike">
                <a:solidFill>
                  <a:srgbClr val="FFFFFF"/>
                </a:solidFill>
                <a:latin typeface="League Spartan"/>
                <a:ea typeface="League Spartan"/>
                <a:cs typeface="League Spartan"/>
                <a:sym typeface="League Spartan"/>
              </a:rPr>
              <a:t> time to break through.</a:t>
            </a:r>
            <a:endParaRPr/>
          </a:p>
        </p:txBody>
      </p:sp>
      <p:pic>
        <p:nvPicPr>
          <p:cNvPr descr="Image" id="184" name="Google Shape;184;p17"/>
          <p:cNvPicPr preferRelativeResize="0"/>
          <p:nvPr/>
        </p:nvPicPr>
        <p:blipFill rotWithShape="1">
          <a:blip r:embed="rId4">
            <a:alphaModFix/>
          </a:blip>
          <a:srcRect b="0" l="0" r="0" t="0"/>
          <a:stretch/>
        </p:blipFill>
        <p:spPr>
          <a:xfrm>
            <a:off x="9532937" y="2444737"/>
            <a:ext cx="8801101" cy="5651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8"/>
          <p:cNvSpPr/>
          <p:nvPr/>
        </p:nvSpPr>
        <p:spPr>
          <a:xfrm>
            <a:off x="40" y="0"/>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190" name="Google Shape;190;p18"/>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191" name="Google Shape;191;p18"/>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192" name="Google Shape;192;p18"/>
          <p:cNvSpPr txBox="1"/>
          <p:nvPr/>
        </p:nvSpPr>
        <p:spPr>
          <a:xfrm>
            <a:off x="3846207" y="4244412"/>
            <a:ext cx="10595586" cy="1798177"/>
          </a:xfrm>
          <a:prstGeom prst="rect">
            <a:avLst/>
          </a:prstGeom>
          <a:noFill/>
          <a:ln>
            <a:noFill/>
          </a:ln>
        </p:spPr>
        <p:txBody>
          <a:bodyPr anchorCtr="0" anchor="t" bIns="25400" lIns="25400" spcFirstLastPara="1" rIns="25400" wrap="square" tIns="25400">
            <a:normAutofit/>
          </a:bodyPr>
          <a:lstStyle/>
          <a:p>
            <a:pPr indent="0" lvl="0" marL="0" marR="0" rtl="0" algn="ctr">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7 CRITICAL NEEDS™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19"/>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198" name="Google Shape;198;p19"/>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199" name="Google Shape;199;p19"/>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200" name="Google Shape;200;p19"/>
          <p:cNvSpPr txBox="1"/>
          <p:nvPr/>
        </p:nvSpPr>
        <p:spPr>
          <a:xfrm>
            <a:off x="3846207" y="4244412"/>
            <a:ext cx="10595586" cy="1798177"/>
          </a:xfrm>
          <a:prstGeom prst="rect">
            <a:avLst/>
          </a:prstGeom>
          <a:noFill/>
          <a:ln>
            <a:noFill/>
          </a:ln>
        </p:spPr>
        <p:txBody>
          <a:bodyPr anchorCtr="0" anchor="t" bIns="25400" lIns="25400" spcFirstLastPara="1" rIns="25400" wrap="square" tIns="25400">
            <a:normAutofit/>
          </a:bodyPr>
          <a:lstStyle/>
          <a:p>
            <a:pPr indent="0" lvl="0" marL="0" marR="0" rtl="0" algn="ctr">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7 CRITICAL NEEDS™</a:t>
            </a:r>
            <a:endParaRPr/>
          </a:p>
          <a:p>
            <a:pPr indent="0" lvl="0" marL="0" marR="0" rtl="0" algn="ctr">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An EOS® Trust Builder™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0"/>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206" name="Google Shape;206;p20"/>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207" name="Google Shape;207;p20"/>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208" name="Google Shape;208;p20"/>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grpSp>
        <p:nvGrpSpPr>
          <p:cNvPr id="209" name="Google Shape;209;p20"/>
          <p:cNvGrpSpPr/>
          <p:nvPr/>
        </p:nvGrpSpPr>
        <p:grpSpPr>
          <a:xfrm>
            <a:off x="7653332" y="768350"/>
            <a:ext cx="6184901" cy="8750300"/>
            <a:chOff x="0" y="0"/>
            <a:chExt cx="6184900" cy="8750300"/>
          </a:xfrm>
        </p:grpSpPr>
        <p:pic>
          <p:nvPicPr>
            <p:cNvPr descr="trust builder.jpg" id="210" name="Google Shape;210;p20"/>
            <p:cNvPicPr preferRelativeResize="0"/>
            <p:nvPr/>
          </p:nvPicPr>
          <p:blipFill rotWithShape="1">
            <a:blip r:embed="rId4">
              <a:alphaModFix/>
            </a:blip>
            <a:srcRect b="0" l="785" r="785" t="0"/>
            <a:stretch/>
          </p:blipFill>
          <p:spPr>
            <a:xfrm>
              <a:off x="203200" y="203200"/>
              <a:ext cx="5778500" cy="8305800"/>
            </a:xfrm>
            <a:prstGeom prst="rect">
              <a:avLst/>
            </a:prstGeom>
            <a:noFill/>
            <a:ln>
              <a:noFill/>
            </a:ln>
          </p:spPr>
        </p:pic>
        <p:pic>
          <p:nvPicPr>
            <p:cNvPr descr="trust builder.jpg" id="211" name="Google Shape;211;p20"/>
            <p:cNvPicPr preferRelativeResize="0"/>
            <p:nvPr/>
          </p:nvPicPr>
          <p:blipFill rotWithShape="1">
            <a:blip r:embed="rId5">
              <a:alphaModFix/>
            </a:blip>
            <a:srcRect b="0" l="0" r="0" t="0"/>
            <a:stretch/>
          </p:blipFill>
          <p:spPr>
            <a:xfrm>
              <a:off x="0" y="0"/>
              <a:ext cx="6184900" cy="8750300"/>
            </a:xfrm>
            <a:prstGeom prst="rect">
              <a:avLst/>
            </a:prstGeom>
            <a:noFill/>
            <a:ln>
              <a:noFill/>
            </a:ln>
          </p:spPr>
        </p:pic>
      </p:grpSp>
      <p:sp>
        <p:nvSpPr>
          <p:cNvPr id="212" name="Google Shape;212;p20"/>
          <p:cNvSpPr txBox="1"/>
          <p:nvPr/>
        </p:nvSpPr>
        <p:spPr>
          <a:xfrm>
            <a:off x="946984" y="948742"/>
            <a:ext cx="3107323" cy="2009185"/>
          </a:xfrm>
          <a:prstGeom prst="rect">
            <a:avLst/>
          </a:prstGeom>
          <a:noFill/>
          <a:ln>
            <a:noFill/>
          </a:ln>
        </p:spPr>
        <p:txBody>
          <a:bodyPr anchorCtr="0" anchor="t" bIns="45700" lIns="45700" spcFirstLastPara="1" rIns="45700" wrap="square" tIns="45700">
            <a:spAutoFit/>
          </a:bodyPr>
          <a:lstStyle/>
          <a:p>
            <a:pPr indent="0" lvl="0" marL="0" marR="0" rtl="0" algn="l">
              <a:lnSpc>
                <a:spcPct val="79766"/>
              </a:lnSpc>
              <a:spcBef>
                <a:spcPts val="0"/>
              </a:spcBef>
              <a:spcAft>
                <a:spcPts val="0"/>
              </a:spcAft>
              <a:buClr>
                <a:srgbClr val="F04E23"/>
              </a:buClr>
              <a:buSzPts val="7000"/>
              <a:buFont typeface="League Spartan"/>
              <a:buNone/>
            </a:pPr>
            <a:r>
              <a:rPr b="1" i="0" lang="en-US" sz="7000" u="none" cap="none" strike="noStrike">
                <a:solidFill>
                  <a:srgbClr val="F04E23"/>
                </a:solidFill>
                <a:latin typeface="League Spartan"/>
                <a:ea typeface="League Spartan"/>
                <a:cs typeface="League Spartan"/>
                <a:sym typeface="League Spartan"/>
              </a:rPr>
              <a:t>Trust</a:t>
            </a:r>
            <a:endParaRPr/>
          </a:p>
          <a:p>
            <a:pPr indent="0" lvl="0" marL="0" marR="0" rtl="0" algn="l">
              <a:lnSpc>
                <a:spcPct val="79766"/>
              </a:lnSpc>
              <a:spcBef>
                <a:spcPts val="0"/>
              </a:spcBef>
              <a:spcAft>
                <a:spcPts val="0"/>
              </a:spcAft>
              <a:buClr>
                <a:srgbClr val="F04E23"/>
              </a:buClr>
              <a:buSzPts val="7000"/>
              <a:buFont typeface="League Spartan"/>
              <a:buNone/>
            </a:pPr>
            <a:r>
              <a:rPr b="1" i="0" lang="en-US" sz="7000" u="none" cap="none" strike="noStrike">
                <a:solidFill>
                  <a:srgbClr val="F04E23"/>
                </a:solidFill>
                <a:latin typeface="League Spartan"/>
                <a:ea typeface="League Spartan"/>
                <a:cs typeface="League Spartan"/>
                <a:sym typeface="League Spartan"/>
              </a:rPr>
              <a:t>Builder</a:t>
            </a:r>
            <a:endParaRPr/>
          </a:p>
        </p:txBody>
      </p:sp>
      <p:sp>
        <p:nvSpPr>
          <p:cNvPr id="213" name="Google Shape;213;p20"/>
          <p:cNvSpPr/>
          <p:nvPr/>
        </p:nvSpPr>
        <p:spPr>
          <a:xfrm>
            <a:off x="11095303" y="6209713"/>
            <a:ext cx="1589291" cy="655053"/>
          </a:xfrm>
          <a:custGeom>
            <a:rect b="b" l="l" r="r" t="t"/>
            <a:pathLst>
              <a:path extrusionOk="0" h="21600" w="21600">
                <a:moveTo>
                  <a:pt x="9814" y="14256"/>
                </a:moveTo>
                <a:lnTo>
                  <a:pt x="9814" y="21600"/>
                </a:lnTo>
                <a:lnTo>
                  <a:pt x="0" y="10800"/>
                </a:lnTo>
                <a:lnTo>
                  <a:pt x="9814" y="0"/>
                </a:lnTo>
                <a:lnTo>
                  <a:pt x="9814" y="7344"/>
                </a:lnTo>
                <a:lnTo>
                  <a:pt x="21600" y="7344"/>
                </a:lnTo>
                <a:lnTo>
                  <a:pt x="21600" y="14256"/>
                </a:lnTo>
                <a:close/>
              </a:path>
            </a:pathLst>
          </a:custGeom>
          <a:solidFill>
            <a:schemeClr val="accent2"/>
          </a:solidFill>
          <a:ln cap="flat" cmpd="sng" w="12700">
            <a:solidFill>
              <a:srgbClr val="AD5B24"/>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g3fb3490fa10_0_7"/>
          <p:cNvSpPr/>
          <p:nvPr/>
        </p:nvSpPr>
        <p:spPr>
          <a:xfrm>
            <a:off x="0" y="-1"/>
            <a:ext cx="18288000" cy="10287000"/>
          </a:xfrm>
          <a:prstGeom prst="rect">
            <a:avLst/>
          </a:prstGeom>
          <a:gradFill>
            <a:gsLst>
              <a:gs pos="0">
                <a:srgbClr val="3A4759"/>
              </a:gs>
              <a:gs pos="48000">
                <a:srgbClr val="1F2C3F"/>
              </a:gs>
              <a:gs pos="100000">
                <a:srgbClr val="101B2B"/>
              </a:gs>
            </a:gsLst>
            <a:lin ang="8100019"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219" name="Google Shape;219;g3fb3490fa10_0_7"/>
          <p:cNvSpPr txBox="1"/>
          <p:nvPr/>
        </p:nvSpPr>
        <p:spPr>
          <a:xfrm>
            <a:off x="952453" y="9654885"/>
            <a:ext cx="2288700" cy="251100"/>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220" name="Google Shape;220;g3fb3490fa10_0_7"/>
          <p:cNvSpPr txBox="1"/>
          <p:nvPr/>
        </p:nvSpPr>
        <p:spPr>
          <a:xfrm>
            <a:off x="15076208" y="9654885"/>
            <a:ext cx="2485200" cy="251100"/>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221" name="Google Shape;221;g3fb3490fa10_0_7"/>
          <p:cNvSpPr txBox="1"/>
          <p:nvPr/>
        </p:nvSpPr>
        <p:spPr>
          <a:xfrm>
            <a:off x="3846200" y="4244391"/>
            <a:ext cx="10595700" cy="3098700"/>
          </a:xfrm>
          <a:prstGeom prst="rect">
            <a:avLst/>
          </a:prstGeom>
          <a:noFill/>
          <a:ln>
            <a:noFill/>
          </a:ln>
        </p:spPr>
        <p:txBody>
          <a:bodyPr anchorCtr="0" anchor="t" bIns="25400" lIns="25400" spcFirstLastPara="1" rIns="25400" wrap="square" tIns="25400">
            <a:normAutofit/>
          </a:bodyPr>
          <a:lstStyle/>
          <a:p>
            <a:pPr indent="0" lvl="0" marL="0" marR="0" rtl="0" algn="ctr">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7 CRITICAL NEEDS™</a:t>
            </a:r>
            <a:endParaRPr/>
          </a:p>
          <a:p>
            <a:pPr indent="0" lvl="0" marL="0" marR="0" rtl="0" algn="ctr">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An EOS® Trust Builder™</a:t>
            </a:r>
            <a:endParaRPr b="1" i="0" sz="6270" u="none" cap="none" strike="noStrike">
              <a:solidFill>
                <a:srgbClr val="FFFFFF"/>
              </a:solidFill>
              <a:latin typeface="League Spartan"/>
              <a:ea typeface="League Spartan"/>
              <a:cs typeface="League Spartan"/>
              <a:sym typeface="League Spartan"/>
            </a:endParaRPr>
          </a:p>
          <a:p>
            <a:pPr indent="0" lvl="0" marL="0" marR="0" rtl="0" algn="ctr">
              <a:lnSpc>
                <a:spcPct val="82069"/>
              </a:lnSpc>
              <a:spcBef>
                <a:spcPts val="0"/>
              </a:spcBef>
              <a:spcAft>
                <a:spcPts val="0"/>
              </a:spcAft>
              <a:buClr>
                <a:srgbClr val="FFFFFF"/>
              </a:buClr>
              <a:buSzPts val="6270"/>
              <a:buFont typeface="League Spartan"/>
              <a:buNone/>
            </a:pPr>
            <a:r>
              <a:rPr b="1" i="1" lang="en-US" sz="6270">
                <a:solidFill>
                  <a:srgbClr val="FFFFFF"/>
                </a:solidFill>
                <a:latin typeface="League Spartan"/>
                <a:ea typeface="League Spartan"/>
                <a:cs typeface="League Spartan"/>
                <a:sym typeface="League Spartan"/>
              </a:rPr>
              <a:t>Actionable</a:t>
            </a:r>
            <a:r>
              <a:rPr b="1" lang="en-US" sz="6270">
                <a:solidFill>
                  <a:srgbClr val="FFFFFF"/>
                </a:solidFill>
                <a:latin typeface="League Spartan"/>
                <a:ea typeface="League Spartan"/>
                <a:cs typeface="League Spartan"/>
                <a:sym typeface="League Spartan"/>
              </a:rPr>
              <a:t> Advantage</a:t>
            </a:r>
            <a:endParaRPr b="1" sz="6270">
              <a:solidFill>
                <a:srgbClr val="FFFFFF"/>
              </a:solidFill>
              <a:latin typeface="League Spartan"/>
              <a:ea typeface="League Spartan"/>
              <a:cs typeface="League Spartan"/>
              <a:sym typeface="League Spart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1"/>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227" name="Google Shape;227;p21"/>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228" name="Google Shape;228;p21"/>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grpSp>
        <p:nvGrpSpPr>
          <p:cNvPr id="229" name="Google Shape;229;p21"/>
          <p:cNvGrpSpPr/>
          <p:nvPr/>
        </p:nvGrpSpPr>
        <p:grpSpPr>
          <a:xfrm>
            <a:off x="6140047" y="3884126"/>
            <a:ext cx="10595586" cy="2746533"/>
            <a:chOff x="6140047" y="3884126"/>
            <a:chExt cx="10595586" cy="2746533"/>
          </a:xfrm>
        </p:grpSpPr>
        <p:sp>
          <p:nvSpPr>
            <p:cNvPr id="230" name="Google Shape;230;p21"/>
            <p:cNvSpPr txBox="1"/>
            <p:nvPr/>
          </p:nvSpPr>
          <p:spPr>
            <a:xfrm>
              <a:off x="6140047" y="3884126"/>
              <a:ext cx="10595586" cy="1798177"/>
            </a:xfrm>
            <a:prstGeom prst="rect">
              <a:avLst/>
            </a:prstGeom>
            <a:noFill/>
            <a:ln>
              <a:noFill/>
            </a:ln>
          </p:spPr>
          <p:txBody>
            <a:bodyPr anchorCtr="0" anchor="t" bIns="25400" lIns="25400" spcFirstLastPara="1" rIns="25400" wrap="square" tIns="25400">
              <a:normAutofit/>
            </a:bodyPr>
            <a:lstStyle/>
            <a:p>
              <a:pPr indent="0" lvl="0" marL="0" marR="0" rtl="0" algn="l">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7 CRITICAL NEEDS™ </a:t>
              </a:r>
              <a:endParaRPr/>
            </a:p>
          </p:txBody>
        </p:sp>
        <p:sp>
          <p:nvSpPr>
            <p:cNvPr id="231" name="Google Shape;231;p21"/>
            <p:cNvSpPr txBox="1"/>
            <p:nvPr/>
          </p:nvSpPr>
          <p:spPr>
            <a:xfrm>
              <a:off x="6140047" y="5535918"/>
              <a:ext cx="4217254" cy="10947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Discovery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2"/>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237" name="Google Shape;237;p22"/>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238" name="Google Shape;238;p22"/>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239" name="Google Shape;239;p22"/>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9345" u="none" cap="none" strike="noStrike">
                <a:solidFill>
                  <a:srgbClr val="F04E23"/>
                </a:solidFill>
                <a:latin typeface="League Spartan"/>
                <a:ea typeface="League Spartan"/>
                <a:cs typeface="League Spartan"/>
                <a:sym typeface="League Spartan"/>
              </a:rPr>
              <a:t>Asking themselves:</a:t>
            </a:r>
            <a:endParaRPr/>
          </a:p>
        </p:txBody>
      </p:sp>
      <p:sp>
        <p:nvSpPr>
          <p:cNvPr id="240" name="Google Shape;240;p22"/>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241" name="Google Shape;241;p22"/>
          <p:cNvSpPr txBox="1"/>
          <p:nvPr/>
        </p:nvSpPr>
        <p:spPr>
          <a:xfrm>
            <a:off x="5049707" y="4311418"/>
            <a:ext cx="5120095" cy="19181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Do I </a:t>
            </a:r>
            <a:r>
              <a:rPr b="1" i="1" lang="en-US" sz="6600" u="none" cap="none" strike="noStrike">
                <a:solidFill>
                  <a:srgbClr val="FFFFFF"/>
                </a:solidFill>
                <a:latin typeface="League Spartan"/>
                <a:ea typeface="League Spartan"/>
                <a:cs typeface="League Spartan"/>
                <a:sym typeface="League Spartan"/>
              </a:rPr>
              <a:t>Belong</a:t>
            </a:r>
            <a:r>
              <a:rPr b="1" i="0" lang="en-US" sz="6600" u="none" cap="none" strike="noStrike">
                <a:solidFill>
                  <a:srgbClr val="FFFFFF"/>
                </a:solidFill>
                <a:latin typeface="League Spartan"/>
                <a:ea typeface="League Spartan"/>
                <a:cs typeface="League Spartan"/>
                <a:sym typeface="League Spartan"/>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247" name="Google Shape;247;p23"/>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248" name="Google Shape;248;p23"/>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249" name="Google Shape;249;p23"/>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9345" u="none" cap="none" strike="noStrike">
                <a:solidFill>
                  <a:srgbClr val="F04E23"/>
                </a:solidFill>
                <a:latin typeface="League Spartan"/>
                <a:ea typeface="League Spartan"/>
                <a:cs typeface="League Spartan"/>
                <a:sym typeface="League Spartan"/>
              </a:rPr>
              <a:t>Asking themselves:</a:t>
            </a:r>
            <a:endParaRPr/>
          </a:p>
        </p:txBody>
      </p:sp>
      <p:sp>
        <p:nvSpPr>
          <p:cNvPr id="250" name="Google Shape;250;p23"/>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251" name="Google Shape;251;p23"/>
          <p:cNvSpPr txBox="1"/>
          <p:nvPr/>
        </p:nvSpPr>
        <p:spPr>
          <a:xfrm>
            <a:off x="5049707" y="4311418"/>
            <a:ext cx="5202757" cy="19181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Do I </a:t>
            </a:r>
            <a:r>
              <a:rPr b="1" i="1" lang="en-US" sz="6600" u="none" cap="none" strike="noStrike">
                <a:solidFill>
                  <a:srgbClr val="FFFFFF"/>
                </a:solidFill>
                <a:latin typeface="League Spartan"/>
                <a:ea typeface="League Spartan"/>
                <a:cs typeface="League Spartan"/>
                <a:sym typeface="League Spartan"/>
              </a:rPr>
              <a:t>Believe</a:t>
            </a:r>
            <a:r>
              <a:rPr b="1" i="0" lang="en-US" sz="6600" u="none" cap="none" strike="noStrike">
                <a:solidFill>
                  <a:srgbClr val="FFFFFF"/>
                </a:solidFill>
                <a:latin typeface="League Spartan"/>
                <a:ea typeface="League Spartan"/>
                <a:cs typeface="League Spartan"/>
                <a:sym typeface="League Spartan"/>
              </a:rPr>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4"/>
          <p:cNvSpPr/>
          <p:nvPr/>
        </p:nvSpPr>
        <p:spPr>
          <a:xfrm>
            <a:off x="0" y="12699"/>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257" name="Google Shape;257;p24"/>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258" name="Google Shape;258;p24"/>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259" name="Google Shape;259;p24"/>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9345" u="none" cap="none" strike="noStrike">
                <a:solidFill>
                  <a:srgbClr val="F04E23"/>
                </a:solidFill>
                <a:latin typeface="League Spartan"/>
                <a:ea typeface="League Spartan"/>
                <a:cs typeface="League Spartan"/>
                <a:sym typeface="League Spartan"/>
              </a:rPr>
              <a:t>Asking themselves:</a:t>
            </a:r>
            <a:endParaRPr/>
          </a:p>
        </p:txBody>
      </p:sp>
      <p:sp>
        <p:nvSpPr>
          <p:cNvPr id="260" name="Google Shape;260;p24"/>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261" name="Google Shape;261;p24"/>
          <p:cNvSpPr txBox="1"/>
          <p:nvPr/>
        </p:nvSpPr>
        <p:spPr>
          <a:xfrm>
            <a:off x="5049707" y="4311418"/>
            <a:ext cx="11545154" cy="27415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Do I understand and embrace</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what I’m </a:t>
            </a:r>
            <a:r>
              <a:rPr b="1" i="1" lang="en-US" sz="6600" u="none" cap="none" strike="noStrike">
                <a:solidFill>
                  <a:srgbClr val="FFFFFF"/>
                </a:solidFill>
                <a:latin typeface="League Spartan"/>
                <a:ea typeface="League Spartan"/>
                <a:cs typeface="League Spartan"/>
                <a:sym typeface="League Spartan"/>
              </a:rPr>
              <a:t>Accountable</a:t>
            </a:r>
            <a:r>
              <a:rPr b="1" i="0" lang="en-US" sz="6600" u="none" cap="none" strike="noStrike">
                <a:solidFill>
                  <a:srgbClr val="FFFFFF"/>
                </a:solidFill>
                <a:latin typeface="League Spartan"/>
                <a:ea typeface="League Spartan"/>
                <a:cs typeface="League Spartan"/>
                <a:sym typeface="League Spartan"/>
              </a:rPr>
              <a:t> for?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5"/>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267" name="Google Shape;267;p25"/>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268" name="Google Shape;268;p25"/>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269" name="Google Shape;269;p25"/>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9345" u="none" cap="none" strike="noStrike">
                <a:solidFill>
                  <a:srgbClr val="F04E23"/>
                </a:solidFill>
                <a:latin typeface="League Spartan"/>
                <a:ea typeface="League Spartan"/>
                <a:cs typeface="League Spartan"/>
                <a:sym typeface="League Spartan"/>
              </a:rPr>
              <a:t>Asking themselves:</a:t>
            </a:r>
            <a:endParaRPr/>
          </a:p>
        </p:txBody>
      </p:sp>
      <p:sp>
        <p:nvSpPr>
          <p:cNvPr id="270" name="Google Shape;270;p25"/>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271" name="Google Shape;271;p25"/>
          <p:cNvSpPr txBox="1"/>
          <p:nvPr/>
        </p:nvSpPr>
        <p:spPr>
          <a:xfrm>
            <a:off x="5049707" y="4311418"/>
            <a:ext cx="11545154" cy="27415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Do I understand and embrace</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how I’m </a:t>
            </a:r>
            <a:r>
              <a:rPr b="1" i="1" lang="en-US" sz="6600" u="none" cap="none" strike="noStrike">
                <a:solidFill>
                  <a:srgbClr val="FFFFFF"/>
                </a:solidFill>
                <a:latin typeface="League Spartan"/>
                <a:ea typeface="League Spartan"/>
                <a:cs typeface="League Spartan"/>
                <a:sym typeface="League Spartan"/>
              </a:rPr>
              <a:t>Measured</a:t>
            </a:r>
            <a:r>
              <a:rPr b="1" i="0" lang="en-US" sz="6600" u="none" cap="none" strike="noStrike">
                <a:solidFill>
                  <a:srgbClr val="FFFFFF"/>
                </a:solidFill>
                <a:latin typeface="League Spartan"/>
                <a:ea typeface="League Spartan"/>
                <a:cs typeface="League Spartan"/>
                <a:sym typeface="League Spartan"/>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6"/>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277" name="Google Shape;277;p26"/>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278" name="Google Shape;278;p26"/>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279" name="Google Shape;279;p26"/>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9345" u="none" cap="none" strike="noStrike">
                <a:solidFill>
                  <a:srgbClr val="F04E23"/>
                </a:solidFill>
                <a:latin typeface="League Spartan"/>
                <a:ea typeface="League Spartan"/>
                <a:cs typeface="League Spartan"/>
                <a:sym typeface="League Spartan"/>
              </a:rPr>
              <a:t>Asking themselves:</a:t>
            </a:r>
            <a:endParaRPr/>
          </a:p>
        </p:txBody>
      </p:sp>
      <p:sp>
        <p:nvSpPr>
          <p:cNvPr id="280" name="Google Shape;280;p26"/>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281" name="Google Shape;281;p26"/>
          <p:cNvSpPr txBox="1"/>
          <p:nvPr/>
        </p:nvSpPr>
        <p:spPr>
          <a:xfrm>
            <a:off x="5049707" y="4311418"/>
            <a:ext cx="11545154" cy="27415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Do I understand and embrace</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how I’m </a:t>
            </a:r>
            <a:r>
              <a:rPr b="1" i="1" lang="en-US" sz="6600" u="none" cap="none" strike="noStrike">
                <a:solidFill>
                  <a:srgbClr val="FFFFFF"/>
                </a:solidFill>
                <a:latin typeface="League Spartan"/>
                <a:ea typeface="League Spartan"/>
                <a:cs typeface="League Spartan"/>
                <a:sym typeface="League Spartan"/>
              </a:rPr>
              <a:t>Heard</a:t>
            </a:r>
            <a:r>
              <a:rPr b="1" i="0" lang="en-US" sz="6600" u="none" cap="none" strike="noStrike">
                <a:solidFill>
                  <a:srgbClr val="FFFFFF"/>
                </a:solidFill>
                <a:latin typeface="League Spartan"/>
                <a:ea typeface="League Spartan"/>
                <a:cs typeface="League Spartan"/>
                <a:sym typeface="League Spartan"/>
              </a:rPr>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7"/>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287" name="Google Shape;287;p27"/>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288" name="Google Shape;288;p27"/>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289" name="Google Shape;289;p27"/>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9345" u="none" cap="none" strike="noStrike">
                <a:solidFill>
                  <a:srgbClr val="F04E23"/>
                </a:solidFill>
                <a:latin typeface="League Spartan"/>
                <a:ea typeface="League Spartan"/>
                <a:cs typeface="League Spartan"/>
                <a:sym typeface="League Spartan"/>
              </a:rPr>
              <a:t>Asking themselves:</a:t>
            </a:r>
            <a:endParaRPr/>
          </a:p>
        </p:txBody>
      </p:sp>
      <p:sp>
        <p:nvSpPr>
          <p:cNvPr id="290" name="Google Shape;290;p27"/>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291" name="Google Shape;291;p27"/>
          <p:cNvSpPr txBox="1"/>
          <p:nvPr/>
        </p:nvSpPr>
        <p:spPr>
          <a:xfrm>
            <a:off x="5049707" y="4311418"/>
            <a:ext cx="11545154" cy="27415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Do I understand and embrace</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how I’m </a:t>
            </a:r>
            <a:r>
              <a:rPr b="1" i="1" lang="en-US" sz="6600" u="none" cap="none" strike="noStrike">
                <a:solidFill>
                  <a:srgbClr val="FFFFFF"/>
                </a:solidFill>
                <a:latin typeface="League Spartan"/>
                <a:ea typeface="League Spartan"/>
                <a:cs typeface="League Spartan"/>
                <a:sym typeface="League Spartan"/>
              </a:rPr>
              <a:t>Developed</a:t>
            </a:r>
            <a:r>
              <a:rPr b="1" i="0" lang="en-US" sz="6600" u="none" cap="none" strike="noStrike">
                <a:solidFill>
                  <a:srgbClr val="FFFFFF"/>
                </a:solidFill>
                <a:latin typeface="League Spartan"/>
                <a:ea typeface="League Spartan"/>
                <a:cs typeface="League Spartan"/>
                <a:sym typeface="League Spartan"/>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8"/>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297" name="Google Shape;297;p28"/>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298" name="Google Shape;298;p28"/>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299" name="Google Shape;299;p28"/>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9345" u="none" cap="none" strike="noStrike">
                <a:solidFill>
                  <a:srgbClr val="F04E23"/>
                </a:solidFill>
                <a:latin typeface="League Spartan"/>
                <a:ea typeface="League Spartan"/>
                <a:cs typeface="League Spartan"/>
                <a:sym typeface="League Spartan"/>
              </a:rPr>
              <a:t>Asking themselves:</a:t>
            </a:r>
            <a:endParaRPr/>
          </a:p>
        </p:txBody>
      </p:sp>
      <p:sp>
        <p:nvSpPr>
          <p:cNvPr id="300" name="Google Shape;300;p28"/>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301" name="Google Shape;301;p28"/>
          <p:cNvSpPr txBox="1"/>
          <p:nvPr/>
        </p:nvSpPr>
        <p:spPr>
          <a:xfrm>
            <a:off x="5049707" y="4311418"/>
            <a:ext cx="11545154" cy="27415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Do I understand and embrace</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how I maintain </a:t>
            </a:r>
            <a:r>
              <a:rPr b="1" i="1" lang="en-US" sz="6600" u="none" cap="none" strike="noStrike">
                <a:solidFill>
                  <a:srgbClr val="FFFFFF"/>
                </a:solidFill>
                <a:latin typeface="League Spartan"/>
                <a:ea typeface="League Spartan"/>
                <a:cs typeface="League Spartan"/>
                <a:sym typeface="League Spartan"/>
              </a:rPr>
              <a:t>Balance</a:t>
            </a:r>
            <a:r>
              <a:rPr b="1" i="0" lang="en-US" sz="6600" u="none" cap="none" strike="noStrike">
                <a:solidFill>
                  <a:srgbClr val="FFFFFF"/>
                </a:solidFill>
                <a:latin typeface="League Spartan"/>
                <a:ea typeface="League Spartan"/>
                <a:cs typeface="League Spartan"/>
                <a:sym typeface="League Spartan"/>
              </a:rPr>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9"/>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307" name="Google Shape;307;p29"/>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308" name="Google Shape;308;p29"/>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9345" u="none" cap="none" strike="noStrike">
                <a:solidFill>
                  <a:srgbClr val="F04E23"/>
                </a:solidFill>
                <a:latin typeface="League Spartan"/>
                <a:ea typeface="League Spartan"/>
                <a:cs typeface="League Spartan"/>
                <a:sym typeface="League Spartan"/>
              </a:rPr>
              <a:t>Asking themselves:</a:t>
            </a:r>
            <a:endParaRPr/>
          </a:p>
        </p:txBody>
      </p:sp>
      <p:sp>
        <p:nvSpPr>
          <p:cNvPr id="309" name="Google Shape;309;p29"/>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310" name="Google Shape;310;p29"/>
          <p:cNvSpPr txBox="1"/>
          <p:nvPr/>
        </p:nvSpPr>
        <p:spPr>
          <a:xfrm>
            <a:off x="6388950" y="4361600"/>
            <a:ext cx="6118800" cy="4867500"/>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Do I Belong?</a:t>
            </a:r>
            <a:endParaRPr/>
          </a:p>
          <a:p>
            <a:pPr indent="0" lvl="0" marL="0" marR="0" rtl="0" algn="l">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Do I Believe?</a:t>
            </a:r>
            <a:endParaRPr/>
          </a:p>
          <a:p>
            <a:pPr indent="0" lvl="0" marL="0" marR="0" rtl="0" algn="l">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Am I Accountable?</a:t>
            </a:r>
            <a:endParaRPr/>
          </a:p>
          <a:p>
            <a:pPr indent="0" lvl="0" marL="0" marR="0" rtl="0" algn="l">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Am I Measured?</a:t>
            </a:r>
            <a:endParaRPr/>
          </a:p>
          <a:p>
            <a:pPr indent="0" lvl="0" marL="0" marR="0" rtl="0" algn="l">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Am I Heard?</a:t>
            </a:r>
            <a:endParaRPr/>
          </a:p>
          <a:p>
            <a:pPr indent="0" lvl="0" marL="0" marR="0" rtl="0" algn="l">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Am I Developed?</a:t>
            </a:r>
            <a:endParaRPr/>
          </a:p>
          <a:p>
            <a:pPr indent="0" lvl="0" marL="0" marR="0" rtl="0" algn="l">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Am I Balanced?</a:t>
            </a:r>
            <a:endParaRPr/>
          </a:p>
        </p:txBody>
      </p:sp>
      <p:sp>
        <p:nvSpPr>
          <p:cNvPr id="311" name="Google Shape;311;p29"/>
          <p:cNvSpPr txBox="1"/>
          <p:nvPr/>
        </p:nvSpPr>
        <p:spPr>
          <a:xfrm>
            <a:off x="12507750" y="4361600"/>
            <a:ext cx="3702600" cy="4867500"/>
          </a:xfrm>
          <a:prstGeom prst="rect">
            <a:avLst/>
          </a:prstGeom>
          <a:noFill/>
          <a:ln>
            <a:noFill/>
          </a:ln>
        </p:spPr>
        <p:txBody>
          <a:bodyPr anchorCtr="0" anchor="t" bIns="45700" lIns="45700" spcFirstLastPara="1" rIns="45700" wrap="square" tIns="45700">
            <a:spAutoFit/>
          </a:bodyPr>
          <a:lstStyle/>
          <a:p>
            <a:pPr indent="0" lvl="0" marL="0" marR="0" rtl="0" algn="r">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Stay or Go?</a:t>
            </a:r>
            <a:endParaRPr/>
          </a:p>
          <a:p>
            <a:pPr indent="0" lvl="0" marL="0" marR="0" rtl="0" algn="r">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Stay or Go?</a:t>
            </a:r>
            <a:endParaRPr/>
          </a:p>
          <a:p>
            <a:pPr indent="0" lvl="0" marL="0" marR="0" rtl="0" algn="r">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Stay or Go?</a:t>
            </a:r>
            <a:endParaRPr/>
          </a:p>
          <a:p>
            <a:pPr indent="0" lvl="0" marL="0" marR="0" rtl="0" algn="r">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Stay or Go?</a:t>
            </a:r>
            <a:endParaRPr/>
          </a:p>
          <a:p>
            <a:pPr indent="0" lvl="0" marL="0" marR="0" rtl="0" algn="r">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Stay or Go?</a:t>
            </a:r>
            <a:endParaRPr/>
          </a:p>
          <a:p>
            <a:pPr indent="0" lvl="0" marL="0" marR="0" rtl="0" algn="r">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Stay or Go?</a:t>
            </a:r>
            <a:endParaRPr/>
          </a:p>
          <a:p>
            <a:pPr indent="0" lvl="0" marL="0" marR="0" rtl="0" algn="r">
              <a:lnSpc>
                <a:spcPct val="82069"/>
              </a:lnSpc>
              <a:spcBef>
                <a:spcPts val="0"/>
              </a:spcBef>
              <a:spcAft>
                <a:spcPts val="0"/>
              </a:spcAft>
              <a:buClr>
                <a:srgbClr val="FFFFFF"/>
              </a:buClr>
              <a:buSzPts val="5400"/>
              <a:buFont typeface="League Spartan"/>
              <a:buNone/>
            </a:pPr>
            <a:r>
              <a:rPr b="1" i="0" lang="en-US" sz="5400" u="none" cap="none" strike="noStrike">
                <a:solidFill>
                  <a:srgbClr val="FFFFFF"/>
                </a:solidFill>
                <a:latin typeface="League Spartan"/>
                <a:ea typeface="League Spartan"/>
                <a:cs typeface="League Spartan"/>
                <a:sym typeface="League Spartan"/>
              </a:rPr>
              <a:t>Stay or Go?</a:t>
            </a:r>
            <a:endParaRPr/>
          </a:p>
        </p:txBody>
      </p:sp>
      <p:sp>
        <p:nvSpPr>
          <p:cNvPr id="312" name="Google Shape;312;p29"/>
          <p:cNvSpPr txBox="1"/>
          <p:nvPr/>
        </p:nvSpPr>
        <p:spPr>
          <a:xfrm>
            <a:off x="1349324" y="2461762"/>
            <a:ext cx="17392637" cy="1398204"/>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F7900"/>
              </a:buClr>
              <a:buSzPts val="8820"/>
              <a:buFont typeface="League Spartan"/>
              <a:buNone/>
            </a:pPr>
            <a:r>
              <a:rPr b="1" i="0" lang="en-US" sz="8820" u="none" cap="none" strike="noStrike">
                <a:solidFill>
                  <a:srgbClr val="FF7900"/>
                </a:solidFill>
                <a:latin typeface="League Spartan"/>
                <a:ea typeface="League Spartan"/>
                <a:cs typeface="League Spartan"/>
                <a:sym typeface="League Spartan"/>
              </a:rPr>
              <a:t>Do I Stay or do I Go? No = Go!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0"/>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318" name="Google Shape;318;p30"/>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319" name="Google Shape;319;p30"/>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320" name="Google Shape;320;p30"/>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8545" u="none" cap="none" strike="noStrike">
                <a:solidFill>
                  <a:srgbClr val="F04E23"/>
                </a:solidFill>
                <a:latin typeface="League Spartan"/>
                <a:ea typeface="League Spartan"/>
                <a:cs typeface="League Spartan"/>
                <a:sym typeface="League Spartan"/>
              </a:rPr>
              <a:t>Questions became Needs:</a:t>
            </a:r>
            <a:endParaRPr sz="600"/>
          </a:p>
        </p:txBody>
      </p:sp>
      <p:sp>
        <p:nvSpPr>
          <p:cNvPr id="321" name="Google Shape;321;p30"/>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322" name="Google Shape;322;p30"/>
          <p:cNvSpPr txBox="1"/>
          <p:nvPr/>
        </p:nvSpPr>
        <p:spPr>
          <a:xfrm>
            <a:off x="4798509" y="4311418"/>
            <a:ext cx="13662979" cy="43883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The need To Belong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to a group whose values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align with your own. </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1"/>
          <p:cNvSpPr/>
          <p:nvPr/>
        </p:nvSpPr>
        <p:spPr>
          <a:xfrm>
            <a:off x="0" y="18468"/>
            <a:ext cx="18288000" cy="10287000"/>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328" name="Google Shape;328;p31"/>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329" name="Google Shape;329;p31"/>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330" name="Google Shape;330;p31"/>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8545" u="none" cap="none" strike="noStrike">
                <a:solidFill>
                  <a:srgbClr val="F04E23"/>
                </a:solidFill>
                <a:latin typeface="League Spartan"/>
                <a:ea typeface="League Spartan"/>
                <a:cs typeface="League Spartan"/>
                <a:sym typeface="League Spartan"/>
              </a:rPr>
              <a:t>Questions became </a:t>
            </a:r>
            <a:r>
              <a:rPr b="1" lang="en-US" sz="8545">
                <a:solidFill>
                  <a:srgbClr val="F04E23"/>
                </a:solidFill>
                <a:latin typeface="League Spartan"/>
                <a:ea typeface="League Spartan"/>
                <a:cs typeface="League Spartan"/>
                <a:sym typeface="League Spartan"/>
              </a:rPr>
              <a:t>N</a:t>
            </a:r>
            <a:r>
              <a:rPr b="1" i="0" lang="en-US" sz="8545" u="none" cap="none" strike="noStrike">
                <a:solidFill>
                  <a:srgbClr val="F04E23"/>
                </a:solidFill>
                <a:latin typeface="League Spartan"/>
                <a:ea typeface="League Spartan"/>
                <a:cs typeface="League Spartan"/>
                <a:sym typeface="League Spartan"/>
              </a:rPr>
              <a:t>eeds:</a:t>
            </a:r>
            <a:endParaRPr sz="600"/>
          </a:p>
        </p:txBody>
      </p:sp>
      <p:sp>
        <p:nvSpPr>
          <p:cNvPr id="331" name="Google Shape;331;p31"/>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332" name="Google Shape;332;p31"/>
          <p:cNvSpPr txBox="1"/>
          <p:nvPr/>
        </p:nvSpPr>
        <p:spPr>
          <a:xfrm>
            <a:off x="4693821" y="4311418"/>
            <a:ext cx="13768486" cy="43883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The need To Believe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in the product, the mission and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the strategy for achieving it. </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2"/>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338" name="Google Shape;338;p32"/>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339" name="Google Shape;339;p32"/>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340" name="Google Shape;340;p32"/>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8545" u="none" cap="none" strike="noStrike">
                <a:solidFill>
                  <a:srgbClr val="F04E23"/>
                </a:solidFill>
                <a:latin typeface="League Spartan"/>
                <a:ea typeface="League Spartan"/>
                <a:cs typeface="League Spartan"/>
                <a:sym typeface="League Spartan"/>
              </a:rPr>
              <a:t>Questions became </a:t>
            </a:r>
            <a:r>
              <a:rPr b="1" lang="en-US" sz="8545">
                <a:solidFill>
                  <a:srgbClr val="F04E23"/>
                </a:solidFill>
                <a:latin typeface="League Spartan"/>
                <a:ea typeface="League Spartan"/>
                <a:cs typeface="League Spartan"/>
                <a:sym typeface="League Spartan"/>
              </a:rPr>
              <a:t>N</a:t>
            </a:r>
            <a:r>
              <a:rPr b="1" i="0" lang="en-US" sz="8545" u="none" cap="none" strike="noStrike">
                <a:solidFill>
                  <a:srgbClr val="F04E23"/>
                </a:solidFill>
                <a:latin typeface="League Spartan"/>
                <a:ea typeface="League Spartan"/>
                <a:cs typeface="League Spartan"/>
                <a:sym typeface="League Spartan"/>
              </a:rPr>
              <a:t>eeds:</a:t>
            </a:r>
            <a:endParaRPr sz="600"/>
          </a:p>
        </p:txBody>
      </p:sp>
      <p:sp>
        <p:nvSpPr>
          <p:cNvPr id="341" name="Google Shape;341;p32"/>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342" name="Google Shape;342;p32"/>
          <p:cNvSpPr txBox="1"/>
          <p:nvPr/>
        </p:nvSpPr>
        <p:spPr>
          <a:xfrm>
            <a:off x="4693821" y="4311418"/>
            <a:ext cx="13768486" cy="35649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The need to Be Accountable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for something meaningful. </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3"/>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348" name="Google Shape;348;p33"/>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349" name="Google Shape;349;p33"/>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350" name="Google Shape;350;p33"/>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8545" u="none" cap="none" strike="noStrike">
                <a:solidFill>
                  <a:srgbClr val="F04E23"/>
                </a:solidFill>
                <a:latin typeface="League Spartan"/>
                <a:ea typeface="League Spartan"/>
                <a:cs typeface="League Spartan"/>
                <a:sym typeface="League Spartan"/>
              </a:rPr>
              <a:t>Questions became </a:t>
            </a:r>
            <a:r>
              <a:rPr b="1" lang="en-US" sz="8545">
                <a:solidFill>
                  <a:srgbClr val="F04E23"/>
                </a:solidFill>
                <a:latin typeface="League Spartan"/>
                <a:ea typeface="League Spartan"/>
                <a:cs typeface="League Spartan"/>
                <a:sym typeface="League Spartan"/>
              </a:rPr>
              <a:t>N</a:t>
            </a:r>
            <a:r>
              <a:rPr b="1" i="0" lang="en-US" sz="8545" u="none" cap="none" strike="noStrike">
                <a:solidFill>
                  <a:srgbClr val="F04E23"/>
                </a:solidFill>
                <a:latin typeface="League Spartan"/>
                <a:ea typeface="League Spartan"/>
                <a:cs typeface="League Spartan"/>
                <a:sym typeface="League Spartan"/>
              </a:rPr>
              <a:t>eeds:</a:t>
            </a:r>
            <a:endParaRPr sz="600"/>
          </a:p>
        </p:txBody>
      </p:sp>
      <p:sp>
        <p:nvSpPr>
          <p:cNvPr id="351" name="Google Shape;351;p33"/>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352" name="Google Shape;352;p33"/>
          <p:cNvSpPr txBox="1"/>
          <p:nvPr/>
        </p:nvSpPr>
        <p:spPr>
          <a:xfrm>
            <a:off x="4693821" y="4311418"/>
            <a:ext cx="13768486" cy="35649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The need to Be Measured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fairly. </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4"/>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358" name="Google Shape;358;p34"/>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359" name="Google Shape;359;p34"/>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360" name="Google Shape;360;p34"/>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8545" u="none" cap="none" strike="noStrike">
                <a:solidFill>
                  <a:srgbClr val="F04E23"/>
                </a:solidFill>
                <a:latin typeface="League Spartan"/>
                <a:ea typeface="League Spartan"/>
                <a:cs typeface="League Spartan"/>
                <a:sym typeface="League Spartan"/>
              </a:rPr>
              <a:t>Questions became </a:t>
            </a:r>
            <a:r>
              <a:rPr b="1" lang="en-US" sz="8545">
                <a:solidFill>
                  <a:srgbClr val="F04E23"/>
                </a:solidFill>
                <a:latin typeface="League Spartan"/>
                <a:ea typeface="League Spartan"/>
                <a:cs typeface="League Spartan"/>
                <a:sym typeface="League Spartan"/>
              </a:rPr>
              <a:t>N</a:t>
            </a:r>
            <a:r>
              <a:rPr b="1" i="0" lang="en-US" sz="8545" u="none" cap="none" strike="noStrike">
                <a:solidFill>
                  <a:srgbClr val="F04E23"/>
                </a:solidFill>
                <a:latin typeface="League Spartan"/>
                <a:ea typeface="League Spartan"/>
                <a:cs typeface="League Spartan"/>
                <a:sym typeface="League Spartan"/>
              </a:rPr>
              <a:t>eeds:</a:t>
            </a:r>
            <a:endParaRPr sz="600"/>
          </a:p>
        </p:txBody>
      </p:sp>
      <p:sp>
        <p:nvSpPr>
          <p:cNvPr id="361" name="Google Shape;361;p34"/>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362" name="Google Shape;362;p34"/>
          <p:cNvSpPr txBox="1"/>
          <p:nvPr/>
        </p:nvSpPr>
        <p:spPr>
          <a:xfrm>
            <a:off x="4693821" y="4311418"/>
            <a:ext cx="13768486" cy="35649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The need to Be Heard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honestly. </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5"/>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368" name="Google Shape;368;p35"/>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369" name="Google Shape;369;p35"/>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370" name="Google Shape;370;p35"/>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8545" u="none" cap="none" strike="noStrike">
                <a:solidFill>
                  <a:srgbClr val="F04E23"/>
                </a:solidFill>
                <a:latin typeface="League Spartan"/>
                <a:ea typeface="League Spartan"/>
                <a:cs typeface="League Spartan"/>
                <a:sym typeface="League Spartan"/>
              </a:rPr>
              <a:t>Questions became </a:t>
            </a:r>
            <a:r>
              <a:rPr b="1" lang="en-US" sz="8545">
                <a:solidFill>
                  <a:srgbClr val="F04E23"/>
                </a:solidFill>
                <a:latin typeface="League Spartan"/>
                <a:ea typeface="League Spartan"/>
                <a:cs typeface="League Spartan"/>
                <a:sym typeface="League Spartan"/>
              </a:rPr>
              <a:t>N</a:t>
            </a:r>
            <a:r>
              <a:rPr b="1" i="0" lang="en-US" sz="8545" u="none" cap="none" strike="noStrike">
                <a:solidFill>
                  <a:srgbClr val="F04E23"/>
                </a:solidFill>
                <a:latin typeface="League Spartan"/>
                <a:ea typeface="League Spartan"/>
                <a:cs typeface="League Spartan"/>
                <a:sym typeface="League Spartan"/>
              </a:rPr>
              <a:t>eeds:</a:t>
            </a:r>
            <a:endParaRPr sz="600"/>
          </a:p>
        </p:txBody>
      </p:sp>
      <p:sp>
        <p:nvSpPr>
          <p:cNvPr id="371" name="Google Shape;371;p35"/>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372" name="Google Shape;372;p35"/>
          <p:cNvSpPr txBox="1"/>
          <p:nvPr/>
        </p:nvSpPr>
        <p:spPr>
          <a:xfrm>
            <a:off x="4693821" y="4311418"/>
            <a:ext cx="13768486" cy="35649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The need to Be Developed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intentionally. </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6"/>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378" name="Google Shape;378;p36"/>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379" name="Google Shape;379;p36"/>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380" name="Google Shape;380;p36"/>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8545" u="none" cap="none" strike="noStrike">
                <a:solidFill>
                  <a:srgbClr val="F04E23"/>
                </a:solidFill>
                <a:latin typeface="League Spartan"/>
                <a:ea typeface="League Spartan"/>
                <a:cs typeface="League Spartan"/>
                <a:sym typeface="League Spartan"/>
              </a:rPr>
              <a:t>Questions became </a:t>
            </a:r>
            <a:r>
              <a:rPr b="1" lang="en-US" sz="8545">
                <a:solidFill>
                  <a:srgbClr val="F04E23"/>
                </a:solidFill>
                <a:latin typeface="League Spartan"/>
                <a:ea typeface="League Spartan"/>
                <a:cs typeface="League Spartan"/>
                <a:sym typeface="League Spartan"/>
              </a:rPr>
              <a:t>N</a:t>
            </a:r>
            <a:r>
              <a:rPr b="1" i="0" lang="en-US" sz="8545" u="none" cap="none" strike="noStrike">
                <a:solidFill>
                  <a:srgbClr val="F04E23"/>
                </a:solidFill>
                <a:latin typeface="League Spartan"/>
                <a:ea typeface="League Spartan"/>
                <a:cs typeface="League Spartan"/>
                <a:sym typeface="League Spartan"/>
              </a:rPr>
              <a:t>eeds:</a:t>
            </a:r>
            <a:endParaRPr sz="600"/>
          </a:p>
        </p:txBody>
      </p:sp>
      <p:sp>
        <p:nvSpPr>
          <p:cNvPr id="381" name="Google Shape;381;p36"/>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382" name="Google Shape;382;p36"/>
          <p:cNvSpPr txBox="1"/>
          <p:nvPr/>
        </p:nvSpPr>
        <p:spPr>
          <a:xfrm>
            <a:off x="4693821" y="4311418"/>
            <a:ext cx="13768486" cy="3564942"/>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The need to Be Balanced </a:t>
            </a:r>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sustainably. </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7"/>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388" name="Google Shape;388;p37"/>
          <p:cNvPicPr preferRelativeResize="0"/>
          <p:nvPr/>
        </p:nvPicPr>
        <p:blipFill rotWithShape="1">
          <a:blip r:embed="rId3">
            <a:alphaModFix amt="6000"/>
          </a:blip>
          <a:srcRect b="0" l="0" r="0" t="0"/>
          <a:stretch/>
        </p:blipFill>
        <p:spPr>
          <a:xfrm>
            <a:off x="8167644" y="498954"/>
            <a:ext cx="9305860" cy="8761395"/>
          </a:xfrm>
          <a:prstGeom prst="rect">
            <a:avLst/>
          </a:prstGeom>
          <a:noFill/>
          <a:ln>
            <a:noFill/>
          </a:ln>
        </p:spPr>
      </p:pic>
      <p:sp>
        <p:nvSpPr>
          <p:cNvPr id="389" name="Google Shape;389;p37"/>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390" name="Google Shape;390;p37"/>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pic>
        <p:nvPicPr>
          <p:cNvPr descr="pasted-movie.png" id="391" name="Google Shape;391;p37"/>
          <p:cNvPicPr preferRelativeResize="0"/>
          <p:nvPr/>
        </p:nvPicPr>
        <p:blipFill rotWithShape="1">
          <a:blip r:embed="rId4">
            <a:alphaModFix/>
          </a:blip>
          <a:srcRect b="0" l="0" r="0" t="0"/>
          <a:stretch/>
        </p:blipFill>
        <p:spPr>
          <a:xfrm>
            <a:off x="4675850" y="1381125"/>
            <a:ext cx="8702426" cy="3341850"/>
          </a:xfrm>
          <a:prstGeom prst="rect">
            <a:avLst/>
          </a:prstGeom>
          <a:noFill/>
          <a:ln>
            <a:noFill/>
          </a:ln>
        </p:spPr>
      </p:pic>
      <p:sp>
        <p:nvSpPr>
          <p:cNvPr id="392" name="Google Shape;392;p37"/>
          <p:cNvSpPr txBox="1"/>
          <p:nvPr/>
        </p:nvSpPr>
        <p:spPr>
          <a:xfrm>
            <a:off x="7113588" y="6097640"/>
            <a:ext cx="4904524" cy="1691641"/>
          </a:xfrm>
          <a:prstGeom prst="rect">
            <a:avLst/>
          </a:prstGeom>
          <a:noFill/>
          <a:ln>
            <a:noFill/>
          </a:ln>
        </p:spPr>
        <p:txBody>
          <a:bodyPr anchorCtr="0" anchor="t" bIns="45700" lIns="45700" spcFirstLastPara="1" rIns="45700" wrap="square" tIns="45700">
            <a:spAutoFit/>
          </a:bodyPr>
          <a:lstStyle/>
          <a:p>
            <a:pPr indent="0" lvl="0" marL="0" marR="0" rtl="0" algn="l">
              <a:lnSpc>
                <a:spcPct val="79766"/>
              </a:lnSpc>
              <a:spcBef>
                <a:spcPts val="0"/>
              </a:spcBef>
              <a:spcAft>
                <a:spcPts val="0"/>
              </a:spcAft>
              <a:buClr>
                <a:srgbClr val="FF7900"/>
              </a:buClr>
              <a:buSzPts val="10500"/>
              <a:buFont typeface="League Spartan"/>
              <a:buNone/>
            </a:pPr>
            <a:r>
              <a:rPr b="1" i="0" lang="en-US" sz="10500" u="none" cap="none" strike="noStrike">
                <a:solidFill>
                  <a:srgbClr val="FF7900"/>
                </a:solidFill>
                <a:latin typeface="League Spartan"/>
                <a:ea typeface="League Spartan"/>
                <a:cs typeface="League Spartan"/>
                <a:sym typeface="League Spartan"/>
              </a:rPr>
              <a:t>Forcing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8"/>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398" name="Google Shape;398;p38"/>
          <p:cNvPicPr preferRelativeResize="0"/>
          <p:nvPr/>
        </p:nvPicPr>
        <p:blipFill rotWithShape="1">
          <a:blip r:embed="rId3">
            <a:alphaModFix amt="6000"/>
          </a:blip>
          <a:srcRect b="0" l="0" r="0" t="0"/>
          <a:stretch/>
        </p:blipFill>
        <p:spPr>
          <a:xfrm>
            <a:off x="6384564" y="-3966"/>
            <a:ext cx="9305860" cy="8761395"/>
          </a:xfrm>
          <a:prstGeom prst="rect">
            <a:avLst/>
          </a:prstGeom>
          <a:noFill/>
          <a:ln>
            <a:noFill/>
          </a:ln>
        </p:spPr>
      </p:pic>
      <p:sp>
        <p:nvSpPr>
          <p:cNvPr id="399" name="Google Shape;399;p38"/>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400" name="Google Shape;400;p38"/>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pic>
        <p:nvPicPr>
          <p:cNvPr descr="pasted-movie.png" id="401" name="Google Shape;401;p38"/>
          <p:cNvPicPr preferRelativeResize="0"/>
          <p:nvPr/>
        </p:nvPicPr>
        <p:blipFill rotWithShape="1">
          <a:blip r:embed="rId4">
            <a:alphaModFix/>
          </a:blip>
          <a:srcRect b="0" l="0" r="0" t="0"/>
          <a:stretch/>
        </p:blipFill>
        <p:spPr>
          <a:xfrm>
            <a:off x="5649118" y="611301"/>
            <a:ext cx="6989824" cy="2684184"/>
          </a:xfrm>
          <a:prstGeom prst="rect">
            <a:avLst/>
          </a:prstGeom>
          <a:noFill/>
          <a:ln>
            <a:noFill/>
          </a:ln>
        </p:spPr>
      </p:pic>
      <p:sp>
        <p:nvSpPr>
          <p:cNvPr id="402" name="Google Shape;402;p38"/>
          <p:cNvSpPr txBox="1"/>
          <p:nvPr/>
        </p:nvSpPr>
        <p:spPr>
          <a:xfrm>
            <a:off x="2835257" y="4475422"/>
            <a:ext cx="14733600" cy="4143900"/>
          </a:xfrm>
          <a:prstGeom prst="rect">
            <a:avLst/>
          </a:prstGeom>
          <a:noFill/>
          <a:ln>
            <a:noFill/>
          </a:ln>
        </p:spPr>
        <p:txBody>
          <a:bodyPr anchorCtr="0" anchor="t" bIns="45700" lIns="45700" spcFirstLastPara="1" rIns="45700" wrap="square" tIns="45700">
            <a:spAutoFit/>
          </a:bodyPr>
          <a:lstStyle/>
          <a:p>
            <a:pPr indent="0" lvl="0" marL="0" marR="0" rtl="0" algn="l">
              <a:lnSpc>
                <a:spcPct val="79766"/>
              </a:lnSpc>
              <a:spcBef>
                <a:spcPts val="0"/>
              </a:spcBef>
              <a:spcAft>
                <a:spcPts val="0"/>
              </a:spcAft>
              <a:buClr>
                <a:srgbClr val="FF7900"/>
              </a:buClr>
              <a:buSzPts val="6600"/>
              <a:buFont typeface="League Spartan"/>
              <a:buNone/>
            </a:pPr>
            <a:r>
              <a:rPr b="1" i="0" lang="en-US" sz="6600" u="none" cap="none" strike="noStrike">
                <a:solidFill>
                  <a:srgbClr val="FF7900"/>
                </a:solidFill>
                <a:latin typeface="League Spartan"/>
                <a:ea typeface="League Spartan"/>
                <a:cs typeface="League Spartan"/>
                <a:sym typeface="League Spartan"/>
              </a:rPr>
              <a:t>The 7 Critical Needs</a:t>
            </a:r>
            <a:endParaRPr/>
          </a:p>
          <a:p>
            <a:pPr indent="0" lvl="0" marL="0" marR="0" rtl="0" algn="l">
              <a:lnSpc>
                <a:spcPct val="79766"/>
              </a:lnSpc>
              <a:spcBef>
                <a:spcPts val="0"/>
              </a:spcBef>
              <a:spcAft>
                <a:spcPts val="0"/>
              </a:spcAft>
              <a:buClr>
                <a:srgbClr val="FF7900"/>
              </a:buClr>
              <a:buSzPts val="6600"/>
              <a:buFont typeface="League Spartan"/>
              <a:buNone/>
            </a:pPr>
            <a:r>
              <a:rPr b="1" i="0" lang="en-US" sz="6600" u="none" cap="none" strike="noStrike">
                <a:solidFill>
                  <a:srgbClr val="FF7900"/>
                </a:solidFill>
                <a:latin typeface="League Spartan"/>
                <a:ea typeface="League Spartan"/>
                <a:cs typeface="League Spartan"/>
                <a:sym typeface="League Spartan"/>
              </a:rPr>
              <a:t>is how we break through</a:t>
            </a:r>
            <a:endParaRPr/>
          </a:p>
          <a:p>
            <a:pPr indent="0" lvl="0" marL="0" marR="0" rtl="0" algn="l">
              <a:lnSpc>
                <a:spcPct val="79766"/>
              </a:lnSpc>
              <a:spcBef>
                <a:spcPts val="0"/>
              </a:spcBef>
              <a:spcAft>
                <a:spcPts val="0"/>
              </a:spcAft>
              <a:buClr>
                <a:srgbClr val="FF7900"/>
              </a:buClr>
              <a:buSzPts val="6600"/>
              <a:buFont typeface="League Spartan"/>
              <a:buNone/>
            </a:pPr>
            <a:r>
              <a:rPr b="1" i="0" lang="en-US" sz="6600" u="none" cap="none" strike="noStrike">
                <a:solidFill>
                  <a:srgbClr val="FF7900"/>
                </a:solidFill>
                <a:latin typeface="League Spartan"/>
                <a:ea typeface="League Spartan"/>
                <a:cs typeface="League Spartan"/>
                <a:sym typeface="League Spartan"/>
              </a:rPr>
              <a:t>the ceiling.</a:t>
            </a:r>
            <a:endParaRPr/>
          </a:p>
          <a:p>
            <a:pPr indent="0" lvl="0" marL="0" marR="0" rtl="0" algn="l">
              <a:lnSpc>
                <a:spcPct val="79766"/>
              </a:lnSpc>
              <a:spcBef>
                <a:spcPts val="0"/>
              </a:spcBef>
              <a:spcAft>
                <a:spcPts val="0"/>
              </a:spcAft>
              <a:buClr>
                <a:srgbClr val="FF7900"/>
              </a:buClr>
              <a:buSzPts val="6600"/>
              <a:buFont typeface="League Spartan"/>
              <a:buNone/>
            </a:pPr>
            <a:r>
              <a:t/>
            </a:r>
            <a:endParaRPr b="0" i="0" sz="6600" u="none" cap="none" strike="noStrike">
              <a:solidFill>
                <a:srgbClr val="000000"/>
              </a:solidFill>
              <a:latin typeface="Calibri"/>
              <a:ea typeface="Calibri"/>
              <a:cs typeface="Calibri"/>
              <a:sym typeface="Calibri"/>
            </a:endParaRPr>
          </a:p>
          <a:p>
            <a:pPr indent="0" lvl="0" marL="0" marR="0" rtl="0" algn="l">
              <a:lnSpc>
                <a:spcPct val="79766"/>
              </a:lnSpc>
              <a:spcBef>
                <a:spcPts val="0"/>
              </a:spcBef>
              <a:spcAft>
                <a:spcPts val="0"/>
              </a:spcAft>
              <a:buClr>
                <a:srgbClr val="FF7900"/>
              </a:buClr>
              <a:buSzPts val="6600"/>
              <a:buFont typeface="League Spartan"/>
              <a:buNone/>
            </a:pPr>
            <a:r>
              <a:rPr b="1" i="1" lang="en-US" sz="6600" u="none" cap="none" strike="noStrike">
                <a:solidFill>
                  <a:srgbClr val="FF7900"/>
                </a:solidFill>
                <a:latin typeface="League Spartan"/>
                <a:ea typeface="League Spartan"/>
                <a:cs typeface="League Spartan"/>
                <a:sym typeface="League Spartan"/>
              </a:rPr>
              <a:t>With our people</a:t>
            </a:r>
            <a:r>
              <a:rPr b="1" i="1" lang="en-US" sz="6600">
                <a:solidFill>
                  <a:srgbClr val="FF7900"/>
                </a:solidFill>
                <a:latin typeface="League Spartan"/>
                <a:ea typeface="League Spartan"/>
                <a:cs typeface="League Spartan"/>
                <a:sym typeface="League Spartan"/>
              </a:rPr>
              <a:t>, they pull.</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9"/>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408" name="Google Shape;408;p39"/>
          <p:cNvPicPr preferRelativeResize="0"/>
          <p:nvPr/>
        </p:nvPicPr>
        <p:blipFill rotWithShape="1">
          <a:blip r:embed="rId3">
            <a:alphaModFix amt="6000"/>
          </a:blip>
          <a:srcRect b="0" l="0" r="0" t="0"/>
          <a:stretch/>
        </p:blipFill>
        <p:spPr>
          <a:xfrm>
            <a:off x="6384564" y="-3966"/>
            <a:ext cx="9305860" cy="8761395"/>
          </a:xfrm>
          <a:prstGeom prst="rect">
            <a:avLst/>
          </a:prstGeom>
          <a:noFill/>
          <a:ln>
            <a:noFill/>
          </a:ln>
        </p:spPr>
      </p:pic>
      <p:sp>
        <p:nvSpPr>
          <p:cNvPr id="409" name="Google Shape;409;p39"/>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410" name="Google Shape;410;p39"/>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pic>
        <p:nvPicPr>
          <p:cNvPr descr="pasted-movie.png" id="411" name="Google Shape;411;p39"/>
          <p:cNvPicPr preferRelativeResize="0"/>
          <p:nvPr/>
        </p:nvPicPr>
        <p:blipFill rotWithShape="1">
          <a:blip r:embed="rId4">
            <a:alphaModFix/>
          </a:blip>
          <a:srcRect b="0" l="0" r="0" t="0"/>
          <a:stretch/>
        </p:blipFill>
        <p:spPr>
          <a:xfrm>
            <a:off x="5649118" y="611301"/>
            <a:ext cx="6989824" cy="2684184"/>
          </a:xfrm>
          <a:prstGeom prst="rect">
            <a:avLst/>
          </a:prstGeom>
          <a:noFill/>
          <a:ln>
            <a:noFill/>
          </a:ln>
        </p:spPr>
      </p:pic>
      <p:sp>
        <p:nvSpPr>
          <p:cNvPr id="412" name="Google Shape;412;p39"/>
          <p:cNvSpPr txBox="1"/>
          <p:nvPr/>
        </p:nvSpPr>
        <p:spPr>
          <a:xfrm>
            <a:off x="2236758" y="4099708"/>
            <a:ext cx="14322600" cy="4512300"/>
          </a:xfrm>
          <a:prstGeom prst="rect">
            <a:avLst/>
          </a:prstGeom>
          <a:noFill/>
          <a:ln>
            <a:noFill/>
          </a:ln>
        </p:spPr>
        <p:txBody>
          <a:bodyPr anchorCtr="0" anchor="t" bIns="45700" lIns="45700" spcFirstLastPara="1" rIns="45700" wrap="square" tIns="45700">
            <a:spAutoFit/>
          </a:bodyPr>
          <a:lstStyle/>
          <a:p>
            <a:pPr indent="0" lvl="0" marL="0" marR="0" rtl="0" algn="l">
              <a:lnSpc>
                <a:spcPct val="79766"/>
              </a:lnSpc>
              <a:spcBef>
                <a:spcPts val="0"/>
              </a:spcBef>
              <a:spcAft>
                <a:spcPts val="0"/>
              </a:spcAft>
              <a:buClr>
                <a:srgbClr val="FF7900"/>
              </a:buClr>
              <a:buSzPts val="7200"/>
              <a:buFont typeface="League Spartan"/>
              <a:buNone/>
            </a:pPr>
            <a:r>
              <a:rPr b="1" i="1" lang="en-US" sz="7200" u="none" cap="none" strike="noStrike">
                <a:solidFill>
                  <a:srgbClr val="FF7900"/>
                </a:solidFill>
                <a:latin typeface="League Spartan"/>
                <a:ea typeface="League Spartan"/>
                <a:cs typeface="League Spartan"/>
                <a:sym typeface="League Spartan"/>
              </a:rPr>
              <a:t>With our people</a:t>
            </a:r>
            <a:r>
              <a:rPr b="1" i="0" lang="en-US" sz="7200" u="none" cap="none" strike="noStrike">
                <a:solidFill>
                  <a:srgbClr val="FF7900"/>
                </a:solidFill>
                <a:latin typeface="League Spartan"/>
                <a:ea typeface="League Spartan"/>
                <a:cs typeface="League Spartan"/>
                <a:sym typeface="League Spartan"/>
              </a:rPr>
              <a:t> so they </a:t>
            </a:r>
            <a:r>
              <a:rPr b="1" i="1" lang="en-US" sz="7200" u="none" cap="none" strike="noStrike">
                <a:solidFill>
                  <a:srgbClr val="FF7900"/>
                </a:solidFill>
                <a:latin typeface="League Spartan"/>
                <a:ea typeface="League Spartan"/>
                <a:cs typeface="League Spartan"/>
                <a:sym typeface="League Spartan"/>
              </a:rPr>
              <a:t>Pull</a:t>
            </a:r>
            <a:r>
              <a:rPr b="1" i="0" lang="en-US" sz="7200" u="none" cap="none" strike="noStrike">
                <a:solidFill>
                  <a:srgbClr val="FF7900"/>
                </a:solidFill>
                <a:latin typeface="League Spartan"/>
                <a:ea typeface="League Spartan"/>
                <a:cs typeface="League Spartan"/>
                <a:sym typeface="League Spartan"/>
              </a:rPr>
              <a:t>.</a:t>
            </a:r>
            <a:endParaRPr/>
          </a:p>
          <a:p>
            <a:pPr indent="0" lvl="0" marL="0" marR="0" rtl="0" algn="l">
              <a:lnSpc>
                <a:spcPct val="79766"/>
              </a:lnSpc>
              <a:spcBef>
                <a:spcPts val="0"/>
              </a:spcBef>
              <a:spcAft>
                <a:spcPts val="0"/>
              </a:spcAft>
              <a:buClr>
                <a:srgbClr val="FF7900"/>
              </a:buClr>
              <a:buSzPts val="7200"/>
              <a:buFont typeface="League Spartan"/>
              <a:buNone/>
            </a:pPr>
            <a:r>
              <a:rPr b="1" lang="en-US" sz="7200">
                <a:solidFill>
                  <a:srgbClr val="FF7900"/>
                </a:solidFill>
                <a:latin typeface="League Spartan"/>
                <a:ea typeface="League Spartan"/>
                <a:cs typeface="League Spartan"/>
                <a:sym typeface="League Spartan"/>
              </a:rPr>
              <a:t>   </a:t>
            </a:r>
            <a:r>
              <a:rPr b="1" i="0" lang="en-US" sz="7200" u="none" cap="none" strike="noStrike">
                <a:solidFill>
                  <a:srgbClr val="FF7900"/>
                </a:solidFill>
                <a:latin typeface="League Spartan"/>
                <a:ea typeface="League Spartan"/>
                <a:cs typeface="League Spartan"/>
                <a:sym typeface="League Spartan"/>
              </a:rPr>
              <a:t>How we flip the script.</a:t>
            </a:r>
            <a:endParaRPr/>
          </a:p>
          <a:p>
            <a:pPr indent="0" lvl="0" marL="0" marR="0" rtl="0" algn="l">
              <a:lnSpc>
                <a:spcPct val="79766"/>
              </a:lnSpc>
              <a:spcBef>
                <a:spcPts val="0"/>
              </a:spcBef>
              <a:spcAft>
                <a:spcPts val="0"/>
              </a:spcAft>
              <a:buClr>
                <a:srgbClr val="FF7900"/>
              </a:buClr>
              <a:buSzPts val="7200"/>
              <a:buFont typeface="League Spartan"/>
              <a:buNone/>
            </a:pPr>
            <a:r>
              <a:rPr b="1" lang="en-US" sz="7200">
                <a:solidFill>
                  <a:srgbClr val="FF7900"/>
                </a:solidFill>
                <a:latin typeface="League Spartan"/>
                <a:ea typeface="League Spartan"/>
                <a:cs typeface="League Spartan"/>
                <a:sym typeface="League Spartan"/>
              </a:rPr>
              <a:t>   </a:t>
            </a:r>
            <a:r>
              <a:rPr b="1" i="0" lang="en-US" sz="7200" u="none" cap="none" strike="noStrike">
                <a:solidFill>
                  <a:srgbClr val="FF7900"/>
                </a:solidFill>
                <a:latin typeface="League Spartan"/>
                <a:ea typeface="League Spartan"/>
                <a:cs typeface="League Spartan"/>
                <a:sym typeface="League Spartan"/>
              </a:rPr>
              <a:t>How we explain the Why.</a:t>
            </a:r>
            <a:endParaRPr/>
          </a:p>
          <a:p>
            <a:pPr indent="0" lvl="0" marL="0" marR="0" rtl="0" algn="l">
              <a:lnSpc>
                <a:spcPct val="79766"/>
              </a:lnSpc>
              <a:spcBef>
                <a:spcPts val="0"/>
              </a:spcBef>
              <a:spcAft>
                <a:spcPts val="0"/>
              </a:spcAft>
              <a:buClr>
                <a:srgbClr val="FF7900"/>
              </a:buClr>
              <a:buSzPts val="7200"/>
              <a:buFont typeface="League Spartan"/>
              <a:buNone/>
            </a:pPr>
            <a:r>
              <a:rPr b="1" lang="en-US" sz="7200">
                <a:solidFill>
                  <a:srgbClr val="FF7900"/>
                </a:solidFill>
                <a:latin typeface="League Spartan"/>
                <a:ea typeface="League Spartan"/>
                <a:cs typeface="League Spartan"/>
                <a:sym typeface="League Spartan"/>
              </a:rPr>
              <a:t>   </a:t>
            </a:r>
            <a:r>
              <a:rPr b="1" i="0" lang="en-US" sz="7200" u="none" cap="none" strike="noStrike">
                <a:solidFill>
                  <a:srgbClr val="FF7900"/>
                </a:solidFill>
                <a:latin typeface="League Spartan"/>
                <a:ea typeface="League Spartan"/>
                <a:cs typeface="League Spartan"/>
                <a:sym typeface="League Spartan"/>
              </a:rPr>
              <a:t>How </a:t>
            </a:r>
            <a:r>
              <a:rPr b="1" lang="en-US" sz="7200">
                <a:solidFill>
                  <a:srgbClr val="FF7900"/>
                </a:solidFill>
                <a:latin typeface="League Spartan"/>
                <a:ea typeface="League Spartan"/>
                <a:cs typeface="League Spartan"/>
                <a:sym typeface="League Spartan"/>
              </a:rPr>
              <a:t>they</a:t>
            </a:r>
            <a:r>
              <a:rPr b="1" i="0" lang="en-US" sz="7200" u="none" cap="none" strike="noStrike">
                <a:solidFill>
                  <a:srgbClr val="FF7900"/>
                </a:solidFill>
                <a:latin typeface="League Spartan"/>
                <a:ea typeface="League Spartan"/>
                <a:cs typeface="League Spartan"/>
                <a:sym typeface="League Spartan"/>
              </a:rPr>
              <a:t> tune in to WIIFM.</a:t>
            </a:r>
            <a:endParaRPr/>
          </a:p>
          <a:p>
            <a:pPr indent="0" lvl="0" marL="0" marR="0" rtl="0" algn="l">
              <a:lnSpc>
                <a:spcPct val="79766"/>
              </a:lnSpc>
              <a:spcBef>
                <a:spcPts val="0"/>
              </a:spcBef>
              <a:spcAft>
                <a:spcPts val="0"/>
              </a:spcAft>
              <a:buClr>
                <a:srgbClr val="FF7900"/>
              </a:buClr>
              <a:buSzPts val="7200"/>
              <a:buFont typeface="League Spartan"/>
              <a:buNone/>
            </a:pPr>
            <a:r>
              <a:rPr b="1" lang="en-US" sz="7200">
                <a:solidFill>
                  <a:srgbClr val="FF7900"/>
                </a:solidFill>
                <a:latin typeface="League Spartan"/>
                <a:ea typeface="League Spartan"/>
                <a:cs typeface="League Spartan"/>
                <a:sym typeface="League Spartan"/>
              </a:rPr>
              <a:t>   </a:t>
            </a:r>
            <a:r>
              <a:rPr b="1" i="0" lang="en-US" sz="7200" u="none" cap="none" strike="noStrike">
                <a:solidFill>
                  <a:srgbClr val="FF7900"/>
                </a:solidFill>
                <a:latin typeface="League Spartan"/>
                <a:ea typeface="League Spartan"/>
                <a:cs typeface="League Spartan"/>
                <a:sym typeface="League Spartan"/>
              </a:rPr>
              <a:t>We Make EOS </a:t>
            </a:r>
            <a:r>
              <a:rPr b="1" i="1" lang="en-US" sz="7200" u="none" cap="none" strike="noStrike">
                <a:solidFill>
                  <a:srgbClr val="FF7900"/>
                </a:solidFill>
                <a:latin typeface="League Spartan"/>
                <a:ea typeface="League Spartan"/>
                <a:cs typeface="League Spartan"/>
                <a:sym typeface="League Spartan"/>
              </a:rPr>
              <a:t>For</a:t>
            </a:r>
            <a:r>
              <a:rPr b="1" i="0" lang="en-US" sz="7200" u="none" cap="none" strike="noStrike">
                <a:solidFill>
                  <a:srgbClr val="FF7900"/>
                </a:solidFill>
                <a:latin typeface="League Spartan"/>
                <a:ea typeface="League Spartan"/>
                <a:cs typeface="League Spartan"/>
                <a:sym typeface="League Spartan"/>
              </a:rPr>
              <a:t> them.</a:t>
            </a:r>
            <a:endParaRPr/>
          </a:p>
        </p:txBody>
      </p:sp>
      <p:sp>
        <p:nvSpPr>
          <p:cNvPr id="413" name="Google Shape;413;p39"/>
          <p:cNvSpPr txBox="1"/>
          <p:nvPr/>
        </p:nvSpPr>
        <p:spPr>
          <a:xfrm>
            <a:off x="9030122" y="5103956"/>
            <a:ext cx="481756" cy="333088"/>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4" name="Google Shape;414;p39"/>
          <p:cNvSpPr txBox="1"/>
          <p:nvPr/>
        </p:nvSpPr>
        <p:spPr>
          <a:xfrm>
            <a:off x="9157122" y="5230956"/>
            <a:ext cx="481756" cy="333088"/>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0"/>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420" name="Google Shape;420;p40"/>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421" name="Google Shape;421;p40"/>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422" name="Google Shape;422;p40"/>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8545" u="none" cap="none" strike="noStrike">
                <a:solidFill>
                  <a:srgbClr val="F04E23"/>
                </a:solidFill>
                <a:latin typeface="League Spartan"/>
                <a:ea typeface="League Spartan"/>
                <a:cs typeface="League Spartan"/>
                <a:sym typeface="League Spartan"/>
              </a:rPr>
              <a:t>Inside EOS - We Believe:</a:t>
            </a:r>
            <a:endParaRPr sz="600"/>
          </a:p>
        </p:txBody>
      </p:sp>
      <p:sp>
        <p:nvSpPr>
          <p:cNvPr id="423" name="Google Shape;423;p40"/>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424" name="Google Shape;424;p40"/>
          <p:cNvSpPr txBox="1"/>
          <p:nvPr/>
        </p:nvSpPr>
        <p:spPr>
          <a:xfrm>
            <a:off x="3276501" y="3910319"/>
            <a:ext cx="14430157" cy="274154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“What gets measured gets done.”</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“You must inspect what you expect.”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1"/>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430" name="Google Shape;430;p41"/>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431" name="Google Shape;431;p41"/>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432" name="Google Shape;432;p41"/>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8545" u="none" cap="none" strike="noStrike">
                <a:solidFill>
                  <a:srgbClr val="F04E23"/>
                </a:solidFill>
                <a:latin typeface="League Spartan"/>
                <a:ea typeface="League Spartan"/>
                <a:cs typeface="League Spartan"/>
                <a:sym typeface="League Spartan"/>
              </a:rPr>
              <a:t>Inside EOS - We Believe:</a:t>
            </a:r>
            <a:endParaRPr sz="600"/>
          </a:p>
        </p:txBody>
      </p:sp>
      <p:sp>
        <p:nvSpPr>
          <p:cNvPr id="433" name="Google Shape;433;p41"/>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434" name="Google Shape;434;p41"/>
          <p:cNvSpPr txBox="1"/>
          <p:nvPr/>
        </p:nvSpPr>
        <p:spPr>
          <a:xfrm>
            <a:off x="3276501" y="3615351"/>
            <a:ext cx="14430157" cy="5104731"/>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“What gets measured gets done.”</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“You must inspect what you expect.”</a:t>
            </a:r>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a:p>
            <a:pPr indent="0" lvl="0" marL="0" marR="0" rtl="0" algn="l">
              <a:lnSpc>
                <a:spcPct val="82069"/>
              </a:lnSpc>
              <a:spcBef>
                <a:spcPts val="0"/>
              </a:spcBef>
              <a:spcAft>
                <a:spcPts val="0"/>
              </a:spcAft>
              <a:buClr>
                <a:srgbClr val="FFFFFF"/>
              </a:buClr>
              <a:buSzPts val="1800"/>
              <a:buFont typeface="League Spartan"/>
              <a:buNone/>
            </a:pPr>
            <a:r>
              <a:t/>
            </a:r>
            <a:endParaRPr b="0" i="0" sz="1800" u="none" cap="none" strike="noStrike">
              <a:solidFill>
                <a:srgbClr val="000000"/>
              </a:solidFill>
              <a:latin typeface="Calibri"/>
              <a:ea typeface="Calibri"/>
              <a:cs typeface="Calibri"/>
              <a:sym typeface="Calibri"/>
            </a:endParaRPr>
          </a:p>
          <a:p>
            <a:pPr indent="0" lvl="0" marL="0" marR="0" rtl="0" algn="l">
              <a:lnSpc>
                <a:spcPct val="82069"/>
              </a:lnSpc>
              <a:spcBef>
                <a:spcPts val="0"/>
              </a:spcBef>
              <a:spcAft>
                <a:spcPts val="0"/>
              </a:spcAft>
              <a:buClr>
                <a:srgbClr val="FFFFFF"/>
              </a:buClr>
              <a:buSzPts val="6600"/>
              <a:buFont typeface="League Spartan"/>
              <a:buNone/>
            </a:pPr>
            <a:r>
              <a:rPr b="1" i="0" lang="en-US" sz="6600" u="none" cap="none" strike="noStrike">
                <a:solidFill>
                  <a:srgbClr val="FFFFFF"/>
                </a:solidFill>
                <a:latin typeface="League Spartan"/>
                <a:ea typeface="League Spartan"/>
                <a:cs typeface="League Spartan"/>
                <a:sym typeface="League Spartan"/>
              </a:rPr>
              <a:t>Thank you Millennials for the rubric!</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2"/>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440" name="Google Shape;440;p42"/>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441" name="Google Shape;441;p42"/>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8545" u="none" cap="none" strike="noStrike">
                <a:solidFill>
                  <a:srgbClr val="F04E23"/>
                </a:solidFill>
                <a:latin typeface="League Spartan"/>
                <a:ea typeface="League Spartan"/>
                <a:cs typeface="League Spartan"/>
                <a:sym typeface="League Spartan"/>
              </a:rPr>
              <a:t>7 Critical Needs become</a:t>
            </a:r>
            <a:endParaRPr sz="600"/>
          </a:p>
        </p:txBody>
      </p:sp>
      <p:sp>
        <p:nvSpPr>
          <p:cNvPr id="442" name="Google Shape;442;p42"/>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443" name="Google Shape;443;p42"/>
          <p:cNvSpPr txBox="1"/>
          <p:nvPr/>
        </p:nvSpPr>
        <p:spPr>
          <a:xfrm>
            <a:off x="6065449" y="3978150"/>
            <a:ext cx="6932100" cy="5397900"/>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Belong?</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Believe?</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 Accountable?</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 Measured?</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 Heard?</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 Developed?</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 Balanced?</a:t>
            </a:r>
            <a:endParaRPr/>
          </a:p>
        </p:txBody>
      </p:sp>
      <p:sp>
        <p:nvSpPr>
          <p:cNvPr id="444" name="Google Shape;444;p42"/>
          <p:cNvSpPr txBox="1"/>
          <p:nvPr/>
        </p:nvSpPr>
        <p:spPr>
          <a:xfrm>
            <a:off x="13832122" y="3978151"/>
            <a:ext cx="1788308" cy="5406095"/>
          </a:xfrm>
          <a:prstGeom prst="rect">
            <a:avLst/>
          </a:prstGeom>
          <a:noFill/>
          <a:ln>
            <a:noFill/>
          </a:ln>
        </p:spPr>
        <p:txBody>
          <a:bodyPr anchorCtr="0" anchor="t" bIns="45700" lIns="45700" spcFirstLastPara="1" rIns="45700" wrap="square" tIns="45700">
            <a:spAutoFit/>
          </a:bodyPr>
          <a:lstStyle/>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p:txBody>
      </p:sp>
      <p:sp>
        <p:nvSpPr>
          <p:cNvPr id="445" name="Google Shape;445;p42"/>
          <p:cNvSpPr txBox="1"/>
          <p:nvPr/>
        </p:nvSpPr>
        <p:spPr>
          <a:xfrm>
            <a:off x="-75500" y="2461762"/>
            <a:ext cx="17392637" cy="1398204"/>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F7900"/>
              </a:buClr>
              <a:buSzPts val="8820"/>
              <a:buFont typeface="League Spartan"/>
              <a:buNone/>
            </a:pPr>
            <a:r>
              <a:rPr b="1" i="0" lang="en-US" sz="8820" u="none" cap="none" strike="noStrike">
                <a:solidFill>
                  <a:srgbClr val="FF7900"/>
                </a:solidFill>
                <a:latin typeface="League Spartan"/>
                <a:ea typeface="League Spartan"/>
                <a:cs typeface="League Spartan"/>
                <a:sym typeface="League Spartan"/>
              </a:rPr>
              <a:t>     Your “Healthy” Measurement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3"/>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451" name="Google Shape;451;p43"/>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452" name="Google Shape;452;p43"/>
          <p:cNvSpPr txBox="1"/>
          <p:nvPr/>
        </p:nvSpPr>
        <p:spPr>
          <a:xfrm>
            <a:off x="1238236" y="1213099"/>
            <a:ext cx="17392637" cy="1480471"/>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9345"/>
              <a:buFont typeface="League Spartan"/>
              <a:buNone/>
            </a:pPr>
            <a:r>
              <a:rPr b="1" i="0" lang="en-US" sz="8545" u="none" cap="none" strike="noStrike">
                <a:solidFill>
                  <a:srgbClr val="F04E23"/>
                </a:solidFill>
                <a:latin typeface="League Spartan"/>
                <a:ea typeface="League Spartan"/>
                <a:cs typeface="League Spartan"/>
                <a:sym typeface="League Spartan"/>
              </a:rPr>
              <a:t>7 Critical Needs become</a:t>
            </a:r>
            <a:endParaRPr sz="600"/>
          </a:p>
        </p:txBody>
      </p:sp>
      <p:sp>
        <p:nvSpPr>
          <p:cNvPr id="453" name="Google Shape;453;p43"/>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454" name="Google Shape;454;p43"/>
          <p:cNvSpPr txBox="1"/>
          <p:nvPr/>
        </p:nvSpPr>
        <p:spPr>
          <a:xfrm>
            <a:off x="6000749" y="3978150"/>
            <a:ext cx="7065600" cy="5397900"/>
          </a:xfrm>
          <a:prstGeom prst="rect">
            <a:avLst/>
          </a:prstGeom>
          <a:noFill/>
          <a:ln>
            <a:noFill/>
          </a:ln>
        </p:spPr>
        <p:txBody>
          <a:bodyPr anchorCtr="0" anchor="t" bIns="45700" lIns="45700" spcFirstLastPara="1" rIns="45700" wrap="square" tIns="45700">
            <a:spAutoFit/>
          </a:bodyPr>
          <a:lstStyle/>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Belong?</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Believe?</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 Accountable?</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 Measured?</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 Heard?</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 Developed?</a:t>
            </a:r>
            <a:endParaRPr/>
          </a:p>
          <a:p>
            <a:pPr indent="0" lvl="0" marL="0" marR="0" rtl="0" algn="l">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To Be Balanced?</a:t>
            </a:r>
            <a:endParaRPr/>
          </a:p>
        </p:txBody>
      </p:sp>
      <p:sp>
        <p:nvSpPr>
          <p:cNvPr id="455" name="Google Shape;455;p43"/>
          <p:cNvSpPr txBox="1"/>
          <p:nvPr/>
        </p:nvSpPr>
        <p:spPr>
          <a:xfrm>
            <a:off x="13861619" y="3978151"/>
            <a:ext cx="1788308" cy="5406095"/>
          </a:xfrm>
          <a:prstGeom prst="rect">
            <a:avLst/>
          </a:prstGeom>
          <a:noFill/>
          <a:ln>
            <a:noFill/>
          </a:ln>
        </p:spPr>
        <p:txBody>
          <a:bodyPr anchorCtr="0" anchor="t" bIns="45700" lIns="45700" spcFirstLastPara="1" rIns="45700" wrap="square" tIns="45700">
            <a:spAutoFit/>
          </a:bodyPr>
          <a:lstStyle/>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a:p>
            <a:pPr indent="0" lvl="0" marL="0" marR="0" rtl="0" algn="r">
              <a:lnSpc>
                <a:spcPct val="82069"/>
              </a:lnSpc>
              <a:spcBef>
                <a:spcPts val="0"/>
              </a:spcBef>
              <a:spcAft>
                <a:spcPts val="0"/>
              </a:spcAft>
              <a:buClr>
                <a:srgbClr val="FFFFFF"/>
              </a:buClr>
              <a:buSzPts val="6000"/>
              <a:buFont typeface="League Spartan"/>
              <a:buNone/>
            </a:pPr>
            <a:r>
              <a:rPr b="1" i="0" lang="en-US" sz="6000" u="none" cap="none" strike="noStrike">
                <a:solidFill>
                  <a:srgbClr val="FFFFFF"/>
                </a:solidFill>
                <a:latin typeface="League Spartan"/>
                <a:ea typeface="League Spartan"/>
                <a:cs typeface="League Spartan"/>
                <a:sym typeface="League Spartan"/>
              </a:rPr>
              <a:t>1-10?</a:t>
            </a:r>
            <a:endParaRPr/>
          </a:p>
        </p:txBody>
      </p:sp>
      <p:sp>
        <p:nvSpPr>
          <p:cNvPr id="456" name="Google Shape;456;p43"/>
          <p:cNvSpPr txBox="1"/>
          <p:nvPr/>
        </p:nvSpPr>
        <p:spPr>
          <a:xfrm>
            <a:off x="587754" y="2461762"/>
            <a:ext cx="18154207" cy="1398204"/>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F7900"/>
              </a:buClr>
              <a:buSzPts val="8820"/>
              <a:buFont typeface="League Spartan"/>
              <a:buNone/>
            </a:pPr>
            <a:r>
              <a:rPr b="1" i="0" lang="en-US" sz="8820" u="none" cap="none" strike="noStrike">
                <a:solidFill>
                  <a:srgbClr val="FF7900"/>
                </a:solidFill>
                <a:latin typeface="League Spartan"/>
                <a:ea typeface="League Spartan"/>
                <a:cs typeface="League Spartan"/>
                <a:sym typeface="League Spartan"/>
              </a:rPr>
              <a:t>Your Measurable Org Health Tool</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4"/>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462" name="Google Shape;462;p44"/>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463" name="Google Shape;463;p44"/>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464" name="Google Shape;464;p44"/>
          <p:cNvSpPr txBox="1"/>
          <p:nvPr/>
        </p:nvSpPr>
        <p:spPr>
          <a:xfrm>
            <a:off x="2743201" y="3884125"/>
            <a:ext cx="14043600" cy="1798200"/>
          </a:xfrm>
          <a:prstGeom prst="rect">
            <a:avLst/>
          </a:prstGeom>
          <a:noFill/>
          <a:ln>
            <a:noFill/>
          </a:ln>
        </p:spPr>
        <p:txBody>
          <a:bodyPr anchorCtr="0" anchor="t" bIns="25400" lIns="25400" spcFirstLastPara="1" rIns="25400" wrap="square" tIns="25400">
            <a:normAutofit/>
          </a:bodyPr>
          <a:lstStyle/>
          <a:p>
            <a:pPr indent="0" lvl="0" marL="0" marR="0" rtl="0" algn="l">
              <a:lnSpc>
                <a:spcPct val="82069"/>
              </a:lnSpc>
              <a:spcBef>
                <a:spcPts val="0"/>
              </a:spcBef>
              <a:spcAft>
                <a:spcPts val="0"/>
              </a:spcAft>
              <a:buClr>
                <a:srgbClr val="FFFFFF"/>
              </a:buClr>
              <a:buSzPts val="6270"/>
              <a:buFont typeface="League Spartan"/>
              <a:buNone/>
            </a:pPr>
            <a:r>
              <a:rPr b="1" lang="en-US" sz="6270">
                <a:solidFill>
                  <a:srgbClr val="FFFFFF"/>
                </a:solidFill>
                <a:latin typeface="League Spartan"/>
                <a:ea typeface="League Spartan"/>
                <a:cs typeface="League Spartan"/>
                <a:sym typeface="League Spartan"/>
              </a:rPr>
              <a:t>MEASURABLE </a:t>
            </a:r>
            <a:r>
              <a:rPr b="1" i="0" lang="en-US" sz="6270" u="none" cap="none" strike="noStrike">
                <a:solidFill>
                  <a:srgbClr val="FFFFFF"/>
                </a:solidFill>
                <a:latin typeface="League Spartan"/>
                <a:ea typeface="League Spartan"/>
                <a:cs typeface="League Spartan"/>
                <a:sym typeface="League Spartan"/>
              </a:rPr>
              <a:t>HEALTHY MATTERS™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g3fb3490fa10_0_14"/>
          <p:cNvSpPr/>
          <p:nvPr/>
        </p:nvSpPr>
        <p:spPr>
          <a:xfrm>
            <a:off x="0" y="-1"/>
            <a:ext cx="18288000" cy="10287000"/>
          </a:xfrm>
          <a:prstGeom prst="rect">
            <a:avLst/>
          </a:prstGeom>
          <a:gradFill>
            <a:gsLst>
              <a:gs pos="0">
                <a:srgbClr val="3A4759"/>
              </a:gs>
              <a:gs pos="48000">
                <a:srgbClr val="1F2C3F"/>
              </a:gs>
              <a:gs pos="100000">
                <a:srgbClr val="101B2B"/>
              </a:gs>
            </a:gsLst>
            <a:lin ang="8100019"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470" name="Google Shape;470;g3fb3490fa10_0_14"/>
          <p:cNvSpPr txBox="1"/>
          <p:nvPr/>
        </p:nvSpPr>
        <p:spPr>
          <a:xfrm>
            <a:off x="952453" y="9654885"/>
            <a:ext cx="2288700" cy="251100"/>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471" name="Google Shape;471;g3fb3490fa10_0_14"/>
          <p:cNvSpPr txBox="1"/>
          <p:nvPr/>
        </p:nvSpPr>
        <p:spPr>
          <a:xfrm>
            <a:off x="15076208" y="9654885"/>
            <a:ext cx="2485200" cy="251100"/>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472" name="Google Shape;472;g3fb3490fa10_0_14"/>
          <p:cNvSpPr txBox="1"/>
          <p:nvPr/>
        </p:nvSpPr>
        <p:spPr>
          <a:xfrm>
            <a:off x="2743201" y="3884125"/>
            <a:ext cx="14043600" cy="1798200"/>
          </a:xfrm>
          <a:prstGeom prst="rect">
            <a:avLst/>
          </a:prstGeom>
          <a:noFill/>
          <a:ln>
            <a:noFill/>
          </a:ln>
        </p:spPr>
        <p:txBody>
          <a:bodyPr anchorCtr="0" anchor="t" bIns="25400" lIns="25400" spcFirstLastPara="1" rIns="25400" wrap="square" tIns="25400">
            <a:normAutofit/>
          </a:bodyPr>
          <a:lstStyle/>
          <a:p>
            <a:pPr indent="0" lvl="0" marL="0" marR="0" rtl="0" algn="l">
              <a:lnSpc>
                <a:spcPct val="82069"/>
              </a:lnSpc>
              <a:spcBef>
                <a:spcPts val="0"/>
              </a:spcBef>
              <a:spcAft>
                <a:spcPts val="0"/>
              </a:spcAft>
              <a:buClr>
                <a:srgbClr val="FFFFFF"/>
              </a:buClr>
              <a:buSzPts val="6270"/>
              <a:buFont typeface="League Spartan"/>
              <a:buNone/>
            </a:pPr>
            <a:r>
              <a:rPr b="1" lang="en-US" sz="6270">
                <a:solidFill>
                  <a:srgbClr val="FFFFFF"/>
                </a:solidFill>
                <a:latin typeface="League Spartan"/>
                <a:ea typeface="League Spartan"/>
                <a:cs typeface="League Spartan"/>
                <a:sym typeface="League Spartan"/>
              </a:rPr>
              <a:t>MEASURABLE </a:t>
            </a:r>
            <a:r>
              <a:rPr b="1" i="0" lang="en-US" sz="6270" u="none" cap="none" strike="noStrike">
                <a:solidFill>
                  <a:srgbClr val="FFFFFF"/>
                </a:solidFill>
                <a:latin typeface="League Spartan"/>
                <a:ea typeface="League Spartan"/>
                <a:cs typeface="League Spartan"/>
                <a:sym typeface="League Spartan"/>
              </a:rPr>
              <a:t>HEALTHY MATTERS™</a:t>
            </a:r>
            <a:endParaRPr/>
          </a:p>
        </p:txBody>
      </p:sp>
      <p:sp>
        <p:nvSpPr>
          <p:cNvPr id="473" name="Google Shape;473;g3fb3490fa10_0_14"/>
          <p:cNvSpPr txBox="1"/>
          <p:nvPr/>
        </p:nvSpPr>
        <p:spPr>
          <a:xfrm>
            <a:off x="2895601" y="5770289"/>
            <a:ext cx="14043600" cy="1798200"/>
          </a:xfrm>
          <a:prstGeom prst="rect">
            <a:avLst/>
          </a:prstGeom>
          <a:noFill/>
          <a:ln>
            <a:noFill/>
          </a:ln>
        </p:spPr>
        <p:txBody>
          <a:bodyPr anchorCtr="0" anchor="t" bIns="25400" lIns="25400" spcFirstLastPara="1" rIns="25400" wrap="square" tIns="25400">
            <a:normAutofit/>
          </a:bodyPr>
          <a:lstStyle/>
          <a:p>
            <a:pPr indent="0" lvl="0" marL="0" marR="0" rtl="0" algn="l">
              <a:lnSpc>
                <a:spcPct val="82069"/>
              </a:lnSpc>
              <a:spcBef>
                <a:spcPts val="0"/>
              </a:spcBef>
              <a:spcAft>
                <a:spcPts val="0"/>
              </a:spcAft>
              <a:buClr>
                <a:srgbClr val="FFFFFF"/>
              </a:buClr>
              <a:buSzPts val="6270"/>
              <a:buFont typeface="League Spartan"/>
              <a:buNone/>
            </a:pPr>
            <a:r>
              <a:rPr b="1" lang="en-US" sz="6270">
                <a:solidFill>
                  <a:srgbClr val="FFFFFF"/>
                </a:solidFill>
                <a:latin typeface="League Spartan"/>
                <a:ea typeface="League Spartan"/>
                <a:cs typeface="League Spartan"/>
                <a:sym typeface="League Spartan"/>
              </a:rPr>
              <a:t>YOUR </a:t>
            </a:r>
            <a:r>
              <a:rPr b="1" i="1" lang="en-US" sz="6270">
                <a:solidFill>
                  <a:srgbClr val="FFFFFF"/>
                </a:solidFill>
                <a:latin typeface="League Spartan"/>
                <a:ea typeface="League Spartan"/>
                <a:cs typeface="League Spartan"/>
                <a:sym typeface="League Spartan"/>
              </a:rPr>
              <a:t>ACTIONABLE</a:t>
            </a:r>
            <a:r>
              <a:rPr b="1" lang="en-US" sz="6270">
                <a:solidFill>
                  <a:srgbClr val="FFFFFF"/>
                </a:solidFill>
                <a:latin typeface="League Spartan"/>
                <a:ea typeface="League Spartan"/>
                <a:cs typeface="League Spartan"/>
                <a:sym typeface="League Spartan"/>
              </a:rPr>
              <a:t> ADVANTAGE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6"/>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479" name="Google Shape;479;p46"/>
          <p:cNvPicPr preferRelativeResize="0"/>
          <p:nvPr/>
        </p:nvPicPr>
        <p:blipFill rotWithShape="1">
          <a:blip r:embed="rId3">
            <a:alphaModFix amt="6000"/>
          </a:blip>
          <a:srcRect b="0" l="0" r="0" t="0"/>
          <a:stretch/>
        </p:blipFill>
        <p:spPr>
          <a:xfrm>
            <a:off x="8167644" y="498954"/>
            <a:ext cx="9305860" cy="8761395"/>
          </a:xfrm>
          <a:prstGeom prst="rect">
            <a:avLst/>
          </a:prstGeom>
          <a:noFill/>
          <a:ln>
            <a:noFill/>
          </a:ln>
        </p:spPr>
      </p:pic>
      <p:sp>
        <p:nvSpPr>
          <p:cNvPr id="480" name="Google Shape;480;p46"/>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481" name="Google Shape;481;p46"/>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pic>
        <p:nvPicPr>
          <p:cNvPr descr="pasted-movie.png" id="482" name="Google Shape;482;p46"/>
          <p:cNvPicPr preferRelativeResize="0"/>
          <p:nvPr/>
        </p:nvPicPr>
        <p:blipFill rotWithShape="1">
          <a:blip r:embed="rId4">
            <a:alphaModFix/>
          </a:blip>
          <a:srcRect b="0" l="0" r="0" t="0"/>
          <a:stretch/>
        </p:blipFill>
        <p:spPr>
          <a:xfrm>
            <a:off x="5069073" y="2839148"/>
            <a:ext cx="8412551" cy="3230550"/>
          </a:xfrm>
          <a:prstGeom prst="rect">
            <a:avLst/>
          </a:prstGeom>
          <a:noFill/>
          <a:ln>
            <a:noFill/>
          </a:ln>
        </p:spPr>
      </p:pic>
      <p:sp>
        <p:nvSpPr>
          <p:cNvPr id="483" name="Google Shape;483;p46"/>
          <p:cNvSpPr txBox="1"/>
          <p:nvPr/>
        </p:nvSpPr>
        <p:spPr>
          <a:xfrm>
            <a:off x="1281620" y="7610201"/>
            <a:ext cx="15987444" cy="1247141"/>
          </a:xfrm>
          <a:prstGeom prst="rect">
            <a:avLst/>
          </a:prstGeom>
          <a:noFill/>
          <a:ln>
            <a:noFill/>
          </a:ln>
        </p:spPr>
        <p:txBody>
          <a:bodyPr anchorCtr="0" anchor="t" bIns="45700" lIns="45700" spcFirstLastPara="1" rIns="45700" wrap="square" tIns="45700">
            <a:spAutoFit/>
          </a:bodyPr>
          <a:lstStyle/>
          <a:p>
            <a:pPr indent="0" lvl="0" marL="0" marR="0" rtl="0" algn="l">
              <a:lnSpc>
                <a:spcPct val="79766"/>
              </a:lnSpc>
              <a:spcBef>
                <a:spcPts val="0"/>
              </a:spcBef>
              <a:spcAft>
                <a:spcPts val="0"/>
              </a:spcAft>
              <a:buClr>
                <a:srgbClr val="F04E23"/>
              </a:buClr>
              <a:buSzPts val="7600"/>
              <a:buFont typeface="League Spartan"/>
              <a:buNone/>
            </a:pPr>
            <a:r>
              <a:rPr b="1" i="0" lang="en-US" sz="7600" u="none" cap="none" strike="noStrike">
                <a:solidFill>
                  <a:srgbClr val="F04E23"/>
                </a:solidFill>
                <a:latin typeface="League Spartan"/>
                <a:ea typeface="League Spartan"/>
                <a:cs typeface="League Spartan"/>
                <a:sym typeface="League Spartan"/>
              </a:rPr>
              <a:t>“The Answer is in the Tools.” - Walt</a:t>
            </a:r>
            <a:endParaRPr/>
          </a:p>
        </p:txBody>
      </p:sp>
      <p:sp>
        <p:nvSpPr>
          <p:cNvPr id="484" name="Google Shape;484;p46"/>
          <p:cNvSpPr txBox="1"/>
          <p:nvPr/>
        </p:nvSpPr>
        <p:spPr>
          <a:xfrm>
            <a:off x="2622200" y="1425557"/>
            <a:ext cx="12981600" cy="939600"/>
          </a:xfrm>
          <a:prstGeom prst="rect">
            <a:avLst/>
          </a:prstGeom>
          <a:noFill/>
          <a:ln>
            <a:noFill/>
          </a:ln>
        </p:spPr>
        <p:txBody>
          <a:bodyPr anchorCtr="0" anchor="t" bIns="45700" lIns="45700" spcFirstLastPara="1" rIns="45700" wrap="square" tIns="45700">
            <a:spAutoFit/>
          </a:bodyPr>
          <a:lstStyle/>
          <a:p>
            <a:pPr indent="0" lvl="0" marL="0" marR="0" rtl="0" algn="l">
              <a:lnSpc>
                <a:spcPct val="79766"/>
              </a:lnSpc>
              <a:spcBef>
                <a:spcPts val="0"/>
              </a:spcBef>
              <a:spcAft>
                <a:spcPts val="0"/>
              </a:spcAft>
              <a:buClr>
                <a:srgbClr val="F04E23"/>
              </a:buClr>
              <a:buSzPts val="7600"/>
              <a:buFont typeface="League Spartan"/>
              <a:buNone/>
            </a:pPr>
            <a:r>
              <a:rPr b="1" i="0" lang="en-US" sz="6900" u="none" cap="none" strike="noStrike">
                <a:solidFill>
                  <a:srgbClr val="F04E23"/>
                </a:solidFill>
                <a:latin typeface="League Spartan"/>
                <a:ea typeface="League Spartan"/>
                <a:cs typeface="League Spartan"/>
                <a:sym typeface="League Spartan"/>
              </a:rPr>
              <a:t>No Additional Tools Required</a:t>
            </a:r>
            <a:endParaRPr sz="7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5"/>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490" name="Google Shape;490;p45"/>
          <p:cNvPicPr preferRelativeResize="0"/>
          <p:nvPr/>
        </p:nvPicPr>
        <p:blipFill rotWithShape="1">
          <a:blip r:embed="rId3">
            <a:alphaModFix amt="6000"/>
          </a:blip>
          <a:srcRect b="0" l="0" r="0" t="0"/>
          <a:stretch/>
        </p:blipFill>
        <p:spPr>
          <a:xfrm>
            <a:off x="8352280" y="762802"/>
            <a:ext cx="9305859" cy="8761396"/>
          </a:xfrm>
          <a:prstGeom prst="rect">
            <a:avLst/>
          </a:prstGeom>
          <a:noFill/>
          <a:ln>
            <a:noFill/>
          </a:ln>
        </p:spPr>
      </p:pic>
      <p:sp>
        <p:nvSpPr>
          <p:cNvPr id="491" name="Google Shape;491;p45"/>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492" name="Google Shape;492;p45"/>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493" name="Google Shape;493;p45"/>
          <p:cNvSpPr txBox="1"/>
          <p:nvPr/>
        </p:nvSpPr>
        <p:spPr>
          <a:xfrm>
            <a:off x="937317" y="483413"/>
            <a:ext cx="7271945" cy="1247141"/>
          </a:xfrm>
          <a:prstGeom prst="rect">
            <a:avLst/>
          </a:prstGeom>
          <a:noFill/>
          <a:ln>
            <a:noFill/>
          </a:ln>
        </p:spPr>
        <p:txBody>
          <a:bodyPr anchorCtr="0" anchor="t" bIns="45700" lIns="45700" spcFirstLastPara="1" rIns="45700" wrap="square" tIns="45700">
            <a:spAutoFit/>
          </a:bodyPr>
          <a:lstStyle/>
          <a:p>
            <a:pPr indent="0" lvl="0" marL="0" marR="0" rtl="0" algn="l">
              <a:lnSpc>
                <a:spcPct val="79766"/>
              </a:lnSpc>
              <a:spcBef>
                <a:spcPts val="0"/>
              </a:spcBef>
              <a:spcAft>
                <a:spcPts val="0"/>
              </a:spcAft>
              <a:buClr>
                <a:srgbClr val="F04E23"/>
              </a:buClr>
              <a:buSzPts val="7600"/>
              <a:buFont typeface="League Spartan"/>
              <a:buNone/>
            </a:pPr>
            <a:r>
              <a:rPr b="1" i="0" lang="en-US" sz="7600" u="none" cap="none" strike="noStrike">
                <a:solidFill>
                  <a:srgbClr val="F04E23"/>
                </a:solidFill>
                <a:latin typeface="League Spartan"/>
                <a:ea typeface="League Spartan"/>
                <a:cs typeface="League Spartan"/>
                <a:sym typeface="League Spartan"/>
              </a:rPr>
              <a:t>Proven Process</a:t>
            </a:r>
            <a:endParaRPr/>
          </a:p>
        </p:txBody>
      </p:sp>
      <p:pic>
        <p:nvPicPr>
          <p:cNvPr descr="Image" id="494" name="Google Shape;494;p45"/>
          <p:cNvPicPr preferRelativeResize="0"/>
          <p:nvPr/>
        </p:nvPicPr>
        <p:blipFill rotWithShape="1">
          <a:blip r:embed="rId4">
            <a:alphaModFix/>
          </a:blip>
          <a:srcRect b="0" l="0" r="0" t="0"/>
          <a:stretch/>
        </p:blipFill>
        <p:spPr>
          <a:xfrm>
            <a:off x="4977225" y="1361635"/>
            <a:ext cx="8333551" cy="829286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7"/>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500" name="Google Shape;500;p47"/>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501" name="Google Shape;501;p47"/>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502" name="Google Shape;502;p47"/>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grpSp>
        <p:nvGrpSpPr>
          <p:cNvPr id="503" name="Google Shape;503;p47"/>
          <p:cNvGrpSpPr/>
          <p:nvPr/>
        </p:nvGrpSpPr>
        <p:grpSpPr>
          <a:xfrm>
            <a:off x="6051550" y="774700"/>
            <a:ext cx="6184900" cy="8750300"/>
            <a:chOff x="0" y="0"/>
            <a:chExt cx="6184900" cy="8750300"/>
          </a:xfrm>
        </p:grpSpPr>
        <p:pic>
          <p:nvPicPr>
            <p:cNvPr descr="Healthy matters front cover.jpg" id="504" name="Google Shape;504;p47"/>
            <p:cNvPicPr preferRelativeResize="0"/>
            <p:nvPr/>
          </p:nvPicPr>
          <p:blipFill rotWithShape="1">
            <a:blip r:embed="rId4">
              <a:alphaModFix/>
            </a:blip>
            <a:srcRect b="0" l="0" r="0" t="0"/>
            <a:stretch/>
          </p:blipFill>
          <p:spPr>
            <a:xfrm>
              <a:off x="203200" y="203200"/>
              <a:ext cx="5778500" cy="8305800"/>
            </a:xfrm>
            <a:prstGeom prst="rect">
              <a:avLst/>
            </a:prstGeom>
            <a:noFill/>
            <a:ln>
              <a:noFill/>
            </a:ln>
          </p:spPr>
        </p:pic>
        <p:pic>
          <p:nvPicPr>
            <p:cNvPr descr="Healthy matters front cover.jpg" id="505" name="Google Shape;505;p47"/>
            <p:cNvPicPr preferRelativeResize="0"/>
            <p:nvPr/>
          </p:nvPicPr>
          <p:blipFill rotWithShape="1">
            <a:blip r:embed="rId5">
              <a:alphaModFix/>
            </a:blip>
            <a:srcRect b="0" l="0" r="0" t="0"/>
            <a:stretch/>
          </p:blipFill>
          <p:spPr>
            <a:xfrm>
              <a:off x="0" y="0"/>
              <a:ext cx="6184900" cy="8750300"/>
            </a:xfrm>
            <a:prstGeom prst="rect">
              <a:avLst/>
            </a:prstGeom>
            <a:noFill/>
            <a:ln>
              <a:noFill/>
            </a:ln>
          </p:spPr>
        </p:pic>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8"/>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511" name="Google Shape;511;p48"/>
          <p:cNvSpPr txBox="1"/>
          <p:nvPr/>
        </p:nvSpPr>
        <p:spPr>
          <a:xfrm>
            <a:off x="952453" y="9654885"/>
            <a:ext cx="2288781"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eosnorthtexas.com</a:t>
            </a:r>
            <a:endParaRPr/>
          </a:p>
        </p:txBody>
      </p:sp>
      <p:sp>
        <p:nvSpPr>
          <p:cNvPr id="512" name="Google Shape;512;p48"/>
          <p:cNvSpPr txBox="1"/>
          <p:nvPr/>
        </p:nvSpPr>
        <p:spPr>
          <a:xfrm>
            <a:off x="15076208" y="9654885"/>
            <a:ext cx="2485229"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
        <p:nvSpPr>
          <p:cNvPr id="513" name="Google Shape;513;p48"/>
          <p:cNvSpPr txBox="1"/>
          <p:nvPr/>
        </p:nvSpPr>
        <p:spPr>
          <a:xfrm>
            <a:off x="3846207" y="4244412"/>
            <a:ext cx="10595586" cy="1798177"/>
          </a:xfrm>
          <a:prstGeom prst="rect">
            <a:avLst/>
          </a:prstGeom>
          <a:noFill/>
          <a:ln>
            <a:noFill/>
          </a:ln>
        </p:spPr>
        <p:txBody>
          <a:bodyPr anchorCtr="0" anchor="t" bIns="25400" lIns="25400" spcFirstLastPara="1" rIns="25400" wrap="square" tIns="25400">
            <a:normAutofit/>
          </a:bodyPr>
          <a:lstStyle/>
          <a:p>
            <a:pPr indent="0" lvl="0" marL="0" marR="0" rtl="0" algn="ctr">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7 CRITICAL NEEDS™</a:t>
            </a:r>
            <a:endParaRPr/>
          </a:p>
          <a:p>
            <a:pPr indent="0" lvl="0" marL="0" marR="0" rtl="0" algn="ctr">
              <a:lnSpc>
                <a:spcPct val="82069"/>
              </a:lnSpc>
              <a:spcBef>
                <a:spcPts val="0"/>
              </a:spcBef>
              <a:spcAft>
                <a:spcPts val="0"/>
              </a:spcAft>
              <a:buClr>
                <a:srgbClr val="FFFFFF"/>
              </a:buClr>
              <a:buSzPts val="6270"/>
              <a:buFont typeface="League Spartan"/>
              <a:buNone/>
            </a:pPr>
            <a:r>
              <a:rPr b="1" i="0" lang="en-US" sz="6270" u="none" cap="none" strike="noStrike">
                <a:solidFill>
                  <a:srgbClr val="FFFFFF"/>
                </a:solidFill>
                <a:latin typeface="League Spartan"/>
                <a:ea typeface="League Spartan"/>
                <a:cs typeface="League Spartan"/>
                <a:sym typeface="League Spartan"/>
              </a:rPr>
              <a:t>An EOS® Trust Builder™</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9"/>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519" name="Google Shape;519;p49"/>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520" name="Google Shape;520;p49"/>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521" name="Google Shape;521;p49"/>
          <p:cNvSpPr txBox="1"/>
          <p:nvPr/>
        </p:nvSpPr>
        <p:spPr>
          <a:xfrm>
            <a:off x="1776910" y="3702583"/>
            <a:ext cx="17392637" cy="1398204"/>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8820"/>
              <a:buFont typeface="League Spartan"/>
              <a:buNone/>
            </a:pPr>
            <a:r>
              <a:rPr b="1" i="0" lang="en-US" sz="8820" u="none" cap="none" strike="noStrike">
                <a:solidFill>
                  <a:srgbClr val="F04E23"/>
                </a:solidFill>
                <a:latin typeface="League Spartan"/>
                <a:ea typeface="League Spartan"/>
                <a:cs typeface="League Spartan"/>
                <a:sym typeface="League Spartan"/>
              </a:rPr>
              <a:t>Questions? Thoughts?</a:t>
            </a:r>
            <a:endParaRPr/>
          </a:p>
        </p:txBody>
      </p:sp>
      <p:sp>
        <p:nvSpPr>
          <p:cNvPr id="522" name="Google Shape;522;p49"/>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0"/>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528" name="Google Shape;528;p50"/>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529" name="Google Shape;529;p50"/>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530" name="Google Shape;530;p50"/>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grpSp>
        <p:nvGrpSpPr>
          <p:cNvPr id="531" name="Google Shape;531;p50"/>
          <p:cNvGrpSpPr/>
          <p:nvPr/>
        </p:nvGrpSpPr>
        <p:grpSpPr>
          <a:xfrm>
            <a:off x="7653332" y="768350"/>
            <a:ext cx="6184901" cy="8750300"/>
            <a:chOff x="0" y="0"/>
            <a:chExt cx="6184900" cy="8750300"/>
          </a:xfrm>
        </p:grpSpPr>
        <p:pic>
          <p:nvPicPr>
            <p:cNvPr descr="7 Critical Needs  Survey  21 Questions - Advanced.gif" id="532" name="Google Shape;532;p50"/>
            <p:cNvPicPr preferRelativeResize="0"/>
            <p:nvPr/>
          </p:nvPicPr>
          <p:blipFill rotWithShape="1">
            <a:blip r:embed="rId4">
              <a:alphaModFix/>
            </a:blip>
            <a:srcRect b="0" l="2169" r="2169" t="0"/>
            <a:stretch/>
          </p:blipFill>
          <p:spPr>
            <a:xfrm>
              <a:off x="203200" y="203200"/>
              <a:ext cx="5778500" cy="8305800"/>
            </a:xfrm>
            <a:prstGeom prst="rect">
              <a:avLst/>
            </a:prstGeom>
            <a:noFill/>
            <a:ln>
              <a:noFill/>
            </a:ln>
          </p:spPr>
        </p:pic>
        <p:pic>
          <p:nvPicPr>
            <p:cNvPr descr="7 Critical Needs  Survey  21 Questions - Advanced.gif" id="533" name="Google Shape;533;p50"/>
            <p:cNvPicPr preferRelativeResize="0"/>
            <p:nvPr/>
          </p:nvPicPr>
          <p:blipFill rotWithShape="1">
            <a:blip r:embed="rId5">
              <a:alphaModFix/>
            </a:blip>
            <a:srcRect b="0" l="0" r="0" t="0"/>
            <a:stretch/>
          </p:blipFill>
          <p:spPr>
            <a:xfrm>
              <a:off x="0" y="0"/>
              <a:ext cx="6184900" cy="8750300"/>
            </a:xfrm>
            <a:prstGeom prst="rect">
              <a:avLst/>
            </a:prstGeom>
            <a:noFill/>
            <a:ln>
              <a:noFill/>
            </a:ln>
          </p:spPr>
        </p:pic>
      </p:grpSp>
      <p:sp>
        <p:nvSpPr>
          <p:cNvPr id="534" name="Google Shape;534;p50"/>
          <p:cNvSpPr txBox="1"/>
          <p:nvPr/>
        </p:nvSpPr>
        <p:spPr>
          <a:xfrm>
            <a:off x="946984" y="948742"/>
            <a:ext cx="5257542" cy="2009185"/>
          </a:xfrm>
          <a:prstGeom prst="rect">
            <a:avLst/>
          </a:prstGeom>
          <a:noFill/>
          <a:ln>
            <a:noFill/>
          </a:ln>
        </p:spPr>
        <p:txBody>
          <a:bodyPr anchorCtr="0" anchor="t" bIns="45700" lIns="45700" spcFirstLastPara="1" rIns="45700" wrap="square" tIns="45700">
            <a:spAutoFit/>
          </a:bodyPr>
          <a:lstStyle/>
          <a:p>
            <a:pPr indent="0" lvl="0" marL="0" marR="0" rtl="0" algn="l">
              <a:lnSpc>
                <a:spcPct val="79766"/>
              </a:lnSpc>
              <a:spcBef>
                <a:spcPts val="0"/>
              </a:spcBef>
              <a:spcAft>
                <a:spcPts val="0"/>
              </a:spcAft>
              <a:buClr>
                <a:srgbClr val="F04E23"/>
              </a:buClr>
              <a:buSzPts val="7000"/>
              <a:buFont typeface="League Spartan"/>
              <a:buNone/>
            </a:pPr>
            <a:r>
              <a:rPr b="1" i="0" lang="en-US" sz="7000" u="none" cap="none" strike="noStrike">
                <a:solidFill>
                  <a:srgbClr val="F04E23"/>
                </a:solidFill>
                <a:latin typeface="League Spartan"/>
                <a:ea typeface="League Spartan"/>
                <a:cs typeface="League Spartan"/>
                <a:sym typeface="League Spartan"/>
              </a:rPr>
              <a:t>Assessment</a:t>
            </a:r>
            <a:endParaRPr/>
          </a:p>
          <a:p>
            <a:pPr indent="0" lvl="0" marL="0" marR="0" rtl="0" algn="l">
              <a:lnSpc>
                <a:spcPct val="79766"/>
              </a:lnSpc>
              <a:spcBef>
                <a:spcPts val="0"/>
              </a:spcBef>
              <a:spcAft>
                <a:spcPts val="0"/>
              </a:spcAft>
              <a:buClr>
                <a:srgbClr val="F04E23"/>
              </a:buClr>
              <a:buSzPts val="7000"/>
              <a:buFont typeface="League Spartan"/>
              <a:buNone/>
            </a:pPr>
            <a:r>
              <a:rPr b="1" i="0" lang="en-US" sz="7000" u="none" cap="none" strike="noStrike">
                <a:solidFill>
                  <a:srgbClr val="F04E23"/>
                </a:solidFill>
                <a:latin typeface="League Spartan"/>
                <a:ea typeface="League Spartan"/>
                <a:cs typeface="League Spartan"/>
                <a:sym typeface="League Spartan"/>
              </a:rPr>
              <a:t>Platform</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1"/>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540" name="Google Shape;540;p51"/>
          <p:cNvPicPr preferRelativeResize="0"/>
          <p:nvPr/>
        </p:nvPicPr>
        <p:blipFill rotWithShape="1">
          <a:blip r:embed="rId3">
            <a:alphaModFix amt="6000"/>
          </a:blip>
          <a:srcRect b="0" l="0" r="0" t="0"/>
          <a:stretch/>
        </p:blipFill>
        <p:spPr>
          <a:xfrm>
            <a:off x="9153558" y="762790"/>
            <a:ext cx="9305859" cy="8761395"/>
          </a:xfrm>
          <a:prstGeom prst="rect">
            <a:avLst/>
          </a:prstGeom>
          <a:noFill/>
          <a:ln>
            <a:noFill/>
          </a:ln>
        </p:spPr>
      </p:pic>
      <p:sp>
        <p:nvSpPr>
          <p:cNvPr id="541" name="Google Shape;541;p51"/>
          <p:cNvSpPr txBox="1"/>
          <p:nvPr/>
        </p:nvSpPr>
        <p:spPr>
          <a:xfrm>
            <a:off x="14068392" y="1067526"/>
            <a:ext cx="4318420" cy="1771618"/>
          </a:xfrm>
          <a:prstGeom prst="rect">
            <a:avLst/>
          </a:prstGeom>
          <a:noFill/>
          <a:ln>
            <a:noFill/>
          </a:ln>
        </p:spPr>
        <p:txBody>
          <a:bodyPr anchorCtr="0" anchor="t" bIns="25400" lIns="25400" spcFirstLastPara="1" rIns="25400" wrap="square" tIns="25400">
            <a:normAutofit/>
          </a:bodyPr>
          <a:lstStyle/>
          <a:p>
            <a:pPr indent="0" lvl="0" marL="0" marR="0" rtl="0" algn="l">
              <a:lnSpc>
                <a:spcPct val="78355"/>
              </a:lnSpc>
              <a:spcBef>
                <a:spcPts val="0"/>
              </a:spcBef>
              <a:spcAft>
                <a:spcPts val="0"/>
              </a:spcAft>
              <a:buClr>
                <a:srgbClr val="FF7900"/>
              </a:buClr>
              <a:buSzPts val="11152"/>
              <a:buFont typeface="League Spartan"/>
              <a:buNone/>
            </a:pPr>
            <a:r>
              <a:rPr b="1" i="0" lang="en-US" sz="11152" u="none" cap="none" strike="noStrike">
                <a:solidFill>
                  <a:srgbClr val="FF7900"/>
                </a:solidFill>
                <a:latin typeface="League Spartan"/>
                <a:ea typeface="League Spartan"/>
                <a:cs typeface="League Spartan"/>
                <a:sym typeface="League Spartan"/>
              </a:rPr>
              <a:t>2026</a:t>
            </a:r>
            <a:endParaRPr/>
          </a:p>
        </p:txBody>
      </p:sp>
      <p:sp>
        <p:nvSpPr>
          <p:cNvPr id="542" name="Google Shape;542;p51"/>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grpSp>
        <p:nvGrpSpPr>
          <p:cNvPr id="543" name="Google Shape;543;p51"/>
          <p:cNvGrpSpPr/>
          <p:nvPr/>
        </p:nvGrpSpPr>
        <p:grpSpPr>
          <a:xfrm>
            <a:off x="7831307" y="768350"/>
            <a:ext cx="6184901" cy="8750301"/>
            <a:chOff x="0" y="0"/>
            <a:chExt cx="6184900" cy="8750300"/>
          </a:xfrm>
        </p:grpSpPr>
        <p:pic>
          <p:nvPicPr>
            <p:cNvPr descr="Final Effort Arrows.jpg" id="544" name="Google Shape;544;p51"/>
            <p:cNvPicPr preferRelativeResize="0"/>
            <p:nvPr/>
          </p:nvPicPr>
          <p:blipFill rotWithShape="1">
            <a:blip r:embed="rId4">
              <a:alphaModFix/>
            </a:blip>
            <a:srcRect b="0" l="9015" r="9015" t="0"/>
            <a:stretch/>
          </p:blipFill>
          <p:spPr>
            <a:xfrm>
              <a:off x="203200" y="203200"/>
              <a:ext cx="5778500" cy="8305800"/>
            </a:xfrm>
            <a:prstGeom prst="rect">
              <a:avLst/>
            </a:prstGeom>
            <a:noFill/>
            <a:ln>
              <a:noFill/>
            </a:ln>
          </p:spPr>
        </p:pic>
        <p:pic>
          <p:nvPicPr>
            <p:cNvPr descr="Final Effort Arrows.jpg" id="545" name="Google Shape;545;p51"/>
            <p:cNvPicPr preferRelativeResize="0"/>
            <p:nvPr/>
          </p:nvPicPr>
          <p:blipFill rotWithShape="1">
            <a:blip r:embed="rId5">
              <a:alphaModFix/>
            </a:blip>
            <a:srcRect b="0" l="0" r="0" t="0"/>
            <a:stretch/>
          </p:blipFill>
          <p:spPr>
            <a:xfrm>
              <a:off x="0" y="0"/>
              <a:ext cx="6184900" cy="8750300"/>
            </a:xfrm>
            <a:prstGeom prst="rect">
              <a:avLst/>
            </a:prstGeom>
            <a:noFill/>
            <a:ln>
              <a:noFill/>
            </a:ln>
          </p:spPr>
        </p:pic>
      </p:grpSp>
      <p:sp>
        <p:nvSpPr>
          <p:cNvPr id="546" name="Google Shape;546;p51"/>
          <p:cNvSpPr txBox="1"/>
          <p:nvPr/>
        </p:nvSpPr>
        <p:spPr>
          <a:xfrm>
            <a:off x="1267340" y="948742"/>
            <a:ext cx="3116224" cy="2009185"/>
          </a:xfrm>
          <a:prstGeom prst="rect">
            <a:avLst/>
          </a:prstGeom>
          <a:noFill/>
          <a:ln>
            <a:noFill/>
          </a:ln>
        </p:spPr>
        <p:txBody>
          <a:bodyPr anchorCtr="0" anchor="t" bIns="45700" lIns="45700" spcFirstLastPara="1" rIns="45700" wrap="square" tIns="45700">
            <a:spAutoFit/>
          </a:bodyPr>
          <a:lstStyle/>
          <a:p>
            <a:pPr indent="0" lvl="0" marL="0" marR="0" rtl="0" algn="l">
              <a:lnSpc>
                <a:spcPct val="79766"/>
              </a:lnSpc>
              <a:spcBef>
                <a:spcPts val="0"/>
              </a:spcBef>
              <a:spcAft>
                <a:spcPts val="0"/>
              </a:spcAft>
              <a:buClr>
                <a:srgbClr val="F04E23"/>
              </a:buClr>
              <a:buSzPts val="7000"/>
              <a:buFont typeface="League Spartan"/>
              <a:buNone/>
            </a:pPr>
            <a:r>
              <a:rPr b="1" i="0" lang="en-US" sz="7000" u="none" cap="none" strike="noStrike">
                <a:solidFill>
                  <a:srgbClr val="F04E23"/>
                </a:solidFill>
                <a:latin typeface="League Spartan"/>
                <a:ea typeface="League Spartan"/>
                <a:cs typeface="League Spartan"/>
                <a:sym typeface="League Spartan"/>
              </a:rPr>
              <a:t>Effort</a:t>
            </a:r>
            <a:endParaRPr/>
          </a:p>
          <a:p>
            <a:pPr indent="0" lvl="0" marL="0" marR="0" rtl="0" algn="l">
              <a:lnSpc>
                <a:spcPct val="79766"/>
              </a:lnSpc>
              <a:spcBef>
                <a:spcPts val="0"/>
              </a:spcBef>
              <a:spcAft>
                <a:spcPts val="0"/>
              </a:spcAft>
              <a:buClr>
                <a:srgbClr val="F04E23"/>
              </a:buClr>
              <a:buSzPts val="7000"/>
              <a:buFont typeface="League Spartan"/>
              <a:buNone/>
            </a:pPr>
            <a:r>
              <a:rPr b="1" i="0" lang="en-US" sz="7000" u="none" cap="none" strike="noStrike">
                <a:solidFill>
                  <a:srgbClr val="F04E23"/>
                </a:solidFill>
                <a:latin typeface="League Spartan"/>
                <a:ea typeface="League Spartan"/>
                <a:cs typeface="League Spartan"/>
                <a:sym typeface="League Spartan"/>
              </a:rPr>
              <a:t>Arrows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2"/>
          <p:cNvSpPr txBox="1"/>
          <p:nvPr/>
        </p:nvSpPr>
        <p:spPr>
          <a:xfrm>
            <a:off x="952453" y="9654885"/>
            <a:ext cx="2485228" cy="263643"/>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A5AAAF"/>
              </a:buClr>
              <a:buSzPts val="1485"/>
              <a:buFont typeface="Arial"/>
              <a:buNone/>
            </a:pPr>
            <a:r>
              <a:rPr b="1" i="0" lang="en-US" sz="1485" u="none" cap="none" strike="noStrike">
                <a:solidFill>
                  <a:srgbClr val="A5AAAF"/>
                </a:solidFill>
                <a:latin typeface="Arial"/>
                <a:ea typeface="Arial"/>
                <a:cs typeface="Arial"/>
                <a:sym typeface="Arial"/>
              </a:rPr>
              <a:t>#WeRunOnEOS2026</a:t>
            </a:r>
            <a:endParaRPr/>
          </a:p>
        </p:txBody>
      </p:sp>
      <p:pic>
        <p:nvPicPr>
          <p:cNvPr descr="Image 0" id="552" name="Google Shape;552;p52"/>
          <p:cNvPicPr preferRelativeResize="0"/>
          <p:nvPr/>
        </p:nvPicPr>
        <p:blipFill rotWithShape="1">
          <a:blip r:embed="rId3">
            <a:alphaModFix amt="35000"/>
          </a:blip>
          <a:srcRect b="0" l="0" r="0" t="0"/>
          <a:stretch/>
        </p:blipFill>
        <p:spPr>
          <a:xfrm>
            <a:off x="16687857" y="9334388"/>
            <a:ext cx="647650" cy="609745"/>
          </a:xfrm>
          <a:prstGeom prst="rect">
            <a:avLst/>
          </a:prstGeom>
          <a:noFill/>
          <a:ln>
            <a:noFill/>
          </a:ln>
        </p:spPr>
      </p:pic>
      <p:sp>
        <p:nvSpPr>
          <p:cNvPr id="553" name="Google Shape;553;p52"/>
          <p:cNvSpPr txBox="1"/>
          <p:nvPr/>
        </p:nvSpPr>
        <p:spPr>
          <a:xfrm>
            <a:off x="17030701" y="9353408"/>
            <a:ext cx="356618" cy="161938"/>
          </a:xfrm>
          <a:prstGeom prst="rect">
            <a:avLst/>
          </a:prstGeom>
          <a:noFill/>
          <a:ln>
            <a:noFill/>
          </a:ln>
        </p:spPr>
        <p:txBody>
          <a:bodyPr anchorCtr="0" anchor="t" bIns="25400" lIns="25400" spcFirstLastPara="1" rIns="25400" wrap="square" tIns="25400">
            <a:normAutofit/>
          </a:bodyPr>
          <a:lstStyle/>
          <a:p>
            <a:pPr indent="0" lvl="0" marL="0" marR="0" rtl="0" algn="l">
              <a:lnSpc>
                <a:spcPct val="77677"/>
              </a:lnSpc>
              <a:spcBef>
                <a:spcPts val="0"/>
              </a:spcBef>
              <a:spcAft>
                <a:spcPts val="0"/>
              </a:spcAft>
              <a:buClr>
                <a:srgbClr val="FF7900"/>
              </a:buClr>
              <a:buSzPts val="800"/>
              <a:buFont typeface="Arial"/>
              <a:buNone/>
            </a:pPr>
            <a:r>
              <a:rPr b="1" i="0" lang="en-US" sz="800" u="none" cap="none" strike="noStrike">
                <a:solidFill>
                  <a:srgbClr val="FF7900"/>
                </a:solidFill>
                <a:latin typeface="Arial"/>
                <a:ea typeface="Arial"/>
                <a:cs typeface="Arial"/>
                <a:sym typeface="Arial"/>
              </a:rPr>
              <a:t>2026</a:t>
            </a:r>
            <a:endParaRPr/>
          </a:p>
        </p:txBody>
      </p:sp>
      <p:pic>
        <p:nvPicPr>
          <p:cNvPr descr="pasted-movie.png" id="554" name="Google Shape;554;p52"/>
          <p:cNvPicPr preferRelativeResize="0"/>
          <p:nvPr/>
        </p:nvPicPr>
        <p:blipFill rotWithShape="1">
          <a:blip r:embed="rId4">
            <a:alphaModFix/>
          </a:blip>
          <a:srcRect b="0" l="0" r="0" t="0"/>
          <a:stretch/>
        </p:blipFill>
        <p:spPr>
          <a:xfrm>
            <a:off x="4945677" y="1677676"/>
            <a:ext cx="7681153" cy="7643648"/>
          </a:xfrm>
          <a:prstGeom prst="rect">
            <a:avLst/>
          </a:prstGeom>
          <a:noFill/>
          <a:ln>
            <a:noFill/>
          </a:ln>
        </p:spPr>
      </p:pic>
      <p:sp>
        <p:nvSpPr>
          <p:cNvPr id="555" name="Google Shape;555;p52"/>
          <p:cNvSpPr txBox="1"/>
          <p:nvPr/>
        </p:nvSpPr>
        <p:spPr>
          <a:xfrm>
            <a:off x="776575" y="605205"/>
            <a:ext cx="17356024" cy="919078"/>
          </a:xfrm>
          <a:prstGeom prst="rect">
            <a:avLst/>
          </a:prstGeom>
          <a:noFill/>
          <a:ln>
            <a:noFill/>
          </a:ln>
        </p:spPr>
        <p:txBody>
          <a:bodyPr anchorCtr="0" anchor="t" bIns="25400" lIns="25400" spcFirstLastPara="1" rIns="25400" wrap="square" tIns="25400">
            <a:normAutofit/>
          </a:bodyPr>
          <a:lstStyle/>
          <a:p>
            <a:pPr indent="0" lvl="0" marL="0" marR="0" rtl="0" algn="l">
              <a:lnSpc>
                <a:spcPct val="79766"/>
              </a:lnSpc>
              <a:spcBef>
                <a:spcPts val="0"/>
              </a:spcBef>
              <a:spcAft>
                <a:spcPts val="0"/>
              </a:spcAft>
              <a:buClr>
                <a:srgbClr val="F04E23"/>
              </a:buClr>
              <a:buSzPts val="5776"/>
              <a:buFont typeface="League Spartan"/>
              <a:buNone/>
            </a:pPr>
            <a:r>
              <a:rPr b="1" i="0" lang="en-US" sz="5776" u="none" cap="none" strike="noStrike">
                <a:solidFill>
                  <a:srgbClr val="F04E23"/>
                </a:solidFill>
                <a:latin typeface="League Spartan"/>
                <a:ea typeface="League Spartan"/>
                <a:cs typeface="League Spartan"/>
                <a:sym typeface="League Spartan"/>
              </a:rPr>
              <a:t>Proven Process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3"/>
          <p:cNvSpPr txBox="1"/>
          <p:nvPr/>
        </p:nvSpPr>
        <p:spPr>
          <a:xfrm>
            <a:off x="952452" y="761976"/>
            <a:ext cx="18021360" cy="60763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142233"/>
              </a:buClr>
              <a:buSzPts val="3666"/>
              <a:buFont typeface="League Spartan"/>
              <a:buNone/>
            </a:pPr>
            <a:r>
              <a:rPr b="1" i="0" lang="en-US" sz="3666" u="none" cap="none" strike="noStrike">
                <a:solidFill>
                  <a:srgbClr val="142233"/>
                </a:solidFill>
                <a:latin typeface="League Spartan"/>
                <a:ea typeface="League Spartan"/>
                <a:cs typeface="League Spartan"/>
                <a:sym typeface="League Spartan"/>
              </a:rPr>
              <a:t>Thank You to Our Sponsors</a:t>
            </a:r>
            <a:endParaRPr/>
          </a:p>
        </p:txBody>
      </p:sp>
      <p:pic>
        <p:nvPicPr>
          <p:cNvPr id="561" name="Google Shape;561;p53"/>
          <p:cNvPicPr preferRelativeResize="0"/>
          <p:nvPr/>
        </p:nvPicPr>
        <p:blipFill rotWithShape="1">
          <a:blip r:embed="rId3">
            <a:alphaModFix/>
          </a:blip>
          <a:srcRect b="0" l="0" r="0" t="0"/>
          <a:stretch/>
        </p:blipFill>
        <p:spPr>
          <a:xfrm>
            <a:off x="5263518" y="1860448"/>
            <a:ext cx="7760963" cy="782808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54"/>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567" name="Google Shape;567;p54"/>
          <p:cNvSpPr/>
          <p:nvPr/>
        </p:nvSpPr>
        <p:spPr>
          <a:xfrm>
            <a:off x="1428712" y="3871286"/>
            <a:ext cx="1047692" cy="133348"/>
          </a:xfrm>
          <a:prstGeom prst="roundRect">
            <a:avLst>
              <a:gd fmla="val 50000" name="adj"/>
            </a:avLst>
          </a:prstGeom>
          <a:gradFill>
            <a:gsLst>
              <a:gs pos="0">
                <a:srgbClr val="F04E23"/>
              </a:gs>
              <a:gs pos="100000">
                <a:srgbClr val="FF7900"/>
              </a:gs>
            </a:gsLst>
            <a:lin ang="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568" name="Google Shape;568;p54"/>
          <p:cNvSpPr txBox="1"/>
          <p:nvPr/>
        </p:nvSpPr>
        <p:spPr>
          <a:xfrm>
            <a:off x="1428713" y="4252240"/>
            <a:ext cx="8512872" cy="742404"/>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FFFFFF"/>
              </a:buClr>
              <a:buSzPts val="4560"/>
              <a:buFont typeface="League Spartan"/>
              <a:buNone/>
            </a:pPr>
            <a:r>
              <a:rPr b="1" i="0" lang="en-US" sz="4560" u="none" cap="none" strike="noStrike">
                <a:solidFill>
                  <a:srgbClr val="FFFFFF"/>
                </a:solidFill>
                <a:latin typeface="League Spartan"/>
                <a:ea typeface="League Spartan"/>
                <a:cs typeface="League Spartan"/>
                <a:sym typeface="League Spartan"/>
              </a:rPr>
              <a:t>Session Survey</a:t>
            </a:r>
            <a:endParaRPr/>
          </a:p>
        </p:txBody>
      </p:sp>
      <p:sp>
        <p:nvSpPr>
          <p:cNvPr id="569" name="Google Shape;569;p54"/>
          <p:cNvSpPr txBox="1"/>
          <p:nvPr/>
        </p:nvSpPr>
        <p:spPr>
          <a:xfrm>
            <a:off x="1428713" y="5299388"/>
            <a:ext cx="8512872" cy="518165"/>
          </a:xfrm>
          <a:prstGeom prst="rect">
            <a:avLst/>
          </a:prstGeom>
          <a:noFill/>
          <a:ln>
            <a:noFill/>
          </a:ln>
        </p:spPr>
        <p:txBody>
          <a:bodyPr anchorCtr="0" anchor="t" bIns="25400" lIns="25400" spcFirstLastPara="1" rIns="25400" wrap="square" tIns="25400">
            <a:normAutofit/>
          </a:bodyPr>
          <a:lstStyle/>
          <a:p>
            <a:pPr indent="0" lvl="0" marL="0" marR="0" rtl="0" algn="l">
              <a:lnSpc>
                <a:spcPct val="109207"/>
              </a:lnSpc>
              <a:spcBef>
                <a:spcPts val="0"/>
              </a:spcBef>
              <a:spcAft>
                <a:spcPts val="0"/>
              </a:spcAft>
              <a:buClr>
                <a:srgbClr val="C9D0D9"/>
              </a:buClr>
              <a:buSzPts val="2700"/>
              <a:buFont typeface="League Spartan"/>
              <a:buNone/>
            </a:pPr>
            <a:r>
              <a:rPr b="0" i="0" lang="en-US" sz="2700" u="none" cap="none" strike="noStrike">
                <a:solidFill>
                  <a:srgbClr val="C9D0D9"/>
                </a:solidFill>
                <a:latin typeface="League Spartan"/>
                <a:ea typeface="League Spartan"/>
                <a:cs typeface="League Spartan"/>
                <a:sym typeface="League Spartan"/>
              </a:rPr>
              <a:t>Scan the code to share quick feedback on this session.</a:t>
            </a:r>
            <a:endParaRPr/>
          </a:p>
        </p:txBody>
      </p:sp>
      <p:sp>
        <p:nvSpPr>
          <p:cNvPr id="570" name="Google Shape;570;p54"/>
          <p:cNvSpPr txBox="1"/>
          <p:nvPr/>
        </p:nvSpPr>
        <p:spPr>
          <a:xfrm>
            <a:off x="1428713" y="6046148"/>
            <a:ext cx="8512872" cy="407642"/>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FF7900"/>
              </a:buClr>
              <a:buSzPts val="2375"/>
              <a:buFont typeface="League Spartan"/>
              <a:buNone/>
            </a:pPr>
            <a:r>
              <a:rPr b="1" i="0" lang="en-US" sz="2375" u="none" cap="none" strike="noStrike">
                <a:solidFill>
                  <a:srgbClr val="FF7900"/>
                </a:solidFill>
                <a:latin typeface="League Spartan"/>
                <a:ea typeface="League Spartan"/>
                <a:cs typeface="League Spartan"/>
                <a:sym typeface="League Spartan"/>
              </a:rPr>
              <a:t>Thank you for your feedback.</a:t>
            </a:r>
            <a:endParaRPr/>
          </a:p>
        </p:txBody>
      </p:sp>
      <p:sp>
        <p:nvSpPr>
          <p:cNvPr id="571" name="Google Shape;571;p54"/>
          <p:cNvSpPr/>
          <p:nvPr/>
        </p:nvSpPr>
        <p:spPr>
          <a:xfrm>
            <a:off x="12763516" y="3095589"/>
            <a:ext cx="4095730" cy="4095730"/>
          </a:xfrm>
          <a:prstGeom prst="roundRect">
            <a:avLst>
              <a:gd fmla="val 5581" name="adj"/>
            </a:avLst>
          </a:pr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sp>
        <p:nvSpPr>
          <p:cNvPr id="572" name="Google Shape;572;p54"/>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pic>
        <p:nvPicPr>
          <p:cNvPr descr="feedback-qr.jpg" id="573" name="Google Shape;573;p54"/>
          <p:cNvPicPr preferRelativeResize="0"/>
          <p:nvPr/>
        </p:nvPicPr>
        <p:blipFill rotWithShape="1">
          <a:blip r:embed="rId3">
            <a:alphaModFix/>
          </a:blip>
          <a:srcRect b="0" l="0" r="0" t="0"/>
          <a:stretch/>
        </p:blipFill>
        <p:spPr>
          <a:xfrm>
            <a:off x="13091174" y="3423247"/>
            <a:ext cx="3440414" cy="344041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5"/>
          <p:cNvSpPr/>
          <p:nvPr/>
        </p:nvSpPr>
        <p:spPr>
          <a:xfrm>
            <a:off x="0" y="-1"/>
            <a:ext cx="18287960" cy="10286979"/>
          </a:xfrm>
          <a:prstGeom prst="rect">
            <a:avLst/>
          </a:prstGeom>
          <a:gradFill>
            <a:gsLst>
              <a:gs pos="0">
                <a:srgbClr val="3A4759"/>
              </a:gs>
              <a:gs pos="48000">
                <a:srgbClr val="1F2C3F"/>
              </a:gs>
              <a:gs pos="100000">
                <a:srgbClr val="101B2B"/>
              </a:gs>
            </a:gsLst>
            <a:lin ang="8100000" scaled="0"/>
          </a:gra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League Spartan"/>
              <a:buNone/>
            </a:pPr>
            <a:r>
              <a:t/>
            </a:r>
            <a:endParaRPr b="0" i="0" sz="1800" u="none" cap="none" strike="noStrike">
              <a:solidFill>
                <a:srgbClr val="000000"/>
              </a:solidFill>
              <a:latin typeface="Calibri"/>
              <a:ea typeface="Calibri"/>
              <a:cs typeface="Calibri"/>
              <a:sym typeface="Calibri"/>
            </a:endParaRPr>
          </a:p>
        </p:txBody>
      </p:sp>
      <p:pic>
        <p:nvPicPr>
          <p:cNvPr descr="Image 0" id="579" name="Google Shape;579;p55"/>
          <p:cNvPicPr preferRelativeResize="0"/>
          <p:nvPr/>
        </p:nvPicPr>
        <p:blipFill rotWithShape="1">
          <a:blip r:embed="rId3">
            <a:alphaModFix/>
          </a:blip>
          <a:srcRect b="0" l="0" r="0" t="0"/>
          <a:stretch/>
        </p:blipFill>
        <p:spPr>
          <a:xfrm>
            <a:off x="7524722" y="2165011"/>
            <a:ext cx="3238448" cy="3048990"/>
          </a:xfrm>
          <a:prstGeom prst="rect">
            <a:avLst/>
          </a:prstGeom>
          <a:noFill/>
          <a:ln>
            <a:noFill/>
          </a:ln>
        </p:spPr>
      </p:pic>
      <p:sp>
        <p:nvSpPr>
          <p:cNvPr id="580" name="Google Shape;580;p55"/>
          <p:cNvSpPr txBox="1"/>
          <p:nvPr/>
        </p:nvSpPr>
        <p:spPr>
          <a:xfrm>
            <a:off x="9239218" y="2269758"/>
            <a:ext cx="1494769" cy="638198"/>
          </a:xfrm>
          <a:prstGeom prst="rect">
            <a:avLst/>
          </a:prstGeom>
          <a:noFill/>
          <a:ln>
            <a:noFill/>
          </a:ln>
        </p:spPr>
        <p:txBody>
          <a:bodyPr anchorCtr="0" anchor="t" bIns="25400" lIns="25400" spcFirstLastPara="1" rIns="25400" wrap="square" tIns="25400">
            <a:normAutofit/>
          </a:bodyPr>
          <a:lstStyle/>
          <a:p>
            <a:pPr indent="0" lvl="0" marL="0" marR="0" rtl="0" algn="l">
              <a:lnSpc>
                <a:spcPct val="78128"/>
              </a:lnSpc>
              <a:spcBef>
                <a:spcPts val="0"/>
              </a:spcBef>
              <a:spcAft>
                <a:spcPts val="0"/>
              </a:spcAft>
              <a:buClr>
                <a:srgbClr val="FF7900"/>
              </a:buClr>
              <a:buSzPts val="3827"/>
              <a:buFont typeface="League Spartan"/>
              <a:buNone/>
            </a:pPr>
            <a:r>
              <a:rPr b="1" i="0" lang="en-US" sz="3827" u="none" cap="none" strike="noStrike">
                <a:solidFill>
                  <a:srgbClr val="FF7900"/>
                </a:solidFill>
                <a:latin typeface="League Spartan"/>
                <a:ea typeface="League Spartan"/>
                <a:cs typeface="League Spartan"/>
                <a:sym typeface="League Spartan"/>
              </a:rPr>
              <a:t>2026</a:t>
            </a:r>
            <a:endParaRPr/>
          </a:p>
        </p:txBody>
      </p:sp>
      <p:sp>
        <p:nvSpPr>
          <p:cNvPr id="581" name="Google Shape;581;p55"/>
          <p:cNvSpPr txBox="1"/>
          <p:nvPr/>
        </p:nvSpPr>
        <p:spPr>
          <a:xfrm>
            <a:off x="6323033" y="5594953"/>
            <a:ext cx="6206084" cy="1172811"/>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FFFFFF"/>
              </a:buClr>
              <a:buSzPts val="7332"/>
              <a:buFont typeface="League Spartan"/>
              <a:buNone/>
            </a:pPr>
            <a:r>
              <a:rPr b="1" i="0" lang="en-US" sz="7332" u="none" cap="none" strike="noStrike">
                <a:solidFill>
                  <a:srgbClr val="FFFFFF"/>
                </a:solidFill>
                <a:latin typeface="League Spartan"/>
                <a:ea typeface="League Spartan"/>
                <a:cs typeface="League Spartan"/>
                <a:sym typeface="League Spartan"/>
              </a:rPr>
              <a:t>Thanks, </a:t>
            </a:r>
            <a:r>
              <a:rPr b="1" i="0" lang="en-US" sz="7332" u="none" cap="none" strike="noStrike">
                <a:solidFill>
                  <a:srgbClr val="FF7900"/>
                </a:solidFill>
                <a:latin typeface="League Spartan"/>
                <a:ea typeface="League Spartan"/>
                <a:cs typeface="League Spartan"/>
                <a:sym typeface="League Spartan"/>
              </a:rPr>
              <a:t>y’all!</a:t>
            </a:r>
            <a:endParaRPr/>
          </a:p>
        </p:txBody>
      </p:sp>
      <p:sp>
        <p:nvSpPr>
          <p:cNvPr id="582" name="Google Shape;582;p55"/>
          <p:cNvSpPr txBox="1"/>
          <p:nvPr/>
        </p:nvSpPr>
        <p:spPr>
          <a:xfrm>
            <a:off x="3844814" y="7110617"/>
            <a:ext cx="10598331" cy="298954"/>
          </a:xfrm>
          <a:prstGeom prst="rect">
            <a:avLst/>
          </a:prstGeom>
          <a:noFill/>
          <a:ln>
            <a:noFill/>
          </a:ln>
        </p:spPr>
        <p:txBody>
          <a:bodyPr anchorCtr="0" anchor="t" bIns="25400" lIns="25400" spcFirstLastPara="1" rIns="25400" wrap="square" tIns="25400">
            <a:normAutofit/>
          </a:bodyPr>
          <a:lstStyle/>
          <a:p>
            <a:pPr indent="0" lvl="0" marL="0" marR="0" rtl="0" algn="ctr">
              <a:lnSpc>
                <a:spcPct val="80000"/>
              </a:lnSpc>
              <a:spcBef>
                <a:spcPts val="0"/>
              </a:spcBef>
              <a:spcAft>
                <a:spcPts val="0"/>
              </a:spcAft>
              <a:buClr>
                <a:srgbClr val="AEB7C2"/>
              </a:buClr>
              <a:buSzPts val="1745"/>
              <a:buFont typeface="League Spartan"/>
              <a:buNone/>
            </a:pPr>
            <a:r>
              <a:rPr b="1" i="0" lang="en-US" sz="1746" u="none" cap="none" strike="noStrike">
                <a:solidFill>
                  <a:srgbClr val="AEB7C2"/>
                </a:solidFill>
                <a:latin typeface="League Spartan"/>
                <a:ea typeface="League Spartan"/>
                <a:cs typeface="League Spartan"/>
                <a:sym typeface="League Spartan"/>
              </a:rPr>
              <a:t>FIFTH ANNUAL · SEPTEMBER 14, 2026 · THE STATLER DALLAS</a:t>
            </a:r>
            <a:endParaRPr/>
          </a:p>
        </p:txBody>
      </p:sp>
      <p:sp>
        <p:nvSpPr>
          <p:cNvPr id="583" name="Google Shape;583;p55"/>
          <p:cNvSpPr txBox="1"/>
          <p:nvPr/>
        </p:nvSpPr>
        <p:spPr>
          <a:xfrm>
            <a:off x="7704452" y="7821985"/>
            <a:ext cx="2879096" cy="333734"/>
          </a:xfrm>
          <a:prstGeom prst="rect">
            <a:avLst/>
          </a:prstGeom>
          <a:noFill/>
          <a:ln>
            <a:noFill/>
          </a:ln>
        </p:spPr>
        <p:txBody>
          <a:bodyPr anchorCtr="0" anchor="t" bIns="25400" lIns="25400" spcFirstLastPara="1" rIns="25400" wrap="square" tIns="25400">
            <a:normAutofit/>
          </a:bodyPr>
          <a:lstStyle/>
          <a:p>
            <a:pPr indent="0" lvl="0" marL="0" marR="0" rtl="0" algn="ctr">
              <a:lnSpc>
                <a:spcPct val="80000"/>
              </a:lnSpc>
              <a:spcBef>
                <a:spcPts val="0"/>
              </a:spcBef>
              <a:spcAft>
                <a:spcPts val="0"/>
              </a:spcAft>
              <a:buClr>
                <a:srgbClr val="C9D0D9"/>
              </a:buClr>
              <a:buSzPts val="1869"/>
              <a:buFont typeface="League Spartan"/>
              <a:buNone/>
            </a:pPr>
            <a:r>
              <a:rPr b="1" i="0" lang="en-US" sz="1869" u="none" cap="none" strike="noStrike">
                <a:solidFill>
                  <a:srgbClr val="C9D0D9"/>
                </a:solidFill>
                <a:latin typeface="League Spartan"/>
                <a:ea typeface="League Spartan"/>
                <a:cs typeface="League Spartan"/>
                <a:sym typeface="League Spartan"/>
              </a:rPr>
              <a:t>eosnorthtexas.com</a:t>
            </a:r>
            <a:endParaRPr/>
          </a:p>
        </p:txBody>
      </p:sp>
      <p:sp>
        <p:nvSpPr>
          <p:cNvPr id="584" name="Google Shape;584;p55"/>
          <p:cNvSpPr txBox="1"/>
          <p:nvPr/>
        </p:nvSpPr>
        <p:spPr>
          <a:xfrm>
            <a:off x="952453" y="9654885"/>
            <a:ext cx="2485228" cy="251131"/>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8A94A2"/>
              </a:buClr>
              <a:buSzPts val="1350"/>
              <a:buFont typeface="League Spartan"/>
              <a:buNone/>
            </a:pPr>
            <a:r>
              <a:rPr b="1" i="0" lang="en-US" sz="1350" u="none" cap="none" strike="noStrike">
                <a:solidFill>
                  <a:srgbClr val="8A94A2"/>
                </a:solidFill>
                <a:latin typeface="League Spartan"/>
                <a:ea typeface="League Spartan"/>
                <a:cs typeface="League Spartan"/>
                <a:sym typeface="League Spartan"/>
              </a:rPr>
              <a:t>#WeRunOnEOS2026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