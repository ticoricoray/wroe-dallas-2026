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47"/>
  </p:sldIdLst>
  <p:sldSz cy="5143500" cx="9144000"/>
  <p:notesSz cx="6858000" cy="9144000"/>
  <p:embeddedFontLst>
    <p:embeddedFont>
      <p:font typeface="League Spartan"/>
      <p:regular r:id="rId30"/>
      <p:bold r:id="rId31"/>
    </p:embeddedFont>
    <p:embeddedFont>
      <p:font typeface="Montserrat SemiBold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Montserrat Medium"/>
      <p:regular r:id="rId40"/>
      <p:bold r:id="rId41"/>
      <p:italic r:id="rId42"/>
      <p:boldItalic r:id="rId43"/>
    </p:embeddedFont>
    <p:embeddedFont>
      <p:font typeface="Montserrat ExtraBold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ii/hcmlBl60WOMklAPMQTE3dKL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font" Target="fonts/LeagueSpartan-regular.fntdata"/><Relationship Id="rId31" Type="http://schemas.openxmlformats.org/officeDocument/2006/relationships/font" Target="fonts/LeagueSpartan-bold.fntdata"/><Relationship Id="rId32" Type="http://schemas.openxmlformats.org/officeDocument/2006/relationships/font" Target="fonts/MontserratSemiBold-regular.fntdata"/><Relationship Id="rId33" Type="http://schemas.openxmlformats.org/officeDocument/2006/relationships/font" Target="fonts/MontserratSemiBold-bold.fntdata"/><Relationship Id="rId34" Type="http://schemas.openxmlformats.org/officeDocument/2006/relationships/font" Target="fonts/MontserratSemiBold-italic.fntdata"/><Relationship Id="rId35" Type="http://schemas.openxmlformats.org/officeDocument/2006/relationships/font" Target="fonts/MontserratSemiBold-boldItalic.fntdata"/><Relationship Id="rId36" Type="http://schemas.openxmlformats.org/officeDocument/2006/relationships/font" Target="fonts/Montserrat-regular.fntdata"/><Relationship Id="rId37" Type="http://schemas.openxmlformats.org/officeDocument/2006/relationships/font" Target="fonts/Montserrat-bold.fntdata"/><Relationship Id="rId38" Type="http://schemas.openxmlformats.org/officeDocument/2006/relationships/font" Target="fonts/Montserrat-italic.fntdata"/><Relationship Id="rId39" Type="http://schemas.openxmlformats.org/officeDocument/2006/relationships/font" Target="fonts/Montserrat-boldItalic.fntdata"/><Relationship Id="rId40" Type="http://schemas.openxmlformats.org/officeDocument/2006/relationships/font" Target="fonts/MontserratMedium-regular.fntdata"/><Relationship Id="rId41" Type="http://schemas.openxmlformats.org/officeDocument/2006/relationships/font" Target="fonts/MontserratMedium-bold.fntdata"/><Relationship Id="rId42" Type="http://schemas.openxmlformats.org/officeDocument/2006/relationships/font" Target="fonts/MontserratMedium-italic.fntdata"/><Relationship Id="rId43" Type="http://schemas.openxmlformats.org/officeDocument/2006/relationships/font" Target="fonts/MontserratMedium-boldItalic.fntdata"/><Relationship Id="rId44" Type="http://schemas.openxmlformats.org/officeDocument/2006/relationships/font" Target="fonts/MontserratExtraBold-bold.fntdata"/><Relationship Id="rId45" Type="http://schemas.openxmlformats.org/officeDocument/2006/relationships/font" Target="fonts/MontserratExtraBold-boldItalic.fntdata"/><Relationship Id="rId46" Type="http://customschemas.google.com/relationships/presentationmetadata" Target="metadata"/><Relationship Id="rId47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8a37341a_0_0:notes"/>
          <p:cNvSpPr/>
          <p:nvPr>
            <p:ph idx="2" type="sldImg"/>
          </p:nvPr>
        </p:nvSpPr>
        <p:spPr>
          <a:xfrm>
            <a:off x="0" y="0"/>
            <a:ext cx="1500000" cy="1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f88a37341a_0_0:notes"/>
          <p:cNvSpPr txBox="1"/>
          <p:nvPr>
            <p:ph idx="1" type="body"/>
          </p:nvPr>
        </p:nvSpPr>
        <p:spPr>
          <a:xfrm>
            <a:off x="0" y="0"/>
            <a:ext cx="20001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slide. Replace the title, your name, and handle. Leave the logo, event line, and footer as they are.</a:t>
            </a:r>
            <a:endParaRPr sz="900"/>
          </a:p>
        </p:txBody>
      </p:sp>
      <p:sp>
        <p:nvSpPr>
          <p:cNvPr id="148" name="Google Shape;148;g3f88a37341a_0_0:notes"/>
          <p:cNvSpPr txBox="1"/>
          <p:nvPr>
            <p:ph idx="12" type="sldNum"/>
          </p:nvPr>
        </p:nvSpPr>
        <p:spPr>
          <a:xfrm>
            <a:off x="0" y="0"/>
            <a:ext cx="20001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inner work (Jonathan)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Profiling Tools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Intrinsic Genius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You can't integrate a Visionary you don't understand.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Intrinsic Genius. Run it on yourself first.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Can you describe the VIS edge you were hired to complement?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most important ability is availability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Present Self vs. Future Self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Mind, Body, Spirit — levers for each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A depleted Visionary makes expensive decisions.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Body/Mind/Spirit Levers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When did you last tell your VIS: “I/we need you to take care of yourself”?</a:t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Shield Wall (Gino)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7 Special Posts / Relationships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Culture Formula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You're one post in their Shield Wall, and also accountable for another (LT).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Shield Wall gap analysis — done together.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Which Special Post(s) is your Visionary missing? Helping fill it, or covering for it?</a:t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Structure Fuels Freedom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Choose one. Don't waffle.</a:t>
            </a:r>
            <a:br>
              <a:rPr lang="en"/>
            </a:br>
            <a:r>
              <a:rPr lang="en"/>
              <a:t> Commit to mastery.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OS Ladder — top down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XF / 9 Domains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Structure fuels freedom.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OS Ladder self-rating: both of you, then compare.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What's the weakest rung on your Visionary's ladder?</a:t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INT job is hard enough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 Commitments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RFPI (Open &amp; Honest)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Make it easy for them to support you well.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RFPI.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If you don't know how your VIS would answer, you don't know your VIS.</a:t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7 Mindsets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Intellectual Humility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Diamond of Creativity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What V thinks about impacts everything. Help them make their thinking visible.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 Mindsets.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When did you last tell your V their thinking was doing damage?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Bad Behavior</a:t>
            </a:r>
            <a:br>
              <a:rPr lang="en"/>
            </a:br>
            <a:r>
              <a:rPr lang="en"/>
              <a:t> (tampering, end runs, Owner's Card)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Becoming the Bottleneck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Every Visionary pitfall has an Integrator accomplice.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Name the pitfalls.  Make them visible.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Name the last V pitfall you noticed and did not name.</a:t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Stretch the Vision. Predict the Traction. Must do both.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Vision Tree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Vision Expander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Healthy =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Stretch the vision. Predict the traction.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Vision Expander.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Which is harder: V predicting the Traction, or I stretching the Vision?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Which is working better right now?</a:t>
            </a:r>
            <a:endParaRPr/>
          </a:p>
        </p:txBody>
      </p:sp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Frenetic energy…</a:t>
            </a:r>
            <a:br>
              <a:rPr lang="en"/>
            </a:br>
            <a:r>
              <a:rPr lang="en"/>
              <a:t> Slow is Smooth, Smooth is Fast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Flow Follows Focus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Traffic Jam Theory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 </a:t>
            </a:r>
            <a:r>
              <a:rPr lang="en">
                <a:solidFill>
                  <a:schemeClr val="dk1"/>
                </a:solidFill>
              </a:rPr>
              <a:t>They're gonna create traffic jams. You must either clear it - or prevent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Traffic Jam model.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 </a:t>
            </a:r>
            <a:r>
              <a:rPr lang="en">
                <a:solidFill>
                  <a:schemeClr val="dk1"/>
                </a:solidFill>
              </a:rPr>
              <a:t>How much time do you spend clearing traffic jams vs preventing them?</a:t>
            </a:r>
            <a:endParaRPr/>
          </a:p>
        </p:txBody>
      </p:sp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Jonathan's Big Truck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Vision Confusion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Special Exceptions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Thinking Out Loud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Statement: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Protect them from screwing up the single largest investment in their portfolio.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Tool: </a:t>
            </a:r>
            <a:r>
              <a:rPr lang="en">
                <a:solidFill>
                  <a:schemeClr val="dk1"/>
                </a:solidFill>
              </a:rPr>
              <a:t>Susan Scott's Decision Tree.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Provocation: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How many leafy decisions are being treated like a much meatier part of the tree?</a:t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12" name="Google Shape;1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6"/>
          <p:cNvSpPr txBox="1"/>
          <p:nvPr>
            <p:ph type="ctrTitle"/>
          </p:nvPr>
        </p:nvSpPr>
        <p:spPr>
          <a:xfrm>
            <a:off x="628650" y="841772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4500"/>
              <a:buFont typeface="Montserrat ExtraBold"/>
              <a:buNone/>
              <a:defRPr b="1" i="0" sz="4500">
                <a:solidFill>
                  <a:srgbClr val="FF790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" type="subTitle"/>
          </p:nvPr>
        </p:nvSpPr>
        <p:spPr>
          <a:xfrm>
            <a:off x="628650" y="2701528"/>
            <a:ext cx="78867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15" name="Google Shape;15;p26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6" name="Google Shape;16;p26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6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19" name="Google Shape;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7"/>
          <p:cNvSpPr txBox="1"/>
          <p:nvPr>
            <p:ph type="title"/>
          </p:nvPr>
        </p:nvSpPr>
        <p:spPr>
          <a:xfrm>
            <a:off x="628650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628650" y="1428853"/>
            <a:ext cx="3886200" cy="2953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2" type="body"/>
          </p:nvPr>
        </p:nvSpPr>
        <p:spPr>
          <a:xfrm>
            <a:off x="4629150" y="1428853"/>
            <a:ext cx="3886200" cy="2953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3" name="Google Shape;23;p27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" name="Google Shape;24;p27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27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27" name="Google Shape;2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8"/>
          <p:cNvSpPr txBox="1"/>
          <p:nvPr>
            <p:ph type="title"/>
          </p:nvPr>
        </p:nvSpPr>
        <p:spPr>
          <a:xfrm>
            <a:off x="628650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628650" y="1428853"/>
            <a:ext cx="7886700" cy="2962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0" name="Google Shape;30;p28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31" name="Google Shape;31;p28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8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orange gradient&#10;&#10;AI-generated content may be incorrect." id="34" name="Google Shape;34;p29"/>
          <p:cNvPicPr preferRelativeResize="0"/>
          <p:nvPr/>
        </p:nvPicPr>
        <p:blipFill rotWithShape="1">
          <a:blip r:embed="rId2">
            <a:alphaModFix/>
          </a:blip>
          <a:srcRect b="10446" l="0" r="0" t="0"/>
          <a:stretch/>
        </p:blipFill>
        <p:spPr>
          <a:xfrm>
            <a:off x="2381" y="-1340"/>
            <a:ext cx="9139238" cy="514484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629841" y="449711"/>
            <a:ext cx="3695375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629841" y="1203531"/>
            <a:ext cx="3695375" cy="3199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3" type="body"/>
          </p:nvPr>
        </p:nvSpPr>
        <p:spPr>
          <a:xfrm>
            <a:off x="4818785" y="449711"/>
            <a:ext cx="3697756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8" name="Google Shape;38;p29"/>
          <p:cNvSpPr txBox="1"/>
          <p:nvPr>
            <p:ph idx="4" type="body"/>
          </p:nvPr>
        </p:nvSpPr>
        <p:spPr>
          <a:xfrm>
            <a:off x="4818785" y="1203531"/>
            <a:ext cx="3697756" cy="3199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9" name="Google Shape;39;p29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lt1">
                <a:alpha val="50196"/>
              </a:scheme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40" name="Google Shape;40;p29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9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type="title"/>
          </p:nvPr>
        </p:nvSpPr>
        <p:spPr>
          <a:xfrm>
            <a:off x="628650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628650" y="1428853"/>
            <a:ext cx="7886700" cy="2962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2100"/>
              <a:buChar char="•"/>
              <a:defRPr>
                <a:solidFill>
                  <a:srgbClr val="0C3E5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800"/>
              <a:buChar char="•"/>
              <a:defRPr>
                <a:solidFill>
                  <a:srgbClr val="0C3E5F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Char char="•"/>
              <a:defRPr>
                <a:solidFill>
                  <a:srgbClr val="0C3E5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45" name="Google Shape;45;p30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D8D8D8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46" name="Google Shape;46;p30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rgbClr val="06205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rgbClr val="0620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30" title="MCW Site Logo.png"/>
          <p:cNvPicPr preferRelativeResize="0"/>
          <p:nvPr/>
        </p:nvPicPr>
        <p:blipFill rotWithShape="1">
          <a:blip r:embed="rId2">
            <a:alphaModFix/>
          </a:blip>
          <a:srcRect b="20572" l="0" r="0" t="0"/>
          <a:stretch/>
        </p:blipFill>
        <p:spPr>
          <a:xfrm>
            <a:off x="242075" y="4697427"/>
            <a:ext cx="160421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attern of light bulbs&#10;&#10;AI-generated content may be incorrect." id="49" name="Google Shape;4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1"/>
          <p:cNvSpPr txBox="1"/>
          <p:nvPr>
            <p:ph type="title"/>
          </p:nvPr>
        </p:nvSpPr>
        <p:spPr>
          <a:xfrm>
            <a:off x="628650" y="2083490"/>
            <a:ext cx="5486400" cy="9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ontserrat ExtraBold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1" name="Google Shape;51;p31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F04E23">
                <a:alpha val="74902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52" name="Google Shape;52;p31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31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orange gradient&#10;&#10;AI-generated content may be incorrect." id="55" name="Google Shape;5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2"/>
          <p:cNvSpPr txBox="1"/>
          <p:nvPr>
            <p:ph type="title"/>
          </p:nvPr>
        </p:nvSpPr>
        <p:spPr>
          <a:xfrm>
            <a:off x="4955848" y="520338"/>
            <a:ext cx="3559502" cy="8143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2400"/>
              <a:buFont typeface="Montserrat ExtraBold"/>
              <a:buNone/>
              <a:defRPr sz="2400"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2"/>
          <p:cNvSpPr/>
          <p:nvPr/>
        </p:nvSpPr>
        <p:spPr>
          <a:xfrm>
            <a:off x="370751" y="520338"/>
            <a:ext cx="3993822" cy="3702248"/>
          </a:xfrm>
          <a:prstGeom prst="roundRect">
            <a:avLst>
              <a:gd fmla="val 3699" name="adj"/>
            </a:avLst>
          </a:prstGeom>
          <a:solidFill>
            <a:schemeClr val="lt1"/>
          </a:solidFill>
          <a:ln>
            <a:noFill/>
          </a:ln>
          <a:effectLst>
            <a:outerShdw blurRad="367895" rotWithShape="0" algn="ctr" dir="5400000" dist="124809">
              <a:srgbClr val="0C3E5F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>
            <p:ph idx="2" type="pic"/>
          </p:nvPr>
        </p:nvSpPr>
        <p:spPr>
          <a:xfrm>
            <a:off x="699778" y="908632"/>
            <a:ext cx="3335769" cy="292566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2"/>
          <p:cNvSpPr txBox="1"/>
          <p:nvPr>
            <p:ph idx="1" type="body"/>
          </p:nvPr>
        </p:nvSpPr>
        <p:spPr>
          <a:xfrm>
            <a:off x="4955848" y="1543050"/>
            <a:ext cx="355950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60" name="Google Shape;60;p32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lt1">
                <a:alpha val="50196"/>
              </a:scheme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1" name="Google Shape;61;p32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2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orange rectangle&#10;&#10;AI-generated content may be incorrect." id="64" name="Google Shape;64;p33"/>
          <p:cNvPicPr preferRelativeResize="0"/>
          <p:nvPr/>
        </p:nvPicPr>
        <p:blipFill rotWithShape="1">
          <a:blip r:embed="rId2">
            <a:alphaModFix/>
          </a:blip>
          <a:srcRect b="0" l="12807" r="0" t="0"/>
          <a:stretch/>
        </p:blipFill>
        <p:spPr>
          <a:xfrm>
            <a:off x="0" y="0"/>
            <a:ext cx="9144000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3"/>
          <p:cNvSpPr txBox="1"/>
          <p:nvPr>
            <p:ph type="title"/>
          </p:nvPr>
        </p:nvSpPr>
        <p:spPr>
          <a:xfrm>
            <a:off x="629841" y="520338"/>
            <a:ext cx="3559502" cy="8143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2400"/>
              <a:buFont typeface="Montserrat ExtraBold"/>
              <a:buNone/>
              <a:defRPr sz="2400"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3"/>
          <p:cNvSpPr/>
          <p:nvPr/>
        </p:nvSpPr>
        <p:spPr>
          <a:xfrm>
            <a:off x="4814422" y="504264"/>
            <a:ext cx="3993822" cy="3718322"/>
          </a:xfrm>
          <a:prstGeom prst="roundRect">
            <a:avLst>
              <a:gd fmla="val 3699" name="adj"/>
            </a:avLst>
          </a:prstGeom>
          <a:solidFill>
            <a:schemeClr val="lt1"/>
          </a:solidFill>
          <a:ln>
            <a:noFill/>
          </a:ln>
          <a:effectLst>
            <a:outerShdw blurRad="367895" rotWithShape="0" algn="ctr" dir="5400000" dist="124809">
              <a:srgbClr val="0C3E5F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5143448" y="894244"/>
            <a:ext cx="3335769" cy="29383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629841" y="1543050"/>
            <a:ext cx="355950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69" name="Google Shape;69;p33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lt1">
                <a:alpha val="50196"/>
              </a:scheme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0" name="Google Shape;70;p33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3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orange gradient&#10;&#10;AI-generated content may be incorrect." id="73" name="Google Shape;7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4"/>
          <p:cNvSpPr txBox="1"/>
          <p:nvPr>
            <p:ph type="title"/>
          </p:nvPr>
        </p:nvSpPr>
        <p:spPr>
          <a:xfrm>
            <a:off x="629842" y="402534"/>
            <a:ext cx="2056209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3429000" y="402535"/>
            <a:ext cx="5087541" cy="405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629842" y="2326733"/>
            <a:ext cx="20562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77" name="Google Shape;77;p34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lt1">
                <a:alpha val="50196"/>
              </a:scheme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8" name="Google Shape;78;p34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34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81" name="Google Shape;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5"/>
          <p:cNvSpPr txBox="1"/>
          <p:nvPr>
            <p:ph type="title"/>
          </p:nvPr>
        </p:nvSpPr>
        <p:spPr>
          <a:xfrm>
            <a:off x="629841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" type="body"/>
          </p:nvPr>
        </p:nvSpPr>
        <p:spPr>
          <a:xfrm>
            <a:off x="629841" y="1452666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35"/>
          <p:cNvSpPr txBox="1"/>
          <p:nvPr>
            <p:ph idx="2" type="body"/>
          </p:nvPr>
        </p:nvSpPr>
        <p:spPr>
          <a:xfrm>
            <a:off x="629841" y="2206487"/>
            <a:ext cx="3868340" cy="21715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3" type="body"/>
          </p:nvPr>
        </p:nvSpPr>
        <p:spPr>
          <a:xfrm>
            <a:off x="4629150" y="1452666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35"/>
          <p:cNvSpPr txBox="1"/>
          <p:nvPr>
            <p:ph idx="4" type="body"/>
          </p:nvPr>
        </p:nvSpPr>
        <p:spPr>
          <a:xfrm>
            <a:off x="4629150" y="2206487"/>
            <a:ext cx="3887391" cy="21715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87" name="Google Shape;87;p35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88" name="Google Shape;88;p35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35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91" name="Google Shape;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6"/>
          <p:cNvSpPr txBox="1"/>
          <p:nvPr>
            <p:ph type="title"/>
          </p:nvPr>
        </p:nvSpPr>
        <p:spPr>
          <a:xfrm>
            <a:off x="623888" y="1282304"/>
            <a:ext cx="7886700" cy="128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4500"/>
              <a:buFont typeface="Montserrat ExtraBold"/>
              <a:buNone/>
              <a:defRPr sz="4500"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" type="body"/>
          </p:nvPr>
        </p:nvSpPr>
        <p:spPr>
          <a:xfrm>
            <a:off x="623888" y="2676112"/>
            <a:ext cx="7886700" cy="17280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cxnSp>
        <p:nvCxnSpPr>
          <p:cNvPr id="94" name="Google Shape;94;p36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5" name="Google Shape;95;p36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6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background with a pattern of pins&#10;&#10;AI-generated content may be incorrect." id="98" name="Google Shape;9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0"/>
            <a:ext cx="9139238" cy="51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7"/>
          <p:cNvSpPr txBox="1"/>
          <p:nvPr>
            <p:ph type="title"/>
          </p:nvPr>
        </p:nvSpPr>
        <p:spPr>
          <a:xfrm>
            <a:off x="628650" y="2083490"/>
            <a:ext cx="5486400" cy="9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00" name="Google Shape;100;p37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01" name="Google Shape;101;p37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7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AI-generated content may be incorrect." id="104" name="Google Shape;10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1" y="-1340"/>
            <a:ext cx="9139238" cy="51461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38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A3C5ED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06" name="Google Shape;106;p38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8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orange and yellow gradient&#10;&#10;AI-generated content may be incorrect." id="109" name="Google Shape;10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82"/>
            <a:ext cx="9144000" cy="5148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39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F04E23">
                <a:alpha val="74902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1" name="Google Shape;111;p39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9" title="MCW Site White Logo.png"/>
          <p:cNvPicPr preferRelativeResize="0"/>
          <p:nvPr/>
        </p:nvPicPr>
        <p:blipFill rotWithShape="1">
          <a:blip r:embed="rId3">
            <a:alphaModFix amt="85000"/>
          </a:blip>
          <a:srcRect b="20572" l="0" r="0" t="0"/>
          <a:stretch/>
        </p:blipFill>
        <p:spPr>
          <a:xfrm>
            <a:off x="245262" y="4719688"/>
            <a:ext cx="1597826" cy="3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0"/>
          <p:cNvSpPr txBox="1"/>
          <p:nvPr>
            <p:ph type="ctrTitle"/>
          </p:nvPr>
        </p:nvSpPr>
        <p:spPr>
          <a:xfrm>
            <a:off x="628650" y="841772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4500"/>
              <a:buFont typeface="Montserrat ExtraBold"/>
              <a:buNone/>
              <a:defRPr b="1" i="0" sz="4500">
                <a:solidFill>
                  <a:srgbClr val="FF790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40"/>
          <p:cNvSpPr txBox="1"/>
          <p:nvPr>
            <p:ph idx="1" type="subTitle"/>
          </p:nvPr>
        </p:nvSpPr>
        <p:spPr>
          <a:xfrm>
            <a:off x="628650" y="2701528"/>
            <a:ext cx="78867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1800"/>
              <a:buNone/>
              <a:defRPr b="0" i="0" sz="1800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116" name="Google Shape;116;p40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D8D8D8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7" name="Google Shape;117;p40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rgbClr val="06205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rgbClr val="0620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0" title="MCW Site Logo.png"/>
          <p:cNvPicPr preferRelativeResize="0"/>
          <p:nvPr/>
        </p:nvPicPr>
        <p:blipFill rotWithShape="1">
          <a:blip r:embed="rId2">
            <a:alphaModFix/>
          </a:blip>
          <a:srcRect b="20572" l="0" r="0" t="0"/>
          <a:stretch/>
        </p:blipFill>
        <p:spPr>
          <a:xfrm>
            <a:off x="242075" y="4697427"/>
            <a:ext cx="160421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1"/>
          <p:cNvSpPr txBox="1"/>
          <p:nvPr>
            <p:ph type="title"/>
          </p:nvPr>
        </p:nvSpPr>
        <p:spPr>
          <a:xfrm>
            <a:off x="629841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  <a:defRPr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41"/>
          <p:cNvSpPr txBox="1"/>
          <p:nvPr>
            <p:ph idx="1" type="body"/>
          </p:nvPr>
        </p:nvSpPr>
        <p:spPr>
          <a:xfrm>
            <a:off x="629841" y="1452666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7BB4"/>
              </a:buClr>
              <a:buSzPts val="2100"/>
              <a:buNone/>
              <a:defRPr b="1" i="0" sz="2100">
                <a:solidFill>
                  <a:srgbClr val="0E7BB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2" name="Google Shape;122;p41"/>
          <p:cNvSpPr txBox="1"/>
          <p:nvPr>
            <p:ph idx="2" type="body"/>
          </p:nvPr>
        </p:nvSpPr>
        <p:spPr>
          <a:xfrm>
            <a:off x="629841" y="2206487"/>
            <a:ext cx="3868340" cy="21715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2100"/>
              <a:buChar char="•"/>
              <a:defRPr>
                <a:solidFill>
                  <a:srgbClr val="0C3E5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800"/>
              <a:buChar char="•"/>
              <a:defRPr>
                <a:solidFill>
                  <a:srgbClr val="0C3E5F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Char char="•"/>
              <a:defRPr>
                <a:solidFill>
                  <a:srgbClr val="0C3E5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41"/>
          <p:cNvSpPr txBox="1"/>
          <p:nvPr>
            <p:ph idx="3" type="body"/>
          </p:nvPr>
        </p:nvSpPr>
        <p:spPr>
          <a:xfrm>
            <a:off x="4629150" y="1452666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7BB4"/>
              </a:buClr>
              <a:buSzPts val="2100"/>
              <a:buNone/>
              <a:defRPr b="1" i="0" sz="2100">
                <a:solidFill>
                  <a:srgbClr val="0E7BB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4" name="Google Shape;124;p41"/>
          <p:cNvSpPr txBox="1"/>
          <p:nvPr>
            <p:ph idx="4" type="body"/>
          </p:nvPr>
        </p:nvSpPr>
        <p:spPr>
          <a:xfrm>
            <a:off x="4629150" y="2206487"/>
            <a:ext cx="3887391" cy="21715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2100"/>
              <a:buChar char="•"/>
              <a:defRPr>
                <a:solidFill>
                  <a:srgbClr val="0C3E5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800"/>
              <a:buChar char="•"/>
              <a:defRPr>
                <a:solidFill>
                  <a:srgbClr val="0C3E5F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Char char="•"/>
              <a:defRPr>
                <a:solidFill>
                  <a:srgbClr val="0C3E5F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Char char="•"/>
              <a:defRPr>
                <a:solidFill>
                  <a:srgbClr val="0C3E5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25" name="Google Shape;125;p41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D8D8D8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26" name="Google Shape;126;p41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rgbClr val="06205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rgbClr val="0620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1" title="MCW Site Logo.png"/>
          <p:cNvPicPr preferRelativeResize="0"/>
          <p:nvPr/>
        </p:nvPicPr>
        <p:blipFill rotWithShape="1">
          <a:blip r:embed="rId2">
            <a:alphaModFix/>
          </a:blip>
          <a:srcRect b="20572" l="0" r="0" t="0"/>
          <a:stretch/>
        </p:blipFill>
        <p:spPr>
          <a:xfrm>
            <a:off x="242075" y="4697427"/>
            <a:ext cx="160421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2"/>
          <p:cNvSpPr txBox="1"/>
          <p:nvPr>
            <p:ph type="title"/>
          </p:nvPr>
        </p:nvSpPr>
        <p:spPr>
          <a:xfrm>
            <a:off x="629841" y="520338"/>
            <a:ext cx="3559502" cy="8143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2400"/>
              <a:buFont typeface="Montserrat ExtraBold"/>
              <a:buNone/>
              <a:defRPr sz="2400"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42"/>
          <p:cNvSpPr/>
          <p:nvPr/>
        </p:nvSpPr>
        <p:spPr>
          <a:xfrm>
            <a:off x="4814422" y="504264"/>
            <a:ext cx="3993822" cy="3718322"/>
          </a:xfrm>
          <a:prstGeom prst="roundRect">
            <a:avLst>
              <a:gd fmla="val 3699" name="adj"/>
            </a:avLst>
          </a:prstGeom>
          <a:solidFill>
            <a:schemeClr val="lt1"/>
          </a:solidFill>
          <a:ln>
            <a:noFill/>
          </a:ln>
          <a:effectLst>
            <a:outerShdw blurRad="367895" rotWithShape="0" algn="ctr" dir="5400000" dist="124809">
              <a:srgbClr val="0C3E5F">
                <a:alpha val="1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2"/>
          <p:cNvSpPr/>
          <p:nvPr>
            <p:ph idx="2" type="pic"/>
          </p:nvPr>
        </p:nvSpPr>
        <p:spPr>
          <a:xfrm>
            <a:off x="5143448" y="894244"/>
            <a:ext cx="3335769" cy="2938362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42"/>
          <p:cNvSpPr txBox="1"/>
          <p:nvPr>
            <p:ph idx="1" type="body"/>
          </p:nvPr>
        </p:nvSpPr>
        <p:spPr>
          <a:xfrm>
            <a:off x="629841" y="1543050"/>
            <a:ext cx="355950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>
                <a:solidFill>
                  <a:srgbClr val="0C3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133" name="Google Shape;133;p42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D8D8D8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34" name="Google Shape;134;p42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rgbClr val="06205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rgbClr val="0620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2" title="MCW Site Logo.png"/>
          <p:cNvPicPr preferRelativeResize="0"/>
          <p:nvPr/>
        </p:nvPicPr>
        <p:blipFill rotWithShape="1">
          <a:blip r:embed="rId2">
            <a:alphaModFix/>
          </a:blip>
          <a:srcRect b="20572" l="0" r="0" t="0"/>
          <a:stretch/>
        </p:blipFill>
        <p:spPr>
          <a:xfrm>
            <a:off x="242075" y="4697427"/>
            <a:ext cx="160421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icture with Caption">
  <p:cSld name="3_Picture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type="title"/>
          </p:nvPr>
        </p:nvSpPr>
        <p:spPr>
          <a:xfrm>
            <a:off x="4955848" y="520338"/>
            <a:ext cx="3559502" cy="8143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2400"/>
              <a:buFont typeface="Montserrat ExtraBold"/>
              <a:buNone/>
              <a:defRPr sz="2400">
                <a:solidFill>
                  <a:srgbClr val="FF790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43"/>
          <p:cNvSpPr/>
          <p:nvPr/>
        </p:nvSpPr>
        <p:spPr>
          <a:xfrm>
            <a:off x="428719" y="504264"/>
            <a:ext cx="3993822" cy="3718322"/>
          </a:xfrm>
          <a:prstGeom prst="roundRect">
            <a:avLst>
              <a:gd fmla="val 3699" name="adj"/>
            </a:avLst>
          </a:prstGeom>
          <a:solidFill>
            <a:schemeClr val="lt1"/>
          </a:solidFill>
          <a:ln>
            <a:noFill/>
          </a:ln>
          <a:effectLst>
            <a:outerShdw blurRad="367895" rotWithShape="0" algn="ctr" dir="5400000" dist="124809">
              <a:srgbClr val="0C3E5F">
                <a:alpha val="1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3"/>
          <p:cNvSpPr/>
          <p:nvPr>
            <p:ph idx="2" type="pic"/>
          </p:nvPr>
        </p:nvSpPr>
        <p:spPr>
          <a:xfrm>
            <a:off x="757745" y="894244"/>
            <a:ext cx="3335769" cy="2938362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43"/>
          <p:cNvSpPr txBox="1"/>
          <p:nvPr>
            <p:ph idx="1" type="body"/>
          </p:nvPr>
        </p:nvSpPr>
        <p:spPr>
          <a:xfrm>
            <a:off x="4955848" y="1543050"/>
            <a:ext cx="355950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1200"/>
              <a:buNone/>
              <a:defRPr sz="1200">
                <a:solidFill>
                  <a:srgbClr val="0C3E5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141" name="Google Shape;141;p43"/>
          <p:cNvCxnSpPr/>
          <p:nvPr/>
        </p:nvCxnSpPr>
        <p:spPr>
          <a:xfrm>
            <a:off x="628650" y="4639235"/>
            <a:ext cx="7886700" cy="0"/>
          </a:xfrm>
          <a:prstGeom prst="straightConnector1">
            <a:avLst/>
          </a:prstGeom>
          <a:noFill/>
          <a:ln cap="flat" cmpd="sng" w="28575">
            <a:solidFill>
              <a:srgbClr val="D8D8D8">
                <a:alpha val="50196"/>
              </a:srgbClr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42" name="Google Shape;142;p43"/>
          <p:cNvSpPr txBox="1"/>
          <p:nvPr/>
        </p:nvSpPr>
        <p:spPr>
          <a:xfrm>
            <a:off x="5565608" y="4776341"/>
            <a:ext cx="302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900"/>
              <a:buFont typeface="Montserrat ExtraBold"/>
              <a:buNone/>
            </a:pPr>
            <a:r>
              <a:rPr b="1" i="0" lang="en" sz="900" u="none" cap="none" strike="noStrike">
                <a:solidFill>
                  <a:srgbClr val="06205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CLARITY. FOCUS. FREEDOM.</a:t>
            </a:r>
            <a:endParaRPr b="0" i="0" sz="1100" u="none" cap="none" strike="noStrike">
              <a:solidFill>
                <a:srgbClr val="0620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43" title="MCW Site Logo.png"/>
          <p:cNvPicPr preferRelativeResize="0"/>
          <p:nvPr/>
        </p:nvPicPr>
        <p:blipFill rotWithShape="1">
          <a:blip r:embed="rId2">
            <a:alphaModFix/>
          </a:blip>
          <a:srcRect b="20572" l="0" r="0" t="0"/>
          <a:stretch/>
        </p:blipFill>
        <p:spPr>
          <a:xfrm>
            <a:off x="242075" y="4697427"/>
            <a:ext cx="160421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3E5F"/>
              </a:buClr>
              <a:buSzPts val="3300"/>
              <a:buFont typeface="Montserrat ExtraBold"/>
              <a:buNone/>
              <a:defRPr b="1" i="0" sz="3300" u="none" cap="none" strike="noStrike">
                <a:solidFill>
                  <a:srgbClr val="0C3E5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C3E5F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3E5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C3E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visionarybook.com" TargetMode="External"/><Relationship Id="rId4" Type="http://schemas.openxmlformats.org/officeDocument/2006/relationships/hyperlink" Target="https://academy.eosworldwide.com/c/visionaries-integrator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8a37341a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19" scaled="0"/>
          </a:gra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1" name="Google Shape;151;g3f88a37341a_0_0"/>
          <p:cNvSpPr/>
          <p:nvPr/>
        </p:nvSpPr>
        <p:spPr>
          <a:xfrm>
            <a:off x="476226" y="4827443"/>
            <a:ext cx="1144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League Spartan"/>
              <a:buNone/>
            </a:pPr>
            <a:r>
              <a:rPr b="1" lang="en" sz="80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eosnorthtexas.com</a:t>
            </a:r>
            <a:endParaRPr sz="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2" name="Google Shape;152;g3f88a37341a_0_0"/>
          <p:cNvSpPr/>
          <p:nvPr/>
        </p:nvSpPr>
        <p:spPr>
          <a:xfrm>
            <a:off x="7538104" y="4827443"/>
            <a:ext cx="12426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League Spartan"/>
              <a:buNone/>
            </a:pPr>
            <a:r>
              <a:rPr b="1" lang="en" sz="800">
                <a:solidFill>
                  <a:srgbClr val="8A94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#WeRunOnEOS2026</a:t>
            </a:r>
            <a:endParaRPr sz="8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descr="preencoded.png" id="153" name="Google Shape;153;g3f88a37341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46" y="1607710"/>
            <a:ext cx="2047864" cy="1928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88a37341a_0_0"/>
          <p:cNvSpPr/>
          <p:nvPr/>
        </p:nvSpPr>
        <p:spPr>
          <a:xfrm>
            <a:off x="1604925" y="1650472"/>
            <a:ext cx="9492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6768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3000"/>
              <a:buFont typeface="League Spartan"/>
              <a:buNone/>
            </a:pPr>
            <a:r>
              <a:rPr b="1" lang="en" sz="30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</a:t>
            </a:r>
            <a:endParaRPr sz="30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5" name="Google Shape;155;g3f88a37341a_0_0"/>
          <p:cNvSpPr/>
          <p:nvPr/>
        </p:nvSpPr>
        <p:spPr>
          <a:xfrm>
            <a:off x="3095556" y="1630161"/>
            <a:ext cx="56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000"/>
              <a:buFont typeface="League Spartan"/>
              <a:buNone/>
            </a:pPr>
            <a:r>
              <a:rPr b="1" lang="en" sz="10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FIFTH ANNUAL · SEPTEMBER 14, 2026 · THE STATLER DALLAS</a:t>
            </a:r>
            <a:endParaRPr sz="10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6" name="Google Shape;156;g3f88a37341a_0_0"/>
          <p:cNvSpPr/>
          <p:nvPr/>
        </p:nvSpPr>
        <p:spPr>
          <a:xfrm>
            <a:off x="3095556" y="1942063"/>
            <a:ext cx="5298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League Spartan"/>
              <a:buNone/>
            </a:pPr>
            <a:r>
              <a:rPr b="1" lang="en" sz="3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10 PILLARS OF VISIONARY GREATNESS</a:t>
            </a:r>
            <a:endParaRPr sz="33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7" name="Google Shape;157;g3f88a37341a_0_0"/>
          <p:cNvSpPr/>
          <p:nvPr/>
        </p:nvSpPr>
        <p:spPr>
          <a:xfrm>
            <a:off x="3095556" y="2984014"/>
            <a:ext cx="56580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9D0D9"/>
              </a:buClr>
              <a:buSzPts val="1300"/>
              <a:buFont typeface="League Spartan"/>
              <a:buNone/>
            </a:pPr>
            <a:r>
              <a:rPr lang="en" sz="1300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 C. Winters</a:t>
            </a:r>
            <a:r>
              <a:rPr lang="en" sz="1300">
                <a:solidFill>
                  <a:srgbClr val="C9D0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 Visionary &amp; Founder / Rocket Fuel University</a:t>
            </a:r>
            <a:endParaRPr sz="13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8" name="Google Shape;158;g3f88a37341a_0_0"/>
          <p:cNvSpPr/>
          <p:nvPr/>
        </p:nvSpPr>
        <p:spPr>
          <a:xfrm>
            <a:off x="3095556" y="3328524"/>
            <a:ext cx="56580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300"/>
              <a:buFont typeface="League Spartan"/>
              <a:buNone/>
            </a:pPr>
            <a:r>
              <a:rPr b="1" lang="en" sz="1300">
                <a:solidFill>
                  <a:srgbClr val="FF7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@MarkCWinters</a:t>
            </a:r>
            <a:endParaRPr sz="13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 txBox="1"/>
          <p:nvPr>
            <p:ph type="ctrTitle"/>
          </p:nvPr>
        </p:nvSpPr>
        <p:spPr>
          <a:xfrm>
            <a:off x="3561483" y="841772"/>
            <a:ext cx="4953866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4500"/>
              <a:buFont typeface="Montserrat ExtraBold"/>
              <a:buNone/>
            </a:pPr>
            <a:r>
              <a:rPr lang="en"/>
              <a:t>THE 10 PILLARS OF VISIONARY</a:t>
            </a:r>
            <a:br>
              <a:rPr lang="en"/>
            </a:br>
            <a:r>
              <a:rPr lang="en"/>
              <a:t>GREATNESS</a:t>
            </a:r>
            <a:endParaRPr/>
          </a:p>
        </p:txBody>
      </p:sp>
      <p:sp>
        <p:nvSpPr>
          <p:cNvPr id="164" name="Google Shape;164;p2"/>
          <p:cNvSpPr txBox="1"/>
          <p:nvPr>
            <p:ph idx="1" type="subTitle"/>
          </p:nvPr>
        </p:nvSpPr>
        <p:spPr>
          <a:xfrm>
            <a:off x="3561483" y="2701528"/>
            <a:ext cx="4953866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/>
              <a:t>How Driven Entrepreneurs</a:t>
            </a:r>
            <a:br>
              <a:rPr lang="en"/>
            </a:br>
            <a:r>
              <a:rPr lang="en"/>
              <a:t>Get What They Want</a:t>
            </a:r>
            <a:br>
              <a:rPr lang="en"/>
            </a:br>
            <a:r>
              <a:rPr lang="en"/>
              <a:t>Without Doing It All Themselves</a:t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628651" y="841772"/>
            <a:ext cx="2384714" cy="2384714"/>
          </a:xfrm>
          <a:prstGeom prst="ellipse">
            <a:avLst/>
          </a:prstGeom>
          <a:solidFill>
            <a:srgbClr val="0C3E5F"/>
          </a:solidFill>
          <a:ln cap="flat" cmpd="sng" w="76200">
            <a:solidFill>
              <a:srgbClr val="FF790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letter f in a circle&#10;&#10;AI-generated content may be incorrect." id="166" name="Google Shape;1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338" y="4082784"/>
            <a:ext cx="285541" cy="28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orange circle with a letter in it&#10;&#10;AI-generated content may be incorrect." id="167" name="Google Shape;1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1479" y="4082784"/>
            <a:ext cx="285541" cy="28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orange circle with a play button&#10;&#10;AI-generated content may be incorrect." id="168" name="Google Shape;1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9908" y="4082784"/>
            <a:ext cx="285541" cy="2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"/>
          <p:cNvSpPr txBox="1"/>
          <p:nvPr/>
        </p:nvSpPr>
        <p:spPr>
          <a:xfrm>
            <a:off x="628651" y="3446362"/>
            <a:ext cx="2384700" cy="10387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790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Mark C. Winters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Rocket Fuel University</a:t>
            </a:r>
            <a:r>
              <a:rPr b="0" baseline="3000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®</a:t>
            </a:r>
            <a:endParaRPr b="0" baseline="3000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Visionary / Founder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" title="Brown and Light Brown, Circle Framed Instagram Profile Pictur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750" y="405863"/>
            <a:ext cx="3256525" cy="32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VISIONARY DNA - SUPERPOWERS</a:t>
            </a:r>
            <a:endParaRPr/>
          </a:p>
        </p:txBody>
      </p:sp>
      <p:sp>
        <p:nvSpPr>
          <p:cNvPr id="176" name="Google Shape;176;p3"/>
          <p:cNvSpPr txBox="1"/>
          <p:nvPr>
            <p:ph idx="1" type="body"/>
          </p:nvPr>
        </p:nvSpPr>
        <p:spPr>
          <a:xfrm>
            <a:off x="64350" y="1107050"/>
            <a:ext cx="4157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Founding entrepreneur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Lots of ideas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Big picture thinker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Good industry / target market pulse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Enjoys R&amp;D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Enjoys big external relationships</a:t>
            </a:r>
            <a:endParaRPr sz="1800"/>
          </a:p>
        </p:txBody>
      </p:sp>
      <p:sp>
        <p:nvSpPr>
          <p:cNvPr id="177" name="Google Shape;177;p3"/>
          <p:cNvSpPr txBox="1"/>
          <p:nvPr>
            <p:ph idx="2" type="body"/>
          </p:nvPr>
        </p:nvSpPr>
        <p:spPr>
          <a:xfrm>
            <a:off x="4299125" y="1107050"/>
            <a:ext cx="4427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Inspirer for the organization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Creative problem solver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Create and hold the company vision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Closes big deals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Good at connecting the dots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Reality distortion field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VISIONARY DNA - CHALLENGES</a:t>
            </a:r>
            <a:endParaRPr/>
          </a:p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64338" y="1107050"/>
            <a:ext cx="36555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Inconsistency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Organizational “whiplash”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Dysfunctional teams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Create lack of clear direction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Reluctance to let go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Underdeveloped leaders and managers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“Genius” with 1,000 helpers</a:t>
            </a:r>
            <a:endParaRPr sz="1800"/>
          </a:p>
        </p:txBody>
      </p:sp>
      <p:sp>
        <p:nvSpPr>
          <p:cNvPr id="184" name="Google Shape;184;p4"/>
          <p:cNvSpPr txBox="1"/>
          <p:nvPr>
            <p:ph idx="2" type="body"/>
          </p:nvPr>
        </p:nvSpPr>
        <p:spPr>
          <a:xfrm>
            <a:off x="3719863" y="1107050"/>
            <a:ext cx="53598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Eyes bigger than their stomach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Naturally resistant to following a process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Quickly and easily bored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No patience for the details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Create chaos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Often have some level of ADD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All foot on gas pedal – with no brake</a:t>
            </a:r>
            <a:endParaRPr sz="1800"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1800"/>
              <a:t>Drive is too intense for most people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VISIONARY ROLE</a:t>
            </a:r>
            <a:endParaRPr/>
          </a:p>
        </p:txBody>
      </p:sp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See the future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Ideation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BIG external relationships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Solving interesting problems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Closing big deals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QUESTION:</a:t>
            </a:r>
            <a:endParaRPr/>
          </a:p>
        </p:txBody>
      </p:sp>
      <p:sp>
        <p:nvSpPr>
          <p:cNvPr id="196" name="Google Shape;196;p6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/>
              <a:t>HOW TO BECOME TRULY GREAT IN THIS ROLE?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A:  THE 10 PILLARS…</a:t>
            </a:r>
            <a:br>
              <a:rPr lang="en"/>
            </a:br>
            <a:r>
              <a:rPr lang="en"/>
              <a:t>OF VISIONARY GREATNESS</a:t>
            </a:r>
            <a:endParaRPr/>
          </a:p>
        </p:txBody>
      </p:sp>
      <p:sp>
        <p:nvSpPr>
          <p:cNvPr id="202" name="Google Shape;202;p7"/>
          <p:cNvSpPr txBox="1"/>
          <p:nvPr>
            <p:ph idx="1" type="body"/>
          </p:nvPr>
        </p:nvSpPr>
        <p:spPr>
          <a:xfrm>
            <a:off x="2794650" y="1327675"/>
            <a:ext cx="4436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 sz="2000"/>
              <a:t>(Because Visionaries LOVE Lists!)</a:t>
            </a:r>
            <a:endParaRPr sz="2000"/>
          </a:p>
        </p:txBody>
      </p:sp>
      <p:grpSp>
        <p:nvGrpSpPr>
          <p:cNvPr id="203" name="Google Shape;203;p7"/>
          <p:cNvGrpSpPr/>
          <p:nvPr/>
        </p:nvGrpSpPr>
        <p:grpSpPr>
          <a:xfrm>
            <a:off x="402450" y="1813000"/>
            <a:ext cx="3969525" cy="375300"/>
            <a:chOff x="628650" y="1914175"/>
            <a:chExt cx="3969525" cy="375300"/>
          </a:xfrm>
        </p:grpSpPr>
        <p:sp>
          <p:nvSpPr>
            <p:cNvPr id="204" name="Google Shape;204;p7"/>
            <p:cNvSpPr/>
            <p:nvPr/>
          </p:nvSpPr>
          <p:spPr>
            <a:xfrm>
              <a:off x="1438275" y="1914175"/>
              <a:ext cx="3159900" cy="375300"/>
            </a:xfrm>
            <a:prstGeom prst="rect">
              <a:avLst/>
            </a:prstGeom>
            <a:solidFill>
              <a:srgbClr val="FF7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628650" y="1914175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FF790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833400" y="1932688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1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1826475" y="1942213"/>
              <a:ext cx="12693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KNOW THYSELF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8" name="Google Shape;208;p7"/>
          <p:cNvGrpSpPr/>
          <p:nvPr/>
        </p:nvGrpSpPr>
        <p:grpSpPr>
          <a:xfrm>
            <a:off x="402450" y="2379738"/>
            <a:ext cx="3969525" cy="375300"/>
            <a:chOff x="628650" y="2495200"/>
            <a:chExt cx="3969525" cy="375300"/>
          </a:xfrm>
        </p:grpSpPr>
        <p:sp>
          <p:nvSpPr>
            <p:cNvPr id="209" name="Google Shape;209;p7"/>
            <p:cNvSpPr/>
            <p:nvPr/>
          </p:nvSpPr>
          <p:spPr>
            <a:xfrm>
              <a:off x="1438275" y="2495200"/>
              <a:ext cx="3159900" cy="375300"/>
            </a:xfrm>
            <a:prstGeom prst="rect">
              <a:avLst/>
            </a:prstGeom>
            <a:solidFill>
              <a:srgbClr val="428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628650" y="2495200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428FD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833400" y="2513713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2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1826475" y="2523250"/>
              <a:ext cx="21075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MAINTAIN WARRIOR SHAPE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3" name="Google Shape;213;p7"/>
          <p:cNvGrpSpPr/>
          <p:nvPr/>
        </p:nvGrpSpPr>
        <p:grpSpPr>
          <a:xfrm>
            <a:off x="402450" y="2946475"/>
            <a:ext cx="3969525" cy="375300"/>
            <a:chOff x="628650" y="3076225"/>
            <a:chExt cx="3969525" cy="375300"/>
          </a:xfrm>
        </p:grpSpPr>
        <p:sp>
          <p:nvSpPr>
            <p:cNvPr id="214" name="Google Shape;214;p7"/>
            <p:cNvSpPr/>
            <p:nvPr/>
          </p:nvSpPr>
          <p:spPr>
            <a:xfrm>
              <a:off x="1438275" y="3076225"/>
              <a:ext cx="3159900" cy="375300"/>
            </a:xfrm>
            <a:prstGeom prst="rect">
              <a:avLst/>
            </a:prstGeom>
            <a:solidFill>
              <a:srgbClr val="FF7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28650" y="3076225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FF790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833400" y="3094738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3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1826475" y="3104275"/>
              <a:ext cx="19644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SURROUND YOURSELF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8" name="Google Shape;218;p7"/>
          <p:cNvGrpSpPr/>
          <p:nvPr/>
        </p:nvGrpSpPr>
        <p:grpSpPr>
          <a:xfrm>
            <a:off x="402450" y="3513213"/>
            <a:ext cx="4017225" cy="375300"/>
            <a:chOff x="628650" y="3657250"/>
            <a:chExt cx="4017225" cy="375300"/>
          </a:xfrm>
        </p:grpSpPr>
        <p:sp>
          <p:nvSpPr>
            <p:cNvPr id="219" name="Google Shape;219;p7"/>
            <p:cNvSpPr/>
            <p:nvPr/>
          </p:nvSpPr>
          <p:spPr>
            <a:xfrm>
              <a:off x="1438275" y="3657250"/>
              <a:ext cx="3159900" cy="375300"/>
            </a:xfrm>
            <a:prstGeom prst="rect">
              <a:avLst/>
            </a:prstGeom>
            <a:solidFill>
              <a:srgbClr val="428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628650" y="3657250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428FD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833400" y="3675763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4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1826475" y="3685300"/>
              <a:ext cx="28194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COMMIT TO YOUR OPERATING SYSTEM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3" name="Google Shape;223;p7"/>
          <p:cNvGrpSpPr/>
          <p:nvPr/>
        </p:nvGrpSpPr>
        <p:grpSpPr>
          <a:xfrm>
            <a:off x="402450" y="4079950"/>
            <a:ext cx="3969525" cy="375300"/>
            <a:chOff x="628650" y="4181125"/>
            <a:chExt cx="3969525" cy="375300"/>
          </a:xfrm>
        </p:grpSpPr>
        <p:sp>
          <p:nvSpPr>
            <p:cNvPr id="224" name="Google Shape;224;p7"/>
            <p:cNvSpPr/>
            <p:nvPr/>
          </p:nvSpPr>
          <p:spPr>
            <a:xfrm>
              <a:off x="1438275" y="4181125"/>
              <a:ext cx="3159900" cy="375300"/>
            </a:xfrm>
            <a:prstGeom prst="rect">
              <a:avLst/>
            </a:prstGeom>
            <a:solidFill>
              <a:srgbClr val="FF7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28650" y="4181125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FF790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833400" y="4199638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5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1826488" y="4209175"/>
              <a:ext cx="27204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SUPPORT YOUR INTEGRATOR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8" name="Google Shape;228;p7"/>
          <p:cNvGrpSpPr/>
          <p:nvPr/>
        </p:nvGrpSpPr>
        <p:grpSpPr>
          <a:xfrm>
            <a:off x="4630375" y="1813000"/>
            <a:ext cx="4111162" cy="375300"/>
            <a:chOff x="4782713" y="1813000"/>
            <a:chExt cx="4111162" cy="375300"/>
          </a:xfrm>
        </p:grpSpPr>
        <p:sp>
          <p:nvSpPr>
            <p:cNvPr id="229" name="Google Shape;229;p7"/>
            <p:cNvSpPr/>
            <p:nvPr/>
          </p:nvSpPr>
          <p:spPr>
            <a:xfrm>
              <a:off x="5592351" y="1813000"/>
              <a:ext cx="3301500" cy="375300"/>
            </a:xfrm>
            <a:prstGeom prst="rect">
              <a:avLst/>
            </a:prstGeom>
            <a:solidFill>
              <a:srgbClr val="428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782713" y="1813000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428FD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4987463" y="1831513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6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5980575" y="1841050"/>
              <a:ext cx="29133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THINK ABOUT WHAT YOU THINK ABOUT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4630375" y="2379738"/>
            <a:ext cx="4111138" cy="375312"/>
            <a:chOff x="4782713" y="2379738"/>
            <a:chExt cx="4111138" cy="375312"/>
          </a:xfrm>
        </p:grpSpPr>
        <p:sp>
          <p:nvSpPr>
            <p:cNvPr id="234" name="Google Shape;234;p7"/>
            <p:cNvSpPr/>
            <p:nvPr/>
          </p:nvSpPr>
          <p:spPr>
            <a:xfrm>
              <a:off x="5592351" y="2379750"/>
              <a:ext cx="3301500" cy="375300"/>
            </a:xfrm>
            <a:prstGeom prst="rect">
              <a:avLst/>
            </a:prstGeom>
            <a:solidFill>
              <a:srgbClr val="FF7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782713" y="2379738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FF790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4987463" y="2398250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7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5980538" y="2407788"/>
              <a:ext cx="21075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WATCH OUT FOR PITFALLS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4630375" y="2946475"/>
            <a:ext cx="4111137" cy="375300"/>
            <a:chOff x="4782713" y="2946475"/>
            <a:chExt cx="4111137" cy="375300"/>
          </a:xfrm>
        </p:grpSpPr>
        <p:sp>
          <p:nvSpPr>
            <p:cNvPr id="239" name="Google Shape;239;p7"/>
            <p:cNvSpPr/>
            <p:nvPr/>
          </p:nvSpPr>
          <p:spPr>
            <a:xfrm>
              <a:off x="5592350" y="2946475"/>
              <a:ext cx="3301500" cy="375300"/>
            </a:xfrm>
            <a:prstGeom prst="rect">
              <a:avLst/>
            </a:prstGeom>
            <a:solidFill>
              <a:srgbClr val="428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4782713" y="2946475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428FD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4987463" y="2964988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8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5980538" y="2974525"/>
              <a:ext cx="19644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HELP OTHERS STRETCH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3" name="Google Shape;243;p7"/>
          <p:cNvGrpSpPr/>
          <p:nvPr/>
        </p:nvGrpSpPr>
        <p:grpSpPr>
          <a:xfrm>
            <a:off x="4630375" y="3513213"/>
            <a:ext cx="4111138" cy="375312"/>
            <a:chOff x="4782713" y="3513213"/>
            <a:chExt cx="4111138" cy="375312"/>
          </a:xfrm>
        </p:grpSpPr>
        <p:sp>
          <p:nvSpPr>
            <p:cNvPr id="244" name="Google Shape;244;p7"/>
            <p:cNvSpPr/>
            <p:nvPr/>
          </p:nvSpPr>
          <p:spPr>
            <a:xfrm>
              <a:off x="5592351" y="3513225"/>
              <a:ext cx="3301500" cy="375300"/>
            </a:xfrm>
            <a:prstGeom prst="rect">
              <a:avLst/>
            </a:prstGeom>
            <a:solidFill>
              <a:srgbClr val="FF7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782713" y="3513213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FF790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4987463" y="3531725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9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7"/>
            <p:cNvSpPr txBox="1"/>
            <p:nvPr/>
          </p:nvSpPr>
          <p:spPr>
            <a:xfrm>
              <a:off x="5980538" y="3541263"/>
              <a:ext cx="28194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 SLOW TO GO FAST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4630375" y="4079950"/>
            <a:ext cx="4111138" cy="375300"/>
            <a:chOff x="4782713" y="4079950"/>
            <a:chExt cx="4111138" cy="375300"/>
          </a:xfrm>
        </p:grpSpPr>
        <p:sp>
          <p:nvSpPr>
            <p:cNvPr id="249" name="Google Shape;249;p7"/>
            <p:cNvSpPr/>
            <p:nvPr/>
          </p:nvSpPr>
          <p:spPr>
            <a:xfrm>
              <a:off x="5592351" y="4079950"/>
              <a:ext cx="3301500" cy="375300"/>
            </a:xfrm>
            <a:prstGeom prst="rect">
              <a:avLst/>
            </a:prstGeom>
            <a:solidFill>
              <a:srgbClr val="428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4782713" y="4079950"/>
              <a:ext cx="1143000" cy="375300"/>
            </a:xfrm>
            <a:prstGeom prst="chevron">
              <a:avLst>
                <a:gd fmla="val 50000" name="adj"/>
              </a:avLst>
            </a:prstGeom>
            <a:solidFill>
              <a:srgbClr val="428FD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4987463" y="4098463"/>
              <a:ext cx="919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PILLAR 10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5980538" y="4107988"/>
              <a:ext cx="12693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 NO HARM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/>
          <p:nvPr>
            <p:ph type="title"/>
          </p:nvPr>
        </p:nvSpPr>
        <p:spPr>
          <a:xfrm>
            <a:off x="628650" y="33347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1: KNOW THYSELF</a:t>
            </a:r>
            <a:endParaRPr/>
          </a:p>
        </p:txBody>
      </p:sp>
      <p:sp>
        <p:nvSpPr>
          <p:cNvPr id="258" name="Google Shape;258;p8"/>
          <p:cNvSpPr txBox="1"/>
          <p:nvPr>
            <p:ph idx="1" type="body"/>
          </p:nvPr>
        </p:nvSpPr>
        <p:spPr>
          <a:xfrm>
            <a:off x="628650" y="1428853"/>
            <a:ext cx="3886200" cy="2953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“To know thyself is the beginning of wisdom.”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- Socrates</a:t>
            </a:r>
            <a:endParaRPr/>
          </a:p>
        </p:txBody>
      </p:sp>
      <p:pic>
        <p:nvPicPr>
          <p:cNvPr id="259" name="Google Shape;259;p8"/>
          <p:cNvPicPr preferRelativeResize="0"/>
          <p:nvPr/>
        </p:nvPicPr>
        <p:blipFill rotWithShape="1">
          <a:blip r:embed="rId3">
            <a:alphaModFix/>
          </a:blip>
          <a:srcRect b="5226" l="0" r="0" t="4668"/>
          <a:stretch/>
        </p:blipFill>
        <p:spPr>
          <a:xfrm>
            <a:off x="5144278" y="1329388"/>
            <a:ext cx="4010557" cy="279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2: </a:t>
            </a:r>
            <a:br>
              <a:rPr lang="en"/>
            </a:br>
            <a:r>
              <a:rPr lang="en"/>
              <a:t>MAINTAIN WARRIOR SHAPE</a:t>
            </a:r>
            <a:endParaRPr/>
          </a:p>
        </p:txBody>
      </p:sp>
      <p:sp>
        <p:nvSpPr>
          <p:cNvPr id="265" name="Google Shape;265;p9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“MASK YOURSELF BEFORE YOUR CHILDREN”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66" name="Google Shape;266;p9"/>
          <p:cNvPicPr preferRelativeResize="0"/>
          <p:nvPr/>
        </p:nvPicPr>
        <p:blipFill rotWithShape="1">
          <a:blip r:embed="rId3">
            <a:alphaModFix/>
          </a:blip>
          <a:srcRect b="0" l="3566" r="3566" t="0"/>
          <a:stretch/>
        </p:blipFill>
        <p:spPr>
          <a:xfrm>
            <a:off x="4758950" y="1507432"/>
            <a:ext cx="4385044" cy="279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3: SURROUND YOURSELF</a:t>
            </a:r>
            <a:endParaRPr/>
          </a:p>
        </p:txBody>
      </p:sp>
      <p:sp>
        <p:nvSpPr>
          <p:cNvPr id="272" name="Google Shape;272;p10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“SHIELD WALL”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73" name="Google Shape;273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56" r="456" t="0"/>
          <a:stretch/>
        </p:blipFill>
        <p:spPr>
          <a:xfrm>
            <a:off x="4913710" y="1327678"/>
            <a:ext cx="4230292" cy="2801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0"/>
          <p:cNvPicPr preferRelativeResize="0"/>
          <p:nvPr/>
        </p:nvPicPr>
        <p:blipFill rotWithShape="1">
          <a:blip r:embed="rId4">
            <a:alphaModFix/>
          </a:blip>
          <a:srcRect b="5129" l="0" r="0" t="15594"/>
          <a:stretch/>
        </p:blipFill>
        <p:spPr>
          <a:xfrm>
            <a:off x="4572000" y="1327675"/>
            <a:ext cx="4572001" cy="28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4: COMMIT TO YOUR OS</a:t>
            </a:r>
            <a:endParaRPr/>
          </a:p>
        </p:txBody>
      </p:sp>
      <p:sp>
        <p:nvSpPr>
          <p:cNvPr id="280" name="Google Shape;280;p11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THE OS LADDER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81" name="Google Shape;281;p11" title="The OS Ladder.png"/>
          <p:cNvPicPr preferRelativeResize="0"/>
          <p:nvPr/>
        </p:nvPicPr>
        <p:blipFill rotWithShape="1">
          <a:blip r:embed="rId3">
            <a:alphaModFix/>
          </a:blip>
          <a:srcRect b="6375" l="0" r="0" t="10830"/>
          <a:stretch/>
        </p:blipFill>
        <p:spPr>
          <a:xfrm>
            <a:off x="5348053" y="1327675"/>
            <a:ext cx="3842675" cy="27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5: </a:t>
            </a:r>
            <a:br>
              <a:rPr lang="en"/>
            </a:br>
            <a:r>
              <a:rPr lang="en"/>
              <a:t>SUPPORT YOUR INTEGRATOR</a:t>
            </a:r>
            <a:endParaRPr/>
          </a:p>
        </p:txBody>
      </p:sp>
      <p:sp>
        <p:nvSpPr>
          <p:cNvPr id="287" name="Google Shape;287;p12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Don’t make it harder for them than it already is…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88" name="Google Shape;288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8" l="0" r="0" t="318"/>
          <a:stretch/>
        </p:blipFill>
        <p:spPr>
          <a:xfrm>
            <a:off x="4913710" y="1327678"/>
            <a:ext cx="4230292" cy="280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6: THINK ABOUT</a:t>
            </a:r>
            <a:br>
              <a:rPr lang="en"/>
            </a:br>
            <a:r>
              <a:rPr lang="en"/>
              <a:t>WHAT YOU THINK ABOUT</a:t>
            </a:r>
            <a:endParaRPr/>
          </a:p>
        </p:txBody>
      </p:sp>
      <p:sp>
        <p:nvSpPr>
          <p:cNvPr id="294" name="Google Shape;294;p13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MINDSETS MATTER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95" name="Google Shape;295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8" l="0" r="0" t="318"/>
          <a:stretch/>
        </p:blipFill>
        <p:spPr>
          <a:xfrm>
            <a:off x="4913710" y="1327678"/>
            <a:ext cx="4230292" cy="280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7: </a:t>
            </a:r>
            <a:br>
              <a:rPr lang="en"/>
            </a:br>
            <a:r>
              <a:rPr lang="en"/>
              <a:t>WATCH OUT FOR PITFALLS</a:t>
            </a:r>
            <a:endParaRPr/>
          </a:p>
        </p:txBody>
      </p:sp>
      <p:sp>
        <p:nvSpPr>
          <p:cNvPr id="301" name="Google Shape;301;p14"/>
          <p:cNvSpPr txBox="1"/>
          <p:nvPr>
            <p:ph idx="1" type="body"/>
          </p:nvPr>
        </p:nvSpPr>
        <p:spPr>
          <a:xfrm>
            <a:off x="628650" y="1428850"/>
            <a:ext cx="40158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“THE FLOOR - IT MOVES…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br>
              <a:rPr lang="en"/>
            </a:br>
            <a:r>
              <a:rPr lang="en"/>
              <a:t>ASPS - VERY DANGEROUS…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br>
              <a:rPr lang="en"/>
            </a:br>
            <a:r>
              <a:rPr lang="en"/>
              <a:t>YOU GO FIRST”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02" name="Google Shape;302;p14" title="Beware of Pitfall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00" y="1701950"/>
            <a:ext cx="4371200" cy="24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8: HELP OTHERS STRETCH</a:t>
            </a:r>
            <a:endParaRPr/>
          </a:p>
        </p:txBody>
      </p:sp>
      <p:sp>
        <p:nvSpPr>
          <p:cNvPr id="308" name="Google Shape;308;p15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HEALTHY STRETCHING… </a:t>
            </a:r>
            <a:br>
              <a:rPr lang="en"/>
            </a:br>
            <a:br>
              <a:rPr lang="en"/>
            </a:br>
            <a:r>
              <a:rPr lang="en"/>
              <a:t>WHERE THEY SHOULD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2975" y="1331665"/>
            <a:ext cx="3621023" cy="279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9: GO SLOW TO GO FAST</a:t>
            </a:r>
            <a:endParaRPr/>
          </a:p>
        </p:txBody>
      </p:sp>
      <p:sp>
        <p:nvSpPr>
          <p:cNvPr id="315" name="Google Shape;315;p16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SLOW IS SMOOTH…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SMOOTH IS FAST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16" name="Google Shape;316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163" l="0" r="0" t="25168"/>
          <a:stretch/>
        </p:blipFill>
        <p:spPr>
          <a:xfrm>
            <a:off x="4913710" y="1327678"/>
            <a:ext cx="4230290" cy="280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PILLAR 10: DO NO HARM</a:t>
            </a:r>
            <a:endParaRPr/>
          </a:p>
        </p:txBody>
      </p:sp>
      <p:sp>
        <p:nvSpPr>
          <p:cNvPr id="322" name="Google Shape;322;p17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From the Latin: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“Primum Non Nocere”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THE HIPPOCRATIC OATH,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245 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(but not really)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23" name="Google Shape;323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8" l="0" r="0" t="318"/>
          <a:stretch/>
        </p:blipFill>
        <p:spPr>
          <a:xfrm>
            <a:off x="4913710" y="1327678"/>
            <a:ext cx="4230292" cy="280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YOUR FUTURE</a:t>
            </a:r>
            <a:endParaRPr/>
          </a:p>
        </p:txBody>
      </p:sp>
      <p:sp>
        <p:nvSpPr>
          <p:cNvPr id="329" name="Google Shape;329;p18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BIGGER &amp; BRIGHTER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EXPONENTIAL FREEDOM</a:t>
            </a:r>
            <a:endParaRPr/>
          </a:p>
        </p:txBody>
      </p:sp>
      <p:sp>
        <p:nvSpPr>
          <p:cNvPr id="335" name="Google Shape;335;p19"/>
          <p:cNvSpPr txBox="1"/>
          <p:nvPr>
            <p:ph idx="1" type="body"/>
          </p:nvPr>
        </p:nvSpPr>
        <p:spPr>
          <a:xfrm>
            <a:off x="628650" y="1428853"/>
            <a:ext cx="3886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/>
              <a:t>“Hello from the AT…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/>
              <a:t>my Integrator has everything under control!”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336" name="Google Shape;336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845" l="0" r="0" t="5854"/>
          <a:stretch/>
        </p:blipFill>
        <p:spPr>
          <a:xfrm>
            <a:off x="4913710" y="1329928"/>
            <a:ext cx="4230289" cy="2801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42" name="Google Shape;342;p20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FOR YOU… AND YOUR INTEGRATOR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 txBox="1"/>
          <p:nvPr>
            <p:ph idx="1" type="body"/>
          </p:nvPr>
        </p:nvSpPr>
        <p:spPr>
          <a:xfrm>
            <a:off x="629841" y="449711"/>
            <a:ext cx="3695375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VISIONARY</a:t>
            </a:r>
            <a:endParaRPr/>
          </a:p>
        </p:txBody>
      </p:sp>
      <p:sp>
        <p:nvSpPr>
          <p:cNvPr id="348" name="Google Shape;348;p21"/>
          <p:cNvSpPr txBox="1"/>
          <p:nvPr>
            <p:ph idx="2" type="body"/>
          </p:nvPr>
        </p:nvSpPr>
        <p:spPr>
          <a:xfrm>
            <a:off x="514266" y="1203531"/>
            <a:ext cx="36954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Read: VISIONARY</a:t>
            </a:r>
            <a:br>
              <a:rPr lang="en"/>
            </a:br>
            <a:r>
              <a:rPr lang="en"/>
              <a:t>(all about you)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u="sng">
                <a:solidFill>
                  <a:srgbClr val="FF99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VisionaryBook.com</a:t>
            </a:r>
            <a:r>
              <a:rPr lang="en"/>
              <a:t> </a:t>
            </a:r>
            <a:br>
              <a:rPr lang="en"/>
            </a:br>
            <a:r>
              <a:rPr lang="en"/>
              <a:t>(more tools/resources)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Join Our Community:</a:t>
            </a:r>
            <a:br>
              <a:rPr lang="en"/>
            </a:br>
            <a:r>
              <a:rPr lang="en"/>
              <a:t>Visionary Book Owners Group </a:t>
            </a:r>
            <a:br>
              <a:rPr lang="en"/>
            </a:br>
            <a:r>
              <a:rPr lang="en"/>
              <a:t>(on LinkedIn)</a:t>
            </a:r>
            <a:endParaRPr/>
          </a:p>
        </p:txBody>
      </p:sp>
      <p:sp>
        <p:nvSpPr>
          <p:cNvPr id="349" name="Google Shape;349;p21"/>
          <p:cNvSpPr txBox="1"/>
          <p:nvPr>
            <p:ph idx="3" type="body"/>
          </p:nvPr>
        </p:nvSpPr>
        <p:spPr>
          <a:xfrm>
            <a:off x="4818785" y="449711"/>
            <a:ext cx="3697756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INTEGRATOR</a:t>
            </a:r>
            <a:endParaRPr/>
          </a:p>
        </p:txBody>
      </p:sp>
      <p:sp>
        <p:nvSpPr>
          <p:cNvPr id="350" name="Google Shape;350;p21"/>
          <p:cNvSpPr txBox="1"/>
          <p:nvPr>
            <p:ph idx="4" type="body"/>
          </p:nvPr>
        </p:nvSpPr>
        <p:spPr>
          <a:xfrm>
            <a:off x="4818775" y="1203525"/>
            <a:ext cx="41841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Read VISIONARY </a:t>
            </a:r>
            <a:br>
              <a:rPr lang="en"/>
            </a:br>
            <a:r>
              <a:rPr lang="en"/>
              <a:t>(peek inside their brain)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Read ROCKET FUEL</a:t>
            </a:r>
            <a:br>
              <a:rPr lang="en"/>
            </a:br>
            <a:r>
              <a:rPr lang="en"/>
              <a:t>(5 Rules + 5 Tools)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All the Rest: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https://academy.eosworldwide.com/c/visionaries-integrators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(even more tools/resources)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NOW…</a:t>
            </a:r>
            <a:endParaRPr/>
          </a:p>
        </p:txBody>
      </p:sp>
      <p:sp>
        <p:nvSpPr>
          <p:cNvPr id="356" name="Google Shape;356;p22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 sz="4400"/>
              <a:t>GO CHANGE THE WORLD!</a:t>
            </a:r>
            <a:endParaRPr sz="4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628650" y="3334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3300"/>
              <a:buFont typeface="Montserrat ExtraBold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628650" y="1428853"/>
            <a:ext cx="78867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 sz="5400"/>
              <a:t>ASK ME ANYTHING</a:t>
            </a:r>
            <a:endParaRPr sz="5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"/>
          <p:cNvSpPr txBox="1"/>
          <p:nvPr>
            <p:ph type="ctrTitle"/>
          </p:nvPr>
        </p:nvSpPr>
        <p:spPr>
          <a:xfrm>
            <a:off x="3561483" y="841772"/>
            <a:ext cx="4953866" cy="796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7902"/>
              </a:buClr>
              <a:buSzPts val="4500"/>
              <a:buFont typeface="Montserrat ExtraBold"/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28651" y="841772"/>
            <a:ext cx="2384714" cy="2384714"/>
          </a:xfrm>
          <a:prstGeom prst="ellipse">
            <a:avLst/>
          </a:prstGeom>
          <a:solidFill>
            <a:srgbClr val="0C3E5F"/>
          </a:solidFill>
          <a:ln cap="flat" cmpd="sng" w="76200">
            <a:solidFill>
              <a:srgbClr val="FF790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letter f in a circle&#10;&#10;AI-generated content may be incorrect." id="369" name="Google Shape;3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663" y="2883612"/>
            <a:ext cx="285541" cy="28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orange circle with a letter in it&#10;&#10;AI-generated content may be incorrect." id="370" name="Google Shape;3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804" y="2883612"/>
            <a:ext cx="285541" cy="28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orange circle with a play button&#10;&#10;AI-generated content may be incorrect." id="371" name="Google Shape;3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0233" y="2883612"/>
            <a:ext cx="285541" cy="2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28651" y="3446362"/>
            <a:ext cx="2384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790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MARK C. WINTERS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Rocket Fuel University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Visionary / Founder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descr="An orange and black envelope&#10;&#10;AI-generated content may be incorrect." id="373" name="Google Shape;3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1471" y="1847688"/>
            <a:ext cx="359254" cy="359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3960233" y="1888814"/>
            <a:ext cx="4624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mark@markcwinters.com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3960232" y="2324760"/>
            <a:ext cx="4624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markcwinters.com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descr="A orange line art of a person on a computer&#10;&#10;AI-generated content may be incorrect." id="376" name="Google Shape;37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1471" y="2283634"/>
            <a:ext cx="359250" cy="3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 title="Brown and Light Brown, Circle Framed Instagram Profile Picture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2750" y="405863"/>
            <a:ext cx="3256525" cy="32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4604200" y="2826278"/>
            <a:ext cx="41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@markcwinters</a:t>
            </a:r>
            <a:endParaRPr b="0" i="0" sz="2100" u="none" cap="none" strike="noStrike">
              <a:solidFill>
                <a:srgbClr val="0C3E5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79" name="Google Shape;379;p24" title="Visionary Book QR Code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4700" y="1931575"/>
            <a:ext cx="1280325" cy="12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4759"/>
              </a:gs>
              <a:gs pos="48000">
                <a:srgbClr val="1F2C3F"/>
              </a:gs>
              <a:gs pos="100000">
                <a:srgbClr val="101B2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4358" y="1935647"/>
            <a:ext cx="523846" cy="66673"/>
          </a:xfrm>
          <a:prstGeom prst="round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4358" y="2126125"/>
            <a:ext cx="4256445" cy="37120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eague Spartan"/>
              </a:rPr>
              <a:t>Session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58" y="2649700"/>
            <a:ext cx="4256445" cy="25908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50">
                <a:solidFill>
                  <a:srgbClr val="C9D0D9"/>
                </a:solidFill>
                <a:latin typeface="League Spartan"/>
              </a:rPr>
              <a:t>Scan the code to share quick feedback on this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58" y="3023080"/>
            <a:ext cx="4256445" cy="203821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75" b="1">
                <a:solidFill>
                  <a:srgbClr val="FF7900"/>
                </a:solidFill>
                <a:latin typeface="League Spartan"/>
              </a:rPr>
              <a:t>Thank you for your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1772" y="1547798"/>
            <a:ext cx="2047869" cy="2047869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back-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65" y="1650191"/>
            <a:ext cx="1843083" cy="18430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000" y="4893500"/>
            <a:ext cx="1500003" cy="2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50" b="1">
                <a:solidFill>
                  <a:srgbClr val="C9D0D9"/>
                </a:solidFill>
                <a:latin typeface="League Spartan"/>
              </a:rPr>
              <a:t>#WeRunOnEOS2026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