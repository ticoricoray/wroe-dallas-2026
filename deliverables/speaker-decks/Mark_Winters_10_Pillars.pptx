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5143500" cx="9144000"/>
  <p:notesSz cx="6858000" cy="9144000"/>
  <p:embeddedFontLst>
    <p:embeddedFont>
      <p:font typeface="League Spartan"/>
      <p:regular r:id="rId30"/>
      <p:bold r:id="rId31"/>
    </p:embeddedFont>
    <p:embeddedFont>
      <p:font typeface="Montserrat SemiBold"/>
      <p:regular r:id="rId32"/>
      <p:bold r:id="rId33"/>
      <p:italic r:id="rId34"/>
      <p:boldItalic r:id="rId35"/>
    </p:embeddedFont>
    <p:embeddedFont>
      <p:font typeface="Montserrat"/>
      <p:regular r:id="rId36"/>
      <p:bold r:id="rId37"/>
      <p:italic r:id="rId38"/>
      <p:boldItalic r:id="rId39"/>
    </p:embeddedFont>
    <p:embeddedFont>
      <p:font typeface="Montserrat Medium"/>
      <p:regular r:id="rId40"/>
      <p:bold r:id="rId41"/>
      <p:italic r:id="rId42"/>
      <p:boldItalic r:id="rId43"/>
    </p:embeddedFont>
    <p:embeddedFont>
      <p:font typeface="Montserrat ExtraBold"/>
      <p:bold r:id="rId44"/>
      <p:boldItalic r:id="rId4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46" roundtripDataSignature="AMtx7mii/hcmlBl60WOMklAPMQTE3dKL7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MontserratMedium-regular.fntdata"/><Relationship Id="rId20" Type="http://schemas.openxmlformats.org/officeDocument/2006/relationships/slide" Target="slides/slide15.xml"/><Relationship Id="rId42" Type="http://schemas.openxmlformats.org/officeDocument/2006/relationships/font" Target="fonts/MontserratMedium-italic.fntdata"/><Relationship Id="rId41" Type="http://schemas.openxmlformats.org/officeDocument/2006/relationships/font" Target="fonts/MontserratMedium-bold.fntdata"/><Relationship Id="rId22" Type="http://schemas.openxmlformats.org/officeDocument/2006/relationships/slide" Target="slides/slide17.xml"/><Relationship Id="rId44" Type="http://schemas.openxmlformats.org/officeDocument/2006/relationships/font" Target="fonts/MontserratExtraBold-bold.fntdata"/><Relationship Id="rId21" Type="http://schemas.openxmlformats.org/officeDocument/2006/relationships/slide" Target="slides/slide16.xml"/><Relationship Id="rId43" Type="http://schemas.openxmlformats.org/officeDocument/2006/relationships/font" Target="fonts/MontserratMedium-boldItalic.fntdata"/><Relationship Id="rId24" Type="http://schemas.openxmlformats.org/officeDocument/2006/relationships/slide" Target="slides/slide19.xml"/><Relationship Id="rId46" Type="http://customschemas.google.com/relationships/presentationmetadata" Target="metadata"/><Relationship Id="rId23" Type="http://schemas.openxmlformats.org/officeDocument/2006/relationships/slide" Target="slides/slide18.xml"/><Relationship Id="rId45" Type="http://schemas.openxmlformats.org/officeDocument/2006/relationships/font" Target="fonts/MontserratExtraBold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LeagueSpartan-bold.fntdata"/><Relationship Id="rId30" Type="http://schemas.openxmlformats.org/officeDocument/2006/relationships/font" Target="fonts/LeagueSpartan-regular.fntdata"/><Relationship Id="rId11" Type="http://schemas.openxmlformats.org/officeDocument/2006/relationships/slide" Target="slides/slide6.xml"/><Relationship Id="rId33" Type="http://schemas.openxmlformats.org/officeDocument/2006/relationships/font" Target="fonts/MontserratSemiBold-bold.fntdata"/><Relationship Id="rId10" Type="http://schemas.openxmlformats.org/officeDocument/2006/relationships/slide" Target="slides/slide5.xml"/><Relationship Id="rId32" Type="http://schemas.openxmlformats.org/officeDocument/2006/relationships/font" Target="fonts/MontserratSemiBold-regular.fntdata"/><Relationship Id="rId13" Type="http://schemas.openxmlformats.org/officeDocument/2006/relationships/slide" Target="slides/slide8.xml"/><Relationship Id="rId35" Type="http://schemas.openxmlformats.org/officeDocument/2006/relationships/font" Target="fonts/MontserratSemiBold-boldItalic.fntdata"/><Relationship Id="rId12" Type="http://schemas.openxmlformats.org/officeDocument/2006/relationships/slide" Target="slides/slide7.xml"/><Relationship Id="rId34" Type="http://schemas.openxmlformats.org/officeDocument/2006/relationships/font" Target="fonts/MontserratSemiBold-italic.fntdata"/><Relationship Id="rId15" Type="http://schemas.openxmlformats.org/officeDocument/2006/relationships/slide" Target="slides/slide10.xml"/><Relationship Id="rId37" Type="http://schemas.openxmlformats.org/officeDocument/2006/relationships/font" Target="fonts/Montserrat-bold.fntdata"/><Relationship Id="rId14" Type="http://schemas.openxmlformats.org/officeDocument/2006/relationships/slide" Target="slides/slide9.xml"/><Relationship Id="rId36" Type="http://schemas.openxmlformats.org/officeDocument/2006/relationships/font" Target="fonts/Montserrat-regular.fntdata"/><Relationship Id="rId17" Type="http://schemas.openxmlformats.org/officeDocument/2006/relationships/slide" Target="slides/slide12.xml"/><Relationship Id="rId39" Type="http://schemas.openxmlformats.org/officeDocument/2006/relationships/font" Target="fonts/Montserrat-boldItalic.fntdata"/><Relationship Id="rId16" Type="http://schemas.openxmlformats.org/officeDocument/2006/relationships/slide" Target="slides/slide11.xml"/><Relationship Id="rId38" Type="http://schemas.openxmlformats.org/officeDocument/2006/relationships/font" Target="fonts/Montserrat-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f88a37341a_0_0:notes"/>
          <p:cNvSpPr/>
          <p:nvPr>
            <p:ph idx="2" type="sldImg"/>
          </p:nvPr>
        </p:nvSpPr>
        <p:spPr>
          <a:xfrm>
            <a:off x="0" y="0"/>
            <a:ext cx="1500000" cy="15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7" name="Google Shape;147;g3f88a37341a_0_0:notes"/>
          <p:cNvSpPr txBox="1"/>
          <p:nvPr>
            <p:ph idx="1" type="body"/>
          </p:nvPr>
        </p:nvSpPr>
        <p:spPr>
          <a:xfrm>
            <a:off x="0" y="0"/>
            <a:ext cx="200010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Title slide. Replace the title, your name, and handle. Leave the logo, event line, and footer as they are.</a:t>
            </a:r>
            <a:endParaRPr sz="900"/>
          </a:p>
        </p:txBody>
      </p:sp>
      <p:sp>
        <p:nvSpPr>
          <p:cNvPr id="148" name="Google Shape;148;g3f88a37341a_0_0:notes"/>
          <p:cNvSpPr txBox="1"/>
          <p:nvPr>
            <p:ph idx="12" type="sldNum"/>
          </p:nvPr>
        </p:nvSpPr>
        <p:spPr>
          <a:xfrm>
            <a:off x="0" y="0"/>
            <a:ext cx="200010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1" name="Google Shape;16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3" name="Google Shape;17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0" name="Google Shape;180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3" name="Google Shape;19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9" name="Google Shape;19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The inner work (Jonathan)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Profiling Tools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Intrinsic Genius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Statement: </a:t>
            </a:r>
            <a:r>
              <a:rPr lang="en">
                <a:solidFill>
                  <a:schemeClr val="dk1"/>
                </a:solidFill>
              </a:rPr>
              <a:t>You can't integrate a Visionary you don't understand.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Tool: </a:t>
            </a:r>
            <a:r>
              <a:rPr lang="en">
                <a:solidFill>
                  <a:schemeClr val="dk1"/>
                </a:solidFill>
              </a:rPr>
              <a:t>Intrinsic Genius. Run it on yourself first.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Provocation: </a:t>
            </a:r>
            <a:r>
              <a:rPr lang="en">
                <a:solidFill>
                  <a:schemeClr val="dk1"/>
                </a:solidFill>
              </a:rPr>
              <a:t>Can you describe the VIS edge you were hired to complement?</a:t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5" name="Google Shape;25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The most important ability is availability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Present Self vs. Future Self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Mind, Body, Spirit — levers for each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Statement: </a:t>
            </a:r>
            <a:r>
              <a:rPr lang="en">
                <a:solidFill>
                  <a:schemeClr val="dk1"/>
                </a:solidFill>
              </a:rPr>
              <a:t>A depleted Visionary makes expensive decisions.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Tool: </a:t>
            </a:r>
            <a:r>
              <a:rPr lang="en">
                <a:solidFill>
                  <a:schemeClr val="dk1"/>
                </a:solidFill>
              </a:rPr>
              <a:t>Body/Mind/Spirit Levers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Provocation: </a:t>
            </a:r>
            <a:r>
              <a:rPr lang="en">
                <a:solidFill>
                  <a:schemeClr val="dk1"/>
                </a:solidFill>
              </a:rPr>
              <a:t>When did you last tell your VIS: “I/we need you to take care of yourself”?</a:t>
            </a:r>
            <a:endParaRPr/>
          </a:p>
        </p:txBody>
      </p:sp>
      <p:sp>
        <p:nvSpPr>
          <p:cNvPr id="262" name="Google Shape;26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Shield Wall (Gino)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7 Special Posts / Relationships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Culture Formula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Statement: </a:t>
            </a:r>
            <a:r>
              <a:rPr lang="en">
                <a:solidFill>
                  <a:schemeClr val="dk1"/>
                </a:solidFill>
              </a:rPr>
              <a:t>You're one post in their Shield Wall, and also accountable for another (LT).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Tool: </a:t>
            </a:r>
            <a:r>
              <a:rPr lang="en">
                <a:solidFill>
                  <a:schemeClr val="dk1"/>
                </a:solidFill>
              </a:rPr>
              <a:t>Shield Wall gap analysis — done together.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Provocation: </a:t>
            </a:r>
            <a:r>
              <a:rPr lang="en">
                <a:solidFill>
                  <a:schemeClr val="dk1"/>
                </a:solidFill>
              </a:rPr>
              <a:t>Which Special Post(s) is your Visionary missing? Helping fill it, or covering for it?</a:t>
            </a:r>
            <a:endParaRPr/>
          </a:p>
        </p:txBody>
      </p:sp>
      <p:sp>
        <p:nvSpPr>
          <p:cNvPr id="269" name="Google Shape;26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Structure Fuels Freedom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Choose one. Don't waffle.</a:t>
            </a:r>
            <a:br>
              <a:rPr lang="en"/>
            </a:br>
            <a:r>
              <a:rPr lang="en"/>
              <a:t> Commit to mastery.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OS Ladder — top down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XF / 9 Domains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Statement: </a:t>
            </a:r>
            <a:r>
              <a:rPr lang="en">
                <a:solidFill>
                  <a:schemeClr val="dk1"/>
                </a:solidFill>
              </a:rPr>
              <a:t>Structure fuels freedom.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Tool: </a:t>
            </a:r>
            <a:r>
              <a:rPr lang="en">
                <a:solidFill>
                  <a:schemeClr val="dk1"/>
                </a:solidFill>
              </a:rPr>
              <a:t>OS Ladder self-rating: both of you, then compare.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Provocation: </a:t>
            </a:r>
            <a:r>
              <a:rPr lang="en">
                <a:solidFill>
                  <a:schemeClr val="dk1"/>
                </a:solidFill>
              </a:rPr>
              <a:t>What's the weakest rung on your Visionary's ladder?</a:t>
            </a:r>
            <a:endParaRPr/>
          </a:p>
        </p:txBody>
      </p:sp>
      <p:sp>
        <p:nvSpPr>
          <p:cNvPr id="277" name="Google Shape;277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INT job is hard enough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VIS Commitments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RFPI (Open &amp; Honest)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Statement: </a:t>
            </a:r>
            <a:r>
              <a:rPr lang="en">
                <a:solidFill>
                  <a:schemeClr val="dk1"/>
                </a:solidFill>
              </a:rPr>
              <a:t>Make it easy for them to support you well.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Tool: </a:t>
            </a:r>
            <a:r>
              <a:rPr lang="en">
                <a:solidFill>
                  <a:schemeClr val="dk1"/>
                </a:solidFill>
              </a:rPr>
              <a:t>RFPI.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Provocation:</a:t>
            </a:r>
            <a:br>
              <a:rPr b="1" lang="en">
                <a:solidFill>
                  <a:schemeClr val="dk1"/>
                </a:solidFill>
              </a:rPr>
            </a:br>
            <a:r>
              <a:rPr b="1" lang="en">
                <a:solidFill>
                  <a:schemeClr val="dk1"/>
                </a:solidFill>
              </a:rPr>
              <a:t> </a:t>
            </a:r>
            <a:r>
              <a:rPr lang="en">
                <a:solidFill>
                  <a:schemeClr val="dk1"/>
                </a:solidFill>
              </a:rPr>
              <a:t>If you don't know how your VIS would answer, you don't know your VIS.</a:t>
            </a:r>
            <a:endParaRPr/>
          </a:p>
        </p:txBody>
      </p:sp>
      <p:sp>
        <p:nvSpPr>
          <p:cNvPr id="284" name="Google Shape;28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7 Mindsets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Intellectual Humility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Diamond of Creativity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Statement: </a:t>
            </a:r>
            <a:r>
              <a:rPr lang="en">
                <a:solidFill>
                  <a:schemeClr val="dk1"/>
                </a:solidFill>
              </a:rPr>
              <a:t>What V thinks about impacts everything. Help them make their thinking visible.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Tool: </a:t>
            </a:r>
            <a:r>
              <a:rPr lang="en">
                <a:solidFill>
                  <a:schemeClr val="dk1"/>
                </a:solidFill>
              </a:rPr>
              <a:t>7</a:t>
            </a:r>
            <a:r>
              <a:rPr lang="en">
                <a:solidFill>
                  <a:schemeClr val="dk1"/>
                </a:solidFill>
              </a:rPr>
              <a:t> Mindsets.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Provocation: </a:t>
            </a:r>
            <a:r>
              <a:rPr lang="en">
                <a:solidFill>
                  <a:schemeClr val="dk1"/>
                </a:solidFill>
              </a:rPr>
              <a:t>When did you last tell your V their thinking was doing damage?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291" name="Google Shape;29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Bad Behavior</a:t>
            </a:r>
            <a:br>
              <a:rPr lang="en"/>
            </a:br>
            <a:r>
              <a:rPr lang="en"/>
              <a:t> (tampering, end runs, Owner's Card)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Becoming the Bottleneck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Statement: </a:t>
            </a:r>
            <a:r>
              <a:rPr lang="en">
                <a:solidFill>
                  <a:schemeClr val="dk1"/>
                </a:solidFill>
              </a:rPr>
              <a:t>Every Visionary pitfall has an Integrator accomplice.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Tool: </a:t>
            </a:r>
            <a:r>
              <a:rPr lang="en">
                <a:solidFill>
                  <a:schemeClr val="dk1"/>
                </a:solidFill>
              </a:rPr>
              <a:t>Name the pitfalls.  Make them visible.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Provocation: </a:t>
            </a:r>
            <a:r>
              <a:rPr lang="en">
                <a:solidFill>
                  <a:schemeClr val="dk1"/>
                </a:solidFill>
              </a:rPr>
              <a:t>Name the last V pitfall you noticed and did not name.</a:t>
            </a:r>
            <a:endParaRPr/>
          </a:p>
        </p:txBody>
      </p:sp>
      <p:sp>
        <p:nvSpPr>
          <p:cNvPr id="298" name="Google Shape;298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Stretch the Vision. Predict the Traction. Must do both.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The Vision Tree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The Vision Expander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Statement: </a:t>
            </a:r>
            <a:r>
              <a:rPr lang="en">
                <a:solidFill>
                  <a:schemeClr val="dk1"/>
                </a:solidFill>
              </a:rPr>
              <a:t>Healthy =</a:t>
            </a:r>
            <a:r>
              <a:rPr b="1" lang="en">
                <a:solidFill>
                  <a:schemeClr val="dk1"/>
                </a:solidFill>
              </a:rPr>
              <a:t> </a:t>
            </a:r>
            <a:r>
              <a:rPr lang="en">
                <a:solidFill>
                  <a:schemeClr val="dk1"/>
                </a:solidFill>
              </a:rPr>
              <a:t>Stretch the vision. Predict the traction.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Tool: </a:t>
            </a:r>
            <a:r>
              <a:rPr lang="en">
                <a:solidFill>
                  <a:schemeClr val="dk1"/>
                </a:solidFill>
              </a:rPr>
              <a:t>Vision Expander.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Provocation: </a:t>
            </a:r>
            <a:r>
              <a:rPr lang="en">
                <a:solidFill>
                  <a:schemeClr val="dk1"/>
                </a:solidFill>
              </a:rPr>
              <a:t>Which is harder: V predicting the Traction, or I stretching the Vision? </a:t>
            </a: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 Which is working better right now?</a:t>
            </a:r>
            <a:endParaRPr/>
          </a:p>
        </p:txBody>
      </p:sp>
      <p:sp>
        <p:nvSpPr>
          <p:cNvPr id="305" name="Google Shape;305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1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Frenetic energy…</a:t>
            </a:r>
            <a:br>
              <a:rPr lang="en"/>
            </a:br>
            <a:r>
              <a:rPr lang="en"/>
              <a:t> Slow is Smooth, Smooth is Fast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Flow Follows Focus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Traffic Jam Theory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Statement: </a:t>
            </a:r>
            <a:r>
              <a:rPr lang="en">
                <a:solidFill>
                  <a:schemeClr val="dk1"/>
                </a:solidFill>
              </a:rPr>
              <a:t>They're gonna create traffic jams. You must either clear it - or prevent it.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Tool: </a:t>
            </a:r>
            <a:r>
              <a:rPr lang="en">
                <a:solidFill>
                  <a:schemeClr val="dk1"/>
                </a:solidFill>
              </a:rPr>
              <a:t>Traffic Jam model.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Provocation: </a:t>
            </a:r>
            <a:r>
              <a:rPr lang="en">
                <a:solidFill>
                  <a:schemeClr val="dk1"/>
                </a:solidFill>
              </a:rPr>
              <a:t>How much time do you spend clearing traffic jams vs preventing them?</a:t>
            </a:r>
            <a:endParaRPr/>
          </a:p>
        </p:txBody>
      </p:sp>
      <p:sp>
        <p:nvSpPr>
          <p:cNvPr id="312" name="Google Shape;3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Jonathan's Big Truck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Vision Confusion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Special Exceptions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Thinking Out Loud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Statement:</a:t>
            </a:r>
            <a:br>
              <a:rPr b="1" lang="en">
                <a:solidFill>
                  <a:schemeClr val="dk1"/>
                </a:solidFill>
              </a:rPr>
            </a:br>
            <a:r>
              <a:rPr b="1" lang="en">
                <a:solidFill>
                  <a:schemeClr val="dk1"/>
                </a:solidFill>
              </a:rPr>
              <a:t> </a:t>
            </a:r>
            <a:r>
              <a:rPr lang="en">
                <a:solidFill>
                  <a:schemeClr val="dk1"/>
                </a:solidFill>
              </a:rPr>
              <a:t>Protect them from screwing up the single largest investment in their portfolio.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Tool: </a:t>
            </a:r>
            <a:r>
              <a:rPr lang="en">
                <a:solidFill>
                  <a:schemeClr val="dk1"/>
                </a:solidFill>
              </a:rPr>
              <a:t>Susan Scott's Decision Tree.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Provocation:</a:t>
            </a:r>
            <a:br>
              <a:rPr b="1" lang="en">
                <a:solidFill>
                  <a:schemeClr val="dk1"/>
                </a:solidFill>
              </a:rPr>
            </a:br>
            <a:r>
              <a:rPr b="1" lang="en">
                <a:solidFill>
                  <a:schemeClr val="dk1"/>
                </a:solidFill>
              </a:rPr>
              <a:t> </a:t>
            </a:r>
            <a:r>
              <a:rPr lang="en">
                <a:solidFill>
                  <a:schemeClr val="dk1"/>
                </a:solidFill>
              </a:rPr>
              <a:t>How many leafy decisions are being treated like a much meatier part of the tree?</a:t>
            </a:r>
            <a:endParaRPr/>
          </a:p>
        </p:txBody>
      </p:sp>
      <p:sp>
        <p:nvSpPr>
          <p:cNvPr id="319" name="Google Shape;319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6" name="Google Shape;326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2" name="Google Shape;332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39" name="Google Shape;339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5" name="Google Shape;345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2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53" name="Google Shape;353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59" name="Google Shape;359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65" name="Google Shape;3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Relationship Id="rId3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and white background&#10;&#10;AI-generated content may be incorrect." id="12" name="Google Shape;12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81" y="-1340"/>
            <a:ext cx="9139238" cy="5146181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26"/>
          <p:cNvSpPr txBox="1"/>
          <p:nvPr>
            <p:ph type="ctrTitle"/>
          </p:nvPr>
        </p:nvSpPr>
        <p:spPr>
          <a:xfrm>
            <a:off x="628650" y="841772"/>
            <a:ext cx="7886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4500"/>
              <a:buFont typeface="Montserrat ExtraBold"/>
              <a:buNone/>
              <a:defRPr b="1" i="0" sz="4500">
                <a:solidFill>
                  <a:srgbClr val="FF790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" name="Google Shape;14;p26"/>
          <p:cNvSpPr txBox="1"/>
          <p:nvPr>
            <p:ph idx="1" type="subTitle"/>
          </p:nvPr>
        </p:nvSpPr>
        <p:spPr>
          <a:xfrm>
            <a:off x="628650" y="2701528"/>
            <a:ext cx="78867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0" i="0" sz="1800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cxnSp>
        <p:nvCxnSpPr>
          <p:cNvPr id="15" name="Google Shape;15;p26"/>
          <p:cNvCxnSpPr/>
          <p:nvPr/>
        </p:nvCxnSpPr>
        <p:spPr>
          <a:xfrm>
            <a:off x="628650" y="4639235"/>
            <a:ext cx="7886700" cy="0"/>
          </a:xfrm>
          <a:prstGeom prst="straightConnector1">
            <a:avLst/>
          </a:prstGeom>
          <a:noFill/>
          <a:ln cap="flat" cmpd="sng" w="28575">
            <a:solidFill>
              <a:srgbClr val="A3C5ED">
                <a:alpha val="50196"/>
              </a:srgbClr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16" name="Google Shape;16;p26"/>
          <p:cNvSpPr txBox="1"/>
          <p:nvPr/>
        </p:nvSpPr>
        <p:spPr>
          <a:xfrm>
            <a:off x="5565608" y="4776341"/>
            <a:ext cx="302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900"/>
              <a:buFont typeface="Montserrat ExtraBold"/>
              <a:buNone/>
            </a:pPr>
            <a:r>
              <a:rPr b="1" i="0" lang="en" sz="900" u="none" cap="none" strike="noStrike">
                <a:solidFill>
                  <a:schemeClr val="l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CLARITY. FOCUS. FREEDOM.</a:t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6" title="MCW Site White Logo.png"/>
          <p:cNvPicPr preferRelativeResize="0"/>
          <p:nvPr/>
        </p:nvPicPr>
        <p:blipFill rotWithShape="1">
          <a:blip r:embed="rId3">
            <a:alphaModFix amt="85000"/>
          </a:blip>
          <a:srcRect b="20572" l="0" r="0" t="0"/>
          <a:stretch/>
        </p:blipFill>
        <p:spPr>
          <a:xfrm>
            <a:off x="245262" y="4719688"/>
            <a:ext cx="1597826" cy="36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and white background&#10;&#10;AI-generated content may be incorrect." id="19" name="Google Shape;19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81" y="-1340"/>
            <a:ext cx="9139238" cy="5146181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27"/>
          <p:cNvSpPr txBox="1"/>
          <p:nvPr>
            <p:ph type="title"/>
          </p:nvPr>
        </p:nvSpPr>
        <p:spPr>
          <a:xfrm>
            <a:off x="628650" y="333478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3300"/>
              <a:buFont typeface="Montserrat ExtraBold"/>
              <a:buNone/>
              <a:defRPr>
                <a:solidFill>
                  <a:srgbClr val="FF790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Google Shape;21;p27"/>
          <p:cNvSpPr txBox="1"/>
          <p:nvPr>
            <p:ph idx="1" type="body"/>
          </p:nvPr>
        </p:nvSpPr>
        <p:spPr>
          <a:xfrm>
            <a:off x="628650" y="1428853"/>
            <a:ext cx="3886200" cy="29539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Char char="•"/>
              <a:defRPr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2" name="Google Shape;22;p27"/>
          <p:cNvSpPr txBox="1"/>
          <p:nvPr>
            <p:ph idx="2" type="body"/>
          </p:nvPr>
        </p:nvSpPr>
        <p:spPr>
          <a:xfrm>
            <a:off x="4629150" y="1428853"/>
            <a:ext cx="3886200" cy="29539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Char char="•"/>
              <a:defRPr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cxnSp>
        <p:nvCxnSpPr>
          <p:cNvPr id="23" name="Google Shape;23;p27"/>
          <p:cNvCxnSpPr/>
          <p:nvPr/>
        </p:nvCxnSpPr>
        <p:spPr>
          <a:xfrm>
            <a:off x="628650" y="4639235"/>
            <a:ext cx="7886700" cy="0"/>
          </a:xfrm>
          <a:prstGeom prst="straightConnector1">
            <a:avLst/>
          </a:prstGeom>
          <a:noFill/>
          <a:ln cap="flat" cmpd="sng" w="28575">
            <a:solidFill>
              <a:srgbClr val="A3C5ED">
                <a:alpha val="50196"/>
              </a:srgbClr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24" name="Google Shape;24;p27"/>
          <p:cNvSpPr txBox="1"/>
          <p:nvPr/>
        </p:nvSpPr>
        <p:spPr>
          <a:xfrm>
            <a:off x="5565608" y="4776341"/>
            <a:ext cx="302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900"/>
              <a:buFont typeface="Montserrat ExtraBold"/>
              <a:buNone/>
            </a:pPr>
            <a:r>
              <a:rPr b="1" i="0" lang="en" sz="900" u="none" cap="none" strike="noStrike">
                <a:solidFill>
                  <a:schemeClr val="l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CLARITY. FOCUS. FREEDOM.</a:t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" name="Google Shape;25;p27" title="MCW Site White Logo.png"/>
          <p:cNvPicPr preferRelativeResize="0"/>
          <p:nvPr/>
        </p:nvPicPr>
        <p:blipFill rotWithShape="1">
          <a:blip r:embed="rId3">
            <a:alphaModFix amt="85000"/>
          </a:blip>
          <a:srcRect b="20572" l="0" r="0" t="0"/>
          <a:stretch/>
        </p:blipFill>
        <p:spPr>
          <a:xfrm>
            <a:off x="245262" y="4719688"/>
            <a:ext cx="1597826" cy="36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and white background&#10;&#10;AI-generated content may be incorrect." id="27" name="Google Shape;27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81" y="-1340"/>
            <a:ext cx="9139238" cy="5146181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28"/>
          <p:cNvSpPr txBox="1"/>
          <p:nvPr>
            <p:ph type="title"/>
          </p:nvPr>
        </p:nvSpPr>
        <p:spPr>
          <a:xfrm>
            <a:off x="628650" y="333478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3300"/>
              <a:buFont typeface="Montserrat ExtraBold"/>
              <a:buNone/>
              <a:defRPr>
                <a:solidFill>
                  <a:srgbClr val="FF790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9" name="Google Shape;29;p28"/>
          <p:cNvSpPr txBox="1"/>
          <p:nvPr>
            <p:ph idx="1" type="body"/>
          </p:nvPr>
        </p:nvSpPr>
        <p:spPr>
          <a:xfrm>
            <a:off x="628650" y="1428853"/>
            <a:ext cx="7886700" cy="29626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Char char="•"/>
              <a:defRPr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cxnSp>
        <p:nvCxnSpPr>
          <p:cNvPr id="30" name="Google Shape;30;p28"/>
          <p:cNvCxnSpPr/>
          <p:nvPr/>
        </p:nvCxnSpPr>
        <p:spPr>
          <a:xfrm>
            <a:off x="628650" y="4639235"/>
            <a:ext cx="7886700" cy="0"/>
          </a:xfrm>
          <a:prstGeom prst="straightConnector1">
            <a:avLst/>
          </a:prstGeom>
          <a:noFill/>
          <a:ln cap="flat" cmpd="sng" w="28575">
            <a:solidFill>
              <a:srgbClr val="A3C5ED">
                <a:alpha val="50196"/>
              </a:srgbClr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31" name="Google Shape;31;p28"/>
          <p:cNvSpPr txBox="1"/>
          <p:nvPr/>
        </p:nvSpPr>
        <p:spPr>
          <a:xfrm>
            <a:off x="5565608" y="4776341"/>
            <a:ext cx="302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900"/>
              <a:buFont typeface="Montserrat ExtraBold"/>
              <a:buNone/>
            </a:pPr>
            <a:r>
              <a:rPr b="1" i="0" lang="en" sz="900" u="none" cap="none" strike="noStrike">
                <a:solidFill>
                  <a:schemeClr val="l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CLARITY. FOCUS. FREEDOM.</a:t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" name="Google Shape;32;p28" title="MCW Site White Logo.png"/>
          <p:cNvPicPr preferRelativeResize="0"/>
          <p:nvPr/>
        </p:nvPicPr>
        <p:blipFill rotWithShape="1">
          <a:blip r:embed="rId3">
            <a:alphaModFix amt="85000"/>
          </a:blip>
          <a:srcRect b="20572" l="0" r="0" t="0"/>
          <a:stretch/>
        </p:blipFill>
        <p:spPr>
          <a:xfrm>
            <a:off x="245262" y="4719688"/>
            <a:ext cx="1597826" cy="36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mparison">
  <p:cSld name="1_Comparison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and orange gradient&#10;&#10;AI-generated content may be incorrect." id="34" name="Google Shape;34;p29"/>
          <p:cNvPicPr preferRelativeResize="0"/>
          <p:nvPr/>
        </p:nvPicPr>
        <p:blipFill rotWithShape="1">
          <a:blip r:embed="rId2">
            <a:alphaModFix/>
          </a:blip>
          <a:srcRect b="10446" l="0" r="0" t="0"/>
          <a:stretch/>
        </p:blipFill>
        <p:spPr>
          <a:xfrm>
            <a:off x="2381" y="-1340"/>
            <a:ext cx="9139238" cy="5144841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29"/>
          <p:cNvSpPr txBox="1"/>
          <p:nvPr>
            <p:ph idx="1" type="body"/>
          </p:nvPr>
        </p:nvSpPr>
        <p:spPr>
          <a:xfrm>
            <a:off x="629841" y="449711"/>
            <a:ext cx="3695375" cy="61793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b="1" i="0" sz="21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6" name="Google Shape;36;p29"/>
          <p:cNvSpPr txBox="1"/>
          <p:nvPr>
            <p:ph idx="2" type="body"/>
          </p:nvPr>
        </p:nvSpPr>
        <p:spPr>
          <a:xfrm>
            <a:off x="629841" y="1203531"/>
            <a:ext cx="3695375" cy="319961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Char char="•"/>
              <a:defRPr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7" name="Google Shape;37;p29"/>
          <p:cNvSpPr txBox="1"/>
          <p:nvPr>
            <p:ph idx="3" type="body"/>
          </p:nvPr>
        </p:nvSpPr>
        <p:spPr>
          <a:xfrm>
            <a:off x="4818785" y="449711"/>
            <a:ext cx="3697756" cy="61793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b="1" i="0" sz="21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8" name="Google Shape;38;p29"/>
          <p:cNvSpPr txBox="1"/>
          <p:nvPr>
            <p:ph idx="4" type="body"/>
          </p:nvPr>
        </p:nvSpPr>
        <p:spPr>
          <a:xfrm>
            <a:off x="4818785" y="1203531"/>
            <a:ext cx="3697756" cy="319961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Char char="•"/>
              <a:defRPr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cxnSp>
        <p:nvCxnSpPr>
          <p:cNvPr id="39" name="Google Shape;39;p29"/>
          <p:cNvCxnSpPr/>
          <p:nvPr/>
        </p:nvCxnSpPr>
        <p:spPr>
          <a:xfrm>
            <a:off x="628650" y="4639235"/>
            <a:ext cx="7886700" cy="0"/>
          </a:xfrm>
          <a:prstGeom prst="straightConnector1">
            <a:avLst/>
          </a:prstGeom>
          <a:noFill/>
          <a:ln cap="flat" cmpd="sng" w="28575">
            <a:solidFill>
              <a:schemeClr val="lt1">
                <a:alpha val="50196"/>
              </a:schemeClr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40" name="Google Shape;40;p29"/>
          <p:cNvSpPr txBox="1"/>
          <p:nvPr/>
        </p:nvSpPr>
        <p:spPr>
          <a:xfrm>
            <a:off x="5565608" y="4776341"/>
            <a:ext cx="302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900"/>
              <a:buFont typeface="Montserrat ExtraBold"/>
              <a:buNone/>
            </a:pPr>
            <a:r>
              <a:rPr b="1" i="0" lang="en" sz="900" u="none" cap="none" strike="noStrike">
                <a:solidFill>
                  <a:schemeClr val="l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CLARITY. FOCUS. FREEDOM.</a:t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" name="Google Shape;41;p29" title="MCW Site White Logo.png"/>
          <p:cNvPicPr preferRelativeResize="0"/>
          <p:nvPr/>
        </p:nvPicPr>
        <p:blipFill rotWithShape="1">
          <a:blip r:embed="rId3">
            <a:alphaModFix amt="85000"/>
          </a:blip>
          <a:srcRect b="20572" l="0" r="0" t="0"/>
          <a:stretch/>
        </p:blipFill>
        <p:spPr>
          <a:xfrm>
            <a:off x="245262" y="4719688"/>
            <a:ext cx="1597826" cy="36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 type="obj">
  <p:cSld name="OBJEC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0"/>
          <p:cNvSpPr txBox="1"/>
          <p:nvPr>
            <p:ph type="title"/>
          </p:nvPr>
        </p:nvSpPr>
        <p:spPr>
          <a:xfrm>
            <a:off x="628650" y="333478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3300"/>
              <a:buFont typeface="Montserrat ExtraBold"/>
              <a:buNone/>
              <a:defRPr>
                <a:solidFill>
                  <a:srgbClr val="FF790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Google Shape;44;p30"/>
          <p:cNvSpPr txBox="1"/>
          <p:nvPr>
            <p:ph idx="1" type="body"/>
          </p:nvPr>
        </p:nvSpPr>
        <p:spPr>
          <a:xfrm>
            <a:off x="628650" y="1428853"/>
            <a:ext cx="7886700" cy="29626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C3E5F"/>
              </a:buClr>
              <a:buSzPts val="2100"/>
              <a:buChar char="•"/>
              <a:defRPr>
                <a:solidFill>
                  <a:srgbClr val="0C3E5F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800"/>
              <a:buChar char="•"/>
              <a:defRPr>
                <a:solidFill>
                  <a:srgbClr val="0C3E5F"/>
                </a:solidFill>
              </a:defRPr>
            </a:lvl2pPr>
            <a:lvl3pPr indent="-3238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500"/>
              <a:buChar char="•"/>
              <a:defRPr>
                <a:solidFill>
                  <a:srgbClr val="0C3E5F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400"/>
              <a:buChar char="•"/>
              <a:defRPr>
                <a:solidFill>
                  <a:srgbClr val="0C3E5F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400"/>
              <a:buChar char="•"/>
              <a:defRPr>
                <a:solidFill>
                  <a:srgbClr val="0C3E5F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cxnSp>
        <p:nvCxnSpPr>
          <p:cNvPr id="45" name="Google Shape;45;p30"/>
          <p:cNvCxnSpPr/>
          <p:nvPr/>
        </p:nvCxnSpPr>
        <p:spPr>
          <a:xfrm>
            <a:off x="628650" y="4639235"/>
            <a:ext cx="7886700" cy="0"/>
          </a:xfrm>
          <a:prstGeom prst="straightConnector1">
            <a:avLst/>
          </a:prstGeom>
          <a:noFill/>
          <a:ln cap="flat" cmpd="sng" w="28575">
            <a:solidFill>
              <a:srgbClr val="D8D8D8">
                <a:alpha val="50196"/>
              </a:srgbClr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46" name="Google Shape;46;p30"/>
          <p:cNvSpPr txBox="1"/>
          <p:nvPr/>
        </p:nvSpPr>
        <p:spPr>
          <a:xfrm>
            <a:off x="5565608" y="4776341"/>
            <a:ext cx="302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900"/>
              <a:buFont typeface="Montserrat ExtraBold"/>
              <a:buNone/>
            </a:pPr>
            <a:r>
              <a:rPr b="1" i="0" lang="en" sz="900" u="none" cap="none" strike="noStrike">
                <a:solidFill>
                  <a:srgbClr val="06205D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CLARITY. FOCUS. FREEDOM.</a:t>
            </a:r>
            <a:endParaRPr b="0" i="0" sz="1100" u="none" cap="none" strike="noStrike">
              <a:solidFill>
                <a:srgbClr val="0620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7" name="Google Shape;47;p30" title="MCW Site Logo.png"/>
          <p:cNvPicPr preferRelativeResize="0"/>
          <p:nvPr/>
        </p:nvPicPr>
        <p:blipFill rotWithShape="1">
          <a:blip r:embed="rId2">
            <a:alphaModFix/>
          </a:blip>
          <a:srcRect b="20572" l="0" r="0" t="0"/>
          <a:stretch/>
        </p:blipFill>
        <p:spPr>
          <a:xfrm>
            <a:off x="242075" y="4697427"/>
            <a:ext cx="1604212" cy="3657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attern of light bulbs&#10;&#10;AI-generated content may be incorrect." id="49" name="Google Shape;49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763" y="0"/>
            <a:ext cx="9139238" cy="5146181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31"/>
          <p:cNvSpPr txBox="1"/>
          <p:nvPr>
            <p:ph type="title"/>
          </p:nvPr>
        </p:nvSpPr>
        <p:spPr>
          <a:xfrm>
            <a:off x="628650" y="2083490"/>
            <a:ext cx="5486400" cy="97652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Montserrat ExtraBold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cxnSp>
        <p:nvCxnSpPr>
          <p:cNvPr id="51" name="Google Shape;51;p31"/>
          <p:cNvCxnSpPr/>
          <p:nvPr/>
        </p:nvCxnSpPr>
        <p:spPr>
          <a:xfrm>
            <a:off x="628650" y="4639235"/>
            <a:ext cx="7886700" cy="0"/>
          </a:xfrm>
          <a:prstGeom prst="straightConnector1">
            <a:avLst/>
          </a:prstGeom>
          <a:noFill/>
          <a:ln cap="flat" cmpd="sng" w="28575">
            <a:solidFill>
              <a:srgbClr val="F04E23">
                <a:alpha val="74902"/>
              </a:srgbClr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52" name="Google Shape;52;p31"/>
          <p:cNvSpPr txBox="1"/>
          <p:nvPr/>
        </p:nvSpPr>
        <p:spPr>
          <a:xfrm>
            <a:off x="5565608" y="4776341"/>
            <a:ext cx="302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900"/>
              <a:buFont typeface="Montserrat ExtraBold"/>
              <a:buNone/>
            </a:pPr>
            <a:r>
              <a:rPr b="1" i="0" lang="en" sz="900" u="none" cap="none" strike="noStrike">
                <a:solidFill>
                  <a:schemeClr val="l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CLARITY. FOCUS. FREEDOM.</a:t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3" name="Google Shape;53;p31" title="MCW Site White Logo.png"/>
          <p:cNvPicPr preferRelativeResize="0"/>
          <p:nvPr/>
        </p:nvPicPr>
        <p:blipFill rotWithShape="1">
          <a:blip r:embed="rId3">
            <a:alphaModFix amt="85000"/>
          </a:blip>
          <a:srcRect b="20572" l="0" r="0" t="0"/>
          <a:stretch/>
        </p:blipFill>
        <p:spPr>
          <a:xfrm>
            <a:off x="245262" y="4719688"/>
            <a:ext cx="1597826" cy="36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Picture with Caption" type="picTx">
  <p:cSld name="PICTURE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and orange gradient&#10;&#10;AI-generated content may be incorrect." id="55" name="Google Shape;55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763" y="0"/>
            <a:ext cx="9139238" cy="5146181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32"/>
          <p:cNvSpPr txBox="1"/>
          <p:nvPr>
            <p:ph type="title"/>
          </p:nvPr>
        </p:nvSpPr>
        <p:spPr>
          <a:xfrm>
            <a:off x="4955848" y="520338"/>
            <a:ext cx="3559502" cy="81438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2400"/>
              <a:buFont typeface="Montserrat ExtraBold"/>
              <a:buNone/>
              <a:defRPr sz="2400">
                <a:solidFill>
                  <a:srgbClr val="FF790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7" name="Google Shape;57;p32"/>
          <p:cNvSpPr/>
          <p:nvPr/>
        </p:nvSpPr>
        <p:spPr>
          <a:xfrm>
            <a:off x="370751" y="520338"/>
            <a:ext cx="3993822" cy="3702248"/>
          </a:xfrm>
          <a:prstGeom prst="roundRect">
            <a:avLst>
              <a:gd fmla="val 3699" name="adj"/>
            </a:avLst>
          </a:prstGeom>
          <a:solidFill>
            <a:schemeClr val="lt1"/>
          </a:solidFill>
          <a:ln>
            <a:noFill/>
          </a:ln>
          <a:effectLst>
            <a:outerShdw blurRad="367895" rotWithShape="0" algn="ctr" dir="5400000" dist="124809">
              <a:srgbClr val="0C3E5F">
                <a:alpha val="30196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32"/>
          <p:cNvSpPr/>
          <p:nvPr>
            <p:ph idx="2" type="pic"/>
          </p:nvPr>
        </p:nvSpPr>
        <p:spPr>
          <a:xfrm>
            <a:off x="699778" y="908632"/>
            <a:ext cx="3335769" cy="2925660"/>
          </a:xfrm>
          <a:prstGeom prst="rect">
            <a:avLst/>
          </a:prstGeom>
          <a:noFill/>
          <a:ln>
            <a:noFill/>
          </a:ln>
        </p:spPr>
      </p:sp>
      <p:sp>
        <p:nvSpPr>
          <p:cNvPr id="59" name="Google Shape;59;p32"/>
          <p:cNvSpPr txBox="1"/>
          <p:nvPr>
            <p:ph idx="1" type="body"/>
          </p:nvPr>
        </p:nvSpPr>
        <p:spPr>
          <a:xfrm>
            <a:off x="4955848" y="1543050"/>
            <a:ext cx="3559502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cxnSp>
        <p:nvCxnSpPr>
          <p:cNvPr id="60" name="Google Shape;60;p32"/>
          <p:cNvCxnSpPr/>
          <p:nvPr/>
        </p:nvCxnSpPr>
        <p:spPr>
          <a:xfrm>
            <a:off x="628650" y="4639235"/>
            <a:ext cx="7886700" cy="0"/>
          </a:xfrm>
          <a:prstGeom prst="straightConnector1">
            <a:avLst/>
          </a:prstGeom>
          <a:noFill/>
          <a:ln cap="flat" cmpd="sng" w="28575">
            <a:solidFill>
              <a:schemeClr val="lt1">
                <a:alpha val="50196"/>
              </a:schemeClr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61" name="Google Shape;61;p32"/>
          <p:cNvSpPr txBox="1"/>
          <p:nvPr/>
        </p:nvSpPr>
        <p:spPr>
          <a:xfrm>
            <a:off x="5565608" y="4776341"/>
            <a:ext cx="302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900"/>
              <a:buFont typeface="Montserrat ExtraBold"/>
              <a:buNone/>
            </a:pPr>
            <a:r>
              <a:rPr b="1" i="0" lang="en" sz="900" u="none" cap="none" strike="noStrike">
                <a:solidFill>
                  <a:schemeClr val="l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CLARITY. FOCUS. FREEDOM.</a:t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2" name="Google Shape;62;p32" title="MCW Site White Logo.png"/>
          <p:cNvPicPr preferRelativeResize="0"/>
          <p:nvPr/>
        </p:nvPicPr>
        <p:blipFill rotWithShape="1">
          <a:blip r:embed="rId3">
            <a:alphaModFix amt="85000"/>
          </a:blip>
          <a:srcRect b="20572" l="0" r="0" t="0"/>
          <a:stretch/>
        </p:blipFill>
        <p:spPr>
          <a:xfrm>
            <a:off x="245262" y="4719688"/>
            <a:ext cx="1597826" cy="36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>
  <p:cSld name="Picture with Caption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and orange rectangle&#10;&#10;AI-generated content may be incorrect." id="64" name="Google Shape;64;p33"/>
          <p:cNvPicPr preferRelativeResize="0"/>
          <p:nvPr/>
        </p:nvPicPr>
        <p:blipFill rotWithShape="1">
          <a:blip r:embed="rId2">
            <a:alphaModFix/>
          </a:blip>
          <a:srcRect b="0" l="12807" r="0" t="0"/>
          <a:stretch/>
        </p:blipFill>
        <p:spPr>
          <a:xfrm>
            <a:off x="0" y="0"/>
            <a:ext cx="9144000" cy="5146181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33"/>
          <p:cNvSpPr txBox="1"/>
          <p:nvPr>
            <p:ph type="title"/>
          </p:nvPr>
        </p:nvSpPr>
        <p:spPr>
          <a:xfrm>
            <a:off x="629841" y="520338"/>
            <a:ext cx="3559502" cy="81438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2400"/>
              <a:buFont typeface="Montserrat ExtraBold"/>
              <a:buNone/>
              <a:defRPr sz="2400">
                <a:solidFill>
                  <a:srgbClr val="FF790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33"/>
          <p:cNvSpPr/>
          <p:nvPr/>
        </p:nvSpPr>
        <p:spPr>
          <a:xfrm>
            <a:off x="4814422" y="504264"/>
            <a:ext cx="3993822" cy="3718322"/>
          </a:xfrm>
          <a:prstGeom prst="roundRect">
            <a:avLst>
              <a:gd fmla="val 3699" name="adj"/>
            </a:avLst>
          </a:prstGeom>
          <a:solidFill>
            <a:schemeClr val="lt1"/>
          </a:solidFill>
          <a:ln>
            <a:noFill/>
          </a:ln>
          <a:effectLst>
            <a:outerShdw blurRad="367895" rotWithShape="0" algn="ctr" dir="5400000" dist="124809">
              <a:srgbClr val="0C3E5F">
                <a:alpha val="30196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33"/>
          <p:cNvSpPr/>
          <p:nvPr>
            <p:ph idx="2" type="pic"/>
          </p:nvPr>
        </p:nvSpPr>
        <p:spPr>
          <a:xfrm>
            <a:off x="5143448" y="894244"/>
            <a:ext cx="3335769" cy="2938362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3"/>
          <p:cNvSpPr txBox="1"/>
          <p:nvPr>
            <p:ph idx="1" type="body"/>
          </p:nvPr>
        </p:nvSpPr>
        <p:spPr>
          <a:xfrm>
            <a:off x="629841" y="1543050"/>
            <a:ext cx="3559502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cxnSp>
        <p:nvCxnSpPr>
          <p:cNvPr id="69" name="Google Shape;69;p33"/>
          <p:cNvCxnSpPr/>
          <p:nvPr/>
        </p:nvCxnSpPr>
        <p:spPr>
          <a:xfrm>
            <a:off x="628650" y="4639235"/>
            <a:ext cx="7886700" cy="0"/>
          </a:xfrm>
          <a:prstGeom prst="straightConnector1">
            <a:avLst/>
          </a:prstGeom>
          <a:noFill/>
          <a:ln cap="flat" cmpd="sng" w="28575">
            <a:solidFill>
              <a:schemeClr val="lt1">
                <a:alpha val="50196"/>
              </a:schemeClr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70" name="Google Shape;70;p33"/>
          <p:cNvSpPr txBox="1"/>
          <p:nvPr/>
        </p:nvSpPr>
        <p:spPr>
          <a:xfrm>
            <a:off x="5565608" y="4776341"/>
            <a:ext cx="302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900"/>
              <a:buFont typeface="Montserrat ExtraBold"/>
              <a:buNone/>
            </a:pPr>
            <a:r>
              <a:rPr b="1" i="0" lang="en" sz="900" u="none" cap="none" strike="noStrike">
                <a:solidFill>
                  <a:schemeClr val="l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CLARITY. FOCUS. FREEDOM.</a:t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1" name="Google Shape;71;p33" title="MCW Site White Logo.png"/>
          <p:cNvPicPr preferRelativeResize="0"/>
          <p:nvPr/>
        </p:nvPicPr>
        <p:blipFill rotWithShape="1">
          <a:blip r:embed="rId3">
            <a:alphaModFix amt="85000"/>
          </a:blip>
          <a:srcRect b="20572" l="0" r="0" t="0"/>
          <a:stretch/>
        </p:blipFill>
        <p:spPr>
          <a:xfrm>
            <a:off x="245262" y="4719688"/>
            <a:ext cx="1597826" cy="36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and orange gradient&#10;&#10;AI-generated content may be incorrect." id="73" name="Google Shape;73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763" y="0"/>
            <a:ext cx="9139238" cy="5146181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34"/>
          <p:cNvSpPr txBox="1"/>
          <p:nvPr>
            <p:ph type="title"/>
          </p:nvPr>
        </p:nvSpPr>
        <p:spPr>
          <a:xfrm>
            <a:off x="629842" y="402534"/>
            <a:ext cx="2056209" cy="17621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 ExtraBold"/>
              <a:buNone/>
              <a:defRPr sz="2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5" name="Google Shape;75;p34"/>
          <p:cNvSpPr txBox="1"/>
          <p:nvPr>
            <p:ph idx="1" type="body"/>
          </p:nvPr>
        </p:nvSpPr>
        <p:spPr>
          <a:xfrm>
            <a:off x="3429000" y="402535"/>
            <a:ext cx="5087541" cy="405288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100"/>
              <a:buChar char="•"/>
              <a:defRPr sz="2100"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 sz="1800">
                <a:solidFill>
                  <a:schemeClr val="lt1"/>
                </a:solidFill>
              </a:defRPr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 sz="1500">
                <a:solidFill>
                  <a:schemeClr val="lt1"/>
                </a:solidFill>
              </a:defRPr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 sz="1500">
                <a:solidFill>
                  <a:schemeClr val="lt1"/>
                </a:solidFill>
              </a:defRPr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76" name="Google Shape;76;p34"/>
          <p:cNvSpPr txBox="1"/>
          <p:nvPr>
            <p:ph idx="2" type="body"/>
          </p:nvPr>
        </p:nvSpPr>
        <p:spPr>
          <a:xfrm>
            <a:off x="629842" y="2326733"/>
            <a:ext cx="2056200" cy="2150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cxnSp>
        <p:nvCxnSpPr>
          <p:cNvPr id="77" name="Google Shape;77;p34"/>
          <p:cNvCxnSpPr/>
          <p:nvPr/>
        </p:nvCxnSpPr>
        <p:spPr>
          <a:xfrm>
            <a:off x="628650" y="4639235"/>
            <a:ext cx="7886700" cy="0"/>
          </a:xfrm>
          <a:prstGeom prst="straightConnector1">
            <a:avLst/>
          </a:prstGeom>
          <a:noFill/>
          <a:ln cap="flat" cmpd="sng" w="28575">
            <a:solidFill>
              <a:schemeClr val="lt1">
                <a:alpha val="50196"/>
              </a:schemeClr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78" name="Google Shape;78;p34"/>
          <p:cNvSpPr txBox="1"/>
          <p:nvPr/>
        </p:nvSpPr>
        <p:spPr>
          <a:xfrm>
            <a:off x="5565608" y="4776341"/>
            <a:ext cx="302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900"/>
              <a:buFont typeface="Montserrat ExtraBold"/>
              <a:buNone/>
            </a:pPr>
            <a:r>
              <a:rPr b="1" i="0" lang="en" sz="900" u="none" cap="none" strike="noStrike">
                <a:solidFill>
                  <a:schemeClr val="l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CLARITY. FOCUS. FREEDOM.</a:t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9" name="Google Shape;79;p34" title="MCW Site White Logo.png"/>
          <p:cNvPicPr preferRelativeResize="0"/>
          <p:nvPr/>
        </p:nvPicPr>
        <p:blipFill rotWithShape="1">
          <a:blip r:embed="rId3">
            <a:alphaModFix amt="85000"/>
          </a:blip>
          <a:srcRect b="20572" l="0" r="0" t="0"/>
          <a:stretch/>
        </p:blipFill>
        <p:spPr>
          <a:xfrm>
            <a:off x="245262" y="4719688"/>
            <a:ext cx="1597826" cy="36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and white background&#10;&#10;AI-generated content may be incorrect." id="81" name="Google Shape;8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81" y="-1340"/>
            <a:ext cx="9139238" cy="5146181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35"/>
          <p:cNvSpPr txBox="1"/>
          <p:nvPr>
            <p:ph type="title"/>
          </p:nvPr>
        </p:nvSpPr>
        <p:spPr>
          <a:xfrm>
            <a:off x="629841" y="333478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3300"/>
              <a:buFont typeface="Montserrat ExtraBold"/>
              <a:buNone/>
              <a:defRPr>
                <a:solidFill>
                  <a:srgbClr val="FF790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35"/>
          <p:cNvSpPr txBox="1"/>
          <p:nvPr>
            <p:ph idx="1" type="body"/>
          </p:nvPr>
        </p:nvSpPr>
        <p:spPr>
          <a:xfrm>
            <a:off x="629841" y="1452666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b="1" i="0" sz="21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4" name="Google Shape;84;p35"/>
          <p:cNvSpPr txBox="1"/>
          <p:nvPr>
            <p:ph idx="2" type="body"/>
          </p:nvPr>
        </p:nvSpPr>
        <p:spPr>
          <a:xfrm>
            <a:off x="629841" y="2206487"/>
            <a:ext cx="3868340" cy="217154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Char char="•"/>
              <a:defRPr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5" name="Google Shape;85;p35"/>
          <p:cNvSpPr txBox="1"/>
          <p:nvPr>
            <p:ph idx="3" type="body"/>
          </p:nvPr>
        </p:nvSpPr>
        <p:spPr>
          <a:xfrm>
            <a:off x="4629150" y="1452666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b="1" i="0" sz="21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6" name="Google Shape;86;p35"/>
          <p:cNvSpPr txBox="1"/>
          <p:nvPr>
            <p:ph idx="4" type="body"/>
          </p:nvPr>
        </p:nvSpPr>
        <p:spPr>
          <a:xfrm>
            <a:off x="4629150" y="2206487"/>
            <a:ext cx="3887391" cy="217154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Char char="•"/>
              <a:defRPr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cxnSp>
        <p:nvCxnSpPr>
          <p:cNvPr id="87" name="Google Shape;87;p35"/>
          <p:cNvCxnSpPr/>
          <p:nvPr/>
        </p:nvCxnSpPr>
        <p:spPr>
          <a:xfrm>
            <a:off x="628650" y="4639235"/>
            <a:ext cx="7886700" cy="0"/>
          </a:xfrm>
          <a:prstGeom prst="straightConnector1">
            <a:avLst/>
          </a:prstGeom>
          <a:noFill/>
          <a:ln cap="flat" cmpd="sng" w="28575">
            <a:solidFill>
              <a:srgbClr val="A3C5ED">
                <a:alpha val="50196"/>
              </a:srgbClr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88" name="Google Shape;88;p35"/>
          <p:cNvSpPr txBox="1"/>
          <p:nvPr/>
        </p:nvSpPr>
        <p:spPr>
          <a:xfrm>
            <a:off x="5565608" y="4776341"/>
            <a:ext cx="302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900"/>
              <a:buFont typeface="Montserrat ExtraBold"/>
              <a:buNone/>
            </a:pPr>
            <a:r>
              <a:rPr b="1" i="0" lang="en" sz="900" u="none" cap="none" strike="noStrike">
                <a:solidFill>
                  <a:schemeClr val="l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CLARITY. FOCUS. FREEDOM.</a:t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9" name="Google Shape;89;p35" title="MCW Site White Logo.png"/>
          <p:cNvPicPr preferRelativeResize="0"/>
          <p:nvPr/>
        </p:nvPicPr>
        <p:blipFill rotWithShape="1">
          <a:blip r:embed="rId3">
            <a:alphaModFix amt="85000"/>
          </a:blip>
          <a:srcRect b="20572" l="0" r="0" t="0"/>
          <a:stretch/>
        </p:blipFill>
        <p:spPr>
          <a:xfrm>
            <a:off x="245262" y="4719688"/>
            <a:ext cx="1597826" cy="36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and white background&#10;&#10;AI-generated content may be incorrect." id="91" name="Google Shape;91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81" y="-1340"/>
            <a:ext cx="9139238" cy="5146181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36"/>
          <p:cNvSpPr txBox="1"/>
          <p:nvPr>
            <p:ph type="title"/>
          </p:nvPr>
        </p:nvSpPr>
        <p:spPr>
          <a:xfrm>
            <a:off x="623888" y="1282304"/>
            <a:ext cx="7886700" cy="12894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4500"/>
              <a:buFont typeface="Montserrat ExtraBold"/>
              <a:buNone/>
              <a:defRPr sz="4500">
                <a:solidFill>
                  <a:srgbClr val="FF790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36"/>
          <p:cNvSpPr txBox="1"/>
          <p:nvPr>
            <p:ph idx="1" type="body"/>
          </p:nvPr>
        </p:nvSpPr>
        <p:spPr>
          <a:xfrm>
            <a:off x="623888" y="2676112"/>
            <a:ext cx="7886700" cy="172801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400"/>
              <a:buNone/>
              <a:defRPr sz="14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cxnSp>
        <p:nvCxnSpPr>
          <p:cNvPr id="94" name="Google Shape;94;p36"/>
          <p:cNvCxnSpPr/>
          <p:nvPr/>
        </p:nvCxnSpPr>
        <p:spPr>
          <a:xfrm>
            <a:off x="628650" y="4639235"/>
            <a:ext cx="7886700" cy="0"/>
          </a:xfrm>
          <a:prstGeom prst="straightConnector1">
            <a:avLst/>
          </a:prstGeom>
          <a:noFill/>
          <a:ln cap="flat" cmpd="sng" w="28575">
            <a:solidFill>
              <a:srgbClr val="A3C5ED">
                <a:alpha val="50196"/>
              </a:srgbClr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95" name="Google Shape;95;p36"/>
          <p:cNvSpPr txBox="1"/>
          <p:nvPr/>
        </p:nvSpPr>
        <p:spPr>
          <a:xfrm>
            <a:off x="5565608" y="4776341"/>
            <a:ext cx="302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900"/>
              <a:buFont typeface="Montserrat ExtraBold"/>
              <a:buNone/>
            </a:pPr>
            <a:r>
              <a:rPr b="1" i="0" lang="en" sz="900" u="none" cap="none" strike="noStrike">
                <a:solidFill>
                  <a:schemeClr val="l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CLARITY. FOCUS. FREEDOM.</a:t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6" name="Google Shape;96;p36" title="MCW Site White Logo.png"/>
          <p:cNvPicPr preferRelativeResize="0"/>
          <p:nvPr/>
        </p:nvPicPr>
        <p:blipFill rotWithShape="1">
          <a:blip r:embed="rId3">
            <a:alphaModFix amt="85000"/>
          </a:blip>
          <a:srcRect b="20572" l="0" r="0" t="0"/>
          <a:stretch/>
        </p:blipFill>
        <p:spPr>
          <a:xfrm>
            <a:off x="245262" y="4719688"/>
            <a:ext cx="1597826" cy="36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Only">
  <p:cSld name="1_Title Only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background with a pattern of pins&#10;&#10;AI-generated content may be incorrect." id="98" name="Google Shape;98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763" y="0"/>
            <a:ext cx="9139238" cy="5146181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37"/>
          <p:cNvSpPr txBox="1"/>
          <p:nvPr>
            <p:ph type="title"/>
          </p:nvPr>
        </p:nvSpPr>
        <p:spPr>
          <a:xfrm>
            <a:off x="628650" y="2083490"/>
            <a:ext cx="5486400" cy="97652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3300"/>
              <a:buFont typeface="Montserrat ExtraBold"/>
              <a:buNone/>
              <a:defRPr>
                <a:solidFill>
                  <a:srgbClr val="FF790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cxnSp>
        <p:nvCxnSpPr>
          <p:cNvPr id="100" name="Google Shape;100;p37"/>
          <p:cNvCxnSpPr/>
          <p:nvPr/>
        </p:nvCxnSpPr>
        <p:spPr>
          <a:xfrm>
            <a:off x="628650" y="4639235"/>
            <a:ext cx="7886700" cy="0"/>
          </a:xfrm>
          <a:prstGeom prst="straightConnector1">
            <a:avLst/>
          </a:prstGeom>
          <a:noFill/>
          <a:ln cap="flat" cmpd="sng" w="28575">
            <a:solidFill>
              <a:srgbClr val="A3C5ED">
                <a:alpha val="50196"/>
              </a:srgbClr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101" name="Google Shape;101;p37"/>
          <p:cNvSpPr txBox="1"/>
          <p:nvPr/>
        </p:nvSpPr>
        <p:spPr>
          <a:xfrm>
            <a:off x="5565608" y="4776341"/>
            <a:ext cx="302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900"/>
              <a:buFont typeface="Montserrat ExtraBold"/>
              <a:buNone/>
            </a:pPr>
            <a:r>
              <a:rPr b="1" i="0" lang="en" sz="900" u="none" cap="none" strike="noStrike">
                <a:solidFill>
                  <a:schemeClr val="l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CLARITY. FOCUS. FREEDOM.</a:t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" name="Google Shape;102;p37" title="MCW Site White Logo.png"/>
          <p:cNvPicPr preferRelativeResize="0"/>
          <p:nvPr/>
        </p:nvPicPr>
        <p:blipFill rotWithShape="1">
          <a:blip r:embed="rId3">
            <a:alphaModFix amt="85000"/>
          </a:blip>
          <a:srcRect b="20572" l="0" r="0" t="0"/>
          <a:stretch/>
        </p:blipFill>
        <p:spPr>
          <a:xfrm>
            <a:off x="245262" y="4719688"/>
            <a:ext cx="1597826" cy="36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and white background&#10;&#10;AI-generated content may be incorrect." id="104" name="Google Shape;104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81" y="-1340"/>
            <a:ext cx="9139238" cy="514618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5" name="Google Shape;105;p38"/>
          <p:cNvCxnSpPr/>
          <p:nvPr/>
        </p:nvCxnSpPr>
        <p:spPr>
          <a:xfrm>
            <a:off x="628650" y="4639235"/>
            <a:ext cx="7886700" cy="0"/>
          </a:xfrm>
          <a:prstGeom prst="straightConnector1">
            <a:avLst/>
          </a:prstGeom>
          <a:noFill/>
          <a:ln cap="flat" cmpd="sng" w="28575">
            <a:solidFill>
              <a:srgbClr val="A3C5ED">
                <a:alpha val="50196"/>
              </a:srgbClr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106" name="Google Shape;106;p38"/>
          <p:cNvSpPr txBox="1"/>
          <p:nvPr/>
        </p:nvSpPr>
        <p:spPr>
          <a:xfrm>
            <a:off x="5565608" y="4776341"/>
            <a:ext cx="302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900"/>
              <a:buFont typeface="Montserrat ExtraBold"/>
              <a:buNone/>
            </a:pPr>
            <a:r>
              <a:rPr b="1" i="0" lang="en" sz="900" u="none" cap="none" strike="noStrike">
                <a:solidFill>
                  <a:schemeClr val="l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CLARITY. FOCUS. FREEDOM.</a:t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7" name="Google Shape;107;p38" title="MCW Site White Logo.png"/>
          <p:cNvPicPr preferRelativeResize="0"/>
          <p:nvPr/>
        </p:nvPicPr>
        <p:blipFill rotWithShape="1">
          <a:blip r:embed="rId3">
            <a:alphaModFix amt="85000"/>
          </a:blip>
          <a:srcRect b="20572" l="0" r="0" t="0"/>
          <a:stretch/>
        </p:blipFill>
        <p:spPr>
          <a:xfrm>
            <a:off x="245262" y="4719688"/>
            <a:ext cx="1597826" cy="36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Blank">
  <p:cSld name="1_Blank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orange and yellow gradient&#10;&#10;AI-generated content may be incorrect." id="109" name="Google Shape;109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2682"/>
            <a:ext cx="9144000" cy="514886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0" name="Google Shape;110;p39"/>
          <p:cNvCxnSpPr/>
          <p:nvPr/>
        </p:nvCxnSpPr>
        <p:spPr>
          <a:xfrm>
            <a:off x="628650" y="4639235"/>
            <a:ext cx="7886700" cy="0"/>
          </a:xfrm>
          <a:prstGeom prst="straightConnector1">
            <a:avLst/>
          </a:prstGeom>
          <a:noFill/>
          <a:ln cap="flat" cmpd="sng" w="28575">
            <a:solidFill>
              <a:srgbClr val="F04E23">
                <a:alpha val="74902"/>
              </a:srgbClr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111" name="Google Shape;111;p39"/>
          <p:cNvSpPr txBox="1"/>
          <p:nvPr/>
        </p:nvSpPr>
        <p:spPr>
          <a:xfrm>
            <a:off x="5565608" y="4776341"/>
            <a:ext cx="302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900"/>
              <a:buFont typeface="Montserrat ExtraBold"/>
              <a:buNone/>
            </a:pPr>
            <a:r>
              <a:rPr b="1" i="0" lang="en" sz="900" u="none" cap="none" strike="noStrike">
                <a:solidFill>
                  <a:schemeClr val="l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CLARITY. FOCUS. FREEDOM.</a:t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2" name="Google Shape;112;p39" title="MCW Site White Logo.png"/>
          <p:cNvPicPr preferRelativeResize="0"/>
          <p:nvPr/>
        </p:nvPicPr>
        <p:blipFill rotWithShape="1">
          <a:blip r:embed="rId3">
            <a:alphaModFix amt="85000"/>
          </a:blip>
          <a:srcRect b="20572" l="0" r="0" t="0"/>
          <a:stretch/>
        </p:blipFill>
        <p:spPr>
          <a:xfrm>
            <a:off x="245262" y="4719688"/>
            <a:ext cx="1597826" cy="36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0"/>
          <p:cNvSpPr txBox="1"/>
          <p:nvPr>
            <p:ph type="ctrTitle"/>
          </p:nvPr>
        </p:nvSpPr>
        <p:spPr>
          <a:xfrm>
            <a:off x="628650" y="841772"/>
            <a:ext cx="7886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4500"/>
              <a:buFont typeface="Montserrat ExtraBold"/>
              <a:buNone/>
              <a:defRPr b="1" i="0" sz="4500">
                <a:solidFill>
                  <a:srgbClr val="FF790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40"/>
          <p:cNvSpPr txBox="1"/>
          <p:nvPr>
            <p:ph idx="1" type="subTitle"/>
          </p:nvPr>
        </p:nvSpPr>
        <p:spPr>
          <a:xfrm>
            <a:off x="628650" y="2701528"/>
            <a:ext cx="78867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C3E5F"/>
              </a:buClr>
              <a:buSzPts val="1800"/>
              <a:buNone/>
              <a:defRPr b="0" i="0" sz="1800">
                <a:solidFill>
                  <a:srgbClr val="0C3E5F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cxnSp>
        <p:nvCxnSpPr>
          <p:cNvPr id="116" name="Google Shape;116;p40"/>
          <p:cNvCxnSpPr/>
          <p:nvPr/>
        </p:nvCxnSpPr>
        <p:spPr>
          <a:xfrm>
            <a:off x="628650" y="4639235"/>
            <a:ext cx="7886700" cy="0"/>
          </a:xfrm>
          <a:prstGeom prst="straightConnector1">
            <a:avLst/>
          </a:prstGeom>
          <a:noFill/>
          <a:ln cap="flat" cmpd="sng" w="28575">
            <a:solidFill>
              <a:srgbClr val="D8D8D8">
                <a:alpha val="50196"/>
              </a:srgbClr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117" name="Google Shape;117;p40"/>
          <p:cNvSpPr txBox="1"/>
          <p:nvPr/>
        </p:nvSpPr>
        <p:spPr>
          <a:xfrm>
            <a:off x="5565608" y="4776341"/>
            <a:ext cx="302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900"/>
              <a:buFont typeface="Montserrat ExtraBold"/>
              <a:buNone/>
            </a:pPr>
            <a:r>
              <a:rPr b="1" i="0" lang="en" sz="900" u="none" cap="none" strike="noStrike">
                <a:solidFill>
                  <a:srgbClr val="06205D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CLARITY. FOCUS. FREEDOM.</a:t>
            </a:r>
            <a:endParaRPr b="0" i="0" sz="1100" u="none" cap="none" strike="noStrike">
              <a:solidFill>
                <a:srgbClr val="0620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8" name="Google Shape;118;p40" title="MCW Site Logo.png"/>
          <p:cNvPicPr preferRelativeResize="0"/>
          <p:nvPr/>
        </p:nvPicPr>
        <p:blipFill rotWithShape="1">
          <a:blip r:embed="rId2">
            <a:alphaModFix/>
          </a:blip>
          <a:srcRect b="20572" l="0" r="0" t="0"/>
          <a:stretch/>
        </p:blipFill>
        <p:spPr>
          <a:xfrm>
            <a:off x="242075" y="4697427"/>
            <a:ext cx="1604212" cy="3657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omparison">
  <p:cSld name="2_Comparison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1"/>
          <p:cNvSpPr txBox="1"/>
          <p:nvPr>
            <p:ph type="title"/>
          </p:nvPr>
        </p:nvSpPr>
        <p:spPr>
          <a:xfrm>
            <a:off x="629841" y="333478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3300"/>
              <a:buFont typeface="Montserrat ExtraBold"/>
              <a:buNone/>
              <a:defRPr>
                <a:solidFill>
                  <a:srgbClr val="FF790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41"/>
          <p:cNvSpPr txBox="1"/>
          <p:nvPr>
            <p:ph idx="1" type="body"/>
          </p:nvPr>
        </p:nvSpPr>
        <p:spPr>
          <a:xfrm>
            <a:off x="629841" y="1452666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E7BB4"/>
              </a:buClr>
              <a:buSzPts val="2100"/>
              <a:buNone/>
              <a:defRPr b="1" i="0" sz="2100">
                <a:solidFill>
                  <a:srgbClr val="0E7BB4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22" name="Google Shape;122;p41"/>
          <p:cNvSpPr txBox="1"/>
          <p:nvPr>
            <p:ph idx="2" type="body"/>
          </p:nvPr>
        </p:nvSpPr>
        <p:spPr>
          <a:xfrm>
            <a:off x="629841" y="2206487"/>
            <a:ext cx="3868340" cy="217154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C3E5F"/>
              </a:buClr>
              <a:buSzPts val="2100"/>
              <a:buChar char="•"/>
              <a:defRPr>
                <a:solidFill>
                  <a:srgbClr val="0C3E5F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800"/>
              <a:buChar char="•"/>
              <a:defRPr>
                <a:solidFill>
                  <a:srgbClr val="0C3E5F"/>
                </a:solidFill>
              </a:defRPr>
            </a:lvl2pPr>
            <a:lvl3pPr indent="-3238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500"/>
              <a:buChar char="•"/>
              <a:defRPr>
                <a:solidFill>
                  <a:srgbClr val="0C3E5F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400"/>
              <a:buChar char="•"/>
              <a:defRPr>
                <a:solidFill>
                  <a:srgbClr val="0C3E5F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400"/>
              <a:buChar char="•"/>
              <a:defRPr>
                <a:solidFill>
                  <a:srgbClr val="0C3E5F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3" name="Google Shape;123;p41"/>
          <p:cNvSpPr txBox="1"/>
          <p:nvPr>
            <p:ph idx="3" type="body"/>
          </p:nvPr>
        </p:nvSpPr>
        <p:spPr>
          <a:xfrm>
            <a:off x="4629150" y="1452666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E7BB4"/>
              </a:buClr>
              <a:buSzPts val="2100"/>
              <a:buNone/>
              <a:defRPr b="1" i="0" sz="2100">
                <a:solidFill>
                  <a:srgbClr val="0E7BB4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24" name="Google Shape;124;p41"/>
          <p:cNvSpPr txBox="1"/>
          <p:nvPr>
            <p:ph idx="4" type="body"/>
          </p:nvPr>
        </p:nvSpPr>
        <p:spPr>
          <a:xfrm>
            <a:off x="4629150" y="2206487"/>
            <a:ext cx="3887391" cy="217154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C3E5F"/>
              </a:buClr>
              <a:buSzPts val="2100"/>
              <a:buChar char="•"/>
              <a:defRPr>
                <a:solidFill>
                  <a:srgbClr val="0C3E5F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800"/>
              <a:buChar char="•"/>
              <a:defRPr>
                <a:solidFill>
                  <a:srgbClr val="0C3E5F"/>
                </a:solidFill>
              </a:defRPr>
            </a:lvl2pPr>
            <a:lvl3pPr indent="-3238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500"/>
              <a:buChar char="•"/>
              <a:defRPr>
                <a:solidFill>
                  <a:srgbClr val="0C3E5F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400"/>
              <a:buChar char="•"/>
              <a:defRPr>
                <a:solidFill>
                  <a:srgbClr val="0C3E5F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400"/>
              <a:buChar char="•"/>
              <a:defRPr>
                <a:solidFill>
                  <a:srgbClr val="0C3E5F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cxnSp>
        <p:nvCxnSpPr>
          <p:cNvPr id="125" name="Google Shape;125;p41"/>
          <p:cNvCxnSpPr/>
          <p:nvPr/>
        </p:nvCxnSpPr>
        <p:spPr>
          <a:xfrm>
            <a:off x="628650" y="4639235"/>
            <a:ext cx="7886700" cy="0"/>
          </a:xfrm>
          <a:prstGeom prst="straightConnector1">
            <a:avLst/>
          </a:prstGeom>
          <a:noFill/>
          <a:ln cap="flat" cmpd="sng" w="28575">
            <a:solidFill>
              <a:srgbClr val="D8D8D8">
                <a:alpha val="50196"/>
              </a:srgbClr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126" name="Google Shape;126;p41"/>
          <p:cNvSpPr txBox="1"/>
          <p:nvPr/>
        </p:nvSpPr>
        <p:spPr>
          <a:xfrm>
            <a:off x="5565608" y="4776341"/>
            <a:ext cx="302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900"/>
              <a:buFont typeface="Montserrat ExtraBold"/>
              <a:buNone/>
            </a:pPr>
            <a:r>
              <a:rPr b="1" i="0" lang="en" sz="900" u="none" cap="none" strike="noStrike">
                <a:solidFill>
                  <a:srgbClr val="06205D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CLARITY. FOCUS. FREEDOM.</a:t>
            </a:r>
            <a:endParaRPr b="0" i="0" sz="1100" u="none" cap="none" strike="noStrike">
              <a:solidFill>
                <a:srgbClr val="0620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7" name="Google Shape;127;p41" title="MCW Site Logo.png"/>
          <p:cNvPicPr preferRelativeResize="0"/>
          <p:nvPr/>
        </p:nvPicPr>
        <p:blipFill rotWithShape="1">
          <a:blip r:embed="rId2">
            <a:alphaModFix/>
          </a:blip>
          <a:srcRect b="20572" l="0" r="0" t="0"/>
          <a:stretch/>
        </p:blipFill>
        <p:spPr>
          <a:xfrm>
            <a:off x="242075" y="4697427"/>
            <a:ext cx="1604212" cy="3657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Picture with Caption">
  <p:cSld name="2_Picture with Caption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2"/>
          <p:cNvSpPr txBox="1"/>
          <p:nvPr>
            <p:ph type="title"/>
          </p:nvPr>
        </p:nvSpPr>
        <p:spPr>
          <a:xfrm>
            <a:off x="629841" y="520338"/>
            <a:ext cx="3559502" cy="81438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2400"/>
              <a:buFont typeface="Montserrat ExtraBold"/>
              <a:buNone/>
              <a:defRPr sz="2400">
                <a:solidFill>
                  <a:srgbClr val="FF790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0" name="Google Shape;130;p42"/>
          <p:cNvSpPr/>
          <p:nvPr/>
        </p:nvSpPr>
        <p:spPr>
          <a:xfrm>
            <a:off x="4814422" y="504264"/>
            <a:ext cx="3993822" cy="3718322"/>
          </a:xfrm>
          <a:prstGeom prst="roundRect">
            <a:avLst>
              <a:gd fmla="val 3699" name="adj"/>
            </a:avLst>
          </a:prstGeom>
          <a:solidFill>
            <a:schemeClr val="lt1"/>
          </a:solidFill>
          <a:ln>
            <a:noFill/>
          </a:ln>
          <a:effectLst>
            <a:outerShdw blurRad="367895" rotWithShape="0" algn="ctr" dir="5400000" dist="124809">
              <a:srgbClr val="0C3E5F">
                <a:alpha val="1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42"/>
          <p:cNvSpPr/>
          <p:nvPr>
            <p:ph idx="2" type="pic"/>
          </p:nvPr>
        </p:nvSpPr>
        <p:spPr>
          <a:xfrm>
            <a:off x="5143448" y="894244"/>
            <a:ext cx="3335769" cy="2938362"/>
          </a:xfrm>
          <a:prstGeom prst="rect">
            <a:avLst/>
          </a:prstGeom>
          <a:noFill/>
          <a:ln>
            <a:noFill/>
          </a:ln>
        </p:spPr>
      </p:sp>
      <p:sp>
        <p:nvSpPr>
          <p:cNvPr id="132" name="Google Shape;132;p42"/>
          <p:cNvSpPr txBox="1"/>
          <p:nvPr>
            <p:ph idx="1" type="body"/>
          </p:nvPr>
        </p:nvSpPr>
        <p:spPr>
          <a:xfrm>
            <a:off x="629841" y="1543050"/>
            <a:ext cx="3559502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C3E5F"/>
              </a:buClr>
              <a:buSzPts val="1200"/>
              <a:buNone/>
              <a:defRPr sz="1200">
                <a:solidFill>
                  <a:srgbClr val="0C3E5F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cxnSp>
        <p:nvCxnSpPr>
          <p:cNvPr id="133" name="Google Shape;133;p42"/>
          <p:cNvCxnSpPr/>
          <p:nvPr/>
        </p:nvCxnSpPr>
        <p:spPr>
          <a:xfrm>
            <a:off x="628650" y="4639235"/>
            <a:ext cx="7886700" cy="0"/>
          </a:xfrm>
          <a:prstGeom prst="straightConnector1">
            <a:avLst/>
          </a:prstGeom>
          <a:noFill/>
          <a:ln cap="flat" cmpd="sng" w="28575">
            <a:solidFill>
              <a:srgbClr val="D8D8D8">
                <a:alpha val="50196"/>
              </a:srgbClr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134" name="Google Shape;134;p42"/>
          <p:cNvSpPr txBox="1"/>
          <p:nvPr/>
        </p:nvSpPr>
        <p:spPr>
          <a:xfrm>
            <a:off x="5565608" y="4776341"/>
            <a:ext cx="302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900"/>
              <a:buFont typeface="Montserrat ExtraBold"/>
              <a:buNone/>
            </a:pPr>
            <a:r>
              <a:rPr b="1" i="0" lang="en" sz="900" u="none" cap="none" strike="noStrike">
                <a:solidFill>
                  <a:srgbClr val="06205D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CLARITY. FOCUS. FREEDOM.</a:t>
            </a:r>
            <a:endParaRPr b="0" i="0" sz="1100" u="none" cap="none" strike="noStrike">
              <a:solidFill>
                <a:srgbClr val="0620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5" name="Google Shape;135;p42" title="MCW Site Logo.png"/>
          <p:cNvPicPr preferRelativeResize="0"/>
          <p:nvPr/>
        </p:nvPicPr>
        <p:blipFill rotWithShape="1">
          <a:blip r:embed="rId2">
            <a:alphaModFix/>
          </a:blip>
          <a:srcRect b="20572" l="0" r="0" t="0"/>
          <a:stretch/>
        </p:blipFill>
        <p:spPr>
          <a:xfrm>
            <a:off x="242075" y="4697427"/>
            <a:ext cx="1604212" cy="3657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Picture with Caption">
  <p:cSld name="3_Picture with Caption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43"/>
          <p:cNvSpPr txBox="1"/>
          <p:nvPr>
            <p:ph type="title"/>
          </p:nvPr>
        </p:nvSpPr>
        <p:spPr>
          <a:xfrm>
            <a:off x="4955848" y="520338"/>
            <a:ext cx="3559502" cy="81438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2400"/>
              <a:buFont typeface="Montserrat ExtraBold"/>
              <a:buNone/>
              <a:defRPr sz="2400">
                <a:solidFill>
                  <a:srgbClr val="FF790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8" name="Google Shape;138;p43"/>
          <p:cNvSpPr/>
          <p:nvPr/>
        </p:nvSpPr>
        <p:spPr>
          <a:xfrm>
            <a:off x="428719" y="504264"/>
            <a:ext cx="3993822" cy="3718322"/>
          </a:xfrm>
          <a:prstGeom prst="roundRect">
            <a:avLst>
              <a:gd fmla="val 3699" name="adj"/>
            </a:avLst>
          </a:prstGeom>
          <a:solidFill>
            <a:schemeClr val="lt1"/>
          </a:solidFill>
          <a:ln>
            <a:noFill/>
          </a:ln>
          <a:effectLst>
            <a:outerShdw blurRad="367895" rotWithShape="0" algn="ctr" dir="5400000" dist="124809">
              <a:srgbClr val="0C3E5F">
                <a:alpha val="1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43"/>
          <p:cNvSpPr/>
          <p:nvPr>
            <p:ph idx="2" type="pic"/>
          </p:nvPr>
        </p:nvSpPr>
        <p:spPr>
          <a:xfrm>
            <a:off x="757745" y="894244"/>
            <a:ext cx="3335769" cy="2938362"/>
          </a:xfrm>
          <a:prstGeom prst="rect">
            <a:avLst/>
          </a:prstGeom>
          <a:noFill/>
          <a:ln>
            <a:noFill/>
          </a:ln>
        </p:spPr>
      </p:sp>
      <p:sp>
        <p:nvSpPr>
          <p:cNvPr id="140" name="Google Shape;140;p43"/>
          <p:cNvSpPr txBox="1"/>
          <p:nvPr>
            <p:ph idx="1" type="body"/>
          </p:nvPr>
        </p:nvSpPr>
        <p:spPr>
          <a:xfrm>
            <a:off x="4955848" y="1543050"/>
            <a:ext cx="3559502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C3E5F"/>
              </a:buClr>
              <a:buSzPts val="1200"/>
              <a:buNone/>
              <a:defRPr sz="1200">
                <a:solidFill>
                  <a:srgbClr val="0C3E5F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cxnSp>
        <p:nvCxnSpPr>
          <p:cNvPr id="141" name="Google Shape;141;p43"/>
          <p:cNvCxnSpPr/>
          <p:nvPr/>
        </p:nvCxnSpPr>
        <p:spPr>
          <a:xfrm>
            <a:off x="628650" y="4639235"/>
            <a:ext cx="7886700" cy="0"/>
          </a:xfrm>
          <a:prstGeom prst="straightConnector1">
            <a:avLst/>
          </a:prstGeom>
          <a:noFill/>
          <a:ln cap="flat" cmpd="sng" w="28575">
            <a:solidFill>
              <a:srgbClr val="D8D8D8">
                <a:alpha val="50196"/>
              </a:srgbClr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142" name="Google Shape;142;p43"/>
          <p:cNvSpPr txBox="1"/>
          <p:nvPr/>
        </p:nvSpPr>
        <p:spPr>
          <a:xfrm>
            <a:off x="5565608" y="4776341"/>
            <a:ext cx="302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900"/>
              <a:buFont typeface="Montserrat ExtraBold"/>
              <a:buNone/>
            </a:pPr>
            <a:r>
              <a:rPr b="1" i="0" lang="en" sz="900" u="none" cap="none" strike="noStrike">
                <a:solidFill>
                  <a:srgbClr val="06205D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CLARITY. FOCUS. FREEDOM.</a:t>
            </a:r>
            <a:endParaRPr b="0" i="0" sz="1100" u="none" cap="none" strike="noStrike">
              <a:solidFill>
                <a:srgbClr val="0620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3" name="Google Shape;143;p43" title="MCW Site Logo.png"/>
          <p:cNvPicPr preferRelativeResize="0"/>
          <p:nvPr/>
        </p:nvPicPr>
        <p:blipFill rotWithShape="1">
          <a:blip r:embed="rId2">
            <a:alphaModFix/>
          </a:blip>
          <a:srcRect b="20572" l="0" r="0" t="0"/>
          <a:stretch/>
        </p:blipFill>
        <p:spPr>
          <a:xfrm>
            <a:off x="242075" y="4697427"/>
            <a:ext cx="1604212" cy="3657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5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C3E5F"/>
              </a:buClr>
              <a:buSzPts val="3300"/>
              <a:buFont typeface="Montserrat ExtraBold"/>
              <a:buNone/>
              <a:defRPr b="1" i="0" sz="3300" u="none" cap="none" strike="noStrike">
                <a:solidFill>
                  <a:srgbClr val="0C3E5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5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C3E5F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rgbClr val="0C3E5F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0C3E5F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rgbClr val="0C3E5F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C3E5F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C3E5F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C3E5F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25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2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Relationship Id="rId4" Type="http://schemas.openxmlformats.org/officeDocument/2006/relationships/image" Target="../media/image25.png"/><Relationship Id="rId5" Type="http://schemas.openxmlformats.org/officeDocument/2006/relationships/image" Target="../media/image12.png"/><Relationship Id="rId6" Type="http://schemas.openxmlformats.org/officeDocument/2006/relationships/image" Target="../media/image1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jpg"/><Relationship Id="rId4" Type="http://schemas.openxmlformats.org/officeDocument/2006/relationships/image" Target="../media/image1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1.jp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8.jp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3.jp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://visionarybook.com" TargetMode="External"/><Relationship Id="rId4" Type="http://schemas.openxmlformats.org/officeDocument/2006/relationships/hyperlink" Target="https://academy.eosworldwide.com/c/visionaries-integrators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6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5" Type="http://schemas.openxmlformats.org/officeDocument/2006/relationships/image" Target="../media/image24.png"/><Relationship Id="rId6" Type="http://schemas.openxmlformats.org/officeDocument/2006/relationships/image" Target="../media/image29.png"/><Relationship Id="rId7" Type="http://schemas.openxmlformats.org/officeDocument/2006/relationships/image" Target="../media/image32.png"/><Relationship Id="rId8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f88a37341a_0_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3A4759"/>
              </a:gs>
              <a:gs pos="48000">
                <a:srgbClr val="1F2C3F"/>
              </a:gs>
              <a:gs pos="100000">
                <a:srgbClr val="101B2B"/>
              </a:gs>
            </a:gsLst>
            <a:lin ang="8100019" scaled="0"/>
          </a:gradFill>
          <a:ln>
            <a:noFill/>
          </a:ln>
        </p:spPr>
        <p:txBody>
          <a:bodyPr anchorCtr="0" anchor="t" bIns="22850" lIns="45725" spcFirstLastPara="1" rIns="45725" wrap="square" tIns="228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51" name="Google Shape;151;g3f88a37341a_0_0"/>
          <p:cNvSpPr/>
          <p:nvPr/>
        </p:nvSpPr>
        <p:spPr>
          <a:xfrm>
            <a:off x="476226" y="4827443"/>
            <a:ext cx="11445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A94A2"/>
              </a:buClr>
              <a:buSzPts val="800"/>
              <a:buFont typeface="League Spartan"/>
              <a:buNone/>
            </a:pPr>
            <a:r>
              <a:rPr b="1" lang="en" sz="800">
                <a:solidFill>
                  <a:srgbClr val="8A94A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eosnorthtexas.com</a:t>
            </a:r>
            <a:endParaRPr sz="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52" name="Google Shape;152;g3f88a37341a_0_0"/>
          <p:cNvSpPr/>
          <p:nvPr/>
        </p:nvSpPr>
        <p:spPr>
          <a:xfrm>
            <a:off x="7538104" y="4827443"/>
            <a:ext cx="12426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A94A2"/>
              </a:buClr>
              <a:buSzPts val="800"/>
              <a:buFont typeface="League Spartan"/>
              <a:buNone/>
            </a:pPr>
            <a:r>
              <a:rPr b="1" lang="en" sz="800">
                <a:solidFill>
                  <a:srgbClr val="8A94A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53" name="Google Shape;153;g3f88a37341a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3846" y="1607710"/>
            <a:ext cx="2047864" cy="1928035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g3f88a37341a_0_0"/>
          <p:cNvSpPr/>
          <p:nvPr/>
        </p:nvSpPr>
        <p:spPr>
          <a:xfrm>
            <a:off x="1604925" y="1650472"/>
            <a:ext cx="949200" cy="44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8676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000"/>
              <a:buFont typeface="League Spartan"/>
              <a:buNone/>
            </a:pPr>
            <a:r>
              <a:rPr b="1" lang="en" sz="300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30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55" name="Google Shape;155;g3f88a37341a_0_0"/>
          <p:cNvSpPr/>
          <p:nvPr/>
        </p:nvSpPr>
        <p:spPr>
          <a:xfrm>
            <a:off x="3095556" y="1630161"/>
            <a:ext cx="56580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1000"/>
              <a:buFont typeface="League Spartan"/>
              <a:buNone/>
            </a:pPr>
            <a:r>
              <a:rPr b="1" lang="en" sz="100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FIFTH ANNUAL · SEPTEMBER 14, 2026 · THE STATLER DALLAS</a:t>
            </a:r>
            <a:endParaRPr sz="10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56" name="Google Shape;156;g3f88a37341a_0_0"/>
          <p:cNvSpPr/>
          <p:nvPr/>
        </p:nvSpPr>
        <p:spPr>
          <a:xfrm>
            <a:off x="3095556" y="1942063"/>
            <a:ext cx="5298000" cy="8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8118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00"/>
              <a:buFont typeface="League Spartan"/>
              <a:buNone/>
            </a:pPr>
            <a:r>
              <a:rPr b="1" lang="en" sz="330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10 PILLARS OF VISIONARY GREATNESS</a:t>
            </a:r>
            <a:endParaRPr sz="33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57" name="Google Shape;157;g3f88a37341a_0_0"/>
          <p:cNvSpPr/>
          <p:nvPr/>
        </p:nvSpPr>
        <p:spPr>
          <a:xfrm>
            <a:off x="3095556" y="2984014"/>
            <a:ext cx="5658000" cy="2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9D0D9"/>
              </a:buClr>
              <a:buSzPts val="1300"/>
              <a:buFont typeface="League Spartan"/>
              <a:buNone/>
            </a:pPr>
            <a:r>
              <a:rPr lang="en" sz="1300">
                <a:solidFill>
                  <a:srgbClr val="C9D0D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Mark C. Winters</a:t>
            </a:r>
            <a:r>
              <a:rPr lang="en" sz="1300">
                <a:solidFill>
                  <a:srgbClr val="C9D0D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, Visionary &amp; Founder / Rocket Fuel University</a:t>
            </a:r>
            <a:endParaRPr sz="13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58" name="Google Shape;158;g3f88a37341a_0_0"/>
          <p:cNvSpPr/>
          <p:nvPr/>
        </p:nvSpPr>
        <p:spPr>
          <a:xfrm>
            <a:off x="3095556" y="3328524"/>
            <a:ext cx="5658000" cy="2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1300"/>
              <a:buFont typeface="League Spartan"/>
              <a:buNone/>
            </a:pPr>
            <a:r>
              <a:rPr b="1" lang="en" sz="130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@MarkCWinters</a:t>
            </a:r>
            <a:endParaRPr sz="13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"/>
          <p:cNvSpPr txBox="1"/>
          <p:nvPr>
            <p:ph type="ctrTitle"/>
          </p:nvPr>
        </p:nvSpPr>
        <p:spPr>
          <a:xfrm>
            <a:off x="3561483" y="841772"/>
            <a:ext cx="4953866" cy="17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4500"/>
              <a:buFont typeface="Montserrat ExtraBold"/>
              <a:buNone/>
            </a:pPr>
            <a:r>
              <a:rPr lang="en"/>
              <a:t>THE 10 PILLARS OF VISIONARY</a:t>
            </a:r>
            <a:br>
              <a:rPr lang="en"/>
            </a:br>
            <a:r>
              <a:rPr lang="en"/>
              <a:t>GREATNESS</a:t>
            </a:r>
            <a:endParaRPr/>
          </a:p>
        </p:txBody>
      </p:sp>
      <p:sp>
        <p:nvSpPr>
          <p:cNvPr id="164" name="Google Shape;164;p2"/>
          <p:cNvSpPr txBox="1"/>
          <p:nvPr>
            <p:ph idx="1" type="subTitle"/>
          </p:nvPr>
        </p:nvSpPr>
        <p:spPr>
          <a:xfrm>
            <a:off x="3561483" y="2701528"/>
            <a:ext cx="4953866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"/>
              <a:t>How Driven Entrepreneurs</a:t>
            </a:r>
            <a:br>
              <a:rPr lang="en"/>
            </a:br>
            <a:r>
              <a:rPr lang="en"/>
              <a:t>Get What They Want</a:t>
            </a:r>
            <a:br>
              <a:rPr lang="en"/>
            </a:br>
            <a:r>
              <a:rPr lang="en"/>
              <a:t>Without Doing It All Themselves</a:t>
            </a:r>
            <a:endParaRPr/>
          </a:p>
        </p:txBody>
      </p:sp>
      <p:sp>
        <p:nvSpPr>
          <p:cNvPr id="165" name="Google Shape;165;p2"/>
          <p:cNvSpPr/>
          <p:nvPr/>
        </p:nvSpPr>
        <p:spPr>
          <a:xfrm>
            <a:off x="628651" y="841772"/>
            <a:ext cx="2384714" cy="2384714"/>
          </a:xfrm>
          <a:prstGeom prst="ellipse">
            <a:avLst/>
          </a:prstGeom>
          <a:solidFill>
            <a:srgbClr val="0C3E5F"/>
          </a:solidFill>
          <a:ln cap="flat" cmpd="sng" w="76200">
            <a:solidFill>
              <a:srgbClr val="FF7902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letter f in a circle&#10;&#10;AI-generated content may be incorrect." id="166" name="Google Shape;166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78338" y="4082784"/>
            <a:ext cx="285541" cy="28554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orange circle with a letter in it&#10;&#10;AI-generated content may be incorrect." id="167" name="Google Shape;167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61479" y="4082784"/>
            <a:ext cx="285541" cy="28554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orange circle with a play button&#10;&#10;AI-generated content may be incorrect." id="168" name="Google Shape;168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19908" y="4082784"/>
            <a:ext cx="285541" cy="285541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"/>
          <p:cNvSpPr txBox="1"/>
          <p:nvPr/>
        </p:nvSpPr>
        <p:spPr>
          <a:xfrm>
            <a:off x="628651" y="3446362"/>
            <a:ext cx="2384700" cy="103871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FF7902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Mark C. Winters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Rocket Fuel University</a:t>
            </a:r>
            <a:r>
              <a:rPr b="0" baseline="30000" i="0" lang="en" sz="1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®</a:t>
            </a:r>
            <a:endParaRPr b="0" baseline="3000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Visionary / Founder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0" name="Google Shape;170;p2" title="Brown and Light Brown, Circle Framed Instagram Profile Picture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92750" y="405863"/>
            <a:ext cx="3256525" cy="3256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"/>
          <p:cNvSpPr txBox="1"/>
          <p:nvPr>
            <p:ph type="title"/>
          </p:nvPr>
        </p:nvSpPr>
        <p:spPr>
          <a:xfrm>
            <a:off x="628650" y="333478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3300"/>
              <a:buFont typeface="Montserrat ExtraBold"/>
              <a:buNone/>
            </a:pPr>
            <a:r>
              <a:rPr lang="en"/>
              <a:t>VISIONARY DNA - SUPERPOWERS</a:t>
            </a:r>
            <a:endParaRPr/>
          </a:p>
        </p:txBody>
      </p:sp>
      <p:sp>
        <p:nvSpPr>
          <p:cNvPr id="176" name="Google Shape;176;p3"/>
          <p:cNvSpPr txBox="1"/>
          <p:nvPr>
            <p:ph idx="1" type="body"/>
          </p:nvPr>
        </p:nvSpPr>
        <p:spPr>
          <a:xfrm>
            <a:off x="64350" y="1107050"/>
            <a:ext cx="4157700" cy="33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Founding entrepreneur</a:t>
            </a:r>
            <a:endParaRPr sz="1800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Lots of ideas</a:t>
            </a:r>
            <a:endParaRPr sz="1800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Big picture thinker</a:t>
            </a:r>
            <a:endParaRPr sz="1800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Good industry / target market pulse</a:t>
            </a:r>
            <a:endParaRPr sz="1800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Enjoys R&amp;D</a:t>
            </a:r>
            <a:endParaRPr sz="1800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Enjoys big external relationships</a:t>
            </a:r>
            <a:endParaRPr sz="1800"/>
          </a:p>
        </p:txBody>
      </p:sp>
      <p:sp>
        <p:nvSpPr>
          <p:cNvPr id="177" name="Google Shape;177;p3"/>
          <p:cNvSpPr txBox="1"/>
          <p:nvPr>
            <p:ph idx="2" type="body"/>
          </p:nvPr>
        </p:nvSpPr>
        <p:spPr>
          <a:xfrm>
            <a:off x="4299125" y="1107050"/>
            <a:ext cx="4427700" cy="33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100"/>
              <a:buChar char="•"/>
            </a:pPr>
            <a:r>
              <a:rPr lang="en" sz="1800"/>
              <a:t>Inspirer for the organization</a:t>
            </a:r>
            <a:endParaRPr sz="1800"/>
          </a:p>
          <a:p>
            <a:pPr indent="-36195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100"/>
              <a:buChar char="•"/>
            </a:pPr>
            <a:r>
              <a:rPr lang="en" sz="1800"/>
              <a:t>Creative problem solver</a:t>
            </a:r>
            <a:endParaRPr sz="1800"/>
          </a:p>
          <a:p>
            <a:pPr indent="-36195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100"/>
              <a:buChar char="•"/>
            </a:pPr>
            <a:r>
              <a:rPr lang="en" sz="1800"/>
              <a:t>Create and hold the company vision</a:t>
            </a:r>
            <a:endParaRPr sz="1800"/>
          </a:p>
          <a:p>
            <a:pPr indent="-36195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100"/>
              <a:buChar char="•"/>
            </a:pPr>
            <a:r>
              <a:rPr lang="en" sz="1800"/>
              <a:t>Closes big deals</a:t>
            </a:r>
            <a:endParaRPr sz="1800"/>
          </a:p>
          <a:p>
            <a:pPr indent="-36195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100"/>
              <a:buChar char="•"/>
            </a:pPr>
            <a:r>
              <a:rPr lang="en" sz="1800"/>
              <a:t>Good at connecting the dots</a:t>
            </a:r>
            <a:endParaRPr sz="1800"/>
          </a:p>
          <a:p>
            <a:pPr indent="-36195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100"/>
              <a:buChar char="•"/>
            </a:pPr>
            <a:r>
              <a:rPr lang="en" sz="1800"/>
              <a:t>Reality distortion field</a:t>
            </a:r>
            <a:endParaRPr sz="1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4"/>
          <p:cNvSpPr txBox="1"/>
          <p:nvPr>
            <p:ph type="title"/>
          </p:nvPr>
        </p:nvSpPr>
        <p:spPr>
          <a:xfrm>
            <a:off x="628650" y="333478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3300"/>
              <a:buFont typeface="Montserrat ExtraBold"/>
              <a:buNone/>
            </a:pPr>
            <a:r>
              <a:rPr lang="en"/>
              <a:t>VISIONARY DNA - CHALLENGES</a:t>
            </a:r>
            <a:endParaRPr/>
          </a:p>
        </p:txBody>
      </p:sp>
      <p:sp>
        <p:nvSpPr>
          <p:cNvPr id="183" name="Google Shape;183;p4"/>
          <p:cNvSpPr txBox="1"/>
          <p:nvPr>
            <p:ph idx="1" type="body"/>
          </p:nvPr>
        </p:nvSpPr>
        <p:spPr>
          <a:xfrm>
            <a:off x="64338" y="1107050"/>
            <a:ext cx="3655500" cy="33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Inconsistency</a:t>
            </a:r>
            <a:endParaRPr sz="1800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Organizational “whiplash”</a:t>
            </a:r>
            <a:endParaRPr sz="1800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Dysfunctional teams</a:t>
            </a:r>
            <a:endParaRPr sz="1800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Create lack of clear direction</a:t>
            </a:r>
            <a:endParaRPr sz="1800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Reluctance to let go</a:t>
            </a:r>
            <a:endParaRPr sz="1800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Underdeveloped leaders and managers</a:t>
            </a:r>
            <a:endParaRPr sz="1800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“Genius” with 1,000 helpers</a:t>
            </a:r>
            <a:endParaRPr sz="1800"/>
          </a:p>
        </p:txBody>
      </p:sp>
      <p:sp>
        <p:nvSpPr>
          <p:cNvPr id="184" name="Google Shape;184;p4"/>
          <p:cNvSpPr txBox="1"/>
          <p:nvPr>
            <p:ph idx="2" type="body"/>
          </p:nvPr>
        </p:nvSpPr>
        <p:spPr>
          <a:xfrm>
            <a:off x="3719863" y="1107050"/>
            <a:ext cx="5359800" cy="33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100"/>
              <a:buChar char="•"/>
            </a:pPr>
            <a:r>
              <a:rPr lang="en" sz="1800"/>
              <a:t>Eyes bigger than their stomach</a:t>
            </a:r>
            <a:endParaRPr sz="1800"/>
          </a:p>
          <a:p>
            <a:pPr indent="-36195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100"/>
              <a:buChar char="•"/>
            </a:pPr>
            <a:r>
              <a:rPr lang="en" sz="1800"/>
              <a:t>Naturally resistant to following a process</a:t>
            </a:r>
            <a:endParaRPr sz="1800"/>
          </a:p>
          <a:p>
            <a:pPr indent="-36195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100"/>
              <a:buChar char="•"/>
            </a:pPr>
            <a:r>
              <a:rPr lang="en" sz="1800"/>
              <a:t>Quickly and easily bored</a:t>
            </a:r>
            <a:endParaRPr sz="1800"/>
          </a:p>
          <a:p>
            <a:pPr indent="-36195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100"/>
              <a:buChar char="•"/>
            </a:pPr>
            <a:r>
              <a:rPr lang="en" sz="1800"/>
              <a:t>No patience for the details</a:t>
            </a:r>
            <a:endParaRPr sz="1800"/>
          </a:p>
          <a:p>
            <a:pPr indent="-36195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100"/>
              <a:buChar char="•"/>
            </a:pPr>
            <a:r>
              <a:rPr lang="en" sz="1800"/>
              <a:t>Create chaos</a:t>
            </a:r>
            <a:endParaRPr sz="1800"/>
          </a:p>
          <a:p>
            <a:pPr indent="-36195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100"/>
              <a:buChar char="•"/>
            </a:pPr>
            <a:r>
              <a:rPr lang="en" sz="1800"/>
              <a:t>Often have some level of ADD</a:t>
            </a:r>
            <a:endParaRPr sz="1800"/>
          </a:p>
          <a:p>
            <a:pPr indent="-36195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100"/>
              <a:buChar char="•"/>
            </a:pPr>
            <a:r>
              <a:rPr lang="en" sz="1800"/>
              <a:t>All foot on gas pedal – with no brake</a:t>
            </a:r>
            <a:endParaRPr sz="1800"/>
          </a:p>
          <a:p>
            <a:pPr indent="-36195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100"/>
              <a:buChar char="•"/>
            </a:pPr>
            <a:r>
              <a:rPr lang="en" sz="1800"/>
              <a:t>Drive is too intense for most people</a:t>
            </a:r>
            <a:endParaRPr sz="2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5"/>
          <p:cNvSpPr txBox="1"/>
          <p:nvPr>
            <p:ph type="title"/>
          </p:nvPr>
        </p:nvSpPr>
        <p:spPr>
          <a:xfrm>
            <a:off x="628650" y="333478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en"/>
              <a:t>VISIONARY ROLE</a:t>
            </a:r>
            <a:endParaRPr/>
          </a:p>
        </p:txBody>
      </p:sp>
      <p:sp>
        <p:nvSpPr>
          <p:cNvPr id="190" name="Google Shape;190;p5"/>
          <p:cNvSpPr txBox="1"/>
          <p:nvPr>
            <p:ph idx="1" type="body"/>
          </p:nvPr>
        </p:nvSpPr>
        <p:spPr>
          <a:xfrm>
            <a:off x="628650" y="1428853"/>
            <a:ext cx="7886700" cy="29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See the future</a:t>
            </a:r>
            <a:endParaRPr/>
          </a:p>
          <a:p>
            <a:pPr indent="-36195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Ideation</a:t>
            </a:r>
            <a:endParaRPr/>
          </a:p>
          <a:p>
            <a:pPr indent="-36195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BIG external relationships</a:t>
            </a:r>
            <a:endParaRPr/>
          </a:p>
          <a:p>
            <a:pPr indent="-36195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Solving interesting problems</a:t>
            </a:r>
            <a:endParaRPr/>
          </a:p>
          <a:p>
            <a:pPr indent="-36195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Closing big deals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6"/>
          <p:cNvSpPr txBox="1"/>
          <p:nvPr>
            <p:ph type="title"/>
          </p:nvPr>
        </p:nvSpPr>
        <p:spPr>
          <a:xfrm>
            <a:off x="628650" y="333478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en"/>
              <a:t>THE QUESTION:</a:t>
            </a:r>
            <a:endParaRPr/>
          </a:p>
        </p:txBody>
      </p:sp>
      <p:sp>
        <p:nvSpPr>
          <p:cNvPr id="196" name="Google Shape;196;p6"/>
          <p:cNvSpPr txBox="1"/>
          <p:nvPr>
            <p:ph idx="1" type="body"/>
          </p:nvPr>
        </p:nvSpPr>
        <p:spPr>
          <a:xfrm>
            <a:off x="628650" y="1428853"/>
            <a:ext cx="7886700" cy="29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r>
              <a:rPr lang="en"/>
              <a:t>HOW TO BECOME TRULY GREAT IN THIS ROLE?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"/>
          <p:cNvSpPr txBox="1"/>
          <p:nvPr>
            <p:ph type="title"/>
          </p:nvPr>
        </p:nvSpPr>
        <p:spPr>
          <a:xfrm>
            <a:off x="628650" y="333478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en"/>
              <a:t>A:  THE 10 PILLARS…</a:t>
            </a:r>
            <a:br>
              <a:rPr lang="en"/>
            </a:br>
            <a:r>
              <a:rPr lang="en"/>
              <a:t>OF VISIONARY GREATNESS</a:t>
            </a:r>
            <a:endParaRPr/>
          </a:p>
        </p:txBody>
      </p:sp>
      <p:sp>
        <p:nvSpPr>
          <p:cNvPr id="202" name="Google Shape;202;p7"/>
          <p:cNvSpPr txBox="1"/>
          <p:nvPr>
            <p:ph idx="1" type="body"/>
          </p:nvPr>
        </p:nvSpPr>
        <p:spPr>
          <a:xfrm>
            <a:off x="2794650" y="1327675"/>
            <a:ext cx="4436400" cy="3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r>
              <a:rPr lang="en" sz="2000"/>
              <a:t>(Because Visionaries LOVE Lists!)</a:t>
            </a:r>
            <a:endParaRPr sz="2000"/>
          </a:p>
        </p:txBody>
      </p:sp>
      <p:grpSp>
        <p:nvGrpSpPr>
          <p:cNvPr id="203" name="Google Shape;203;p7"/>
          <p:cNvGrpSpPr/>
          <p:nvPr/>
        </p:nvGrpSpPr>
        <p:grpSpPr>
          <a:xfrm>
            <a:off x="402450" y="1813000"/>
            <a:ext cx="3969525" cy="375300"/>
            <a:chOff x="628650" y="1914175"/>
            <a:chExt cx="3969525" cy="375300"/>
          </a:xfrm>
        </p:grpSpPr>
        <p:sp>
          <p:nvSpPr>
            <p:cNvPr id="204" name="Google Shape;204;p7"/>
            <p:cNvSpPr/>
            <p:nvPr/>
          </p:nvSpPr>
          <p:spPr>
            <a:xfrm>
              <a:off x="1438275" y="1914175"/>
              <a:ext cx="3159900" cy="375300"/>
            </a:xfrm>
            <a:prstGeom prst="rect">
              <a:avLst/>
            </a:prstGeom>
            <a:solidFill>
              <a:srgbClr val="FF790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  <p:sp>
          <p:nvSpPr>
            <p:cNvPr id="205" name="Google Shape;205;p7"/>
            <p:cNvSpPr/>
            <p:nvPr/>
          </p:nvSpPr>
          <p:spPr>
            <a:xfrm>
              <a:off x="628650" y="1914175"/>
              <a:ext cx="1143000" cy="375300"/>
            </a:xfrm>
            <a:prstGeom prst="chevron">
              <a:avLst>
                <a:gd fmla="val 50000" name="adj"/>
              </a:avLst>
            </a:prstGeom>
            <a:solidFill>
              <a:srgbClr val="FF7902"/>
            </a:solidFill>
            <a:ln cap="flat" cmpd="sng" w="2857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  <p:sp>
          <p:nvSpPr>
            <p:cNvPr id="206" name="Google Shape;206;p7"/>
            <p:cNvSpPr txBox="1"/>
            <p:nvPr/>
          </p:nvSpPr>
          <p:spPr>
            <a:xfrm>
              <a:off x="833400" y="1932688"/>
              <a:ext cx="919200" cy="25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PILLAR 1</a:t>
              </a:r>
              <a:endParaRPr b="1" i="0" sz="1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07" name="Google Shape;207;p7"/>
            <p:cNvSpPr txBox="1"/>
            <p:nvPr/>
          </p:nvSpPr>
          <p:spPr>
            <a:xfrm>
              <a:off x="1826475" y="1942213"/>
              <a:ext cx="1269300" cy="25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KNOW THYSELF</a:t>
              </a:r>
              <a:endParaRPr b="1" i="0" sz="1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208" name="Google Shape;208;p7"/>
          <p:cNvGrpSpPr/>
          <p:nvPr/>
        </p:nvGrpSpPr>
        <p:grpSpPr>
          <a:xfrm>
            <a:off x="402450" y="2379738"/>
            <a:ext cx="3969525" cy="375300"/>
            <a:chOff x="628650" y="2495200"/>
            <a:chExt cx="3969525" cy="375300"/>
          </a:xfrm>
        </p:grpSpPr>
        <p:sp>
          <p:nvSpPr>
            <p:cNvPr id="209" name="Google Shape;209;p7"/>
            <p:cNvSpPr/>
            <p:nvPr/>
          </p:nvSpPr>
          <p:spPr>
            <a:xfrm>
              <a:off x="1438275" y="2495200"/>
              <a:ext cx="3159900" cy="375300"/>
            </a:xfrm>
            <a:prstGeom prst="rect">
              <a:avLst/>
            </a:prstGeom>
            <a:solidFill>
              <a:srgbClr val="428FD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  <p:sp>
          <p:nvSpPr>
            <p:cNvPr id="210" name="Google Shape;210;p7"/>
            <p:cNvSpPr/>
            <p:nvPr/>
          </p:nvSpPr>
          <p:spPr>
            <a:xfrm>
              <a:off x="628650" y="2495200"/>
              <a:ext cx="1143000" cy="375300"/>
            </a:xfrm>
            <a:prstGeom prst="chevron">
              <a:avLst>
                <a:gd fmla="val 50000" name="adj"/>
              </a:avLst>
            </a:prstGeom>
            <a:solidFill>
              <a:srgbClr val="428FDF"/>
            </a:solidFill>
            <a:ln cap="flat" cmpd="sng" w="2857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  <p:sp>
          <p:nvSpPr>
            <p:cNvPr id="211" name="Google Shape;211;p7"/>
            <p:cNvSpPr txBox="1"/>
            <p:nvPr/>
          </p:nvSpPr>
          <p:spPr>
            <a:xfrm>
              <a:off x="833400" y="2513713"/>
              <a:ext cx="919200" cy="25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PILLAR 2</a:t>
              </a:r>
              <a:endParaRPr b="1" i="0" sz="1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12" name="Google Shape;212;p7"/>
            <p:cNvSpPr txBox="1"/>
            <p:nvPr/>
          </p:nvSpPr>
          <p:spPr>
            <a:xfrm>
              <a:off x="1826475" y="2523250"/>
              <a:ext cx="2107500" cy="25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MAINTAIN WARRIOR SHAPE</a:t>
              </a:r>
              <a:endParaRPr b="1" i="0" sz="1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213" name="Google Shape;213;p7"/>
          <p:cNvGrpSpPr/>
          <p:nvPr/>
        </p:nvGrpSpPr>
        <p:grpSpPr>
          <a:xfrm>
            <a:off x="402450" y="2946475"/>
            <a:ext cx="3969525" cy="375300"/>
            <a:chOff x="628650" y="3076225"/>
            <a:chExt cx="3969525" cy="375300"/>
          </a:xfrm>
        </p:grpSpPr>
        <p:sp>
          <p:nvSpPr>
            <p:cNvPr id="214" name="Google Shape;214;p7"/>
            <p:cNvSpPr/>
            <p:nvPr/>
          </p:nvSpPr>
          <p:spPr>
            <a:xfrm>
              <a:off x="1438275" y="3076225"/>
              <a:ext cx="3159900" cy="375300"/>
            </a:xfrm>
            <a:prstGeom prst="rect">
              <a:avLst/>
            </a:prstGeom>
            <a:solidFill>
              <a:srgbClr val="FF790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  <p:sp>
          <p:nvSpPr>
            <p:cNvPr id="215" name="Google Shape;215;p7"/>
            <p:cNvSpPr/>
            <p:nvPr/>
          </p:nvSpPr>
          <p:spPr>
            <a:xfrm>
              <a:off x="628650" y="3076225"/>
              <a:ext cx="1143000" cy="375300"/>
            </a:xfrm>
            <a:prstGeom prst="chevron">
              <a:avLst>
                <a:gd fmla="val 50000" name="adj"/>
              </a:avLst>
            </a:prstGeom>
            <a:solidFill>
              <a:srgbClr val="FF7902"/>
            </a:solidFill>
            <a:ln cap="flat" cmpd="sng" w="2857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  <p:sp>
          <p:nvSpPr>
            <p:cNvPr id="216" name="Google Shape;216;p7"/>
            <p:cNvSpPr txBox="1"/>
            <p:nvPr/>
          </p:nvSpPr>
          <p:spPr>
            <a:xfrm>
              <a:off x="833400" y="3094738"/>
              <a:ext cx="919200" cy="25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PILLAR 3</a:t>
              </a:r>
              <a:endParaRPr b="1" i="0" sz="1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17" name="Google Shape;217;p7"/>
            <p:cNvSpPr txBox="1"/>
            <p:nvPr/>
          </p:nvSpPr>
          <p:spPr>
            <a:xfrm>
              <a:off x="1826475" y="3104275"/>
              <a:ext cx="1964400" cy="25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SURROUND YOURSELF</a:t>
              </a:r>
              <a:endParaRPr b="1" i="0" sz="1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218" name="Google Shape;218;p7"/>
          <p:cNvGrpSpPr/>
          <p:nvPr/>
        </p:nvGrpSpPr>
        <p:grpSpPr>
          <a:xfrm>
            <a:off x="402450" y="3513213"/>
            <a:ext cx="4017225" cy="375300"/>
            <a:chOff x="628650" y="3657250"/>
            <a:chExt cx="4017225" cy="375300"/>
          </a:xfrm>
        </p:grpSpPr>
        <p:sp>
          <p:nvSpPr>
            <p:cNvPr id="219" name="Google Shape;219;p7"/>
            <p:cNvSpPr/>
            <p:nvPr/>
          </p:nvSpPr>
          <p:spPr>
            <a:xfrm>
              <a:off x="1438275" y="3657250"/>
              <a:ext cx="3159900" cy="375300"/>
            </a:xfrm>
            <a:prstGeom prst="rect">
              <a:avLst/>
            </a:prstGeom>
            <a:solidFill>
              <a:srgbClr val="428FD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  <p:sp>
          <p:nvSpPr>
            <p:cNvPr id="220" name="Google Shape;220;p7"/>
            <p:cNvSpPr/>
            <p:nvPr/>
          </p:nvSpPr>
          <p:spPr>
            <a:xfrm>
              <a:off x="628650" y="3657250"/>
              <a:ext cx="1143000" cy="375300"/>
            </a:xfrm>
            <a:prstGeom prst="chevron">
              <a:avLst>
                <a:gd fmla="val 50000" name="adj"/>
              </a:avLst>
            </a:prstGeom>
            <a:solidFill>
              <a:srgbClr val="428FDF"/>
            </a:solidFill>
            <a:ln cap="flat" cmpd="sng" w="2857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  <p:sp>
          <p:nvSpPr>
            <p:cNvPr id="221" name="Google Shape;221;p7"/>
            <p:cNvSpPr txBox="1"/>
            <p:nvPr/>
          </p:nvSpPr>
          <p:spPr>
            <a:xfrm>
              <a:off x="833400" y="3675763"/>
              <a:ext cx="919200" cy="25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PILLAR 4</a:t>
              </a:r>
              <a:endParaRPr b="1" i="0" sz="1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22" name="Google Shape;222;p7"/>
            <p:cNvSpPr txBox="1"/>
            <p:nvPr/>
          </p:nvSpPr>
          <p:spPr>
            <a:xfrm>
              <a:off x="1826475" y="3685300"/>
              <a:ext cx="2819400" cy="25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COMMIT TO YOUR OPERATING SYSTEM</a:t>
              </a:r>
              <a:endParaRPr b="1" i="0" sz="1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223" name="Google Shape;223;p7"/>
          <p:cNvGrpSpPr/>
          <p:nvPr/>
        </p:nvGrpSpPr>
        <p:grpSpPr>
          <a:xfrm>
            <a:off x="402450" y="4079950"/>
            <a:ext cx="3969525" cy="375300"/>
            <a:chOff x="628650" y="4181125"/>
            <a:chExt cx="3969525" cy="375300"/>
          </a:xfrm>
        </p:grpSpPr>
        <p:sp>
          <p:nvSpPr>
            <p:cNvPr id="224" name="Google Shape;224;p7"/>
            <p:cNvSpPr/>
            <p:nvPr/>
          </p:nvSpPr>
          <p:spPr>
            <a:xfrm>
              <a:off x="1438275" y="4181125"/>
              <a:ext cx="3159900" cy="375300"/>
            </a:xfrm>
            <a:prstGeom prst="rect">
              <a:avLst/>
            </a:prstGeom>
            <a:solidFill>
              <a:srgbClr val="FF790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  <p:sp>
          <p:nvSpPr>
            <p:cNvPr id="225" name="Google Shape;225;p7"/>
            <p:cNvSpPr/>
            <p:nvPr/>
          </p:nvSpPr>
          <p:spPr>
            <a:xfrm>
              <a:off x="628650" y="4181125"/>
              <a:ext cx="1143000" cy="375300"/>
            </a:xfrm>
            <a:prstGeom prst="chevron">
              <a:avLst>
                <a:gd fmla="val 50000" name="adj"/>
              </a:avLst>
            </a:prstGeom>
            <a:solidFill>
              <a:srgbClr val="FF7902"/>
            </a:solidFill>
            <a:ln cap="flat" cmpd="sng" w="2857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  <p:sp>
          <p:nvSpPr>
            <p:cNvPr id="226" name="Google Shape;226;p7"/>
            <p:cNvSpPr txBox="1"/>
            <p:nvPr/>
          </p:nvSpPr>
          <p:spPr>
            <a:xfrm>
              <a:off x="833400" y="4199638"/>
              <a:ext cx="919200" cy="25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PILLAR 5</a:t>
              </a:r>
              <a:endParaRPr b="1" i="0" sz="1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27" name="Google Shape;227;p7"/>
            <p:cNvSpPr txBox="1"/>
            <p:nvPr/>
          </p:nvSpPr>
          <p:spPr>
            <a:xfrm>
              <a:off x="1826488" y="4209175"/>
              <a:ext cx="2720400" cy="25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SUPPORT YOUR INTEGRATOR</a:t>
              </a:r>
              <a:endParaRPr b="1" i="0" sz="1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228" name="Google Shape;228;p7"/>
          <p:cNvGrpSpPr/>
          <p:nvPr/>
        </p:nvGrpSpPr>
        <p:grpSpPr>
          <a:xfrm>
            <a:off x="4630375" y="1813000"/>
            <a:ext cx="4111162" cy="375300"/>
            <a:chOff x="4782713" y="1813000"/>
            <a:chExt cx="4111162" cy="375300"/>
          </a:xfrm>
        </p:grpSpPr>
        <p:sp>
          <p:nvSpPr>
            <p:cNvPr id="229" name="Google Shape;229;p7"/>
            <p:cNvSpPr/>
            <p:nvPr/>
          </p:nvSpPr>
          <p:spPr>
            <a:xfrm>
              <a:off x="5592351" y="1813000"/>
              <a:ext cx="3301500" cy="375300"/>
            </a:xfrm>
            <a:prstGeom prst="rect">
              <a:avLst/>
            </a:prstGeom>
            <a:solidFill>
              <a:srgbClr val="428FD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  <p:sp>
          <p:nvSpPr>
            <p:cNvPr id="230" name="Google Shape;230;p7"/>
            <p:cNvSpPr/>
            <p:nvPr/>
          </p:nvSpPr>
          <p:spPr>
            <a:xfrm>
              <a:off x="4782713" y="1813000"/>
              <a:ext cx="1143000" cy="375300"/>
            </a:xfrm>
            <a:prstGeom prst="chevron">
              <a:avLst>
                <a:gd fmla="val 50000" name="adj"/>
              </a:avLst>
            </a:prstGeom>
            <a:solidFill>
              <a:srgbClr val="428FDF"/>
            </a:solidFill>
            <a:ln cap="flat" cmpd="sng" w="2857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  <p:sp>
          <p:nvSpPr>
            <p:cNvPr id="231" name="Google Shape;231;p7"/>
            <p:cNvSpPr txBox="1"/>
            <p:nvPr/>
          </p:nvSpPr>
          <p:spPr>
            <a:xfrm>
              <a:off x="4987463" y="1831513"/>
              <a:ext cx="919200" cy="25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PILLAR 6</a:t>
              </a:r>
              <a:endParaRPr b="1" i="0" sz="1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32" name="Google Shape;232;p7"/>
            <p:cNvSpPr txBox="1"/>
            <p:nvPr/>
          </p:nvSpPr>
          <p:spPr>
            <a:xfrm>
              <a:off x="5980575" y="1841050"/>
              <a:ext cx="2913300" cy="25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THINK ABOUT WHAT YOU THINK ABOUT</a:t>
              </a:r>
              <a:endParaRPr b="1" i="0" sz="1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233" name="Google Shape;233;p7"/>
          <p:cNvGrpSpPr/>
          <p:nvPr/>
        </p:nvGrpSpPr>
        <p:grpSpPr>
          <a:xfrm>
            <a:off x="4630375" y="2379738"/>
            <a:ext cx="4111138" cy="375312"/>
            <a:chOff x="4782713" y="2379738"/>
            <a:chExt cx="4111138" cy="375312"/>
          </a:xfrm>
        </p:grpSpPr>
        <p:sp>
          <p:nvSpPr>
            <p:cNvPr id="234" name="Google Shape;234;p7"/>
            <p:cNvSpPr/>
            <p:nvPr/>
          </p:nvSpPr>
          <p:spPr>
            <a:xfrm>
              <a:off x="5592351" y="2379750"/>
              <a:ext cx="3301500" cy="375300"/>
            </a:xfrm>
            <a:prstGeom prst="rect">
              <a:avLst/>
            </a:prstGeom>
            <a:solidFill>
              <a:srgbClr val="FF790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  <p:sp>
          <p:nvSpPr>
            <p:cNvPr id="235" name="Google Shape;235;p7"/>
            <p:cNvSpPr/>
            <p:nvPr/>
          </p:nvSpPr>
          <p:spPr>
            <a:xfrm>
              <a:off x="4782713" y="2379738"/>
              <a:ext cx="1143000" cy="375300"/>
            </a:xfrm>
            <a:prstGeom prst="chevron">
              <a:avLst>
                <a:gd fmla="val 50000" name="adj"/>
              </a:avLst>
            </a:prstGeom>
            <a:solidFill>
              <a:srgbClr val="FF7902"/>
            </a:solidFill>
            <a:ln cap="flat" cmpd="sng" w="2857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  <p:sp>
          <p:nvSpPr>
            <p:cNvPr id="236" name="Google Shape;236;p7"/>
            <p:cNvSpPr txBox="1"/>
            <p:nvPr/>
          </p:nvSpPr>
          <p:spPr>
            <a:xfrm>
              <a:off x="4987463" y="2398250"/>
              <a:ext cx="919200" cy="25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PILLAR 7</a:t>
              </a:r>
              <a:endParaRPr b="1" i="0" sz="1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37" name="Google Shape;237;p7"/>
            <p:cNvSpPr txBox="1"/>
            <p:nvPr/>
          </p:nvSpPr>
          <p:spPr>
            <a:xfrm>
              <a:off x="5980538" y="2407788"/>
              <a:ext cx="2107500" cy="25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WATCH OUT FOR PITFALLS</a:t>
              </a:r>
              <a:endParaRPr b="1" i="0" sz="1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238" name="Google Shape;238;p7"/>
          <p:cNvGrpSpPr/>
          <p:nvPr/>
        </p:nvGrpSpPr>
        <p:grpSpPr>
          <a:xfrm>
            <a:off x="4630375" y="2946475"/>
            <a:ext cx="4111137" cy="375300"/>
            <a:chOff x="4782713" y="2946475"/>
            <a:chExt cx="4111137" cy="375300"/>
          </a:xfrm>
        </p:grpSpPr>
        <p:sp>
          <p:nvSpPr>
            <p:cNvPr id="239" name="Google Shape;239;p7"/>
            <p:cNvSpPr/>
            <p:nvPr/>
          </p:nvSpPr>
          <p:spPr>
            <a:xfrm>
              <a:off x="5592350" y="2946475"/>
              <a:ext cx="3301500" cy="375300"/>
            </a:xfrm>
            <a:prstGeom prst="rect">
              <a:avLst/>
            </a:prstGeom>
            <a:solidFill>
              <a:srgbClr val="428FD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  <p:sp>
          <p:nvSpPr>
            <p:cNvPr id="240" name="Google Shape;240;p7"/>
            <p:cNvSpPr/>
            <p:nvPr/>
          </p:nvSpPr>
          <p:spPr>
            <a:xfrm>
              <a:off x="4782713" y="2946475"/>
              <a:ext cx="1143000" cy="375300"/>
            </a:xfrm>
            <a:prstGeom prst="chevron">
              <a:avLst>
                <a:gd fmla="val 50000" name="adj"/>
              </a:avLst>
            </a:prstGeom>
            <a:solidFill>
              <a:srgbClr val="428FDF"/>
            </a:solidFill>
            <a:ln cap="flat" cmpd="sng" w="2857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  <p:sp>
          <p:nvSpPr>
            <p:cNvPr id="241" name="Google Shape;241;p7"/>
            <p:cNvSpPr txBox="1"/>
            <p:nvPr/>
          </p:nvSpPr>
          <p:spPr>
            <a:xfrm>
              <a:off x="4987463" y="2964988"/>
              <a:ext cx="919200" cy="25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PILLAR 8</a:t>
              </a:r>
              <a:endParaRPr b="1" i="0" sz="1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42" name="Google Shape;242;p7"/>
            <p:cNvSpPr txBox="1"/>
            <p:nvPr/>
          </p:nvSpPr>
          <p:spPr>
            <a:xfrm>
              <a:off x="5980538" y="2974525"/>
              <a:ext cx="1964400" cy="25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HELP OTHERS STRETCH</a:t>
              </a:r>
              <a:endParaRPr b="1" i="0" sz="1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243" name="Google Shape;243;p7"/>
          <p:cNvGrpSpPr/>
          <p:nvPr/>
        </p:nvGrpSpPr>
        <p:grpSpPr>
          <a:xfrm>
            <a:off x="4630375" y="3513213"/>
            <a:ext cx="4111138" cy="375312"/>
            <a:chOff x="4782713" y="3513213"/>
            <a:chExt cx="4111138" cy="375312"/>
          </a:xfrm>
        </p:grpSpPr>
        <p:sp>
          <p:nvSpPr>
            <p:cNvPr id="244" name="Google Shape;244;p7"/>
            <p:cNvSpPr/>
            <p:nvPr/>
          </p:nvSpPr>
          <p:spPr>
            <a:xfrm>
              <a:off x="5592351" y="3513225"/>
              <a:ext cx="3301500" cy="375300"/>
            </a:xfrm>
            <a:prstGeom prst="rect">
              <a:avLst/>
            </a:prstGeom>
            <a:solidFill>
              <a:srgbClr val="FF790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  <p:sp>
          <p:nvSpPr>
            <p:cNvPr id="245" name="Google Shape;245;p7"/>
            <p:cNvSpPr/>
            <p:nvPr/>
          </p:nvSpPr>
          <p:spPr>
            <a:xfrm>
              <a:off x="4782713" y="3513213"/>
              <a:ext cx="1143000" cy="375300"/>
            </a:xfrm>
            <a:prstGeom prst="chevron">
              <a:avLst>
                <a:gd fmla="val 50000" name="adj"/>
              </a:avLst>
            </a:prstGeom>
            <a:solidFill>
              <a:srgbClr val="FF7902"/>
            </a:solidFill>
            <a:ln cap="flat" cmpd="sng" w="2857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  <p:sp>
          <p:nvSpPr>
            <p:cNvPr id="246" name="Google Shape;246;p7"/>
            <p:cNvSpPr txBox="1"/>
            <p:nvPr/>
          </p:nvSpPr>
          <p:spPr>
            <a:xfrm>
              <a:off x="4987463" y="3531725"/>
              <a:ext cx="919200" cy="25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PILLAR 9</a:t>
              </a:r>
              <a:endParaRPr b="1" i="0" sz="1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47" name="Google Shape;247;p7"/>
            <p:cNvSpPr txBox="1"/>
            <p:nvPr/>
          </p:nvSpPr>
          <p:spPr>
            <a:xfrm>
              <a:off x="5980538" y="3541263"/>
              <a:ext cx="2819400" cy="25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GO SLOW TO GO FAST</a:t>
              </a:r>
              <a:endParaRPr b="1" i="0" sz="1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248" name="Google Shape;248;p7"/>
          <p:cNvGrpSpPr/>
          <p:nvPr/>
        </p:nvGrpSpPr>
        <p:grpSpPr>
          <a:xfrm>
            <a:off x="4630375" y="4079950"/>
            <a:ext cx="4111138" cy="375300"/>
            <a:chOff x="4782713" y="4079950"/>
            <a:chExt cx="4111138" cy="375300"/>
          </a:xfrm>
        </p:grpSpPr>
        <p:sp>
          <p:nvSpPr>
            <p:cNvPr id="249" name="Google Shape;249;p7"/>
            <p:cNvSpPr/>
            <p:nvPr/>
          </p:nvSpPr>
          <p:spPr>
            <a:xfrm>
              <a:off x="5592351" y="4079950"/>
              <a:ext cx="3301500" cy="375300"/>
            </a:xfrm>
            <a:prstGeom prst="rect">
              <a:avLst/>
            </a:prstGeom>
            <a:solidFill>
              <a:srgbClr val="428FD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  <p:sp>
          <p:nvSpPr>
            <p:cNvPr id="250" name="Google Shape;250;p7"/>
            <p:cNvSpPr/>
            <p:nvPr/>
          </p:nvSpPr>
          <p:spPr>
            <a:xfrm>
              <a:off x="4782713" y="4079950"/>
              <a:ext cx="1143000" cy="375300"/>
            </a:xfrm>
            <a:prstGeom prst="chevron">
              <a:avLst>
                <a:gd fmla="val 50000" name="adj"/>
              </a:avLst>
            </a:prstGeom>
            <a:solidFill>
              <a:srgbClr val="428FDF"/>
            </a:solidFill>
            <a:ln cap="flat" cmpd="sng" w="2857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  <p:sp>
          <p:nvSpPr>
            <p:cNvPr id="251" name="Google Shape;251;p7"/>
            <p:cNvSpPr txBox="1"/>
            <p:nvPr/>
          </p:nvSpPr>
          <p:spPr>
            <a:xfrm>
              <a:off x="4987463" y="4098463"/>
              <a:ext cx="919200" cy="25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PILLAR 10</a:t>
              </a:r>
              <a:endParaRPr b="1" i="0" sz="1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52" name="Google Shape;252;p7"/>
            <p:cNvSpPr txBox="1"/>
            <p:nvPr/>
          </p:nvSpPr>
          <p:spPr>
            <a:xfrm>
              <a:off x="5980538" y="4107988"/>
              <a:ext cx="1269300" cy="25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DO NO HARM</a:t>
              </a:r>
              <a:endParaRPr b="1" i="0" sz="1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8"/>
          <p:cNvSpPr txBox="1"/>
          <p:nvPr>
            <p:ph type="title"/>
          </p:nvPr>
        </p:nvSpPr>
        <p:spPr>
          <a:xfrm>
            <a:off x="628650" y="333478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3300"/>
              <a:buFont typeface="Montserrat ExtraBold"/>
              <a:buNone/>
            </a:pPr>
            <a:r>
              <a:rPr lang="en"/>
              <a:t>PILLAR 1: KNOW THYSELF</a:t>
            </a:r>
            <a:endParaRPr/>
          </a:p>
        </p:txBody>
      </p:sp>
      <p:sp>
        <p:nvSpPr>
          <p:cNvPr id="258" name="Google Shape;258;p8"/>
          <p:cNvSpPr txBox="1"/>
          <p:nvPr>
            <p:ph idx="1" type="body"/>
          </p:nvPr>
        </p:nvSpPr>
        <p:spPr>
          <a:xfrm>
            <a:off x="628650" y="1428853"/>
            <a:ext cx="3886200" cy="29539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n"/>
              <a:t>“To know thyself is the beginning of wisdom.”</a:t>
            </a:r>
            <a:endParaRPr/>
          </a:p>
          <a:p>
            <a:pPr indent="-381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n"/>
              <a:t>- Socrates</a:t>
            </a:r>
            <a:endParaRPr/>
          </a:p>
        </p:txBody>
      </p:sp>
      <p:pic>
        <p:nvPicPr>
          <p:cNvPr id="259" name="Google Shape;259;p8"/>
          <p:cNvPicPr preferRelativeResize="0"/>
          <p:nvPr/>
        </p:nvPicPr>
        <p:blipFill rotWithShape="1">
          <a:blip r:embed="rId3">
            <a:alphaModFix/>
          </a:blip>
          <a:srcRect b="5226" l="0" r="0" t="4668"/>
          <a:stretch/>
        </p:blipFill>
        <p:spPr>
          <a:xfrm>
            <a:off x="5144278" y="1329388"/>
            <a:ext cx="4010557" cy="27980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9"/>
          <p:cNvSpPr txBox="1"/>
          <p:nvPr>
            <p:ph type="title"/>
          </p:nvPr>
        </p:nvSpPr>
        <p:spPr>
          <a:xfrm>
            <a:off x="628650" y="333478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3300"/>
              <a:buFont typeface="Montserrat ExtraBold"/>
              <a:buNone/>
            </a:pPr>
            <a:r>
              <a:rPr lang="en"/>
              <a:t>PILLAR 2: </a:t>
            </a:r>
            <a:br>
              <a:rPr lang="en"/>
            </a:br>
            <a:r>
              <a:rPr lang="en"/>
              <a:t>MAINTAIN WARRIOR SHAPE</a:t>
            </a:r>
            <a:endParaRPr/>
          </a:p>
        </p:txBody>
      </p:sp>
      <p:sp>
        <p:nvSpPr>
          <p:cNvPr id="265" name="Google Shape;265;p9"/>
          <p:cNvSpPr txBox="1"/>
          <p:nvPr>
            <p:ph idx="1" type="body"/>
          </p:nvPr>
        </p:nvSpPr>
        <p:spPr>
          <a:xfrm>
            <a:off x="628650" y="1428853"/>
            <a:ext cx="3886200" cy="29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n"/>
              <a:t>“MASK YOURSELF BEFORE YOUR CHILDREN”</a:t>
            </a:r>
            <a:endParaRPr/>
          </a:p>
          <a:p>
            <a:pPr indent="-381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t/>
            </a:r>
            <a:endParaRPr/>
          </a:p>
        </p:txBody>
      </p:sp>
      <p:pic>
        <p:nvPicPr>
          <p:cNvPr id="266" name="Google Shape;266;p9"/>
          <p:cNvPicPr preferRelativeResize="0"/>
          <p:nvPr/>
        </p:nvPicPr>
        <p:blipFill rotWithShape="1">
          <a:blip r:embed="rId3">
            <a:alphaModFix/>
          </a:blip>
          <a:srcRect b="0" l="3566" r="3566" t="0"/>
          <a:stretch/>
        </p:blipFill>
        <p:spPr>
          <a:xfrm>
            <a:off x="4758950" y="1507432"/>
            <a:ext cx="4385044" cy="27966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0"/>
          <p:cNvSpPr txBox="1"/>
          <p:nvPr>
            <p:ph type="title"/>
          </p:nvPr>
        </p:nvSpPr>
        <p:spPr>
          <a:xfrm>
            <a:off x="628650" y="333478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3300"/>
              <a:buFont typeface="Montserrat ExtraBold"/>
              <a:buNone/>
            </a:pPr>
            <a:r>
              <a:rPr lang="en"/>
              <a:t>PILLAR 3: SURROUND YOURSELF</a:t>
            </a:r>
            <a:endParaRPr/>
          </a:p>
        </p:txBody>
      </p:sp>
      <p:sp>
        <p:nvSpPr>
          <p:cNvPr id="272" name="Google Shape;272;p10"/>
          <p:cNvSpPr txBox="1"/>
          <p:nvPr>
            <p:ph idx="1" type="body"/>
          </p:nvPr>
        </p:nvSpPr>
        <p:spPr>
          <a:xfrm>
            <a:off x="628650" y="1428853"/>
            <a:ext cx="3886200" cy="29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n"/>
              <a:t>“SHIELD WALL”</a:t>
            </a:r>
            <a:endParaRPr/>
          </a:p>
          <a:p>
            <a:pPr indent="-381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t/>
            </a:r>
            <a:endParaRPr/>
          </a:p>
        </p:txBody>
      </p:sp>
      <p:pic>
        <p:nvPicPr>
          <p:cNvPr id="273" name="Google Shape;273;p10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456" r="456" t="0"/>
          <a:stretch/>
        </p:blipFill>
        <p:spPr>
          <a:xfrm>
            <a:off x="4913710" y="1327678"/>
            <a:ext cx="4230292" cy="28015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p10"/>
          <p:cNvPicPr preferRelativeResize="0"/>
          <p:nvPr/>
        </p:nvPicPr>
        <p:blipFill rotWithShape="1">
          <a:blip r:embed="rId4">
            <a:alphaModFix/>
          </a:blip>
          <a:srcRect b="5129" l="0" r="0" t="15594"/>
          <a:stretch/>
        </p:blipFill>
        <p:spPr>
          <a:xfrm>
            <a:off x="4572000" y="1327675"/>
            <a:ext cx="4572001" cy="2801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1"/>
          <p:cNvSpPr txBox="1"/>
          <p:nvPr>
            <p:ph type="title"/>
          </p:nvPr>
        </p:nvSpPr>
        <p:spPr>
          <a:xfrm>
            <a:off x="628650" y="333478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3300"/>
              <a:buFont typeface="Montserrat ExtraBold"/>
              <a:buNone/>
            </a:pPr>
            <a:r>
              <a:rPr lang="en"/>
              <a:t>PILLAR 4: COMMIT TO YOUR OS</a:t>
            </a:r>
            <a:endParaRPr/>
          </a:p>
        </p:txBody>
      </p:sp>
      <p:sp>
        <p:nvSpPr>
          <p:cNvPr id="280" name="Google Shape;280;p11"/>
          <p:cNvSpPr txBox="1"/>
          <p:nvPr>
            <p:ph idx="1" type="body"/>
          </p:nvPr>
        </p:nvSpPr>
        <p:spPr>
          <a:xfrm>
            <a:off x="628650" y="1428853"/>
            <a:ext cx="3886200" cy="29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n"/>
              <a:t>THE OS LADDER</a:t>
            </a:r>
            <a:endParaRPr/>
          </a:p>
          <a:p>
            <a:pPr indent="-381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t/>
            </a:r>
            <a:endParaRPr/>
          </a:p>
        </p:txBody>
      </p:sp>
      <p:pic>
        <p:nvPicPr>
          <p:cNvPr id="281" name="Google Shape;281;p11" title="The OS Ladder.png"/>
          <p:cNvPicPr preferRelativeResize="0"/>
          <p:nvPr/>
        </p:nvPicPr>
        <p:blipFill rotWithShape="1">
          <a:blip r:embed="rId3">
            <a:alphaModFix/>
          </a:blip>
          <a:srcRect b="6375" l="0" r="0" t="10830"/>
          <a:stretch/>
        </p:blipFill>
        <p:spPr>
          <a:xfrm>
            <a:off x="5348053" y="1327675"/>
            <a:ext cx="3842675" cy="27980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2"/>
          <p:cNvSpPr txBox="1"/>
          <p:nvPr>
            <p:ph type="title"/>
          </p:nvPr>
        </p:nvSpPr>
        <p:spPr>
          <a:xfrm>
            <a:off x="628650" y="333478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3300"/>
              <a:buFont typeface="Montserrat ExtraBold"/>
              <a:buNone/>
            </a:pPr>
            <a:r>
              <a:rPr lang="en"/>
              <a:t>PILLAR 5: </a:t>
            </a:r>
            <a:br>
              <a:rPr lang="en"/>
            </a:br>
            <a:r>
              <a:rPr lang="en"/>
              <a:t>SUPPORT YOUR INTEGRATOR</a:t>
            </a:r>
            <a:endParaRPr/>
          </a:p>
        </p:txBody>
      </p:sp>
      <p:sp>
        <p:nvSpPr>
          <p:cNvPr id="287" name="Google Shape;287;p12"/>
          <p:cNvSpPr txBox="1"/>
          <p:nvPr>
            <p:ph idx="1" type="body"/>
          </p:nvPr>
        </p:nvSpPr>
        <p:spPr>
          <a:xfrm>
            <a:off x="628650" y="1428853"/>
            <a:ext cx="3886200" cy="29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n"/>
              <a:t>Don’t make it harder for them than it already is…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t/>
            </a:r>
            <a:endParaRPr/>
          </a:p>
          <a:p>
            <a:pPr indent="-381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t/>
            </a:r>
            <a:endParaRPr/>
          </a:p>
        </p:txBody>
      </p:sp>
      <p:pic>
        <p:nvPicPr>
          <p:cNvPr id="288" name="Google Shape;288;p12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318" l="0" r="0" t="318"/>
          <a:stretch/>
        </p:blipFill>
        <p:spPr>
          <a:xfrm>
            <a:off x="4913710" y="1327678"/>
            <a:ext cx="4230292" cy="28015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3"/>
          <p:cNvSpPr txBox="1"/>
          <p:nvPr>
            <p:ph type="title"/>
          </p:nvPr>
        </p:nvSpPr>
        <p:spPr>
          <a:xfrm>
            <a:off x="628650" y="333478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3300"/>
              <a:buFont typeface="Montserrat ExtraBold"/>
              <a:buNone/>
            </a:pPr>
            <a:r>
              <a:rPr lang="en"/>
              <a:t>PILLAR 6: THINK ABOUT</a:t>
            </a:r>
            <a:br>
              <a:rPr lang="en"/>
            </a:br>
            <a:r>
              <a:rPr lang="en"/>
              <a:t>WHAT YOU THINK ABOUT</a:t>
            </a:r>
            <a:endParaRPr/>
          </a:p>
        </p:txBody>
      </p:sp>
      <p:sp>
        <p:nvSpPr>
          <p:cNvPr id="294" name="Google Shape;294;p13"/>
          <p:cNvSpPr txBox="1"/>
          <p:nvPr>
            <p:ph idx="1" type="body"/>
          </p:nvPr>
        </p:nvSpPr>
        <p:spPr>
          <a:xfrm>
            <a:off x="628650" y="1428853"/>
            <a:ext cx="3886200" cy="29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n"/>
              <a:t>MINDSETS MATTER</a:t>
            </a:r>
            <a:endParaRPr/>
          </a:p>
          <a:p>
            <a:pPr indent="-381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t/>
            </a:r>
            <a:endParaRPr/>
          </a:p>
        </p:txBody>
      </p:sp>
      <p:pic>
        <p:nvPicPr>
          <p:cNvPr id="295" name="Google Shape;295;p13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318" l="0" r="0" t="318"/>
          <a:stretch/>
        </p:blipFill>
        <p:spPr>
          <a:xfrm>
            <a:off x="4913710" y="1327678"/>
            <a:ext cx="4230292" cy="28015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4"/>
          <p:cNvSpPr txBox="1"/>
          <p:nvPr>
            <p:ph type="title"/>
          </p:nvPr>
        </p:nvSpPr>
        <p:spPr>
          <a:xfrm>
            <a:off x="628650" y="333478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3300"/>
              <a:buFont typeface="Montserrat ExtraBold"/>
              <a:buNone/>
            </a:pPr>
            <a:r>
              <a:rPr lang="en"/>
              <a:t>PILLAR 7: </a:t>
            </a:r>
            <a:br>
              <a:rPr lang="en"/>
            </a:br>
            <a:r>
              <a:rPr lang="en"/>
              <a:t>WATCH OUT FOR PITFALLS</a:t>
            </a:r>
            <a:endParaRPr/>
          </a:p>
        </p:txBody>
      </p:sp>
      <p:sp>
        <p:nvSpPr>
          <p:cNvPr id="301" name="Google Shape;301;p14"/>
          <p:cNvSpPr txBox="1"/>
          <p:nvPr>
            <p:ph idx="1" type="body"/>
          </p:nvPr>
        </p:nvSpPr>
        <p:spPr>
          <a:xfrm>
            <a:off x="628650" y="1428850"/>
            <a:ext cx="4015800" cy="29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n"/>
              <a:t>“THE FLOOR - IT MOVES…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br>
              <a:rPr lang="en"/>
            </a:br>
            <a:r>
              <a:rPr lang="en"/>
              <a:t>ASPS - VERY DANGEROUS…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br>
              <a:rPr lang="en"/>
            </a:br>
            <a:r>
              <a:rPr lang="en"/>
              <a:t>YOU GO FIRST”</a:t>
            </a:r>
            <a:endParaRPr/>
          </a:p>
          <a:p>
            <a:pPr indent="-381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t/>
            </a:r>
            <a:endParaRPr/>
          </a:p>
        </p:txBody>
      </p:sp>
      <p:pic>
        <p:nvPicPr>
          <p:cNvPr id="302" name="Google Shape;302;p14" title="Beware of Pitfalls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72800" y="1701950"/>
            <a:ext cx="4371200" cy="240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15"/>
          <p:cNvSpPr txBox="1"/>
          <p:nvPr>
            <p:ph type="title"/>
          </p:nvPr>
        </p:nvSpPr>
        <p:spPr>
          <a:xfrm>
            <a:off x="628650" y="333478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3300"/>
              <a:buFont typeface="Montserrat ExtraBold"/>
              <a:buNone/>
            </a:pPr>
            <a:r>
              <a:rPr lang="en"/>
              <a:t>PILLAR 8: HELP OTHERS STRETCH</a:t>
            </a:r>
            <a:endParaRPr/>
          </a:p>
        </p:txBody>
      </p:sp>
      <p:sp>
        <p:nvSpPr>
          <p:cNvPr id="308" name="Google Shape;308;p15"/>
          <p:cNvSpPr txBox="1"/>
          <p:nvPr>
            <p:ph idx="1" type="body"/>
          </p:nvPr>
        </p:nvSpPr>
        <p:spPr>
          <a:xfrm>
            <a:off x="628650" y="1428853"/>
            <a:ext cx="3886200" cy="29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n"/>
              <a:t>HEALTHY STRETCHING… </a:t>
            </a:r>
            <a:br>
              <a:rPr lang="en"/>
            </a:br>
            <a:br>
              <a:rPr lang="en"/>
            </a:br>
            <a:r>
              <a:rPr lang="en"/>
              <a:t>WHERE THEY SHOULD</a:t>
            </a:r>
            <a:endParaRPr/>
          </a:p>
          <a:p>
            <a:pPr indent="-381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t/>
            </a:r>
            <a:endParaRPr/>
          </a:p>
        </p:txBody>
      </p:sp>
      <p:pic>
        <p:nvPicPr>
          <p:cNvPr id="309" name="Google Shape;3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975" y="1331665"/>
            <a:ext cx="3621023" cy="27980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6"/>
          <p:cNvSpPr txBox="1"/>
          <p:nvPr>
            <p:ph type="title"/>
          </p:nvPr>
        </p:nvSpPr>
        <p:spPr>
          <a:xfrm>
            <a:off x="628650" y="333478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3300"/>
              <a:buFont typeface="Montserrat ExtraBold"/>
              <a:buNone/>
            </a:pPr>
            <a:r>
              <a:rPr lang="en"/>
              <a:t>PILLAR 9: GO SLOW TO GO FAST</a:t>
            </a:r>
            <a:endParaRPr/>
          </a:p>
        </p:txBody>
      </p:sp>
      <p:sp>
        <p:nvSpPr>
          <p:cNvPr id="315" name="Google Shape;315;p16"/>
          <p:cNvSpPr txBox="1"/>
          <p:nvPr>
            <p:ph idx="1" type="body"/>
          </p:nvPr>
        </p:nvSpPr>
        <p:spPr>
          <a:xfrm>
            <a:off x="628650" y="1428853"/>
            <a:ext cx="3886200" cy="29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n"/>
              <a:t>SLOW IS SMOOTH…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n"/>
              <a:t>SMOOTH IS FAST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t/>
            </a:r>
            <a:endParaRPr/>
          </a:p>
          <a:p>
            <a:pPr indent="-381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t/>
            </a:r>
            <a:endParaRPr/>
          </a:p>
        </p:txBody>
      </p:sp>
      <p:pic>
        <p:nvPicPr>
          <p:cNvPr id="316" name="Google Shape;316;p16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5163" l="0" r="0" t="25168"/>
          <a:stretch/>
        </p:blipFill>
        <p:spPr>
          <a:xfrm>
            <a:off x="4913710" y="1327678"/>
            <a:ext cx="4230290" cy="280154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7"/>
          <p:cNvSpPr txBox="1"/>
          <p:nvPr>
            <p:ph type="title"/>
          </p:nvPr>
        </p:nvSpPr>
        <p:spPr>
          <a:xfrm>
            <a:off x="628650" y="333478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3300"/>
              <a:buFont typeface="Montserrat ExtraBold"/>
              <a:buNone/>
            </a:pPr>
            <a:r>
              <a:rPr lang="en"/>
              <a:t>PILLAR 10: DO NO HARM</a:t>
            </a:r>
            <a:endParaRPr/>
          </a:p>
        </p:txBody>
      </p:sp>
      <p:sp>
        <p:nvSpPr>
          <p:cNvPr id="322" name="Google Shape;322;p17"/>
          <p:cNvSpPr txBox="1"/>
          <p:nvPr>
            <p:ph idx="1" type="body"/>
          </p:nvPr>
        </p:nvSpPr>
        <p:spPr>
          <a:xfrm>
            <a:off x="628650" y="1428853"/>
            <a:ext cx="3886200" cy="29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n"/>
              <a:t>From the Latin: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n"/>
              <a:t>“Primum Non Nocere”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n"/>
              <a:t>THE HIPPOCRATIC OATH,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n"/>
              <a:t>245 AD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n"/>
              <a:t>(but not really)</a:t>
            </a:r>
            <a:endParaRPr/>
          </a:p>
          <a:p>
            <a:pPr indent="-381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t/>
            </a:r>
            <a:endParaRPr/>
          </a:p>
        </p:txBody>
      </p:sp>
      <p:pic>
        <p:nvPicPr>
          <p:cNvPr id="323" name="Google Shape;323;p17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318" l="0" r="0" t="318"/>
          <a:stretch/>
        </p:blipFill>
        <p:spPr>
          <a:xfrm>
            <a:off x="4913710" y="1327678"/>
            <a:ext cx="4230292" cy="28015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8"/>
          <p:cNvSpPr txBox="1"/>
          <p:nvPr>
            <p:ph type="title"/>
          </p:nvPr>
        </p:nvSpPr>
        <p:spPr>
          <a:xfrm>
            <a:off x="628650" y="333478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3300"/>
              <a:buFont typeface="Montserrat ExtraBold"/>
              <a:buNone/>
            </a:pPr>
            <a:r>
              <a:rPr lang="en"/>
              <a:t>YOUR FUTURE</a:t>
            </a:r>
            <a:endParaRPr/>
          </a:p>
        </p:txBody>
      </p:sp>
      <p:sp>
        <p:nvSpPr>
          <p:cNvPr id="329" name="Google Shape;329;p18"/>
          <p:cNvSpPr txBox="1"/>
          <p:nvPr>
            <p:ph idx="1" type="body"/>
          </p:nvPr>
        </p:nvSpPr>
        <p:spPr>
          <a:xfrm>
            <a:off x="628650" y="1428853"/>
            <a:ext cx="7886700" cy="29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n"/>
              <a:t>BIGGER &amp; BRIGHTER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9"/>
          <p:cNvSpPr txBox="1"/>
          <p:nvPr>
            <p:ph type="title"/>
          </p:nvPr>
        </p:nvSpPr>
        <p:spPr>
          <a:xfrm>
            <a:off x="628650" y="333478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en"/>
              <a:t>EXPONENTIAL FREEDOM</a:t>
            </a:r>
            <a:endParaRPr/>
          </a:p>
        </p:txBody>
      </p:sp>
      <p:sp>
        <p:nvSpPr>
          <p:cNvPr id="335" name="Google Shape;335;p19"/>
          <p:cNvSpPr txBox="1"/>
          <p:nvPr>
            <p:ph idx="1" type="body"/>
          </p:nvPr>
        </p:nvSpPr>
        <p:spPr>
          <a:xfrm>
            <a:off x="628650" y="1428853"/>
            <a:ext cx="3886200" cy="29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r>
              <a:rPr lang="en"/>
              <a:t>“Hello from the AT…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r>
              <a:rPr lang="en"/>
              <a:t>my Integrator has everything under control!”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r>
              <a:t/>
            </a:r>
            <a:endParaRPr/>
          </a:p>
        </p:txBody>
      </p:sp>
      <p:pic>
        <p:nvPicPr>
          <p:cNvPr id="336" name="Google Shape;336;p19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5845" l="0" r="0" t="5854"/>
          <a:stretch/>
        </p:blipFill>
        <p:spPr>
          <a:xfrm>
            <a:off x="4913710" y="1329928"/>
            <a:ext cx="4230289" cy="28015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0"/>
          <p:cNvSpPr txBox="1"/>
          <p:nvPr>
            <p:ph type="title"/>
          </p:nvPr>
        </p:nvSpPr>
        <p:spPr>
          <a:xfrm>
            <a:off x="628650" y="333478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3300"/>
              <a:buFont typeface="Montserrat ExtraBold"/>
              <a:buNone/>
            </a:pPr>
            <a:r>
              <a:rPr lang="en"/>
              <a:t>NEXT STEPS</a:t>
            </a:r>
            <a:endParaRPr/>
          </a:p>
        </p:txBody>
      </p:sp>
      <p:sp>
        <p:nvSpPr>
          <p:cNvPr id="342" name="Google Shape;342;p20"/>
          <p:cNvSpPr txBox="1"/>
          <p:nvPr>
            <p:ph idx="1" type="body"/>
          </p:nvPr>
        </p:nvSpPr>
        <p:spPr>
          <a:xfrm>
            <a:off x="628650" y="1428853"/>
            <a:ext cx="7886700" cy="29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n"/>
              <a:t>FOR YOU… AND YOUR INTEGRATOR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21"/>
          <p:cNvSpPr txBox="1"/>
          <p:nvPr>
            <p:ph idx="1" type="body"/>
          </p:nvPr>
        </p:nvSpPr>
        <p:spPr>
          <a:xfrm>
            <a:off x="629841" y="449711"/>
            <a:ext cx="3695375" cy="61793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n"/>
              <a:t>VISIONARY</a:t>
            </a:r>
            <a:endParaRPr/>
          </a:p>
        </p:txBody>
      </p:sp>
      <p:sp>
        <p:nvSpPr>
          <p:cNvPr id="348" name="Google Shape;348;p21"/>
          <p:cNvSpPr txBox="1"/>
          <p:nvPr>
            <p:ph idx="2" type="body"/>
          </p:nvPr>
        </p:nvSpPr>
        <p:spPr>
          <a:xfrm>
            <a:off x="514266" y="1203531"/>
            <a:ext cx="3695400" cy="3199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Read: VISIONARY</a:t>
            </a:r>
            <a:br>
              <a:rPr lang="en"/>
            </a:br>
            <a:r>
              <a:rPr lang="en"/>
              <a:t>(all about you)</a:t>
            </a:r>
            <a:endParaRPr/>
          </a:p>
          <a:p>
            <a:pPr indent="-36195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100"/>
              <a:buChar char="•"/>
            </a:pPr>
            <a:r>
              <a:rPr lang="en" u="sng">
                <a:solidFill>
                  <a:srgbClr val="FF9900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VisionaryBook.com</a:t>
            </a:r>
            <a:r>
              <a:rPr lang="en"/>
              <a:t> </a:t>
            </a:r>
            <a:br>
              <a:rPr lang="en"/>
            </a:br>
            <a:r>
              <a:rPr lang="en"/>
              <a:t>(more tools/resources)</a:t>
            </a:r>
            <a:endParaRPr/>
          </a:p>
          <a:p>
            <a:pPr indent="-36195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Join Our Community:</a:t>
            </a:r>
            <a:br>
              <a:rPr lang="en"/>
            </a:br>
            <a:r>
              <a:rPr lang="en"/>
              <a:t>Visionary Book Owners Group </a:t>
            </a:r>
            <a:br>
              <a:rPr lang="en"/>
            </a:br>
            <a:r>
              <a:rPr lang="en"/>
              <a:t>(on LinkedIn)</a:t>
            </a:r>
            <a:endParaRPr/>
          </a:p>
        </p:txBody>
      </p:sp>
      <p:sp>
        <p:nvSpPr>
          <p:cNvPr id="349" name="Google Shape;349;p21"/>
          <p:cNvSpPr txBox="1"/>
          <p:nvPr>
            <p:ph idx="3" type="body"/>
          </p:nvPr>
        </p:nvSpPr>
        <p:spPr>
          <a:xfrm>
            <a:off x="4818785" y="449711"/>
            <a:ext cx="3697756" cy="61793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n"/>
              <a:t>INTEGRATOR</a:t>
            </a:r>
            <a:endParaRPr/>
          </a:p>
        </p:txBody>
      </p:sp>
      <p:sp>
        <p:nvSpPr>
          <p:cNvPr id="350" name="Google Shape;350;p21"/>
          <p:cNvSpPr txBox="1"/>
          <p:nvPr>
            <p:ph idx="4" type="body"/>
          </p:nvPr>
        </p:nvSpPr>
        <p:spPr>
          <a:xfrm>
            <a:off x="4818775" y="1203525"/>
            <a:ext cx="4184100" cy="3199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Read VISIONARY </a:t>
            </a:r>
            <a:br>
              <a:rPr lang="en"/>
            </a:br>
            <a:r>
              <a:rPr lang="en"/>
              <a:t>(peek inside their brain)</a:t>
            </a:r>
            <a:endParaRPr/>
          </a:p>
          <a:p>
            <a:pPr indent="-36195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Read ROCKET FUEL</a:t>
            </a:r>
            <a:br>
              <a:rPr lang="en"/>
            </a:br>
            <a:r>
              <a:rPr lang="en"/>
              <a:t>(5 Rules + 5 Tools)</a:t>
            </a:r>
            <a:endParaRPr/>
          </a:p>
          <a:p>
            <a:pPr indent="-36195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All the Rest: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https://academy.eosworldwide.com/c/visionaries-integrators</a:t>
            </a:r>
            <a:r>
              <a:rPr lang="en">
                <a:solidFill>
                  <a:schemeClr val="dk2"/>
                </a:solidFill>
              </a:rPr>
              <a:t> </a:t>
            </a:r>
            <a:r>
              <a:rPr lang="en"/>
              <a:t>(even more tools/resources)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22"/>
          <p:cNvSpPr txBox="1"/>
          <p:nvPr>
            <p:ph type="title"/>
          </p:nvPr>
        </p:nvSpPr>
        <p:spPr>
          <a:xfrm>
            <a:off x="628650" y="333478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3300"/>
              <a:buFont typeface="Montserrat ExtraBold"/>
              <a:buNone/>
            </a:pPr>
            <a:r>
              <a:rPr lang="en"/>
              <a:t>NOW…</a:t>
            </a:r>
            <a:endParaRPr/>
          </a:p>
        </p:txBody>
      </p:sp>
      <p:sp>
        <p:nvSpPr>
          <p:cNvPr id="356" name="Google Shape;356;p22"/>
          <p:cNvSpPr txBox="1"/>
          <p:nvPr>
            <p:ph idx="1" type="body"/>
          </p:nvPr>
        </p:nvSpPr>
        <p:spPr>
          <a:xfrm>
            <a:off x="628650" y="1428853"/>
            <a:ext cx="7886700" cy="296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n" sz="4400"/>
              <a:t>GO CHANGE THE WORLD!</a:t>
            </a:r>
            <a:endParaRPr sz="44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23"/>
          <p:cNvSpPr txBox="1"/>
          <p:nvPr>
            <p:ph type="title"/>
          </p:nvPr>
        </p:nvSpPr>
        <p:spPr>
          <a:xfrm>
            <a:off x="628650" y="333478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3300"/>
              <a:buFont typeface="Montserrat ExtraBold"/>
              <a:buNone/>
            </a:pPr>
            <a:r>
              <a:rPr lang="en"/>
              <a:t>Q&amp;A</a:t>
            </a:r>
            <a:endParaRPr/>
          </a:p>
        </p:txBody>
      </p:sp>
      <p:sp>
        <p:nvSpPr>
          <p:cNvPr id="362" name="Google Shape;362;p23"/>
          <p:cNvSpPr txBox="1"/>
          <p:nvPr>
            <p:ph idx="1" type="body"/>
          </p:nvPr>
        </p:nvSpPr>
        <p:spPr>
          <a:xfrm>
            <a:off x="628650" y="1428853"/>
            <a:ext cx="7886700" cy="296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n" sz="5400"/>
              <a:t>ASK ME ANYTHING</a:t>
            </a:r>
            <a:endParaRPr sz="54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4"/>
          <p:cNvSpPr txBox="1"/>
          <p:nvPr>
            <p:ph type="ctrTitle"/>
          </p:nvPr>
        </p:nvSpPr>
        <p:spPr>
          <a:xfrm>
            <a:off x="3561483" y="841772"/>
            <a:ext cx="4953866" cy="79652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2"/>
              </a:buClr>
              <a:buSzPts val="4500"/>
              <a:buFont typeface="Montserrat ExtraBold"/>
              <a:buNone/>
            </a:pPr>
            <a:r>
              <a:rPr lang="en"/>
              <a:t>THANK YOU</a:t>
            </a:r>
            <a:endParaRPr/>
          </a:p>
        </p:txBody>
      </p:sp>
      <p:sp>
        <p:nvSpPr>
          <p:cNvPr id="368" name="Google Shape;368;p24"/>
          <p:cNvSpPr/>
          <p:nvPr/>
        </p:nvSpPr>
        <p:spPr>
          <a:xfrm>
            <a:off x="628651" y="841772"/>
            <a:ext cx="2384714" cy="2384714"/>
          </a:xfrm>
          <a:prstGeom prst="ellipse">
            <a:avLst/>
          </a:prstGeom>
          <a:solidFill>
            <a:srgbClr val="0C3E5F"/>
          </a:solidFill>
          <a:ln cap="flat" cmpd="sng" w="76200">
            <a:solidFill>
              <a:srgbClr val="FF7902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letter f in a circle&#10;&#10;AI-generated content may be incorrect." id="369" name="Google Shape;369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18663" y="2883612"/>
            <a:ext cx="285541" cy="28554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orange circle with a letter in it&#10;&#10;AI-generated content may be incorrect." id="370" name="Google Shape;370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01804" y="2883612"/>
            <a:ext cx="285541" cy="28554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orange circle with a play button&#10;&#10;AI-generated content may be incorrect." id="371" name="Google Shape;371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60233" y="2883612"/>
            <a:ext cx="285541" cy="285541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24"/>
          <p:cNvSpPr txBox="1"/>
          <p:nvPr/>
        </p:nvSpPr>
        <p:spPr>
          <a:xfrm>
            <a:off x="628651" y="3446362"/>
            <a:ext cx="2384700" cy="9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FF7902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MARK C. WINTERS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Rocket Fuel University</a:t>
            </a:r>
            <a:endParaRPr b="0" i="0" sz="1400" u="none" cap="none" strike="noStrike">
              <a:solidFill>
                <a:schemeClr val="lt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Visionary / Founder</a:t>
            </a:r>
            <a:endParaRPr b="0" i="0" sz="1400" u="none" cap="none" strike="noStrike">
              <a:solidFill>
                <a:schemeClr val="lt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descr="An orange and black envelope&#10;&#10;AI-generated content may be incorrect." id="373" name="Google Shape;373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561471" y="1847688"/>
            <a:ext cx="359254" cy="359254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24"/>
          <p:cNvSpPr txBox="1"/>
          <p:nvPr/>
        </p:nvSpPr>
        <p:spPr>
          <a:xfrm>
            <a:off x="3960233" y="1888814"/>
            <a:ext cx="46242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mark@markcwinters.com</a:t>
            </a:r>
            <a:endParaRPr b="0" i="0" sz="1400" u="none" cap="none" strike="noStrike">
              <a:solidFill>
                <a:schemeClr val="lt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375" name="Google Shape;375;p24"/>
          <p:cNvSpPr txBox="1"/>
          <p:nvPr/>
        </p:nvSpPr>
        <p:spPr>
          <a:xfrm>
            <a:off x="3960232" y="2324760"/>
            <a:ext cx="46242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markcwinters.com</a:t>
            </a:r>
            <a:endParaRPr b="0" i="0" sz="1400" u="none" cap="none" strike="noStrike">
              <a:solidFill>
                <a:schemeClr val="lt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descr="A orange line art of a person on a computer&#10;&#10;AI-generated content may be incorrect." id="376" name="Google Shape;376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561471" y="2283634"/>
            <a:ext cx="359250" cy="359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7" name="Google Shape;377;p24" title="Brown and Light Brown, Circle Framed Instagram Profile Picture.pn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92750" y="405863"/>
            <a:ext cx="3256525" cy="3256525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24"/>
          <p:cNvSpPr txBox="1"/>
          <p:nvPr/>
        </p:nvSpPr>
        <p:spPr>
          <a:xfrm>
            <a:off x="4604200" y="2826278"/>
            <a:ext cx="4144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@markcwinters</a:t>
            </a:r>
            <a:endParaRPr b="0" i="0" sz="2100" u="none" cap="none" strike="noStrike">
              <a:solidFill>
                <a:srgbClr val="0C3E5F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id="379" name="Google Shape;379;p24" title="Visionary Book QR Code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014700" y="1931575"/>
            <a:ext cx="1280325" cy="1280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