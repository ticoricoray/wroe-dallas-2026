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31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title, your name, and handle. Leave the logo, event line, and footer as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agenda. Swap in your own segments — three to five rows works best. Delete rows you do not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Replace the two lines with your section name — keep the flame/orange two-tone. Duplicate this slide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Full-width bullets. Five bullets max, one line each. Use the indented row for a rare second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and photo. Drag a high-resolution photo (1 MB or larger) onto the right panel. Keep the text to three short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graphic. Drop in a diagram, chart, or screenshot — it will aspect-fit, never stretch. Arrange or crop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slide. One or two sentences at most. Update the attribution name and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 thank-you. Logos are current as of the 2026 site — keep this slide as-is and show it at the end of your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survey. Drop the survey QR code onto the white card. Leave this up while you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 the guidelines section — for speakers, not for presenting. Delete slides 10-13 before you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rules for slide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rules. League Spartan is the free Gotham-style family used across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 rules. Navy and white backgrounds only; orange is for accents.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Swap in your handle so the room can find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League+Sparta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288780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eosnorthtexas.com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6208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91" y="3215419"/>
            <a:ext cx="4095729" cy="38560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9849" y="3300944"/>
            <a:ext cx="1898200" cy="89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68"/>
              </a:lnSpc>
              <a:buNone/>
            </a:pPr>
            <a:r>
              <a:rPr lang="en-US" sz="6000" b="1" kern="0" spc="60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600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91112" y="3260321"/>
            <a:ext cx="11315674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36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FIFTH ANNUAL · SEPTEMBER 14, 2026 · THE STATLER DALLAS</a:t>
            </a:r>
            <a:endParaRPr lang="en-US" sz="2025" dirty="0">
              <a:latin typeface="League Spartan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91112" y="3884126"/>
            <a:ext cx="10595586" cy="179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188"/>
              </a:lnSpc>
              <a:buNone/>
            </a:pPr>
            <a:r>
              <a:rPr lang="en-US" sz="6600" b="1" kern="0" spc="-66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Presentation Title of One to Three Lines</a:t>
            </a:r>
            <a:endParaRPr lang="en-US" sz="6600" dirty="0">
              <a:latin typeface="League Spartan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91112" y="5968028"/>
            <a:ext cx="11315674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Speaker Name, Title / Organization</a:t>
            </a:r>
            <a:endParaRPr lang="en-US" sz="3150" dirty="0">
              <a:latin typeface="League Spartan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1112" y="6657047"/>
            <a:ext cx="11315674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@Handle</a:t>
            </a:r>
            <a:endParaRPr lang="en-US" sz="25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Session Agenda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453" y="3487413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453" y="2723467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01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33491" y="2775638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Opening topic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05498" y="2906064"/>
            <a:ext cx="566560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One short line on what this segment covers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453" y="4554464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453" y="3790518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02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33491" y="3842689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Main idea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5498" y="3973115"/>
            <a:ext cx="5105930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core teaching block of your session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2453" y="5621515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2453" y="4857569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03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33491" y="4909740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Application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5498" y="5040166"/>
            <a:ext cx="5333164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How the room puts it to work on Monday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453" y="6688566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2453" y="5924620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04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33491" y="5976791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Q&amp;A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05498" y="6107217"/>
            <a:ext cx="5104211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Leave five to ten minutes for questions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783385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5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Section</a:t>
            </a:r>
            <a:endParaRPr lang="en-US" sz="10500" dirty="0">
              <a:latin typeface="League Spartan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38236" y="514348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5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Break</a:t>
            </a:r>
            <a:endParaRPr lang="en-US" sz="1050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Full-Width Bullets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457200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First key point in one short line</a:t>
            </a:r>
          </a:p>
          <a:p>
            <a:pPr marL="457200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Second key point — parallel phrasing makes scanning easy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Second-level detail, used sparingly</a:t>
            </a:r>
            <a:endParaRPr lang="en-US" sz="3200" b="1" dirty="0">
              <a:solidFill>
                <a:srgbClr val="142233"/>
              </a:solidFill>
              <a:latin typeface="League Spartan" pitchFamily="2" charset="77"/>
              <a:ea typeface="Arial" pitchFamily="34" charset="-122"/>
              <a:cs typeface="Arial" pitchFamily="34" charset="-120"/>
            </a:endParaRP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Third key point that carries its own weight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Fourth key point — five bullets max per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8679580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Text + Photo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578A636-B8F7-5039-F960-1AC76A9FB4F7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457200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Short supporting point number one</a:t>
            </a:r>
          </a:p>
          <a:p>
            <a:pPr marL="457200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Short supporting point number two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Second-level detail, used sparingly</a:t>
            </a:r>
            <a:endParaRPr lang="en-US" sz="3600" b="1" dirty="0">
              <a:solidFill>
                <a:srgbClr val="142233"/>
              </a:solidFill>
              <a:latin typeface="League Spartan" pitchFamily="2" charset="77"/>
              <a:ea typeface="Arial" pitchFamily="34" charset="-122"/>
              <a:cs typeface="Arial" pitchFamily="34" charset="-120"/>
            </a:endParaRPr>
          </a:p>
          <a:p>
            <a:pPr marL="457200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Short supporting point number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53" y="1085800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Big Graphic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Replace with a short, punchy quote — one or two sentences that land the point you want the room to remember.</a:t>
            </a:r>
            <a:endParaRPr lang="en-US" sz="4200" dirty="0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— Attribution Name,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55211" y="6495100"/>
            <a:ext cx="2401762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Title / Company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53" y="761976"/>
            <a:ext cx="18021359" cy="60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 You to Our Sponsors</a:t>
            </a:r>
            <a:endParaRPr lang="en-US" sz="3900" dirty="0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617220"/>
            <a:ext cx="2883803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TITLE SPONSORS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45480" y="1740310"/>
            <a:ext cx="13590026" cy="19021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57688" y="1996679"/>
            <a:ext cx="4952944" cy="1409692"/>
          </a:xfrm>
          <a:prstGeom prst="roundRect">
            <a:avLst>
              <a:gd name="adj" fmla="val 6757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7665" y="2242655"/>
            <a:ext cx="2532922" cy="917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77327" y="1996679"/>
            <a:ext cx="4952944" cy="1409692"/>
          </a:xfrm>
          <a:prstGeom prst="roundRect">
            <a:avLst>
              <a:gd name="adj" fmla="val 6757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10317002" y="2242655"/>
            <a:ext cx="2873525" cy="917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2453" y="3634957"/>
            <a:ext cx="2875509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BOOK SPONSORS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737940" y="3758047"/>
            <a:ext cx="13597567" cy="19021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19706" y="4014417"/>
            <a:ext cx="3809946" cy="1104888"/>
          </a:xfrm>
          <a:prstGeom prst="roundRect">
            <a:avLst>
              <a:gd name="adj" fmla="val 86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215" r="-215"/>
          <a:stretch/>
        </p:blipFill>
        <p:spPr>
          <a:xfrm>
            <a:off x="5683128" y="4203195"/>
            <a:ext cx="2883103" cy="72726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258238" y="4014417"/>
            <a:ext cx="3809946" cy="1104888"/>
          </a:xfrm>
          <a:prstGeom prst="roundRect">
            <a:avLst>
              <a:gd name="adj" fmla="val 86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10162120" y="4203195"/>
            <a:ext cx="2002182" cy="7272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2453" y="5347891"/>
            <a:ext cx="3890777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HAPPY HOUR SPONSOR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60911" y="5470981"/>
            <a:ext cx="12674596" cy="19021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7572341" y="5727350"/>
            <a:ext cx="3143209" cy="933432"/>
          </a:xfrm>
          <a:prstGeom prst="roundRect">
            <a:avLst>
              <a:gd name="adj" fmla="val 10204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6" r="-6"/>
          <a:stretch/>
        </p:blipFill>
        <p:spPr>
          <a:xfrm>
            <a:off x="8550471" y="5897109"/>
            <a:ext cx="1186948" cy="5938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2453" y="6889368"/>
            <a:ext cx="3710020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SWAG BAG SPONSORS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4496587" y="7012459"/>
            <a:ext cx="12838920" cy="19021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467520" y="7268828"/>
            <a:ext cx="2571710" cy="819105"/>
          </a:xfrm>
          <a:prstGeom prst="roundRect">
            <a:avLst>
              <a:gd name="adj" fmla="val 11629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6814509" y="7400477"/>
            <a:ext cx="1877665" cy="555739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48728" y="7268828"/>
            <a:ext cx="2571710" cy="819105"/>
          </a:xfrm>
          <a:prstGeom prst="roundRect">
            <a:avLst>
              <a:gd name="adj" fmla="val 11629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9380377" y="7405300"/>
            <a:ext cx="2308412" cy="54616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2453" y="8316519"/>
            <a:ext cx="3093328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BOOTH SPONSORS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3935957" y="8439609"/>
            <a:ext cx="13399550" cy="19021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1295705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1687664" y="8827627"/>
            <a:ext cx="1311465" cy="498609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3562544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 l="-105" r="-105"/>
          <a:stretch/>
        </p:blipFill>
        <p:spPr>
          <a:xfrm>
            <a:off x="4197218" y="8827627"/>
            <a:ext cx="826102" cy="498609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5829382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61031" y="8936180"/>
            <a:ext cx="1832152" cy="281572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8096220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rcRect t="-206" b="-206"/>
          <a:stretch/>
        </p:blipFill>
        <p:spPr>
          <a:xfrm>
            <a:off x="8227870" y="8920556"/>
            <a:ext cx="1832152" cy="312752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0363059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4"/>
          <a:srcRect l="-9" r="-9"/>
          <a:stretch/>
        </p:blipFill>
        <p:spPr>
          <a:xfrm>
            <a:off x="10494708" y="8892161"/>
            <a:ext cx="1832152" cy="369609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12629898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l="-8" r="-8"/>
          <a:stretch/>
        </p:blipFill>
        <p:spPr>
          <a:xfrm>
            <a:off x="12761547" y="8984343"/>
            <a:ext cx="1832152" cy="185246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14896736" y="8695979"/>
            <a:ext cx="2095450" cy="761976"/>
          </a:xfrm>
          <a:prstGeom prst="roundRect">
            <a:avLst>
              <a:gd name="adj" fmla="val 12500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6"/>
          <a:srcRect l="-6" r="-6"/>
          <a:stretch/>
        </p:blipFill>
        <p:spPr>
          <a:xfrm>
            <a:off x="15047542" y="8827627"/>
            <a:ext cx="1793771" cy="498609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952453" y="9731102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7">
            <a:alphaModFix amt="35000"/>
          </a:blip>
          <a:stretch>
            <a:fillRect/>
          </a:stretch>
        </p:blipFill>
        <p:spPr>
          <a:xfrm>
            <a:off x="16725966" y="9427385"/>
            <a:ext cx="609540" cy="573876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17049791" y="9446406"/>
            <a:ext cx="335083" cy="15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4809"/>
              </a:lnSpc>
              <a:buNone/>
            </a:pPr>
            <a:r>
              <a:rPr lang="en-US" sz="900" b="1" kern="0" spc="9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28713" y="3871287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28713" y="4252241"/>
            <a:ext cx="8512872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Session Survey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28713" y="5299389"/>
            <a:ext cx="8512872" cy="51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42"/>
              </a:lnSpc>
              <a:buNone/>
            </a:pPr>
            <a:r>
              <a:rPr lang="en-US" sz="27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Scan the code to share quick feedback on this session.</a:t>
            </a:r>
            <a:endParaRPr lang="en-US" sz="270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28713" y="6046148"/>
            <a:ext cx="8512872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 you for your feedback.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763516" y="3095590"/>
            <a:ext cx="4095729" cy="409572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43469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5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Speaker</a:t>
            </a:r>
            <a:endParaRPr lang="en-US" sz="10500" dirty="0">
              <a:latin typeface="League Spartan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38236" y="4794802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5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Guidelines</a:t>
            </a:r>
            <a:endParaRPr lang="en-US" sz="1050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38236" y="6573967"/>
            <a:ext cx="1739263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Four slides of house rules — delete them before you present.</a:t>
            </a:r>
            <a:endParaRPr lang="en-US" sz="2400" dirty="0">
              <a:latin typeface="League Spartan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418E965-29B0-9F0E-52D2-A16DFFB8AB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30C5475-C1AC-DC9E-9164-4D372BAF8B69}"/>
              </a:ext>
            </a:extLst>
          </p:cNvPr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Slides &amp; Content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453" y="2494949"/>
            <a:ext cx="8539175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25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DO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453" y="3238622"/>
            <a:ext cx="152368" cy="152368"/>
          </a:xfrm>
          <a:prstGeom prst="roundRect">
            <a:avLst>
              <a:gd name="adj" fmla="val 18754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52427" y="3188315"/>
            <a:ext cx="4776100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Build from the layouts in this file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453" y="3853732"/>
            <a:ext cx="152368" cy="152368"/>
          </a:xfrm>
          <a:prstGeom prst="roundRect">
            <a:avLst>
              <a:gd name="adj" fmla="val 18754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2427" y="3803425"/>
            <a:ext cx="5315006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Keep copy short, scannable, and big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2453" y="4468841"/>
            <a:ext cx="152368" cy="152368"/>
          </a:xfrm>
          <a:prstGeom prst="roundRect">
            <a:avLst>
              <a:gd name="adj" fmla="val 18754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52427" y="4418535"/>
            <a:ext cx="4543636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Use one or two levels of bullets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2453" y="5083952"/>
            <a:ext cx="152368" cy="152368"/>
          </a:xfrm>
          <a:prstGeom prst="roundRect">
            <a:avLst>
              <a:gd name="adj" fmla="val 18754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52427" y="5033645"/>
            <a:ext cx="5228476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Duplicate slides to make more room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72552" y="2494949"/>
            <a:ext cx="8539249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255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AVOID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72552" y="3276749"/>
            <a:ext cx="247606" cy="38041"/>
          </a:xfrm>
          <a:prstGeom prst="roundRect">
            <a:avLst>
              <a:gd name="adj" fmla="val 50000"/>
            </a:avLst>
          </a:prstGeom>
          <a:solidFill>
            <a:srgbClr val="A5AAA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67766" y="3188315"/>
            <a:ext cx="4710269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New colors, fonts, or slide styles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72552" y="3891859"/>
            <a:ext cx="247606" cy="38041"/>
          </a:xfrm>
          <a:prstGeom prst="roundRect">
            <a:avLst>
              <a:gd name="adj" fmla="val 50000"/>
            </a:avLst>
          </a:prstGeom>
          <a:solidFill>
            <a:srgbClr val="A5AAA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67766" y="3803425"/>
            <a:ext cx="4952597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Dense paragraphs and small type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572552" y="4506969"/>
            <a:ext cx="247606" cy="38041"/>
          </a:xfrm>
          <a:prstGeom prst="roundRect">
            <a:avLst>
              <a:gd name="adj" fmla="val 50000"/>
            </a:avLst>
          </a:prstGeom>
          <a:solidFill>
            <a:srgbClr val="A5AAA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67766" y="4418535"/>
            <a:ext cx="4716247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Clip art or watermarked images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572552" y="5122079"/>
            <a:ext cx="247606" cy="38041"/>
          </a:xfrm>
          <a:prstGeom prst="roundRect">
            <a:avLst>
              <a:gd name="adj" fmla="val 50000"/>
            </a:avLst>
          </a:prstGeom>
          <a:solidFill>
            <a:srgbClr val="A5AAA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67766" y="5033645"/>
            <a:ext cx="5371348" cy="329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Moving the footer or the Texas mark</a:t>
            </a:r>
            <a:endParaRPr lang="en-US" sz="2475" dirty="0">
              <a:latin typeface="League Spartan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Fonts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453" y="2456840"/>
            <a:ext cx="18021359" cy="1090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200" b="1" kern="0" spc="-72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League Spartan</a:t>
            </a:r>
            <a:endParaRPr lang="en-US" sz="7200" dirty="0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453" y="3680335"/>
            <a:ext cx="18021359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This deck uses one family at three weights — free to install from </a:t>
            </a:r>
            <a:r>
              <a:rPr lang="en-US" sz="2100" u="sng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fonts.google.com/specimen/League+Spartan</a:t>
            </a:r>
            <a:endParaRPr lang="en-US" sz="210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453" y="4419078"/>
            <a:ext cx="3562292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ExtraBold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1854" y="4601675"/>
            <a:ext cx="572478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Page titles &amp; section breaks — 48 pt and up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453" y="5183024"/>
            <a:ext cx="3562292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Bold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1854" y="5365621"/>
            <a:ext cx="565895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Emphasis, numbers, and labels — 24–28 pt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453" y="5946970"/>
            <a:ext cx="3562292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Medium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1854" y="6038268"/>
            <a:ext cx="6290446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Body copy — 22–26 pt, never smaller than 18 pt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Color Palette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453" y="2418731"/>
            <a:ext cx="5245112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9843" y="2436121"/>
            <a:ext cx="5210332" cy="1238236"/>
          </a:xfrm>
          <a:prstGeom prst="rect">
            <a:avLst/>
          </a:prstGeom>
          <a:solidFill>
            <a:srgbClr val="142233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98429" y="3864834"/>
            <a:ext cx="522847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Midnight Navy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98429" y="4248029"/>
            <a:ext cx="5228476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#142233 — backgrounds &amp; titles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21389" y="2418731"/>
            <a:ext cx="5245112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38779" y="2436121"/>
            <a:ext cx="5210332" cy="1238236"/>
          </a:xfrm>
          <a:prstGeom prst="rect">
            <a:avLst/>
          </a:prstGeom>
          <a:solidFill>
            <a:srgbClr val="303B4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7365" y="3864834"/>
            <a:ext cx="522847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Slate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7365" y="4248029"/>
            <a:ext cx="5228476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#303B4F — gradient partner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090326" y="2418731"/>
            <a:ext cx="5245180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107717" y="2436121"/>
            <a:ext cx="5210400" cy="1238236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36302" y="3864834"/>
            <a:ext cx="5228551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 Orange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36302" y="4248029"/>
            <a:ext cx="5228551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#FF7900 — primary accent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453" y="5010141"/>
            <a:ext cx="5245112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9843" y="5027531"/>
            <a:ext cx="5210332" cy="1238236"/>
          </a:xfrm>
          <a:prstGeom prst="rect">
            <a:avLst/>
          </a:prstGeom>
          <a:solidFill>
            <a:srgbClr val="F04E23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8429" y="6456244"/>
            <a:ext cx="522847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Flame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98429" y="6839440"/>
            <a:ext cx="5228476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#F04E23 — accent pair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21389" y="5010141"/>
            <a:ext cx="5245112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38779" y="5027531"/>
            <a:ext cx="5210332" cy="1238236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7365" y="6456244"/>
            <a:ext cx="522847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Cloud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67365" y="6839440"/>
            <a:ext cx="5228476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#E5E8EB — dividers &amp; tiles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090326" y="5010141"/>
            <a:ext cx="5245180" cy="2267586"/>
          </a:xfrm>
          <a:prstGeom prst="roundRect">
            <a:avLst>
              <a:gd name="adj" fmla="val 6721"/>
            </a:avLst>
          </a:prstGeom>
          <a:ln w="1739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107717" y="5027531"/>
            <a:ext cx="5210400" cy="1238236"/>
          </a:xfrm>
          <a:prstGeom prst="rect">
            <a:avLst/>
          </a:prstGeom>
          <a:solidFill>
            <a:srgbClr val="A5AAA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336302" y="6456244"/>
            <a:ext cx="5228551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Steel Gray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36302" y="6839440"/>
            <a:ext cx="5228551" cy="26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#A5AAAF — captions &amp; footers</a:t>
            </a:r>
            <a:endParaRPr lang="en-US" sz="1950" dirty="0">
              <a:latin typeface="League Spartan" pitchFamily="2" charset="7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2453" y="7658681"/>
            <a:ext cx="18021359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Navy and white backgrounds only. Orange is for accents — never body text.</a:t>
            </a:r>
            <a:endParaRPr lang="en-US" sz="2100" dirty="0">
              <a:latin typeface="League Spartan" pitchFamily="2" charset="7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22" y="2165011"/>
            <a:ext cx="3238447" cy="3048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39218" y="2269759"/>
            <a:ext cx="149476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809"/>
              </a:lnSpc>
              <a:buNone/>
            </a:pPr>
            <a:r>
              <a:rPr lang="en-US" sz="4725" b="1" kern="0" spc="47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4725" dirty="0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3033" y="5594954"/>
            <a:ext cx="6206083" cy="1172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00" b="1" kern="0" spc="-78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Thanks, </a:t>
            </a:r>
            <a:r>
              <a:rPr lang="en-US" sz="7800" b="1" kern="0" spc="-78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y’all!</a:t>
            </a:r>
            <a:endParaRPr lang="en-US" sz="7800" dirty="0">
              <a:latin typeface="League Spartan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44815" y="7110618"/>
            <a:ext cx="10598330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250" b="1" kern="0" spc="315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FIFTH ANNUAL · SEPTEMBER 14, 2026 · THE STATLER DALLAS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67285" y="7752424"/>
            <a:ext cx="1490584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@Handle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03315" y="7821985"/>
            <a:ext cx="2879095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eosnorthtexas.com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754</Words>
  <Application>Microsoft Macintosh PowerPoint</Application>
  <PresentationFormat>Custom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League Spartan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Shane Spillers</cp:lastModifiedBy>
  <cp:revision>3</cp:revision>
  <dcterms:created xsi:type="dcterms:W3CDTF">2026-08-15T20:19:34Z</dcterms:created>
  <dcterms:modified xsi:type="dcterms:W3CDTF">2026-08-16T04:09:48Z</dcterms:modified>
</cp:coreProperties>
</file>