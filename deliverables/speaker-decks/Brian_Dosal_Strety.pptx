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731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0985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288780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eosnorthtexas.com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6208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91" y="3215419"/>
            <a:ext cx="4095729" cy="38560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9849" y="3300944"/>
            <a:ext cx="1898200" cy="890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6768"/>
              </a:lnSpc>
              <a:buNone/>
            </a:pPr>
            <a:r>
              <a:rPr lang="en-US" sz="6000" b="1" kern="0" spc="60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600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91112" y="3260321"/>
            <a:ext cx="11315674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36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FIFTH ANNUAL · SEPTEMBER 14, 2026 · THE STATLER DALLAS</a:t>
            </a:r>
            <a:endParaRPr lang="en-US" sz="2025" dirty="0">
              <a:latin typeface="League Spartan" pitchFamily="2" charset="77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91112" y="3884126"/>
            <a:ext cx="11145912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1188"/>
              </a:lnSpc>
              <a:buNone/>
            </a:pPr>
            <a:r>
              <a:rPr lang="en-US" sz="4200" b="1" kern="0" spc="-66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Journey from Self-Implementing to Working with an EOS Implementer®</a:t>
            </a:r>
          </a:p>
        </p:txBody>
      </p:sp>
      <p:sp>
        <p:nvSpPr>
          <p:cNvPr id="9" name="Text 6"/>
          <p:cNvSpPr/>
          <p:nvPr/>
        </p:nvSpPr>
        <p:spPr>
          <a:xfrm>
            <a:off x="6191112" y="5968028"/>
            <a:ext cx="11315674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Brian Dosal, CEO + Integrator, </a:t>
            </a:r>
            <a:r>
              <a:rPr lang="en-US" sz="3150" dirty="0" err="1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Strety</a:t>
            </a:r>
            <a:endParaRPr lang="en-US" sz="3150" dirty="0">
              <a:latin typeface="League Spartan" pitchFamily="2" charset="7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1112" y="6657047"/>
            <a:ext cx="11315674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550" b="1" dirty="0" err="1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linkedin.com</a:t>
            </a: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/in/</a:t>
            </a:r>
            <a:r>
              <a:rPr lang="en-US" sz="2550" b="1" dirty="0" err="1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bdosal</a:t>
            </a: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/</a:t>
            </a:r>
            <a:endParaRPr lang="en-US" sz="25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Session Agenda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2453" y="3487413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952453" y="2723467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01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2133491" y="2775638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Opening topic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05498" y="2810418"/>
            <a:ext cx="5669326" cy="394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Going from self-implementing to working with an implementer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52453" y="4554464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952453" y="3790518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02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33491" y="3842689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Main idea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05498" y="3973115"/>
            <a:ext cx="5105930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we did well, what we missed, what changed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2453" y="5621515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52453" y="4857569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03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33491" y="4909740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Application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05498" y="5040166"/>
            <a:ext cx="5333164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Find your implementation blind spots and go after them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52453" y="6688566"/>
            <a:ext cx="16383053" cy="17390"/>
          </a:xfrm>
          <a:prstGeom prst="rect">
            <a:avLst/>
          </a:prstGeom>
          <a:solidFill>
            <a:srgbClr val="E5E8EB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2453" y="5924620"/>
            <a:ext cx="83817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04</a:t>
            </a:r>
            <a:endParaRPr lang="en-US" sz="3300" dirty="0">
              <a:latin typeface="League Spartan" pitchFamily="2" charset="7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33491" y="5976791"/>
            <a:ext cx="5448238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Q&amp;A</a:t>
            </a:r>
            <a:endParaRPr lang="en-US" sz="2850" dirty="0">
              <a:latin typeface="League Spartan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05498" y="6107217"/>
            <a:ext cx="5104211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Leave five to ten minutes for questions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About Me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578A636-B8F7-5039-F960-1AC76A9FB4F7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2nd Time SaaS Founder, sold co #1 in 2019 after 9 years. Ran on EOS from 2016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CEO, CoFounder, Product Guy, Integrator, Chief Whatever is Needed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Bootstrapped 2x — big DIY guy (self-implementer)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Live in Park City, UT.  Originally from Miami, FL</a:t>
            </a:r>
          </a:p>
        </p:txBody>
      </p:sp>
      <p:pic>
        <p:nvPicPr>
          <p:cNvPr id="13" name="Picture 12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84831"/>
            <a:ext cx="7872983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3951" y="4634893"/>
            <a:ext cx="14519900" cy="3333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D0D0D8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I’ve been documenting our real journey from self-implementing EOS to working with Lisa González as our Implementer. I’m sharing my biggest takeaways so far. This talk is candid, not prescriptive.</a:t>
            </a:r>
          </a:p>
        </p:txBody>
      </p:sp>
      <p:sp>
        <p:nvSpPr>
          <p:cNvPr id="7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About This Talk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we did well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we missed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changed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43469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93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Level Setting on My</a:t>
            </a:r>
          </a:p>
        </p:txBody>
      </p:sp>
      <p:sp>
        <p:nvSpPr>
          <p:cNvPr id="6" name="Text 3"/>
          <p:cNvSpPr/>
          <p:nvPr/>
        </p:nvSpPr>
        <p:spPr>
          <a:xfrm>
            <a:off x="1238236" y="4794802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93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Experience with EOS®</a:t>
            </a:r>
          </a:p>
        </p:txBody>
      </p:sp>
      <p:sp>
        <p:nvSpPr>
          <p:cNvPr id="7" name="Text 4"/>
          <p:cNvSpPr/>
          <p:nvPr/>
        </p:nvSpPr>
        <p:spPr>
          <a:xfrm>
            <a:off x="1238236" y="6573967"/>
            <a:ext cx="17392636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self-implementing EOS taught us before we ever had an Implementer</a:t>
            </a:r>
          </a:p>
        </p:txBody>
      </p:sp>
      <p:sp>
        <p:nvSpPr>
          <p:cNvPr id="8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418E965-29B0-9F0E-52D2-A16DFFB8AB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30C5475-C1AC-DC9E-9164-4D372BAF8B69}"/>
              </a:ext>
            </a:extLst>
          </p:cNvPr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 Decade of Self-Implementation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Founded BrightGauge, an analytics software in 2010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Grew slowly... and then all of a sudden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Looked for a way to keep our growth calm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Got handed Traction at a conference in 2016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Built Strety v0 as an internal tool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Exited BrightGauge, semi-retired, back in the software business with Strety live in fall of 2023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4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Self-implementing through it 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1F7FC4-B1F5-7A44-9204-B81F6F2EE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377" y="1219147"/>
            <a:ext cx="6826170" cy="587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Our EOS Adoption at BrightGauge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Big on L10s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Started holding quarterlies and annuals ourselves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Sat in on a sister company implementation of EOS with EOS Implementer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Just focused on getting the right language together, rolling it out organically and the pieces that fit for 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Strety, the Company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Started in 2023 and launched end of same year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Now 22 Full time folks, 10 of which from previous company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Started with 3, then to 8/9 in year, then to about 20 quickly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Didn’t feel the EOS pain until teams split up and I no longer could be in all L10s</a:t>
            </a:r>
          </a:p>
        </p:txBody>
      </p:sp>
      <p:pic>
        <p:nvPicPr>
          <p:cNvPr id="13" name="Picture 12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84831"/>
            <a:ext cx="787298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Strety, the product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 Software Platform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Power Ups are a major hit!  Stopping SaaS sprawl.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Integrations, Integrations, Integrations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First licensee post exclusive license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Thousands of paying customers, about 200 per month, and many from other platforms</a:t>
            </a:r>
          </a:p>
        </p:txBody>
      </p:sp>
      <p:pic>
        <p:nvPicPr>
          <p:cNvPr id="4" name="Picture 3" descr="Strety EOS Core wheel showing V/TO, Scorecards, Process, Agendas, Rocks, Issues, People Analyzer, and Accountability, with Projects, Engagement, and Performance Power Ups.">
            <a:extLst>
              <a:ext uri="{FF2B5EF4-FFF2-40B4-BE49-F238E27FC236}">
                <a16:creationId xmlns:a16="http://schemas.microsoft.com/office/drawing/2014/main" id="{755771CB-C02D-49A9-B7D0-835D9C841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32" y="1590348"/>
            <a:ext cx="65532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43469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93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We Got Right as</a:t>
            </a:r>
          </a:p>
        </p:txBody>
      </p:sp>
      <p:sp>
        <p:nvSpPr>
          <p:cNvPr id="6" name="Text 3"/>
          <p:cNvSpPr/>
          <p:nvPr/>
        </p:nvSpPr>
        <p:spPr>
          <a:xfrm>
            <a:off x="1238236" y="4794802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93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Self-Implementers</a:t>
            </a:r>
          </a:p>
        </p:txBody>
      </p:sp>
      <p:sp>
        <p:nvSpPr>
          <p:cNvPr id="7" name="Text 4"/>
          <p:cNvSpPr/>
          <p:nvPr/>
        </p:nvSpPr>
        <p:spPr>
          <a:xfrm>
            <a:off x="1238236" y="6573967"/>
            <a:ext cx="17392636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wins worth celebrating from our EOS journey</a:t>
            </a:r>
          </a:p>
        </p:txBody>
      </p:sp>
      <p:sp>
        <p:nvSpPr>
          <p:cNvPr id="8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418E965-29B0-9F0E-52D2-A16DFFB8AB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30C5475-C1AC-DC9E-9164-4D372BAF8B69}"/>
              </a:ext>
            </a:extLst>
          </p:cNvPr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Core Values + Right People, Right Seats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Didn't treat core values as a vibe check — treated it as a non-negotiable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Hired slower than was comfortable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Moved people when seats weren't right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Chose short-term pain over long-term drag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 clean people foundation made self-implementation far more stable than it might have been.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200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“Almost right” always costs you later — usually when the stakes are higher and emotions are more tangled.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My Favorite Tool: The Level 10 Meeting®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respected the pulse: Same day. Same time. L10s were not optional.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Async prep in Strety helped protect IDS® time.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IDS was always honest — and productive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Comfortable saying “I think that’s on you”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Clear on who owns the outcome and who owns the decision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200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For self-implementers, I say implement the meetings first — that discipline sets the tone for how to run EOS.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Grew Calmly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process works.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Self-implementing was transformational — not naive, not winging it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Helped scale BrightGauge and build Strety faster than we would have guessed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But there were blind spots we didn't know were blind spots…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Were Stuck in The Startup Mindset Trap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“Long-range planning always felt a little fake to me.”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Things change constantly. Products evolve fast. Why debate what things might look like three years from now when something will change in six months?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So we defaulted to something vague and inspiring… and trusted we’d figure out the details.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Our V/TO was piecemeal… we always figured it was good enough.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Our Process Component® lived… almost entirely in our heads.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 Purity was too rigid for a fast-moving startup like us!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Why did we move to using an Implementer?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24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Our first Implementer-led session with Lisa González blew my mind in the best way. Here are the biggest a-has from the journey of transitioning to implementer-led.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0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were constantly asked…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0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 local Implementer friend gave me unsolicited tips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0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Great Boss Workshop blew my mind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0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Met Lisa in Denver at a dinner and hit it off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0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 was always curious</a:t>
            </a:r>
          </a:p>
        </p:txBody>
      </p:sp>
      <p:pic>
        <p:nvPicPr>
          <p:cNvPr id="13" name="Picture 12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84831"/>
            <a:ext cx="787298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43469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77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we learned quickly…</a:t>
            </a:r>
          </a:p>
        </p:txBody>
      </p:sp>
      <p:sp>
        <p:nvSpPr>
          <p:cNvPr id="6" name="Text 3"/>
          <p:cNvSpPr/>
          <p:nvPr/>
        </p:nvSpPr>
        <p:spPr>
          <a:xfrm>
            <a:off x="1238236" y="4794802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77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aha moments</a:t>
            </a:r>
          </a:p>
        </p:txBody>
      </p:sp>
      <p:sp>
        <p:nvSpPr>
          <p:cNvPr id="7" name="Text 4"/>
          <p:cNvSpPr/>
          <p:nvPr/>
        </p:nvSpPr>
        <p:spPr>
          <a:xfrm>
            <a:off x="1238236" y="6573967"/>
            <a:ext cx="17392636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Our first Implementer-led session with Lisa González blew my mind in the best way. Here are the biggest a-has from the journey of transitioning to Implementer-led.</a:t>
            </a:r>
          </a:p>
        </p:txBody>
      </p:sp>
      <p:sp>
        <p:nvSpPr>
          <p:cNvPr id="8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418E965-29B0-9F0E-52D2-A16DFFB8AB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30C5475-C1AC-DC9E-9164-4D372BAF8B69}"/>
              </a:ext>
            </a:extLst>
          </p:cNvPr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No tech in the room is the only way.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7BC6DE-8357-757A-43F7-E7BF8C4C366C}"/>
              </a:ext>
            </a:extLst>
          </p:cNvPr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A-HA #1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43724-D513-4C00-9559-5775EEC52D0B}"/>
              </a:ext>
            </a:extLst>
          </p:cNvPr>
          <p:cNvSpPr/>
          <p:nvPr/>
        </p:nvSpPr>
        <p:spPr>
          <a:xfrm>
            <a:off x="4555211" y="6495100"/>
            <a:ext cx="1148864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For a software CEO, this is literally mind-blowing.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Sometimes the Best Tech is Post-Its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Markers and giant post-it notes filled up the walls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8 hours of focused work — not once did I feel tech was missing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Different city + same room all day = quality of conversation changed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Everything critical was captured and easy to pick up later in Strety</a:t>
            </a:r>
          </a:p>
        </p:txBody>
      </p:sp>
      <p:pic>
        <p:nvPicPr>
          <p:cNvPr id="13" name="Picture 12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2084831"/>
            <a:ext cx="5074920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Facilitation lifted the mental load.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7BC6DE-8357-757A-43F7-E7BF8C4C366C}"/>
              </a:ext>
            </a:extLst>
          </p:cNvPr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A-HA #2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43724-D513-4C00-9559-5775EEC52D0B}"/>
              </a:ext>
            </a:extLst>
          </p:cNvPr>
          <p:cNvSpPr/>
          <p:nvPr/>
        </p:nvSpPr>
        <p:spPr>
          <a:xfrm>
            <a:off x="4555211" y="6495100"/>
            <a:ext cx="1148864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 could just be present. Listen, think, participate, engage.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Self-Facilitating Actually Costs You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Running the agenda + watching the clock + thinking about what’s next + refereeing participation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Skimping on parts you don’t feel are as relevant (count me guilty)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 don’t notice the mental load until someone takes it off your plate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More engagement, more focus, completely different energy in the room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Teachers, facilitators, coaches — not consultants</a:t>
            </a:r>
          </a:p>
        </p:txBody>
      </p:sp>
      <p:pic>
        <p:nvPicPr>
          <p:cNvPr id="13" name="Picture 12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84831"/>
            <a:ext cx="787298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53" y="1085800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levelled up Quarterlies</a:t>
            </a: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75" dirty="0"/>
          </a:p>
        </p:txBody>
      </p:sp>
      <p:pic>
        <p:nvPicPr>
          <p:cNvPr id="6" name="Picture 5" descr="p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240280"/>
            <a:ext cx="1097280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53" y="1085800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We can still be ourselves</a:t>
            </a: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75" dirty="0"/>
          </a:p>
        </p:txBody>
      </p:sp>
      <p:pic>
        <p:nvPicPr>
          <p:cNvPr id="6" name="Picture 5" descr="p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240280"/>
            <a:ext cx="1097280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More Tools to Use (and Use Better) in the EOS Toolbox™.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7BC6DE-8357-757A-43F7-E7BF8C4C366C}"/>
              </a:ext>
            </a:extLst>
          </p:cNvPr>
          <p:cNvSpPr/>
          <p:nvPr/>
        </p:nvSpPr>
        <p:spPr>
          <a:xfrm>
            <a:off x="1523951" y="6425539"/>
            <a:ext cx="3187703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A-HA #3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43724-D513-4C00-9559-5775EEC52D0B}"/>
              </a:ext>
            </a:extLst>
          </p:cNvPr>
          <p:cNvSpPr/>
          <p:nvPr/>
        </p:nvSpPr>
        <p:spPr>
          <a:xfrm>
            <a:off x="4555211" y="6495100"/>
            <a:ext cx="11488640" cy="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An Implementer brought structure we didn't know we were missing.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V/TO™ Finally Clicked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“How will this company look so we all still love working here?”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3-Year Picture wasn’t constraining — it gave us a foundation of clarity that made shorter-term planning feel relevant.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1-Year Plan → grounded checkpoint. Rocks → conscious bets we chose as a team.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6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For the first time, these all felt truly grounded and connected, instead of a hodgepodge of Rocks *hoping* to add up to a true bigger picture.</a:t>
            </a:r>
          </a:p>
        </p:txBody>
      </p:sp>
      <p:pic>
        <p:nvPicPr>
          <p:cNvPr id="13" name="Picture 12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84831"/>
            <a:ext cx="787298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Process Became a Growth Multiplier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Delegation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You’re delegating a clearly defined way, not guessing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Automation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Steps laid out = automation candidates highlight themselves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Accountability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When the “how” is explicit, it stops being personal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Training</a:t>
            </a:r>
          </a:p>
          <a:p>
            <a:pPr marL="914400" lvl="1" indent="-4572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2800" dirty="0">
                <a:solidFill>
                  <a:srgbClr val="5A647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Focus on sub-processes and steps, not memorizing edge cases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453" y="1085800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Process Became a Growth Multiplier (in the product, too!)</a:t>
            </a:r>
          </a:p>
        </p:txBody>
      </p:sp>
      <p:sp>
        <p:nvSpPr>
          <p:cNvPr id="3" name="Text 1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75" dirty="0"/>
          </a:p>
        </p:txBody>
      </p:sp>
      <p:pic>
        <p:nvPicPr>
          <p:cNvPr id="6" name="Picture 5" descr="p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142" y="2240280"/>
            <a:ext cx="12805714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38236" y="3434698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300" b="1" kern="0" spc="-105" dirty="0">
                <a:solidFill>
                  <a:srgbClr val="F04E2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What I Wish I Knew</a:t>
            </a:r>
          </a:p>
        </p:txBody>
      </p:sp>
      <p:sp>
        <p:nvSpPr>
          <p:cNvPr id="6" name="Text 3"/>
          <p:cNvSpPr/>
          <p:nvPr/>
        </p:nvSpPr>
        <p:spPr>
          <a:xfrm>
            <a:off x="1238236" y="4794802"/>
            <a:ext cx="17392636" cy="13982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9"/>
              </a:lnSpc>
              <a:buNone/>
            </a:pPr>
            <a:r>
              <a:rPr lang="en-US" sz="10300" b="1" kern="0" spc="-105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Sooner</a:t>
            </a:r>
          </a:p>
        </p:txBody>
      </p:sp>
      <p:sp>
        <p:nvSpPr>
          <p:cNvPr id="7" name="Text 4"/>
          <p:cNvSpPr/>
          <p:nvPr/>
        </p:nvSpPr>
        <p:spPr>
          <a:xfrm>
            <a:off x="1238236" y="6573967"/>
            <a:ext cx="17392636" cy="9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Here are the biggest things I missed as a self-implementer. Self-implementers, take note and learn from my mistakes!</a:t>
            </a:r>
          </a:p>
        </p:txBody>
      </p:sp>
      <p:sp>
        <p:nvSpPr>
          <p:cNvPr id="8" name="Text 5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418E965-29B0-9F0E-52D2-A16DFFB8AB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9153558" y="762790"/>
            <a:ext cx="9305858" cy="8761395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30C5475-C1AC-DC9E-9164-4D372BAF8B69}"/>
              </a:ext>
            </a:extLst>
          </p:cNvPr>
          <p:cNvSpPr/>
          <p:nvPr/>
        </p:nvSpPr>
        <p:spPr>
          <a:xfrm>
            <a:off x="14068392" y="1067526"/>
            <a:ext cx="4318419" cy="1771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062"/>
              </a:lnSpc>
              <a:buNone/>
            </a:pPr>
            <a:r>
              <a:rPr lang="en-US" sz="13650" b="1" kern="0" spc="137" dirty="0">
                <a:solidFill>
                  <a:srgbClr val="FF7900">
                    <a:alpha val="6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1365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Stop Engineering Elegance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“Use it how you want to see it.”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 spent energy making Rocks, Measurables, and Goals perfectly clean.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 avoided overlap, sweated the details. Lisa normalized the gray areas.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Multiple ways to slice it — all valid.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Self-implementing taught me the mechanics. Being Implementer-led teaches there are multiple ways to slice 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AC199-5E1B-5448-FBD1-DA7F7362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AD922C-BF5E-9C7E-0570-E7ADD580ADB8}"/>
              </a:ext>
            </a:extLst>
          </p:cNvPr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1CD358-06D2-BBC7-0227-54FE93F0A53C}"/>
              </a:ext>
            </a:extLst>
          </p:cNvPr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Mental Hum of Self-Implementing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30A593-ED7D-C6B0-2930-326D7FC89E9F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02BC69EA-2AD5-C69B-B12A-266D310C4C74}"/>
              </a:ext>
            </a:extLst>
          </p:cNvPr>
          <p:cNvSpPr/>
          <p:nvPr/>
        </p:nvSpPr>
        <p:spPr>
          <a:xfrm>
            <a:off x="933433" y="2339614"/>
            <a:ext cx="8210567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“Is this how it’s supposed to look?”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There’s a subtle mental hum.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You’re running the business but also refereeing the system.</a:t>
            </a:r>
          </a:p>
          <a:p>
            <a:pPr marL="571500" indent="-571500">
              <a:spcAft>
                <a:spcPts val="16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You don’t notice the weight until someone lifts it.</a:t>
            </a:r>
          </a:p>
        </p:txBody>
      </p:sp>
      <p:pic>
        <p:nvPicPr>
          <p:cNvPr id="13" name="Picture 12" descr="s28_a1a837c1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3278438"/>
            <a:ext cx="7872983" cy="43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289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Everything Is an Issue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Just on a different time horizon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Write it down — free up mental space even if you won’t IDS it today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It’s not a crisis. It’s just an issue. IDS it when the timing is right.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Most stuck problems are People issues or Process issues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200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Idea? Problem? Challenge? Future Rock? Get it out of your head and drop it down onto the Issue list.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1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EOS Purity is a Popular Concept — Because it Works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As a self-implementer (and a product builder), I thought EOS purity was overblown/unnecessary to get value from EOS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Talking through the places where we “flexed” with Lisa showed me differently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Purity gives you the discipline and structure that help you get the most out of EOS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Self-implementers should strive for EOS Purity more than anyone else. Without the guardrails, it’s too easy to make things harder than they need to be.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453" y="838194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/>
          <p:cNvSpPr/>
          <p:nvPr/>
        </p:nvSpPr>
        <p:spPr>
          <a:xfrm>
            <a:off x="952453" y="1219147"/>
            <a:ext cx="18021359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Key Takeaways</a:t>
            </a:r>
          </a:p>
        </p:txBody>
      </p:sp>
      <p:sp>
        <p:nvSpPr>
          <p:cNvPr id="14" name="Text 12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A5AAA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87858" y="9334388"/>
            <a:ext cx="647649" cy="609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7030702" y="9353409"/>
            <a:ext cx="356617" cy="1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308"/>
              </a:lnSpc>
              <a:buNone/>
            </a:pPr>
            <a:r>
              <a:rPr lang="en-US" sz="975" b="1" kern="0" spc="10" dirty="0">
                <a:solidFill>
                  <a:srgbClr val="FF7900">
                    <a:alpha val="35000"/>
                  </a:srgbClr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975" dirty="0">
              <a:latin typeface="League Spartan" pitchFamily="2" charset="7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55DB61-CC03-A777-5AE1-6F808CA9DA44}"/>
              </a:ext>
            </a:extLst>
          </p:cNvPr>
          <p:cNvSpPr/>
          <p:nvPr/>
        </p:nvSpPr>
        <p:spPr>
          <a:xfrm>
            <a:off x="933433" y="2339614"/>
            <a:ext cx="16078249" cy="6325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Self-implementing isn't wrong — it's a stage (that can get you very far)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An Implementer lifts the mental load so you can participate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No tech in the room — then tech everywhere after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Stop engineering elegance — embrace the gray</a:t>
            </a:r>
          </a:p>
          <a:p>
            <a:pPr marL="571500" indent="-571500">
              <a:spcAft>
                <a:spcPts val="2400"/>
              </a:spcAft>
              <a:buClr>
                <a:srgbClr val="FF7900"/>
              </a:buClr>
              <a:buSzPct val="110000"/>
              <a:buFont typeface="Wingdings" pitchFamily="2" charset="2"/>
              <a:buChar char="§"/>
            </a:pPr>
            <a:r>
              <a:rPr lang="en-US" sz="3200" b="1" dirty="0">
                <a:solidFill>
                  <a:srgbClr val="142233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The system works. Trust it and keep it pure if you can.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4E0A-04BB-E4F9-5E3F-C6590180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484D17-C38B-A319-AD39-D9B6CF3DD078}"/>
              </a:ext>
            </a:extLst>
          </p:cNvPr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6301F0-CB78-1A8B-A29C-90704A0E40DB}"/>
              </a:ext>
            </a:extLst>
          </p:cNvPr>
          <p:cNvSpPr/>
          <p:nvPr/>
        </p:nvSpPr>
        <p:spPr>
          <a:xfrm>
            <a:off x="1523951" y="3491896"/>
            <a:ext cx="16764061" cy="1181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1650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“</a:t>
            </a:r>
            <a:endParaRPr lang="en-US" sz="16500" dirty="0">
              <a:latin typeface="League Spartan" pitchFamily="2" charset="7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68758-C995-57F0-235C-144D41FE79AF}"/>
              </a:ext>
            </a:extLst>
          </p:cNvPr>
          <p:cNvSpPr/>
          <p:nvPr/>
        </p:nvSpPr>
        <p:spPr>
          <a:xfrm>
            <a:off x="1523951" y="4634893"/>
            <a:ext cx="14519900" cy="13715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8"/>
              </a:lnSpc>
              <a:buNone/>
            </a:pPr>
            <a:r>
              <a:rPr lang="en-US" sz="4200" b="1" kern="0" spc="-21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Questions?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F66998-800B-A7A5-2F4B-F8DB7C7FD99C}"/>
              </a:ext>
            </a:extLst>
          </p:cNvPr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3085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428713" y="3871287"/>
            <a:ext cx="1047691" cy="13334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04E23">
                  <a:alpha val="100000"/>
                </a:srgbClr>
              </a:gs>
              <a:gs pos="100000">
                <a:srgbClr val="FF7900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28713" y="4252241"/>
            <a:ext cx="8512872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48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Session Survey</a:t>
            </a:r>
            <a:endParaRPr lang="en-US" sz="4800" dirty="0">
              <a:latin typeface="League Spartan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28713" y="5299389"/>
            <a:ext cx="8512872" cy="51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42"/>
              </a:lnSpc>
              <a:buNone/>
            </a:pPr>
            <a:r>
              <a:rPr lang="en-US" sz="2700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Scan the code to share quick feedback on this session.</a:t>
            </a:r>
            <a:endParaRPr lang="en-US" sz="2700" dirty="0">
              <a:latin typeface="League Spartan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28713" y="6046148"/>
            <a:ext cx="8512872" cy="407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 you for your feedback.</a:t>
            </a:r>
            <a:endParaRPr lang="en-US" sz="2550" dirty="0">
              <a:latin typeface="League Spartan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2763516" y="3095590"/>
            <a:ext cx="4095729" cy="4095729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  <p:pic>
        <p:nvPicPr>
          <p:cNvPr id="9" name="Picture 8" descr="feedback-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8302" y="3300376"/>
            <a:ext cx="3686157" cy="368615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3A4759">
                  <a:alpha val="100000"/>
                </a:srgbClr>
              </a:gs>
              <a:gs pos="48000">
                <a:srgbClr val="1F2C3F">
                  <a:alpha val="100000"/>
                </a:srgbClr>
              </a:gs>
              <a:gs pos="100000">
                <a:srgbClr val="101B2B">
                  <a:alpha val="100000"/>
                </a:srgbClr>
              </a:gs>
            </a:gsLst>
            <a:lin ang="8100000" scaled="0"/>
          </a:gradFill>
          <a:ln/>
        </p:spPr>
        <p:txBody>
          <a:bodyPr/>
          <a:lstStyle/>
          <a:p>
            <a:endParaRPr lang="en-US">
              <a:latin typeface="League Spartan" pitchFamily="2" charset="7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22" y="2165011"/>
            <a:ext cx="3238447" cy="30489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39218" y="2269759"/>
            <a:ext cx="1494768" cy="6381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6809"/>
              </a:lnSpc>
              <a:buNone/>
            </a:pPr>
            <a:r>
              <a:rPr lang="en-US" sz="4725" b="1" kern="0" spc="47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2026</a:t>
            </a:r>
            <a:endParaRPr lang="en-US" sz="4725" dirty="0">
              <a:latin typeface="League Spartan" pitchFamily="2" charset="77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23033" y="5594954"/>
            <a:ext cx="6206083" cy="1172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00" b="1" kern="0" spc="-78" dirty="0">
                <a:solidFill>
                  <a:srgbClr val="FFFFFF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Thanks, </a:t>
            </a:r>
            <a:r>
              <a:rPr lang="en-US" sz="7800" b="1" kern="0" spc="-78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y’all!</a:t>
            </a:r>
            <a:endParaRPr lang="en-US" sz="7800" dirty="0">
              <a:latin typeface="League Spartan" pitchFamily="2" charset="77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44815" y="7110618"/>
            <a:ext cx="10598330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250" b="1" kern="0" spc="315" dirty="0">
                <a:solidFill>
                  <a:srgbClr val="AEB7C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FIFTH ANNUAL · SEPTEMBER 14, 2026 · THE STATLER DALLAS</a:t>
            </a:r>
            <a:endParaRPr lang="en-US" sz="2250" dirty="0">
              <a:latin typeface="League Spartan" pitchFamily="2" charset="77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23951" y="7752424"/>
            <a:ext cx="15240057" cy="4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FF7900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bdosal@strety.com</a:t>
            </a:r>
          </a:p>
        </p:txBody>
      </p:sp>
      <p:sp>
        <p:nvSpPr>
          <p:cNvPr id="8" name="Text 5"/>
          <p:cNvSpPr/>
          <p:nvPr/>
        </p:nvSpPr>
        <p:spPr>
          <a:xfrm>
            <a:off x="1523951" y="8260000"/>
            <a:ext cx="15240057" cy="4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C9D0D9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linkedin.com/in/bdosal</a:t>
            </a:r>
          </a:p>
        </p:txBody>
      </p:sp>
      <p:sp>
        <p:nvSpPr>
          <p:cNvPr id="9" name="Text 6"/>
          <p:cNvSpPr/>
          <p:nvPr/>
        </p:nvSpPr>
        <p:spPr>
          <a:xfrm>
            <a:off x="952453" y="9654885"/>
            <a:ext cx="2485228" cy="251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8A94A2"/>
                </a:solidFill>
                <a:latin typeface="League Spartan" pitchFamily="2" charset="77"/>
                <a:ea typeface="Arial" pitchFamily="34" charset="-122"/>
                <a:cs typeface="Arial" pitchFamily="34" charset="-120"/>
              </a:rPr>
              <a:t>#WeRunOnEOS2026</a:t>
            </a:r>
            <a:endParaRPr lang="en-US" sz="1800" dirty="0">
              <a:latin typeface="League Spartan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1714</Words>
  <Application>Microsoft Macintosh PowerPoint</Application>
  <PresentationFormat>Custom</PresentationFormat>
  <Paragraphs>240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League Spartan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Samantha Ngo</cp:lastModifiedBy>
  <cp:revision>5</cp:revision>
  <dcterms:created xsi:type="dcterms:W3CDTF">2026-08-15T20:19:34Z</dcterms:created>
  <dcterms:modified xsi:type="dcterms:W3CDTF">2026-09-04T15:56:43Z</dcterms:modified>
</cp:coreProperties>
</file>