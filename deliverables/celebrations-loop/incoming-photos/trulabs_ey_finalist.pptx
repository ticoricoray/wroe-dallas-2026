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Exo Medium"/>
      <p:regular r:id="rId7"/>
      <p:bold r:id="rId8"/>
      <p:italic r:id="rId9"/>
      <p:boldItalic r:id="rId10"/>
    </p:embeddedFont>
    <p:embeddedFont>
      <p:font typeface="Exo 2 SemiBold"/>
      <p:regular r:id="rId11"/>
      <p:bold r:id="rId12"/>
      <p:italic r:id="rId13"/>
      <p:boldItalic r:id="rId14"/>
    </p:embeddedFont>
    <p:embeddedFont>
      <p:font typeface="Roboto SemiBold"/>
      <p:regular r:id="rId15"/>
      <p:bold r:id="rId16"/>
      <p:italic r:id="rId17"/>
      <p:boldItalic r:id="rId18"/>
    </p:embeddedFont>
    <p:embeddedFont>
      <p:font typeface="Exo 2"/>
      <p:bold r:id="rId19"/>
      <p:boldItalic r:id="rId20"/>
    </p:embeddedFont>
    <p:embeddedFont>
      <p:font typeface="Exo 2 ExtraBold"/>
      <p:bold r:id="rId21"/>
      <p:boldItalic r:id="rId22"/>
    </p:embeddedFont>
    <p:embeddedFont>
      <p:font typeface="Exo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-boldItalic.fntdata"/><Relationship Id="rId11" Type="http://schemas.openxmlformats.org/officeDocument/2006/relationships/font" Target="fonts/Exo2SemiBold-regular.fntdata"/><Relationship Id="rId22" Type="http://schemas.openxmlformats.org/officeDocument/2006/relationships/font" Target="fonts/Exo2ExtraBold-boldItalic.fntdata"/><Relationship Id="rId10" Type="http://schemas.openxmlformats.org/officeDocument/2006/relationships/font" Target="fonts/ExoMedium-boldItalic.fntdata"/><Relationship Id="rId21" Type="http://schemas.openxmlformats.org/officeDocument/2006/relationships/font" Target="fonts/Exo2ExtraBold-bold.fntdata"/><Relationship Id="rId13" Type="http://schemas.openxmlformats.org/officeDocument/2006/relationships/font" Target="fonts/Exo2SemiBold-italic.fntdata"/><Relationship Id="rId24" Type="http://schemas.openxmlformats.org/officeDocument/2006/relationships/font" Target="fonts/ExoExtraBold-boldItalic.fntdata"/><Relationship Id="rId12" Type="http://schemas.openxmlformats.org/officeDocument/2006/relationships/font" Target="fonts/Exo2SemiBold-bold.fntdata"/><Relationship Id="rId23" Type="http://schemas.openxmlformats.org/officeDocument/2006/relationships/font" Target="fonts/Exo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ExoMedium-italic.fntdata"/><Relationship Id="rId15" Type="http://schemas.openxmlformats.org/officeDocument/2006/relationships/font" Target="fonts/RobotoSemiBold-regular.fntdata"/><Relationship Id="rId14" Type="http://schemas.openxmlformats.org/officeDocument/2006/relationships/font" Target="fonts/Exo2SemiBold-boldItalic.fntdata"/><Relationship Id="rId17" Type="http://schemas.openxmlformats.org/officeDocument/2006/relationships/font" Target="fonts/RobotoSemiBold-italic.fntdata"/><Relationship Id="rId16" Type="http://schemas.openxmlformats.org/officeDocument/2006/relationships/font" Target="fonts/Roboto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xo2-bold.fntdata"/><Relationship Id="rId6" Type="http://schemas.openxmlformats.org/officeDocument/2006/relationships/slide" Target="slides/slide1.xml"/><Relationship Id="rId18" Type="http://schemas.openxmlformats.org/officeDocument/2006/relationships/font" Target="fonts/RobotoSemiBold-boldItalic.fntdata"/><Relationship Id="rId7" Type="http://schemas.openxmlformats.org/officeDocument/2006/relationships/font" Target="fonts/ExoMedium-regular.fntdata"/><Relationship Id="rId8" Type="http://schemas.openxmlformats.org/officeDocument/2006/relationships/font" Target="fonts/Ex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870654bf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f870654b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" name="Google Shape;57;g3f870654bf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1 1" showMasterSp="0">
  <p:cSld name="1_Blank 1 1 (g3f6d8e0ef20_13_0)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4350" y="464800"/>
            <a:ext cx="38658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DC6C0"/>
              </a:buClr>
              <a:buSzPts val="2800"/>
              <a:buFont typeface="Exo ExtraBold"/>
              <a:buNone/>
              <a:defRPr sz="2800">
                <a:solidFill>
                  <a:srgbClr val="1DC6C0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29600"/>
            <a:ext cx="4263600" cy="3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xo ExtraBold"/>
              <a:buChar char="•"/>
              <a:defRPr i="0" sz="1800" u="none" cap="none" strike="noStrike">
                <a:solidFill>
                  <a:schemeClr val="dk1"/>
                </a:solidFill>
                <a:latin typeface="Exo ExtraBold"/>
                <a:ea typeface="Exo ExtraBold"/>
                <a:cs typeface="Exo ExtraBold"/>
                <a:sym typeface="Exo ExtraBold"/>
              </a:defRPr>
            </a:lvl1pPr>
            <a:lvl2pPr indent="-3365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SemiBold"/>
              <a:buChar char="•"/>
              <a:defRPr i="0" sz="17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SemiBold"/>
              <a:buChar char="•"/>
              <a:defRPr i="0" sz="14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3pPr>
            <a:lvl4pPr indent="-31115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4pPr>
            <a:lvl5pPr indent="-3111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5pPr>
            <a:lvl6pPr indent="-3111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6pPr>
            <a:lvl7pPr indent="-3111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7pPr>
            <a:lvl8pPr indent="-3111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8pPr>
            <a:lvl9pPr indent="-3111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SemiBold"/>
              <a:buChar char="•"/>
              <a:defRPr i="0" sz="1300" u="none" cap="none" strike="noStrike">
                <a:solidFill>
                  <a:schemeClr val="dk1"/>
                </a:solidFill>
                <a:latin typeface="Roboto SemiBold"/>
                <a:ea typeface="Roboto SemiBold"/>
                <a:cs typeface="Roboto SemiBold"/>
                <a:sym typeface="Roboto SemiBold"/>
              </a:defRPr>
            </a:lvl9pPr>
          </a:lstStyle>
          <a:p/>
        </p:txBody>
      </p:sp>
      <p:sp>
        <p:nvSpPr>
          <p:cNvPr id="53" name="Google Shape;53;p13"/>
          <p:cNvSpPr/>
          <p:nvPr>
            <p:ph idx="2" type="pic"/>
          </p:nvPr>
        </p:nvSpPr>
        <p:spPr>
          <a:xfrm rot="5400000">
            <a:off x="4440275" y="437975"/>
            <a:ext cx="5168700" cy="4264750"/>
          </a:xfrm>
          <a:prstGeom prst="flowChartOffpageConnector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D5C4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8681650" y="4884014"/>
            <a:ext cx="482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b="0" i="0" lang="en" sz="700" u="none" cap="none" strike="noStrike">
                <a:solidFill>
                  <a:srgbClr val="888888"/>
                </a:solidFill>
                <a:latin typeface="Exo Medium"/>
                <a:ea typeface="Exo Medium"/>
                <a:cs typeface="Exo Medium"/>
                <a:sym typeface="Exo Medium"/>
              </a:rPr>
              <a:t>‹#›</a:t>
            </a:fld>
            <a:endParaRPr b="0" i="0" sz="700" u="none" cap="none" strike="noStrike">
              <a:solidFill>
                <a:srgbClr val="888888"/>
              </a:solidFill>
              <a:latin typeface="Exo Medium"/>
              <a:ea typeface="Exo Medium"/>
              <a:cs typeface="Exo Medium"/>
              <a:sym typeface="Exo Medium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4971200"/>
            <a:ext cx="1385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500">
                <a:solidFill>
                  <a:srgbClr val="A5A5A5"/>
                </a:solidFill>
                <a:latin typeface="Exo Medium"/>
                <a:ea typeface="Exo Medium"/>
                <a:cs typeface="Exo Medium"/>
                <a:sym typeface="Exo Medium"/>
              </a:rPr>
              <a:t>TRULABS | CONFIDENTIAL</a:t>
            </a:r>
            <a:endParaRPr b="0" i="0" sz="500" u="none" cap="none" strike="noStrike">
              <a:solidFill>
                <a:srgbClr val="A5A5A5"/>
              </a:solidFill>
              <a:latin typeface="Exo Medium"/>
              <a:ea typeface="Exo Medium"/>
              <a:cs typeface="Exo Medium"/>
              <a:sym typeface="Exo Medium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238125" y="238125"/>
            <a:ext cx="4114800" cy="4667400"/>
          </a:xfrm>
          <a:prstGeom prst="roundRect">
            <a:avLst>
              <a:gd fmla="val 462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476250" y="1428750"/>
            <a:ext cx="3667275" cy="476400"/>
            <a:chOff x="0" y="0"/>
            <a:chExt cx="3667275" cy="4764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38100" cy="476400"/>
            </a:xfrm>
            <a:prstGeom prst="roundRect">
              <a:avLst>
                <a:gd fmla="val 50000" name="adj"/>
              </a:avLst>
            </a:prstGeom>
            <a:solidFill>
              <a:srgbClr val="2CD5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142875" y="0"/>
              <a:ext cx="352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Exo 2"/>
                  <a:ea typeface="Exo 2"/>
                  <a:cs typeface="Exo 2"/>
                  <a:sym typeface="Exo 2"/>
                </a:rPr>
                <a:t>Only husband and wife team in the finals.</a:t>
              </a:r>
              <a:endParaRPr b="1" sz="1300">
                <a:solidFill>
                  <a:srgbClr val="0F172A"/>
                </a:solidFill>
                <a:latin typeface="Exo 2"/>
                <a:ea typeface="Exo 2"/>
                <a:cs typeface="Exo 2"/>
                <a:sym typeface="Exo 2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476250" y="2095500"/>
            <a:ext cx="363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Exo 2 ExtraBold"/>
                <a:ea typeface="Exo 2 ExtraBold"/>
                <a:cs typeface="Exo 2 ExtraBold"/>
                <a:sym typeface="Exo 2 ExtraBold"/>
              </a:rPr>
              <a:t>Previous Finalists &amp; Winners Include</a:t>
            </a:r>
            <a:endParaRPr b="0" sz="1000">
              <a:solidFill>
                <a:srgbClr val="64748B"/>
              </a:solidFill>
              <a:latin typeface="Exo 2 ExtraBold"/>
              <a:ea typeface="Exo 2 ExtraBold"/>
              <a:cs typeface="Exo 2 ExtraBold"/>
              <a:sym typeface="Exo 2 ExtraBold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476250" y="2524125"/>
            <a:ext cx="1714500" cy="362100"/>
            <a:chOff x="0" y="0"/>
            <a:chExt cx="1714500" cy="362100"/>
          </a:xfrm>
        </p:grpSpPr>
        <p:sp>
          <p:nvSpPr>
            <p:cNvPr id="67" name="Google Shape;67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Amazon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2333625" y="2524125"/>
            <a:ext cx="1714500" cy="362100"/>
            <a:chOff x="0" y="0"/>
            <a:chExt cx="1714500" cy="3621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Celsius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76250" y="3000375"/>
            <a:ext cx="1714500" cy="362100"/>
            <a:chOff x="0" y="0"/>
            <a:chExt cx="1714500" cy="3621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Chobani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2333625" y="3000375"/>
            <a:ext cx="1714500" cy="362100"/>
            <a:chOff x="0" y="0"/>
            <a:chExt cx="1714500" cy="3621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Mary Ruth’s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476250" y="3476625"/>
            <a:ext cx="1714500" cy="362100"/>
            <a:chOff x="0" y="0"/>
            <a:chExt cx="1714500" cy="362100"/>
          </a:xfrm>
        </p:grpSpPr>
        <p:sp>
          <p:nvSpPr>
            <p:cNvPr id="79" name="Google Shape;79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Bloom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2333625" y="3476625"/>
            <a:ext cx="1714500" cy="362100"/>
            <a:chOff x="0" y="0"/>
            <a:chExt cx="1714500" cy="362100"/>
          </a:xfrm>
        </p:grpSpPr>
        <p:sp>
          <p:nvSpPr>
            <p:cNvPr id="82" name="Google Shape;82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AG1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84" name="Google Shape;84;p14"/>
          <p:cNvGrpSpPr/>
          <p:nvPr/>
        </p:nvGrpSpPr>
        <p:grpSpPr>
          <a:xfrm>
            <a:off x="476250" y="3952875"/>
            <a:ext cx="1714500" cy="362100"/>
            <a:chOff x="0" y="0"/>
            <a:chExt cx="1714500" cy="362100"/>
          </a:xfrm>
        </p:grpSpPr>
        <p:sp>
          <p:nvSpPr>
            <p:cNvPr id="85" name="Google Shape;85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Body Armor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grpSp>
        <p:nvGrpSpPr>
          <p:cNvPr id="87" name="Google Shape;87;p14"/>
          <p:cNvGrpSpPr/>
          <p:nvPr/>
        </p:nvGrpSpPr>
        <p:grpSpPr>
          <a:xfrm>
            <a:off x="2333625" y="3952875"/>
            <a:ext cx="1714500" cy="362100"/>
            <a:chOff x="0" y="0"/>
            <a:chExt cx="1714500" cy="362100"/>
          </a:xfrm>
        </p:grpSpPr>
        <p:sp>
          <p:nvSpPr>
            <p:cNvPr id="88" name="Google Shape;88;p14"/>
            <p:cNvSpPr/>
            <p:nvPr/>
          </p:nvSpPr>
          <p:spPr>
            <a:xfrm>
              <a:off x="0" y="0"/>
              <a:ext cx="17145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114300" y="0"/>
              <a:ext cx="1485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2CD5C4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✦</a:t>
              </a:r>
              <a:r>
                <a:rPr b="0" lang="en" sz="1100">
                  <a:solidFill>
                    <a:srgbClr val="334155"/>
                  </a:solidFill>
                  <a:latin typeface="Exo 2 SemiBold"/>
                  <a:ea typeface="Exo 2 SemiBold"/>
                  <a:cs typeface="Exo 2 SemiBold"/>
                  <a:sym typeface="Exo 2 SemiBold"/>
                </a:rPr>
                <a:t>Honest Company</a:t>
              </a:r>
              <a:endParaRPr b="0" sz="1100">
                <a:solidFill>
                  <a:srgbClr val="334155"/>
                </a:solidFill>
                <a:latin typeface="Exo 2 SemiBold"/>
                <a:ea typeface="Exo 2 SemiBold"/>
                <a:cs typeface="Exo 2 SemiBold"/>
                <a:sym typeface="Exo 2 SemiBold"/>
              </a:endParaRPr>
            </a:p>
          </p:txBody>
        </p:sp>
      </p:grpSp>
      <p:pic>
        <p:nvPicPr>
          <p:cNvPr id="90" name="Google Shape;90;p14" title="TruLabs Q2 2026-50.jpg"/>
          <p:cNvPicPr preferRelativeResize="0"/>
          <p:nvPr/>
        </p:nvPicPr>
        <p:blipFill rotWithShape="1">
          <a:blip r:embed="rId3">
            <a:alphaModFix/>
          </a:blip>
          <a:srcRect b="0" l="20545" r="20551" t="0"/>
          <a:stretch/>
        </p:blipFill>
        <p:spPr>
          <a:xfrm>
            <a:off x="4598250" y="0"/>
            <a:ext cx="454575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50" y="428625"/>
            <a:ext cx="2487600" cy="79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