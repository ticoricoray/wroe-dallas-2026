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showPr showType="kiosk" loop="1" showNarration="0" showAnimation="1" useTimings="1">
    <p:sldAll/>
    <p:penClr>
      <a:srgbClr val="000000"/>
    </p:penClr>
  </p:showPr>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Text 1"/>
          <p:cNvSpPr/>
          <p:nvPr/>
        </p:nvSpPr>
        <p:spPr>
          <a:xfrm>
            <a:off x="822960" y="1645920"/>
            <a:ext cx="10545775" cy="1097280"/>
          </a:xfrm>
          <a:prstGeom prst="rect">
            <a:avLst/>
          </a:prstGeom>
          <a:noFill/>
          <a:ln/>
        </p:spPr>
        <p:txBody>
          <a:bodyPr wrap="square" rtlCol="0" anchor="ctr"/>
          <a:lstStyle/>
          <a:p>
            <a:pPr algn="ctr" indent="0" marL="0">
              <a:buNone/>
            </a:pPr>
            <a:r>
              <a:rPr lang="en-US" sz="6800" b="1" dirty="0">
                <a:solidFill>
                  <a:srgbClr val="FFFFFF"/>
                </a:solidFill>
                <a:latin typeface="Calibri" pitchFamily="34" charset="0"/>
                <a:ea typeface="Calibri" pitchFamily="34" charset="-122"/>
                <a:cs typeface="Calibri" pitchFamily="34" charset="-120"/>
              </a:rPr>
              <a:t>Customer</a:t>
            </a:r>
            <a:endParaRPr lang="en-US" sz="6800" dirty="0"/>
          </a:p>
        </p:txBody>
      </p:sp>
      <p:sp>
        <p:nvSpPr>
          <p:cNvPr id="5" name="Text 2"/>
          <p:cNvSpPr/>
          <p:nvPr/>
        </p:nvSpPr>
        <p:spPr>
          <a:xfrm>
            <a:off x="822960" y="2560320"/>
            <a:ext cx="10545775" cy="1280160"/>
          </a:xfrm>
          <a:prstGeom prst="rect">
            <a:avLst/>
          </a:prstGeom>
          <a:noFill/>
          <a:ln/>
        </p:spPr>
        <p:txBody>
          <a:bodyPr wrap="square" rtlCol="0" anchor="ctr"/>
          <a:lstStyle/>
          <a:p>
            <a:pPr algn="ctr" indent="0" marL="0">
              <a:buNone/>
            </a:pPr>
            <a:r>
              <a:rPr lang="en-US" sz="10000" b="1" spc="600" kern="0" dirty="0">
                <a:solidFill>
                  <a:srgbClr val="E87722"/>
                </a:solidFill>
                <a:latin typeface="Calibri" pitchFamily="34" charset="0"/>
                <a:ea typeface="Calibri" pitchFamily="34" charset="-122"/>
                <a:cs typeface="Calibri" pitchFamily="34" charset="-120"/>
              </a:rPr>
              <a:t>CELEBRATIONS</a:t>
            </a:r>
            <a:endParaRPr lang="en-US" sz="10000" dirty="0"/>
          </a:p>
        </p:txBody>
      </p:sp>
      <p:sp>
        <p:nvSpPr>
          <p:cNvPr id="6" name="Text 3"/>
          <p:cNvSpPr/>
          <p:nvPr/>
        </p:nvSpPr>
        <p:spPr>
          <a:xfrm>
            <a:off x="822960" y="4023360"/>
            <a:ext cx="10545775" cy="457200"/>
          </a:xfrm>
          <a:prstGeom prst="rect">
            <a:avLst/>
          </a:prstGeom>
          <a:noFill/>
          <a:ln/>
        </p:spPr>
        <p:txBody>
          <a:bodyPr wrap="square" rtlCol="0" anchor="ctr"/>
          <a:lstStyle/>
          <a:p>
            <a:pPr algn="ctr" indent="0" marL="0">
              <a:buNone/>
            </a:pPr>
            <a:r>
              <a:rPr lang="en-US" sz="2600" dirty="0">
                <a:solidFill>
                  <a:srgbClr val="FFFFFF"/>
                </a:solidFill>
                <a:latin typeface="Calibri" pitchFamily="34" charset="0"/>
                <a:ea typeface="Calibri" pitchFamily="34" charset="-122"/>
                <a:cs typeface="Calibri" pitchFamily="34" charset="-120"/>
              </a:rPr>
              <a:t>We Run on EOS North Texas 2026</a:t>
            </a:r>
            <a:endParaRPr lang="en-US" sz="2600" dirty="0"/>
          </a:p>
        </p:txBody>
      </p:sp>
      <p:sp>
        <p:nvSpPr>
          <p:cNvPr id="7" name="Text 4"/>
          <p:cNvSpPr/>
          <p:nvPr/>
        </p:nvSpPr>
        <p:spPr>
          <a:xfrm>
            <a:off x="822960" y="4572000"/>
            <a:ext cx="10545775" cy="365760"/>
          </a:xfrm>
          <a:prstGeom prst="rect">
            <a:avLst/>
          </a:prstGeom>
          <a:noFill/>
          <a:ln/>
        </p:spPr>
        <p:txBody>
          <a:bodyPr wrap="square" rtlCol="0" anchor="ctr"/>
          <a:lstStyle/>
          <a:p>
            <a:pPr algn="ctr" indent="0" marL="0">
              <a:buNone/>
            </a:pPr>
            <a:r>
              <a:rPr lang="en-US" sz="1800" dirty="0">
                <a:solidFill>
                  <a:srgbClr val="C9D2DE"/>
                </a:solidFill>
                <a:latin typeface="Calibri" pitchFamily="34" charset="0"/>
                <a:ea typeface="Calibri" pitchFamily="34" charset="-122"/>
                <a:cs typeface="Calibri" pitchFamily="34" charset="-120"/>
              </a:rPr>
              <a:t>Monday, September 14, 2026   ·   The Statler, Dallas</a:t>
            </a:r>
            <a:endParaRPr lang="en-US" sz="1800" dirty="0"/>
          </a:p>
        </p:txBody>
      </p:sp>
    </p:spTree>
  </p:cSld>
  <p:clrMapOvr>
    <a:masterClrMapping/>
  </p:clrMapOvr>
  <p:transition xmlns:p="http://schemas.openxmlformats.org/presentationml/2006/main" spd="med" advClick="0" advTm="8000">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Text 1"/>
          <p:cNvSpPr/>
          <p:nvPr/>
        </p:nvSpPr>
        <p:spPr>
          <a:xfrm>
            <a:off x="822960" y="2377440"/>
            <a:ext cx="10545775" cy="457200"/>
          </a:xfrm>
          <a:prstGeom prst="rect">
            <a:avLst/>
          </a:prstGeom>
          <a:noFill/>
          <a:ln/>
        </p:spPr>
        <p:txBody>
          <a:bodyPr wrap="square" rtlCol="0" anchor="ctr"/>
          <a:lstStyle/>
          <a:p>
            <a:pPr algn="ctr" indent="0" marL="0">
              <a:buNone/>
            </a:pPr>
            <a:r>
              <a:rPr lang="en-US" sz="1800" b="1" spc="400" kern="0" dirty="0">
                <a:solidFill>
                  <a:srgbClr val="E87722"/>
                </a:solidFill>
                <a:latin typeface="Calibri" pitchFamily="34" charset="0"/>
                <a:ea typeface="Calibri" pitchFamily="34" charset="-122"/>
                <a:cs typeface="Calibri" pitchFamily="34" charset="-120"/>
              </a:rPr>
              <a:t>SECTION</a:t>
            </a:r>
            <a:endParaRPr lang="en-US" sz="1800" dirty="0"/>
          </a:p>
        </p:txBody>
      </p:sp>
      <p:sp>
        <p:nvSpPr>
          <p:cNvPr id="5" name="Text 2"/>
          <p:cNvSpPr/>
          <p:nvPr/>
        </p:nvSpPr>
        <p:spPr>
          <a:xfrm>
            <a:off x="822960" y="2834640"/>
            <a:ext cx="10545775" cy="1280160"/>
          </a:xfrm>
          <a:prstGeom prst="rect">
            <a:avLst/>
          </a:prstGeom>
          <a:noFill/>
          <a:ln/>
        </p:spPr>
        <p:txBody>
          <a:bodyPr wrap="square" rtlCol="0" anchor="ctr"/>
          <a:lstStyle/>
          <a:p>
            <a:pPr algn="ctr" indent="0" marL="0">
              <a:buNone/>
            </a:pPr>
            <a:r>
              <a:rPr lang="en-US" sz="5400" b="1" dirty="0">
                <a:solidFill>
                  <a:srgbClr val="FFFFFF"/>
                </a:solidFill>
                <a:latin typeface="Calibri" pitchFamily="34" charset="0"/>
                <a:ea typeface="Calibri" pitchFamily="34" charset="-122"/>
                <a:cs typeface="Calibri" pitchFamily="34" charset="-120"/>
              </a:rPr>
              <a:t>Spillers Clients</a:t>
            </a:r>
            <a:endParaRPr lang="en-US" sz="5400" dirty="0"/>
          </a:p>
        </p:txBody>
      </p:sp>
      <p:sp>
        <p:nvSpPr>
          <p:cNvPr id="6" name="Text 3"/>
          <p:cNvSpPr/>
          <p:nvPr/>
        </p:nvSpPr>
        <p:spPr>
          <a:xfrm>
            <a:off x="1463040" y="4206240"/>
            <a:ext cx="9265615" cy="822960"/>
          </a:xfrm>
          <a:prstGeom prst="rect">
            <a:avLst/>
          </a:prstGeom>
          <a:noFill/>
          <a:ln/>
        </p:spPr>
        <p:txBody>
          <a:bodyPr wrap="square" rtlCol="0" anchor="ctr"/>
          <a:lstStyle/>
          <a:p>
            <a:pPr algn="ctr" indent="0" marL="0">
              <a:buNone/>
            </a:pPr>
            <a:r>
              <a:rPr lang="en-US" sz="1800" dirty="0">
                <a:solidFill>
                  <a:srgbClr val="C9D2DE"/>
                </a:solidFill>
                <a:latin typeface="Calibri" pitchFamily="34" charset="0"/>
                <a:ea typeface="Calibri" pitchFamily="34" charset="-122"/>
                <a:cs typeface="Calibri" pitchFamily="34" charset="-120"/>
              </a:rPr>
              <a:t>North Texas businesses winning at their craft</a:t>
            </a:r>
            <a:endParaRPr lang="en-US" sz="1800" dirty="0"/>
          </a:p>
        </p:txBody>
      </p:sp>
    </p:spTree>
  </p:cSld>
  <p:clrMapOvr>
    <a:masterClrMapping/>
  </p:clrMapOvr>
  <p:transition xmlns:p="http://schemas.openxmlformats.org/presentationml/2006/main" spd="med" advClick="0" advTm="8000">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HEADLINE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Maverick Power</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Signs $1.75 billion acquisition agreement with nVent</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Announced Aug 24, 2026 with up to $550M more tied to 2027–2028 performance. Also No. 7 on the 2026 Inc. Regionals: Southwest list (627% growth), a 2026 Inc. 5000 honoree, and Tom Currier named a 2026 DFW Titan 100 honoree.</a:t>
            </a:r>
            <a:endParaRPr lang="en-US" sz="1700" dirty="0"/>
          </a:p>
        </p:txBody>
      </p:sp>
      <p:sp>
        <p:nvSpPr>
          <p:cNvPr id="9" name="Text 6"/>
          <p:cNvSpPr/>
          <p:nvPr/>
        </p:nvSpPr>
        <p:spPr>
          <a:xfrm>
            <a:off x="914400" y="5989320"/>
            <a:ext cx="10362895" cy="36576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Tom Currier, President and CEO</a:t>
            </a:r>
            <a:endParaRPr lang="en-US" sz="1400" dirty="0"/>
          </a:p>
        </p:txBody>
      </p:sp>
    </p:spTree>
  </p:cSld>
  <p:clrMapOvr>
    <a:masterClrMapping/>
  </p:clrMapOvr>
  <p:transition xmlns:p="http://schemas.openxmlformats.org/presentationml/2006/main" spd="med" advClick="0" advTm="8000">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SPILLERS CLIENT</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4400" b="1" dirty="0">
                <a:solidFill>
                  <a:srgbClr val="FFFFFF"/>
                </a:solidFill>
                <a:latin typeface="Calibri" pitchFamily="34" charset="0"/>
                <a:ea typeface="Calibri" pitchFamily="34" charset="-122"/>
                <a:cs typeface="Calibri" pitchFamily="34" charset="-120"/>
              </a:rPr>
              <a:t>KPost Roofing &amp; Waterproofing</a:t>
            </a:r>
            <a:endParaRPr lang="en-US" sz="44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Best-in-Class, ARMA 2026 Excellence in Asphalt Roofing</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Commercial/Mixed Use category winner for the National Medal of Honor Museum in Arlington. Honored at the International Roofing Expo in Las Vegas, January 2026.</a:t>
            </a:r>
            <a:endParaRPr lang="en-US" sz="1700" dirty="0"/>
          </a:p>
        </p:txBody>
      </p:sp>
      <p:sp>
        <p:nvSpPr>
          <p:cNvPr id="9" name="Text 6"/>
          <p:cNvSpPr/>
          <p:nvPr/>
        </p:nvSpPr>
        <p:spPr>
          <a:xfrm>
            <a:off x="914400" y="5989320"/>
            <a:ext cx="10362895" cy="36576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Steve Little, Keith Post, and Jayne Williams, Founders</a:t>
            </a:r>
            <a:endParaRPr lang="en-US" sz="1400" dirty="0"/>
          </a:p>
        </p:txBody>
      </p:sp>
    </p:spTree>
  </p:cSld>
  <p:clrMapOvr>
    <a:masterClrMapping/>
  </p:clrMapOvr>
  <p:transition xmlns:p="http://schemas.openxmlformats.org/presentationml/2006/main" spd="med" advClick="0" advTm="8000">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Shape 1"/>
          <p:cNvSpPr/>
          <p:nvPr/>
        </p:nvSpPr>
        <p:spPr>
          <a:xfrm>
            <a:off x="457200" y="457200"/>
            <a:ext cx="5212080" cy="5760720"/>
          </a:xfrm>
          <a:prstGeom prst="rect">
            <a:avLst/>
          </a:prstGeom>
          <a:solidFill>
            <a:srgbClr val="F4F6F9"/>
          </a:solidFill>
          <a:ln w="6350">
            <a:solidFill>
              <a:srgbClr val="C9D2DE"/>
            </a:solidFill>
            <a:prstDash val="solid"/>
          </a:ln>
        </p:spPr>
      </p:sp>
      <p:pic>
        <p:nvPicPr>
          <p:cNvPr id="5" name="Image 1" descr="/home/user/workspace/wroe-dallas-2026/deliverables/celebrations-loop/assets/neighborhood_beverly.jpg">    </p:cNvPr>
          <p:cNvPicPr>
            <a:picLocks noChangeAspect="1"/>
          </p:cNvPicPr>
          <p:nvPr/>
        </p:nvPicPr>
        <p:blipFill>
          <a:blip r:embed="rId2"/>
          <a:srcRect l="0" r="0" t="0" b="0"/>
          <a:stretch/>
        </p:blipFill>
        <p:spPr>
          <a:xfrm>
            <a:off x="457200" y="457200"/>
            <a:ext cx="5212080" cy="5760720"/>
          </a:xfrm>
          <a:prstGeom prst="rect">
            <a:avLst/>
          </a:prstGeom>
        </p:spPr>
      </p:pic>
      <p:sp>
        <p:nvSpPr>
          <p:cNvPr id="6" name="Text 2"/>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SPILLERS CLIENT</a:t>
            </a:r>
            <a:endParaRPr lang="en-US" sz="1200" dirty="0"/>
          </a:p>
        </p:txBody>
      </p:sp>
      <p:sp>
        <p:nvSpPr>
          <p:cNvPr id="7" name="Text 3"/>
          <p:cNvSpPr/>
          <p:nvPr/>
        </p:nvSpPr>
        <p:spPr>
          <a:xfrm>
            <a:off x="5943600" y="1143000"/>
            <a:ext cx="5790895" cy="1554480"/>
          </a:xfrm>
          <a:prstGeom prst="rect">
            <a:avLst/>
          </a:prstGeom>
          <a:noFill/>
          <a:ln/>
        </p:spPr>
        <p:txBody>
          <a:bodyPr wrap="square" rtlCol="0" anchor="t"/>
          <a:lstStyle/>
          <a:p>
            <a:pPr algn="l" indent="0" marL="0">
              <a:buNone/>
            </a:pPr>
            <a:r>
              <a:rPr lang="en-US" sz="2400" b="1" dirty="0">
                <a:solidFill>
                  <a:srgbClr val="FFFFFF"/>
                </a:solidFill>
                <a:latin typeface="Calibri" pitchFamily="34" charset="0"/>
                <a:ea typeface="Calibri" pitchFamily="34" charset="-122"/>
                <a:cs typeface="Calibri" pitchFamily="34" charset="-120"/>
              </a:rPr>
              <a:t>Neighborhood Management, Inc.</a:t>
            </a:r>
            <a:endParaRPr lang="en-US" sz="2400" dirty="0"/>
          </a:p>
        </p:txBody>
      </p:sp>
      <p:sp>
        <p:nvSpPr>
          <p:cNvPr id="8" name="Shape 4"/>
          <p:cNvSpPr/>
          <p:nvPr/>
        </p:nvSpPr>
        <p:spPr>
          <a:xfrm>
            <a:off x="5943600" y="2834640"/>
            <a:ext cx="914400" cy="45720"/>
          </a:xfrm>
          <a:prstGeom prst="rect">
            <a:avLst/>
          </a:prstGeom>
          <a:solidFill>
            <a:srgbClr val="E87722"/>
          </a:solidFill>
          <a:ln w="12700">
            <a:solidFill>
              <a:srgbClr val="E87722"/>
            </a:solidFill>
            <a:prstDash val="solid"/>
          </a:ln>
        </p:spPr>
      </p:sp>
      <p:sp>
        <p:nvSpPr>
          <p:cNvPr id="9" name="Text 5"/>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EY Entrepreneur Of The Year 2026 Southwest Finalist</a:t>
            </a:r>
            <a:endParaRPr lang="en-US" sz="1800" dirty="0"/>
          </a:p>
        </p:txBody>
      </p:sp>
      <p:sp>
        <p:nvSpPr>
          <p:cNvPr id="10" name="Text 6"/>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President Beverly Coghlan, PCAM — one of 44 finalists from 41 companies, announced April 21, 2026.</a:t>
            </a:r>
            <a:endParaRPr lang="en-US" sz="1400" dirty="0"/>
          </a:p>
        </p:txBody>
      </p:sp>
      <p:sp>
        <p:nvSpPr>
          <p:cNvPr id="11" name="Text 7"/>
          <p:cNvSpPr/>
          <p:nvPr/>
        </p:nvSpPr>
        <p:spPr>
          <a:xfrm>
            <a:off x="5943600" y="5852160"/>
            <a:ext cx="5790895" cy="36576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Beverly Coghlan, President</a:t>
            </a:r>
            <a:endParaRPr lang="en-US" sz="1200" dirty="0"/>
          </a:p>
        </p:txBody>
      </p:sp>
    </p:spTree>
  </p:cSld>
  <p:clrMapOvr>
    <a:masterClrMapping/>
  </p:clrMapOvr>
  <p:transition xmlns:p="http://schemas.openxmlformats.org/presentationml/2006/main" spd="med" advClick="0" advTm="8000">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SPILLERS CLIENT</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B2 Design Co</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Connect CRE 2025 Women in Real Estate, Texas honoree</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Founder and CEO B. Allison Brooks, AIA (October 2025). Recently completed interiors for HALL Park Hotel and The Ludlow. Offices in Dallas, Chicago, Miami, and Chapel Hill.</a:t>
            </a:r>
            <a:endParaRPr lang="en-US" sz="1700" dirty="0"/>
          </a:p>
        </p:txBody>
      </p:sp>
      <p:sp>
        <p:nvSpPr>
          <p:cNvPr id="9" name="Text 6"/>
          <p:cNvSpPr/>
          <p:nvPr/>
        </p:nvSpPr>
        <p:spPr>
          <a:xfrm>
            <a:off x="914400" y="5989320"/>
            <a:ext cx="10362895" cy="36576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B. Allison Brooks, Founder and CEO</a:t>
            </a:r>
            <a:endParaRPr lang="en-US" sz="1400" dirty="0"/>
          </a:p>
        </p:txBody>
      </p:sp>
    </p:spTree>
  </p:cSld>
  <p:clrMapOvr>
    <a:masterClrMapping/>
  </p:clrMapOvr>
  <p:transition xmlns:p="http://schemas.openxmlformats.org/presentationml/2006/main" spd="med" advClick="0" advTm="8000">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SPILLERS CLIENT</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Artstillery</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10 years and a 2026 Moody Fund for the Arts grant</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Celebrating 10 years (June 27, 2026). The grant supports "Dichotomy of Compassion," the current immersive multimedia production. Now Dallas and Chicago.</a:t>
            </a:r>
            <a:endParaRPr lang="en-US" sz="1700" dirty="0"/>
          </a:p>
        </p:txBody>
      </p:sp>
      <p:sp>
        <p:nvSpPr>
          <p:cNvPr id="9" name="Text 6"/>
          <p:cNvSpPr/>
          <p:nvPr/>
        </p:nvSpPr>
        <p:spPr>
          <a:xfrm>
            <a:off x="914400" y="5989320"/>
            <a:ext cx="10362895" cy="36576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Ilknur Nilufer Ozgur, Founder, Executive and Artistic Director</a:t>
            </a:r>
            <a:endParaRPr lang="en-US" sz="1400" dirty="0"/>
          </a:p>
        </p:txBody>
      </p:sp>
    </p:spTree>
  </p:cSld>
  <p:clrMapOvr>
    <a:masterClrMapping/>
  </p:clrMapOvr>
  <p:transition xmlns:p="http://schemas.openxmlformats.org/presentationml/2006/main" spd="med" advClick="0" advTm="8000">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Text 1"/>
          <p:cNvSpPr/>
          <p:nvPr/>
        </p:nvSpPr>
        <p:spPr>
          <a:xfrm>
            <a:off x="822960" y="2377440"/>
            <a:ext cx="10545775" cy="457200"/>
          </a:xfrm>
          <a:prstGeom prst="rect">
            <a:avLst/>
          </a:prstGeom>
          <a:noFill/>
          <a:ln/>
        </p:spPr>
        <p:txBody>
          <a:bodyPr wrap="square" rtlCol="0" anchor="ctr"/>
          <a:lstStyle/>
          <a:p>
            <a:pPr algn="ctr" indent="0" marL="0">
              <a:buNone/>
            </a:pPr>
            <a:r>
              <a:rPr lang="en-US" sz="1800" b="1" spc="400" kern="0" dirty="0">
                <a:solidFill>
                  <a:srgbClr val="E87722"/>
                </a:solidFill>
                <a:latin typeface="Calibri" pitchFamily="34" charset="0"/>
                <a:ea typeface="Calibri" pitchFamily="34" charset="-122"/>
                <a:cs typeface="Calibri" pitchFamily="34" charset="-120"/>
              </a:rPr>
              <a:t>SECTION</a:t>
            </a:r>
            <a:endParaRPr lang="en-US" sz="1800" dirty="0"/>
          </a:p>
        </p:txBody>
      </p:sp>
      <p:sp>
        <p:nvSpPr>
          <p:cNvPr id="5" name="Text 2"/>
          <p:cNvSpPr/>
          <p:nvPr/>
        </p:nvSpPr>
        <p:spPr>
          <a:xfrm>
            <a:off x="822960" y="2834640"/>
            <a:ext cx="10545775" cy="1280160"/>
          </a:xfrm>
          <a:prstGeom prst="rect">
            <a:avLst/>
          </a:prstGeom>
          <a:noFill/>
          <a:ln/>
        </p:spPr>
        <p:txBody>
          <a:bodyPr wrap="square" rtlCol="0" anchor="ctr"/>
          <a:lstStyle/>
          <a:p>
            <a:pPr algn="ctr" indent="0" marL="0">
              <a:buNone/>
            </a:pPr>
            <a:r>
              <a:rPr lang="en-US" sz="5400" b="1" dirty="0">
                <a:solidFill>
                  <a:srgbClr val="FFFFFF"/>
                </a:solidFill>
                <a:latin typeface="Calibri" pitchFamily="34" charset="0"/>
                <a:ea typeface="Calibri" pitchFamily="34" charset="-122"/>
                <a:cs typeface="Calibri" pitchFamily="34" charset="-120"/>
              </a:rPr>
              <a:t>EY Entrepreneur Of The Year</a:t>
            </a:r>
            <a:pPr algn="ctr" indent="0" marL="0">
              <a:buNone/>
            </a:pPr>
            <a:r>
              <a:rPr lang="en-US" sz="2400" b="1" baseline="30000" dirty="0">
                <a:solidFill>
                  <a:srgbClr val="FFFFFF"/>
                </a:solidFill>
                <a:latin typeface="Calibri" pitchFamily="34" charset="0"/>
                <a:ea typeface="Calibri" pitchFamily="34" charset="-122"/>
                <a:cs typeface="Calibri" pitchFamily="34" charset="-120"/>
              </a:rPr>
              <a:t>®</a:t>
            </a:r>
            <a:pPr algn="ctr" indent="0" marL="0">
              <a:buNone/>
            </a:pPr>
            <a:r>
              <a:rPr lang="en-US" sz="5400" b="1" dirty="0">
                <a:solidFill>
                  <a:srgbClr val="FFFFFF"/>
                </a:solidFill>
                <a:latin typeface="Calibri" pitchFamily="34" charset="0"/>
                <a:ea typeface="Calibri" pitchFamily="34" charset="-122"/>
                <a:cs typeface="Calibri" pitchFamily="34" charset="-120"/>
              </a:rPr>
              <a:t xml:space="preserve"> 2026</a:t>
            </a:r>
            <a:endParaRPr lang="en-US" sz="5400" dirty="0"/>
          </a:p>
        </p:txBody>
      </p:sp>
      <p:sp>
        <p:nvSpPr>
          <p:cNvPr id="6" name="Text 3"/>
          <p:cNvSpPr/>
          <p:nvPr/>
        </p:nvSpPr>
        <p:spPr>
          <a:xfrm>
            <a:off x="1463040" y="4206240"/>
            <a:ext cx="9265615" cy="822960"/>
          </a:xfrm>
          <a:prstGeom prst="rect">
            <a:avLst/>
          </a:prstGeom>
          <a:noFill/>
          <a:ln/>
        </p:spPr>
        <p:txBody>
          <a:bodyPr wrap="square" rtlCol="0" anchor="ctr"/>
          <a:lstStyle/>
          <a:p>
            <a:pPr algn="ctr" indent="0" marL="0">
              <a:buNone/>
            </a:pPr>
            <a:r>
              <a:rPr lang="en-US" sz="1800" dirty="0">
                <a:solidFill>
                  <a:srgbClr val="C9D2DE"/>
                </a:solidFill>
                <a:latin typeface="Calibri" pitchFamily="34" charset="0"/>
                <a:ea typeface="Calibri" pitchFamily="34" charset="-122"/>
                <a:cs typeface="Calibri" pitchFamily="34" charset="-120"/>
              </a:rPr>
              <a:t>North Texas EOS community winners and finalists</a:t>
            </a:r>
            <a:endParaRPr lang="en-US" sz="1800" dirty="0"/>
          </a:p>
        </p:txBody>
      </p:sp>
    </p:spTree>
  </p:cSld>
  <p:clrMapOvr>
    <a:masterClrMapping/>
  </p:clrMapOvr>
  <p:transition xmlns:p="http://schemas.openxmlformats.org/presentationml/2006/main" spd="med" advClick="0" advTm="8000">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Shape 1"/>
          <p:cNvSpPr/>
          <p:nvPr/>
        </p:nvSpPr>
        <p:spPr>
          <a:xfrm>
            <a:off x="457200" y="457200"/>
            <a:ext cx="5212080" cy="5760720"/>
          </a:xfrm>
          <a:prstGeom prst="rect">
            <a:avLst/>
          </a:prstGeom>
          <a:solidFill>
            <a:srgbClr val="F4F6F9"/>
          </a:solidFill>
          <a:ln w="6350">
            <a:solidFill>
              <a:srgbClr val="C9D2DE"/>
            </a:solidFill>
            <a:prstDash val="solid"/>
          </a:ln>
        </p:spPr>
      </p:sp>
      <p:pic>
        <p:nvPicPr>
          <p:cNvPr id="5" name="Image 1" descr="/home/user/workspace/wroe-dallas-2026/deliverables/celebrations-loop/assets/moonshot_ethan.jpg">    </p:cNvPr>
          <p:cNvPicPr>
            <a:picLocks noChangeAspect="1"/>
          </p:cNvPicPr>
          <p:nvPr/>
        </p:nvPicPr>
        <p:blipFill>
          <a:blip r:embed="rId2"/>
          <a:srcRect l="0" r="0" t="0" b="0"/>
          <a:stretch/>
        </p:blipFill>
        <p:spPr>
          <a:xfrm>
            <a:off x="457200" y="457200"/>
            <a:ext cx="5212080" cy="5760720"/>
          </a:xfrm>
          <a:prstGeom prst="rect">
            <a:avLst/>
          </a:prstGeom>
        </p:spPr>
      </p:pic>
      <p:sp>
        <p:nvSpPr>
          <p:cNvPr id="6" name="Text 2"/>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WINNER</a:t>
            </a:r>
            <a:endParaRPr lang="en-US" sz="1200" dirty="0"/>
          </a:p>
        </p:txBody>
      </p:sp>
      <p:sp>
        <p:nvSpPr>
          <p:cNvPr id="7" name="Text 3"/>
          <p:cNvSpPr/>
          <p:nvPr/>
        </p:nvSpPr>
        <p:spPr>
          <a:xfrm>
            <a:off x="5943600" y="1143000"/>
            <a:ext cx="5790895" cy="1554480"/>
          </a:xfrm>
          <a:prstGeom prst="rect">
            <a:avLst/>
          </a:prstGeom>
          <a:noFill/>
          <a:ln/>
        </p:spPr>
        <p:txBody>
          <a:bodyPr wrap="square" rtlCol="0" anchor="t"/>
          <a:lstStyle/>
          <a:p>
            <a:pPr algn="l" indent="0" marL="0">
              <a:buNone/>
            </a:pPr>
            <a:r>
              <a:rPr lang="en-US" sz="4000" b="1" dirty="0">
                <a:solidFill>
                  <a:srgbClr val="FFFFFF"/>
                </a:solidFill>
                <a:latin typeface="Calibri" pitchFamily="34" charset="0"/>
                <a:ea typeface="Calibri" pitchFamily="34" charset="-122"/>
                <a:cs typeface="Calibri" pitchFamily="34" charset="-120"/>
              </a:rPr>
              <a:t>Moonshot</a:t>
            </a:r>
            <a:endParaRPr lang="en-US" sz="4000" dirty="0"/>
          </a:p>
        </p:txBody>
      </p:sp>
      <p:sp>
        <p:nvSpPr>
          <p:cNvPr id="8" name="Shape 4"/>
          <p:cNvSpPr/>
          <p:nvPr/>
        </p:nvSpPr>
        <p:spPr>
          <a:xfrm>
            <a:off x="5943600" y="2834640"/>
            <a:ext cx="914400" cy="45720"/>
          </a:xfrm>
          <a:prstGeom prst="rect">
            <a:avLst/>
          </a:prstGeom>
          <a:solidFill>
            <a:srgbClr val="E87722"/>
          </a:solidFill>
          <a:ln w="12700">
            <a:solidFill>
              <a:srgbClr val="E87722"/>
            </a:solidFill>
            <a:prstDash val="solid"/>
          </a:ln>
        </p:spPr>
      </p:sp>
      <p:sp>
        <p:nvSpPr>
          <p:cNvPr id="9" name="Text 5"/>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Winner — advancing to National Awards</a:t>
            </a:r>
            <a:endParaRPr lang="en-US" sz="1800" dirty="0"/>
          </a:p>
        </p:txBody>
      </p:sp>
      <p:sp>
        <p:nvSpPr>
          <p:cNvPr id="10" name="Text 6"/>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Founder and CEO Ethan Ellenberg. Denton-based. Advances to the EY National Awards in November 2026.</a:t>
            </a:r>
            <a:endParaRPr lang="en-US" sz="1400" dirty="0"/>
          </a:p>
        </p:txBody>
      </p:sp>
      <p:sp>
        <p:nvSpPr>
          <p:cNvPr id="11" name="Text 7"/>
          <p:cNvSpPr/>
          <p:nvPr/>
        </p:nvSpPr>
        <p:spPr>
          <a:xfrm>
            <a:off x="5943600" y="5852160"/>
            <a:ext cx="5790895" cy="36576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Ethan Ellenberg, Founder and CEO   ·   Implementer: Ryan Wall</a:t>
            </a:r>
            <a:endParaRPr lang="en-US" sz="1200" dirty="0"/>
          </a:p>
        </p:txBody>
      </p:sp>
    </p:spTree>
  </p:cSld>
  <p:clrMapOvr>
    <a:masterClrMapping/>
  </p:clrMapOvr>
  <p:transition xmlns:p="http://schemas.openxmlformats.org/presentationml/2006/main" spd="med" advClick="0" advTm="8000">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Shape 1"/>
          <p:cNvSpPr/>
          <p:nvPr/>
        </p:nvSpPr>
        <p:spPr>
          <a:xfrm>
            <a:off x="457200" y="457200"/>
            <a:ext cx="5212080" cy="5760720"/>
          </a:xfrm>
          <a:prstGeom prst="rect">
            <a:avLst/>
          </a:prstGeom>
          <a:solidFill>
            <a:srgbClr val="F4F6F9"/>
          </a:solidFill>
          <a:ln w="6350">
            <a:solidFill>
              <a:srgbClr val="C9D2DE"/>
            </a:solidFill>
            <a:prstDash val="solid"/>
          </a:ln>
        </p:spPr>
      </p:sp>
      <p:pic>
        <p:nvPicPr>
          <p:cNvPr id="5" name="Image 1" descr="/home/user/workspace/wroe-dallas-2026/deliverables/celebrations-loop/assets/lime_heath.jpg">    </p:cNvPr>
          <p:cNvPicPr>
            <a:picLocks noChangeAspect="1"/>
          </p:cNvPicPr>
          <p:nvPr/>
        </p:nvPicPr>
        <p:blipFill>
          <a:blip r:embed="rId2"/>
          <a:srcRect l="0" r="0" t="0" b="0"/>
          <a:stretch/>
        </p:blipFill>
        <p:spPr>
          <a:xfrm>
            <a:off x="457200" y="457200"/>
            <a:ext cx="5212080" cy="5760720"/>
          </a:xfrm>
          <a:prstGeom prst="rect">
            <a:avLst/>
          </a:prstGeom>
        </p:spPr>
      </p:pic>
      <p:sp>
        <p:nvSpPr>
          <p:cNvPr id="6" name="Text 2"/>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WINNER</a:t>
            </a:r>
            <a:endParaRPr lang="en-US" sz="1200" dirty="0"/>
          </a:p>
        </p:txBody>
      </p:sp>
      <p:sp>
        <p:nvSpPr>
          <p:cNvPr id="7" name="Text 3"/>
          <p:cNvSpPr/>
          <p:nvPr/>
        </p:nvSpPr>
        <p:spPr>
          <a:xfrm>
            <a:off x="5943600" y="1143000"/>
            <a:ext cx="5790895" cy="1554480"/>
          </a:xfrm>
          <a:prstGeom prst="rect">
            <a:avLst/>
          </a:prstGeom>
          <a:noFill/>
          <a:ln/>
        </p:spPr>
        <p:txBody>
          <a:bodyPr wrap="square" rtlCol="0" anchor="t"/>
          <a:lstStyle/>
          <a:p>
            <a:pPr algn="l" indent="0" marL="0">
              <a:buNone/>
            </a:pPr>
            <a:r>
              <a:rPr lang="en-US" sz="3400" b="1" dirty="0">
                <a:solidFill>
                  <a:srgbClr val="FFFFFF"/>
                </a:solidFill>
                <a:latin typeface="Calibri" pitchFamily="34" charset="0"/>
                <a:ea typeface="Calibri" pitchFamily="34" charset="-122"/>
                <a:cs typeface="Calibri" pitchFamily="34" charset="-120"/>
              </a:rPr>
              <a:t>Lime Media Group</a:t>
            </a:r>
            <a:endParaRPr lang="en-US" sz="3400" dirty="0"/>
          </a:p>
        </p:txBody>
      </p:sp>
      <p:sp>
        <p:nvSpPr>
          <p:cNvPr id="8" name="Shape 4"/>
          <p:cNvSpPr/>
          <p:nvPr/>
        </p:nvSpPr>
        <p:spPr>
          <a:xfrm>
            <a:off x="5943600" y="2834640"/>
            <a:ext cx="914400" cy="45720"/>
          </a:xfrm>
          <a:prstGeom prst="rect">
            <a:avLst/>
          </a:prstGeom>
          <a:solidFill>
            <a:srgbClr val="E87722"/>
          </a:solidFill>
          <a:ln w="12700">
            <a:solidFill>
              <a:srgbClr val="E87722"/>
            </a:solidFill>
            <a:prstDash val="solid"/>
          </a:ln>
        </p:spPr>
      </p:sp>
      <p:sp>
        <p:nvSpPr>
          <p:cNvPr id="9" name="Text 5"/>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Winner + 2026 Top Workplaces Culture Excellence</a:t>
            </a:r>
            <a:endParaRPr lang="en-US" sz="1800" dirty="0"/>
          </a:p>
        </p:txBody>
      </p:sp>
      <p:sp>
        <p:nvSpPr>
          <p:cNvPr id="10" name="Text 6"/>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Founder and CEO Heath Hill. Rockwall-based. Top Workplaces Culture Excellence winner (July 2026).</a:t>
            </a:r>
            <a:endParaRPr lang="en-US" sz="1400" dirty="0"/>
          </a:p>
        </p:txBody>
      </p:sp>
      <p:sp>
        <p:nvSpPr>
          <p:cNvPr id="11" name="Text 7"/>
          <p:cNvSpPr/>
          <p:nvPr/>
        </p:nvSpPr>
        <p:spPr>
          <a:xfrm>
            <a:off x="5943600" y="5852160"/>
            <a:ext cx="5790895" cy="36576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Heath Hill, Founder and CEO   ·   Implementer: Leonard</a:t>
            </a:r>
            <a:endParaRPr lang="en-US" sz="1200" dirty="0"/>
          </a:p>
        </p:txBody>
      </p:sp>
    </p:spTree>
  </p:cSld>
  <p:clrMapOvr>
    <a:masterClrMapping/>
  </p:clrMapOvr>
  <p:transition xmlns:p="http://schemas.openxmlformats.org/presentationml/2006/main" spd="med" advClick="0" advTm="8000">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Shape 1"/>
          <p:cNvSpPr/>
          <p:nvPr/>
        </p:nvSpPr>
        <p:spPr>
          <a:xfrm>
            <a:off x="457200" y="457200"/>
            <a:ext cx="5212080" cy="5760720"/>
          </a:xfrm>
          <a:prstGeom prst="rect">
            <a:avLst/>
          </a:prstGeom>
          <a:solidFill>
            <a:srgbClr val="F4F6F9"/>
          </a:solidFill>
          <a:ln w="6350">
            <a:solidFill>
              <a:srgbClr val="C9D2DE"/>
            </a:solidFill>
            <a:prstDash val="solid"/>
          </a:ln>
        </p:spPr>
      </p:sp>
      <p:pic>
        <p:nvPicPr>
          <p:cNvPr id="5" name="Image 1" descr="/home/user/workspace/wroe-dallas-2026/deliverables/celebrations-loop/assets/brainstorm_jason.jpg">    </p:cNvPr>
          <p:cNvPicPr>
            <a:picLocks noChangeAspect="1"/>
          </p:cNvPicPr>
          <p:nvPr/>
        </p:nvPicPr>
        <p:blipFill>
          <a:blip r:embed="rId2"/>
          <a:srcRect l="0" r="0" t="0" b="0"/>
          <a:stretch/>
        </p:blipFill>
        <p:spPr>
          <a:xfrm>
            <a:off x="457200" y="457200"/>
            <a:ext cx="5212080" cy="5760720"/>
          </a:xfrm>
          <a:prstGeom prst="rect">
            <a:avLst/>
          </a:prstGeom>
        </p:spPr>
      </p:pic>
      <p:sp>
        <p:nvSpPr>
          <p:cNvPr id="6" name="Text 2"/>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FINALIST</a:t>
            </a:r>
            <a:endParaRPr lang="en-US" sz="1200" dirty="0"/>
          </a:p>
        </p:txBody>
      </p:sp>
      <p:sp>
        <p:nvSpPr>
          <p:cNvPr id="7" name="Text 3"/>
          <p:cNvSpPr/>
          <p:nvPr/>
        </p:nvSpPr>
        <p:spPr>
          <a:xfrm>
            <a:off x="5943600" y="1143000"/>
            <a:ext cx="5790895" cy="1554480"/>
          </a:xfrm>
          <a:prstGeom prst="rect">
            <a:avLst/>
          </a:prstGeom>
          <a:noFill/>
          <a:ln/>
        </p:spPr>
        <p:txBody>
          <a:bodyPr wrap="square" rtlCol="0" anchor="t"/>
          <a:lstStyle/>
          <a:p>
            <a:pPr algn="l" indent="0" marL="0">
              <a:buNone/>
            </a:pPr>
            <a:r>
              <a:rPr lang="en-US" sz="2200" b="1" dirty="0">
                <a:solidFill>
                  <a:srgbClr val="FFFFFF"/>
                </a:solidFill>
                <a:latin typeface="Calibri" pitchFamily="34" charset="0"/>
                <a:ea typeface="Calibri" pitchFamily="34" charset="-122"/>
                <a:cs typeface="Calibri" pitchFamily="34" charset="-120"/>
              </a:rPr>
              <a:t>Brain Storm Shelter Restaurants</a:t>
            </a:r>
            <a:endParaRPr lang="en-US" sz="2200" dirty="0"/>
          </a:p>
        </p:txBody>
      </p:sp>
      <p:sp>
        <p:nvSpPr>
          <p:cNvPr id="8" name="Shape 4"/>
          <p:cNvSpPr/>
          <p:nvPr/>
        </p:nvSpPr>
        <p:spPr>
          <a:xfrm>
            <a:off x="5943600" y="2834640"/>
            <a:ext cx="914400" cy="45720"/>
          </a:xfrm>
          <a:prstGeom prst="rect">
            <a:avLst/>
          </a:prstGeom>
          <a:solidFill>
            <a:srgbClr val="E87722"/>
          </a:solidFill>
          <a:ln w="12700">
            <a:solidFill>
              <a:srgbClr val="E87722"/>
            </a:solidFill>
            <a:prstDash val="solid"/>
          </a:ln>
        </p:spPr>
      </p:sp>
      <p:sp>
        <p:nvSpPr>
          <p:cNvPr id="9" name="Text 5"/>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Finalist</a:t>
            </a:r>
            <a:endParaRPr lang="en-US" sz="1800" dirty="0"/>
          </a:p>
        </p:txBody>
      </p:sp>
      <p:sp>
        <p:nvSpPr>
          <p:cNvPr id="10" name="Text 6"/>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Jason Boso — founder of Truck Yard, Twisted Root Burger Co., and more. Also a finalist in the Oklahoma City ULI Impact Awards.</a:t>
            </a:r>
            <a:endParaRPr lang="en-US" sz="1400" dirty="0"/>
          </a:p>
        </p:txBody>
      </p:sp>
      <p:sp>
        <p:nvSpPr>
          <p:cNvPr id="11" name="Text 7"/>
          <p:cNvSpPr/>
          <p:nvPr/>
        </p:nvSpPr>
        <p:spPr>
          <a:xfrm>
            <a:off x="5943600" y="5852160"/>
            <a:ext cx="5790895" cy="36576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Jason Boso, Founder   ·   Implementer: Amanda</a:t>
            </a:r>
            <a:endParaRPr lang="en-US" sz="1200" dirty="0"/>
          </a:p>
        </p:txBody>
      </p:sp>
    </p:spTree>
  </p:cSld>
  <p:clrMapOvr>
    <a:masterClrMapping/>
  </p:clrMapOvr>
  <p:transition xmlns:p="http://schemas.openxmlformats.org/presentationml/2006/main" spd="med" advClick="0" advTm="8000">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Shape 1"/>
          <p:cNvSpPr/>
          <p:nvPr/>
        </p:nvSpPr>
        <p:spPr>
          <a:xfrm>
            <a:off x="457200" y="457200"/>
            <a:ext cx="5212080" cy="5760720"/>
          </a:xfrm>
          <a:prstGeom prst="rect">
            <a:avLst/>
          </a:prstGeom>
          <a:solidFill>
            <a:srgbClr val="F4F6F9"/>
          </a:solidFill>
          <a:ln w="6350">
            <a:solidFill>
              <a:srgbClr val="C9D2DE"/>
            </a:solidFill>
            <a:prstDash val="solid"/>
          </a:ln>
        </p:spPr>
      </p:sp>
      <p:pic>
        <p:nvPicPr>
          <p:cNvPr id="5" name="Image 1" descr="/home/user/workspace/wroe-dallas-2026/deliverables/celebrations-loop/assets/trulabs_pogues.jpg">    </p:cNvPr>
          <p:cNvPicPr>
            <a:picLocks noChangeAspect="1"/>
          </p:cNvPicPr>
          <p:nvPr/>
        </p:nvPicPr>
        <p:blipFill>
          <a:blip r:embed="rId2"/>
          <a:srcRect l="0" r="0" t="0" b="0"/>
          <a:stretch/>
        </p:blipFill>
        <p:spPr>
          <a:xfrm>
            <a:off x="457200" y="457200"/>
            <a:ext cx="5212080" cy="5760720"/>
          </a:xfrm>
          <a:prstGeom prst="rect">
            <a:avLst/>
          </a:prstGeom>
        </p:spPr>
      </p:pic>
      <p:sp>
        <p:nvSpPr>
          <p:cNvPr id="6" name="Text 2"/>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FINALIST</a:t>
            </a:r>
            <a:endParaRPr lang="en-US" sz="1200" dirty="0"/>
          </a:p>
        </p:txBody>
      </p:sp>
      <p:sp>
        <p:nvSpPr>
          <p:cNvPr id="7" name="Text 3"/>
          <p:cNvSpPr/>
          <p:nvPr/>
        </p:nvSpPr>
        <p:spPr>
          <a:xfrm>
            <a:off x="5943600" y="1143000"/>
            <a:ext cx="5790895" cy="1554480"/>
          </a:xfrm>
          <a:prstGeom prst="rect">
            <a:avLst/>
          </a:prstGeom>
          <a:noFill/>
          <a:ln/>
        </p:spPr>
        <p:txBody>
          <a:bodyPr wrap="square" rtlCol="0" anchor="t"/>
          <a:lstStyle/>
          <a:p>
            <a:pPr algn="l" indent="0" marL="0">
              <a:buNone/>
            </a:pPr>
            <a:r>
              <a:rPr lang="en-US" sz="4000" b="1" dirty="0">
                <a:solidFill>
                  <a:srgbClr val="FFFFFF"/>
                </a:solidFill>
                <a:latin typeface="Calibri" pitchFamily="34" charset="0"/>
                <a:ea typeface="Calibri" pitchFamily="34" charset="-122"/>
                <a:cs typeface="Calibri" pitchFamily="34" charset="-120"/>
              </a:rPr>
              <a:t>TruLabs</a:t>
            </a:r>
            <a:endParaRPr lang="en-US" sz="4000" dirty="0"/>
          </a:p>
        </p:txBody>
      </p:sp>
      <p:sp>
        <p:nvSpPr>
          <p:cNvPr id="8" name="Shape 4"/>
          <p:cNvSpPr/>
          <p:nvPr/>
        </p:nvSpPr>
        <p:spPr>
          <a:xfrm>
            <a:off x="5943600" y="2834640"/>
            <a:ext cx="914400" cy="45720"/>
          </a:xfrm>
          <a:prstGeom prst="rect">
            <a:avLst/>
          </a:prstGeom>
          <a:solidFill>
            <a:srgbClr val="E87722"/>
          </a:solidFill>
          <a:ln w="12700">
            <a:solidFill>
              <a:srgbClr val="E87722"/>
            </a:solidFill>
            <a:prstDash val="solid"/>
          </a:ln>
        </p:spPr>
      </p:sp>
      <p:sp>
        <p:nvSpPr>
          <p:cNvPr id="9" name="Text 5"/>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Finalists</a:t>
            </a:r>
            <a:endParaRPr lang="en-US" sz="1800" dirty="0"/>
          </a:p>
        </p:txBody>
      </p:sp>
      <p:sp>
        <p:nvSpPr>
          <p:cNvPr id="10" name="Text 6"/>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Co-founders Brandon Pogue (CEO) and Jennifer Pogue (CMO). McKinney-based.</a:t>
            </a:r>
            <a:endParaRPr lang="en-US" sz="1400" dirty="0"/>
          </a:p>
        </p:txBody>
      </p:sp>
      <p:sp>
        <p:nvSpPr>
          <p:cNvPr id="11" name="Text 7"/>
          <p:cNvSpPr/>
          <p:nvPr/>
        </p:nvSpPr>
        <p:spPr>
          <a:xfrm>
            <a:off x="5943600" y="5852160"/>
            <a:ext cx="5790895" cy="36576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Brandon and Jennifer Pogue   ·   Implementer: Amy</a:t>
            </a:r>
            <a:endParaRPr lang="en-US" sz="1200" dirty="0"/>
          </a:p>
        </p:txBody>
      </p:sp>
    </p:spTree>
  </p:cSld>
  <p:clrMapOvr>
    <a:masterClrMapping/>
  </p:clrMapOvr>
  <p:transition xmlns:p="http://schemas.openxmlformats.org/presentationml/2006/main" spd="med" advClick="0" advTm="8000">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Shape 1"/>
          <p:cNvSpPr/>
          <p:nvPr/>
        </p:nvSpPr>
        <p:spPr>
          <a:xfrm>
            <a:off x="457200" y="457200"/>
            <a:ext cx="5212080" cy="5760720"/>
          </a:xfrm>
          <a:prstGeom prst="rect">
            <a:avLst/>
          </a:prstGeom>
          <a:solidFill>
            <a:srgbClr val="F4F6F9"/>
          </a:solidFill>
          <a:ln w="6350">
            <a:solidFill>
              <a:srgbClr val="C9D2DE"/>
            </a:solidFill>
            <a:prstDash val="solid"/>
          </a:ln>
        </p:spPr>
      </p:sp>
      <p:pic>
        <p:nvPicPr>
          <p:cNvPr id="5" name="Image 1" descr="/home/user/workspace/wroe-dallas-2026/deliverables/celebrations-loop/assets/excel_gabe.jpg">    </p:cNvPr>
          <p:cNvPicPr>
            <a:picLocks noChangeAspect="1"/>
          </p:cNvPicPr>
          <p:nvPr/>
        </p:nvPicPr>
        <p:blipFill>
          <a:blip r:embed="rId2"/>
          <a:srcRect l="0" r="0" t="0" b="0"/>
          <a:stretch/>
        </p:blipFill>
        <p:spPr>
          <a:xfrm>
            <a:off x="457200" y="457200"/>
            <a:ext cx="5212080" cy="5760720"/>
          </a:xfrm>
          <a:prstGeom prst="rect">
            <a:avLst/>
          </a:prstGeom>
        </p:spPr>
      </p:pic>
      <p:sp>
        <p:nvSpPr>
          <p:cNvPr id="6" name="Text 2"/>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FINALIST</a:t>
            </a:r>
            <a:endParaRPr lang="en-US" sz="1200" dirty="0"/>
          </a:p>
        </p:txBody>
      </p:sp>
      <p:sp>
        <p:nvSpPr>
          <p:cNvPr id="7" name="Text 3"/>
          <p:cNvSpPr/>
          <p:nvPr/>
        </p:nvSpPr>
        <p:spPr>
          <a:xfrm>
            <a:off x="5943600" y="1143000"/>
            <a:ext cx="5790895" cy="1554480"/>
          </a:xfrm>
          <a:prstGeom prst="rect">
            <a:avLst/>
          </a:prstGeom>
          <a:noFill/>
          <a:ln/>
        </p:spPr>
        <p:txBody>
          <a:bodyPr wrap="square"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Excel Medical Staffing</a:t>
            </a:r>
            <a:endParaRPr lang="en-US" sz="2800" dirty="0"/>
          </a:p>
        </p:txBody>
      </p:sp>
      <p:sp>
        <p:nvSpPr>
          <p:cNvPr id="8" name="Shape 4"/>
          <p:cNvSpPr/>
          <p:nvPr/>
        </p:nvSpPr>
        <p:spPr>
          <a:xfrm>
            <a:off x="5943600" y="2834640"/>
            <a:ext cx="914400" cy="45720"/>
          </a:xfrm>
          <a:prstGeom prst="rect">
            <a:avLst/>
          </a:prstGeom>
          <a:solidFill>
            <a:srgbClr val="E87722"/>
          </a:solidFill>
          <a:ln w="12700">
            <a:solidFill>
              <a:srgbClr val="E87722"/>
            </a:solidFill>
            <a:prstDash val="solid"/>
          </a:ln>
        </p:spPr>
      </p:sp>
      <p:sp>
        <p:nvSpPr>
          <p:cNvPr id="9" name="Text 5"/>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Finalist</a:t>
            </a:r>
            <a:endParaRPr lang="en-US" sz="1800" dirty="0"/>
          </a:p>
        </p:txBody>
      </p:sp>
      <p:sp>
        <p:nvSpPr>
          <p:cNvPr id="10" name="Text 6"/>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Founder and CEO Gabriel Griess, U.S. Air Force Academy graduate. Grapevine-based.</a:t>
            </a:r>
            <a:endParaRPr lang="en-US" sz="1400" dirty="0"/>
          </a:p>
        </p:txBody>
      </p:sp>
      <p:sp>
        <p:nvSpPr>
          <p:cNvPr id="11" name="Text 7"/>
          <p:cNvSpPr/>
          <p:nvPr/>
        </p:nvSpPr>
        <p:spPr>
          <a:xfrm>
            <a:off x="5943600" y="5852160"/>
            <a:ext cx="5790895" cy="36576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Gabriel Griess, Founder and CEO   ·   Implementer: Justin Mink</a:t>
            </a:r>
            <a:endParaRPr lang="en-US" sz="1200" dirty="0"/>
          </a:p>
        </p:txBody>
      </p:sp>
    </p:spTree>
  </p:cSld>
  <p:clrMapOvr>
    <a:masterClrMapping/>
  </p:clrMapOvr>
  <p:transition xmlns:p="http://schemas.openxmlformats.org/presentationml/2006/main" spd="med" advClick="0" advTm="8000">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EY EOY 2026 · HEARTLAND FINALIST</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5200" b="1" dirty="0">
                <a:solidFill>
                  <a:srgbClr val="FFFFFF"/>
                </a:solidFill>
                <a:latin typeface="Calibri" pitchFamily="34" charset="0"/>
                <a:ea typeface="Calibri" pitchFamily="34" charset="-122"/>
                <a:cs typeface="Calibri" pitchFamily="34" charset="-120"/>
              </a:rPr>
              <a:t>HorsePower Brands</a:t>
            </a:r>
            <a:endParaRPr lang="en-US" sz="52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Heartland Finalist</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CEO Tony Hulbert. Nine home-service franchise brands, five of them on Entrepreneur magazine’s 2026 Franchise 500. Omaha-based.</a:t>
            </a:r>
            <a:endParaRPr lang="en-US" sz="1700" dirty="0"/>
          </a:p>
        </p:txBody>
      </p:sp>
      <p:sp>
        <p:nvSpPr>
          <p:cNvPr id="9" name="Text 6"/>
          <p:cNvSpPr/>
          <p:nvPr/>
        </p:nvSpPr>
        <p:spPr>
          <a:xfrm>
            <a:off x="914400" y="5989320"/>
            <a:ext cx="10362895" cy="36576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Tony Hulbert, CEO   ·   Implementer: Justin Mink</a:t>
            </a:r>
            <a:endParaRPr lang="en-US" sz="1400" dirty="0"/>
          </a:p>
        </p:txBody>
      </p:sp>
    </p:spTree>
  </p:cSld>
  <p:clrMapOvr>
    <a:masterClrMapping/>
  </p:clrMapOvr>
  <p:transition xmlns:p="http://schemas.openxmlformats.org/presentationml/2006/main" spd="med" advClick="0" advTm="8000">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Text 1"/>
          <p:cNvSpPr/>
          <p:nvPr/>
        </p:nvSpPr>
        <p:spPr>
          <a:xfrm>
            <a:off x="822960" y="2377440"/>
            <a:ext cx="10545775" cy="457200"/>
          </a:xfrm>
          <a:prstGeom prst="rect">
            <a:avLst/>
          </a:prstGeom>
          <a:noFill/>
          <a:ln/>
        </p:spPr>
        <p:txBody>
          <a:bodyPr wrap="square" rtlCol="0" anchor="ctr"/>
          <a:lstStyle/>
          <a:p>
            <a:pPr algn="ctr" indent="0" marL="0">
              <a:buNone/>
            </a:pPr>
            <a:r>
              <a:rPr lang="en-US" sz="1800" b="1" spc="400" kern="0" dirty="0">
                <a:solidFill>
                  <a:srgbClr val="E87722"/>
                </a:solidFill>
                <a:latin typeface="Calibri" pitchFamily="34" charset="0"/>
                <a:ea typeface="Calibri" pitchFamily="34" charset="-122"/>
                <a:cs typeface="Calibri" pitchFamily="34" charset="-120"/>
              </a:rPr>
              <a:t>SECTION</a:t>
            </a:r>
            <a:endParaRPr lang="en-US" sz="1800" dirty="0"/>
          </a:p>
        </p:txBody>
      </p:sp>
      <p:sp>
        <p:nvSpPr>
          <p:cNvPr id="5" name="Text 2"/>
          <p:cNvSpPr/>
          <p:nvPr/>
        </p:nvSpPr>
        <p:spPr>
          <a:xfrm>
            <a:off x="822960" y="2834640"/>
            <a:ext cx="10545775" cy="1280160"/>
          </a:xfrm>
          <a:prstGeom prst="rect">
            <a:avLst/>
          </a:prstGeom>
          <a:noFill/>
          <a:ln/>
        </p:spPr>
        <p:txBody>
          <a:bodyPr wrap="square" rtlCol="0" anchor="ctr"/>
          <a:lstStyle/>
          <a:p>
            <a:pPr algn="ctr" indent="0" marL="0">
              <a:buNone/>
            </a:pPr>
            <a:r>
              <a:rPr lang="en-US" sz="5400" b="1" dirty="0">
                <a:solidFill>
                  <a:srgbClr val="FFFFFF"/>
                </a:solidFill>
                <a:latin typeface="Calibri" pitchFamily="34" charset="0"/>
                <a:ea typeface="Calibri" pitchFamily="34" charset="-122"/>
                <a:cs typeface="Calibri" pitchFamily="34" charset="-120"/>
              </a:rPr>
              <a:t>More Community Celebrations</a:t>
            </a:r>
            <a:endParaRPr lang="en-US" sz="5400" dirty="0"/>
          </a:p>
        </p:txBody>
      </p:sp>
      <p:sp>
        <p:nvSpPr>
          <p:cNvPr id="6" name="Text 3"/>
          <p:cNvSpPr/>
          <p:nvPr/>
        </p:nvSpPr>
        <p:spPr>
          <a:xfrm>
            <a:off x="1463040" y="4206240"/>
            <a:ext cx="9265615" cy="822960"/>
          </a:xfrm>
          <a:prstGeom prst="rect">
            <a:avLst/>
          </a:prstGeom>
          <a:noFill/>
          <a:ln/>
        </p:spPr>
        <p:txBody>
          <a:bodyPr wrap="square" rtlCol="0" anchor="ctr"/>
          <a:lstStyle/>
          <a:p>
            <a:pPr algn="ctr" indent="0" marL="0">
              <a:buNone/>
            </a:pPr>
            <a:r>
              <a:rPr lang="en-US" sz="1800" dirty="0">
                <a:solidFill>
                  <a:srgbClr val="C9D2DE"/>
                </a:solidFill>
                <a:latin typeface="Calibri" pitchFamily="34" charset="0"/>
                <a:ea typeface="Calibri" pitchFamily="34" charset="-122"/>
                <a:cs typeface="Calibri" pitchFamily="34" charset="-120"/>
              </a:rPr>
              <a:t>Wins from across the North Texas EOS community</a:t>
            </a:r>
            <a:endParaRPr lang="en-US" sz="1800" dirty="0"/>
          </a:p>
        </p:txBody>
      </p:sp>
    </p:spTree>
  </p:cSld>
  <p:clrMapOvr>
    <a:masterClrMapping/>
  </p:clrMapOvr>
  <p:transition xmlns:p="http://schemas.openxmlformats.org/presentationml/2006/main" spd="med" advClick="0" advTm="8000">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Shape 1"/>
          <p:cNvSpPr/>
          <p:nvPr/>
        </p:nvSpPr>
        <p:spPr>
          <a:xfrm>
            <a:off x="457200" y="457200"/>
            <a:ext cx="5212080" cy="5760720"/>
          </a:xfrm>
          <a:prstGeom prst="rect">
            <a:avLst/>
          </a:prstGeom>
          <a:solidFill>
            <a:srgbClr val="F4F6F9"/>
          </a:solidFill>
          <a:ln w="6350">
            <a:solidFill>
              <a:srgbClr val="C9D2DE"/>
            </a:solidFill>
            <a:prstDash val="solid"/>
          </a:ln>
        </p:spPr>
      </p:sp>
      <p:pic>
        <p:nvPicPr>
          <p:cNvPr id="5" name="Image 1" descr="/home/user/workspace/wroe-dallas-2026/deliverables/celebrations-loop/assets/ntoa_lasik_team.jpg">    </p:cNvPr>
          <p:cNvPicPr>
            <a:picLocks noChangeAspect="1"/>
          </p:cNvPicPr>
          <p:nvPr/>
        </p:nvPicPr>
        <p:blipFill>
          <a:blip r:embed="rId2"/>
          <a:srcRect l="0" r="0" t="0" b="0"/>
          <a:stretch/>
        </p:blipFill>
        <p:spPr>
          <a:xfrm>
            <a:off x="457200" y="457200"/>
            <a:ext cx="5212080" cy="5760720"/>
          </a:xfrm>
          <a:prstGeom prst="rect">
            <a:avLst/>
          </a:prstGeom>
        </p:spPr>
      </p:pic>
      <p:sp>
        <p:nvSpPr>
          <p:cNvPr id="6" name="Text 2"/>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7" name="Text 3"/>
          <p:cNvSpPr/>
          <p:nvPr/>
        </p:nvSpPr>
        <p:spPr>
          <a:xfrm>
            <a:off x="5943600" y="1143000"/>
            <a:ext cx="5790895" cy="1554480"/>
          </a:xfrm>
          <a:prstGeom prst="rect">
            <a:avLst/>
          </a:prstGeom>
          <a:noFill/>
          <a:ln/>
        </p:spPr>
        <p:txBody>
          <a:bodyPr wrap="square" rtlCol="0" anchor="t"/>
          <a:lstStyle/>
          <a:p>
            <a:pPr algn="l" indent="0" marL="0">
              <a:buNone/>
            </a:pPr>
            <a:r>
              <a:rPr lang="en-US" sz="2400" b="1" dirty="0">
                <a:solidFill>
                  <a:srgbClr val="FFFFFF"/>
                </a:solidFill>
                <a:latin typeface="Calibri" pitchFamily="34" charset="0"/>
                <a:ea typeface="Calibri" pitchFamily="34" charset="-122"/>
                <a:cs typeface="Calibri" pitchFamily="34" charset="-120"/>
              </a:rPr>
              <a:t>North Texas Ophthalmology</a:t>
            </a:r>
            <a:endParaRPr lang="en-US" sz="2400" dirty="0"/>
          </a:p>
        </p:txBody>
      </p:sp>
      <p:sp>
        <p:nvSpPr>
          <p:cNvPr id="8" name="Shape 4"/>
          <p:cNvSpPr/>
          <p:nvPr/>
        </p:nvSpPr>
        <p:spPr>
          <a:xfrm>
            <a:off x="5943600" y="2834640"/>
            <a:ext cx="914400" cy="45720"/>
          </a:xfrm>
          <a:prstGeom prst="rect">
            <a:avLst/>
          </a:prstGeom>
          <a:solidFill>
            <a:srgbClr val="E87722"/>
          </a:solidFill>
          <a:ln w="12700">
            <a:solidFill>
              <a:srgbClr val="E87722"/>
            </a:solidFill>
            <a:prstDash val="solid"/>
          </a:ln>
        </p:spPr>
      </p:sp>
      <p:sp>
        <p:nvSpPr>
          <p:cNvPr id="9" name="Text 5"/>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Launched LASIK, opened a second location, turned a loss into profit</a:t>
            </a:r>
            <a:endParaRPr lang="en-US" sz="1800" dirty="0"/>
          </a:p>
        </p:txBody>
      </p:sp>
      <p:sp>
        <p:nvSpPr>
          <p:cNvPr id="10" name="Text 6"/>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Wichita Falls. Launched LASIK as a new service line, opened a second location, and turned a $300K loss in 2025 into roughly $150K profit YTD 2026 while paying down debt.</a:t>
            </a:r>
            <a:endParaRPr lang="en-US" sz="1400" dirty="0"/>
          </a:p>
        </p:txBody>
      </p:sp>
      <p:sp>
        <p:nvSpPr>
          <p:cNvPr id="11" name="Text 7"/>
          <p:cNvSpPr/>
          <p:nvPr/>
        </p:nvSpPr>
        <p:spPr>
          <a:xfrm>
            <a:off x="5943600" y="5852160"/>
            <a:ext cx="5790895" cy="36576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Matt Griffiths, Director of Marketing and Technology</a:t>
            </a:r>
            <a:endParaRPr lang="en-US" sz="1200" dirty="0"/>
          </a:p>
        </p:txBody>
      </p:sp>
    </p:spTree>
  </p:cSld>
  <p:clrMapOvr>
    <a:masterClrMapping/>
  </p:clrMapOvr>
  <p:transition xmlns:p="http://schemas.openxmlformats.org/presentationml/2006/main" spd="med" advClick="0" advTm="8000">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Shape 1"/>
          <p:cNvSpPr/>
          <p:nvPr/>
        </p:nvSpPr>
        <p:spPr>
          <a:xfrm>
            <a:off x="457200" y="457200"/>
            <a:ext cx="5212080" cy="5760720"/>
          </a:xfrm>
          <a:prstGeom prst="rect">
            <a:avLst/>
          </a:prstGeom>
          <a:solidFill>
            <a:srgbClr val="F4F6F9"/>
          </a:solidFill>
          <a:ln w="6350">
            <a:solidFill>
              <a:srgbClr val="C9D2DE"/>
            </a:solidFill>
            <a:prstDash val="solid"/>
          </a:ln>
        </p:spPr>
      </p:sp>
      <p:pic>
        <p:nvPicPr>
          <p:cNvPr id="5" name="Image 1" descr="/home/user/workspace/wroe-dallas-2026/deliverables/celebrations-loop/assets/austin_street.jpg">    </p:cNvPr>
          <p:cNvPicPr>
            <a:picLocks noChangeAspect="1"/>
          </p:cNvPicPr>
          <p:nvPr/>
        </p:nvPicPr>
        <p:blipFill>
          <a:blip r:embed="rId2"/>
          <a:srcRect l="0" r="0" t="0" b="0"/>
          <a:stretch/>
        </p:blipFill>
        <p:spPr>
          <a:xfrm>
            <a:off x="457200" y="457200"/>
            <a:ext cx="5212080" cy="5760720"/>
          </a:xfrm>
          <a:prstGeom prst="rect">
            <a:avLst/>
          </a:prstGeom>
        </p:spPr>
      </p:pic>
      <p:sp>
        <p:nvSpPr>
          <p:cNvPr id="6" name="Text 2"/>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7" name="Text 3"/>
          <p:cNvSpPr/>
          <p:nvPr/>
        </p:nvSpPr>
        <p:spPr>
          <a:xfrm>
            <a:off x="5943600" y="1143000"/>
            <a:ext cx="5790895" cy="1554480"/>
          </a:xfrm>
          <a:prstGeom prst="rect">
            <a:avLst/>
          </a:prstGeom>
          <a:noFill/>
          <a:ln/>
        </p:spPr>
        <p:txBody>
          <a:bodyPr wrap="square"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Austin Street Center</a:t>
            </a:r>
            <a:endParaRPr lang="en-US" sz="2800" dirty="0"/>
          </a:p>
        </p:txBody>
      </p:sp>
      <p:sp>
        <p:nvSpPr>
          <p:cNvPr id="8" name="Shape 4"/>
          <p:cNvSpPr/>
          <p:nvPr/>
        </p:nvSpPr>
        <p:spPr>
          <a:xfrm>
            <a:off x="5943600" y="2834640"/>
            <a:ext cx="914400" cy="45720"/>
          </a:xfrm>
          <a:prstGeom prst="rect">
            <a:avLst/>
          </a:prstGeom>
          <a:solidFill>
            <a:srgbClr val="E87722"/>
          </a:solidFill>
          <a:ln w="12700">
            <a:solidFill>
              <a:srgbClr val="E87722"/>
            </a:solidFill>
            <a:prstDash val="solid"/>
          </a:ln>
        </p:spPr>
      </p:sp>
      <p:sp>
        <p:nvSpPr>
          <p:cNvPr id="9" name="Text 5"/>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D CEO 2026 Nonprofit and Corporate Citizenship Finalist</a:t>
            </a:r>
            <a:endParaRPr lang="en-US" sz="1800" dirty="0"/>
          </a:p>
        </p:txBody>
      </p:sp>
      <p:sp>
        <p:nvSpPr>
          <p:cNvPr id="10" name="Text 6"/>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Dallas. Record 640 housing placements in FY25 (up 25%). Record revenue in FY25, up 17% year-over-year and 36% over two years.</a:t>
            </a:r>
            <a:endParaRPr lang="en-US" sz="1400" dirty="0"/>
          </a:p>
        </p:txBody>
      </p:sp>
      <p:sp>
        <p:nvSpPr>
          <p:cNvPr id="11" name="Text 7"/>
          <p:cNvSpPr/>
          <p:nvPr/>
        </p:nvSpPr>
        <p:spPr>
          <a:xfrm>
            <a:off x="5943600" y="5852160"/>
            <a:ext cx="5790895" cy="36576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Daniel Roby, CEO</a:t>
            </a:r>
            <a:endParaRPr lang="en-US" sz="1200" dirty="0"/>
          </a:p>
        </p:txBody>
      </p:sp>
    </p:spTree>
  </p:cSld>
  <p:clrMapOvr>
    <a:masterClrMapping/>
  </p:clrMapOvr>
  <p:transition xmlns:p="http://schemas.openxmlformats.org/presentationml/2006/main" spd="med" advClick="0" advTm="8000">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COMMUNITY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BAT Security</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Up 23% in gross revenue in the first 7 months on EOS</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Waxahachie. Started Focus Day in January 2026 and posted Core Values throughout the office. Momentum has held all year.</a:t>
            </a:r>
            <a:endParaRPr lang="en-US" sz="1700" dirty="0"/>
          </a:p>
        </p:txBody>
      </p:sp>
      <p:sp>
        <p:nvSpPr>
          <p:cNvPr id="9" name="Text 6"/>
          <p:cNvSpPr/>
          <p:nvPr/>
        </p:nvSpPr>
        <p:spPr>
          <a:xfrm>
            <a:off x="914400" y="5989320"/>
            <a:ext cx="10362895" cy="36576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Kyle Beller, President</a:t>
            </a:r>
            <a:endParaRPr lang="en-US" sz="1400" dirty="0"/>
          </a:p>
        </p:txBody>
      </p:sp>
    </p:spTree>
  </p:cSld>
  <p:clrMapOvr>
    <a:masterClrMapping/>
  </p:clrMapOvr>
  <p:transition xmlns:p="http://schemas.openxmlformats.org/presentationml/2006/main" spd="med" advClick="0" advTm="8000">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Shape 1"/>
          <p:cNvSpPr/>
          <p:nvPr/>
        </p:nvSpPr>
        <p:spPr>
          <a:xfrm>
            <a:off x="457200" y="457200"/>
            <a:ext cx="5212080" cy="5760720"/>
          </a:xfrm>
          <a:prstGeom prst="rect">
            <a:avLst/>
          </a:prstGeom>
          <a:solidFill>
            <a:srgbClr val="F4F6F9"/>
          </a:solidFill>
          <a:ln w="6350">
            <a:solidFill>
              <a:srgbClr val="C9D2DE"/>
            </a:solidFill>
            <a:prstDash val="solid"/>
          </a:ln>
        </p:spPr>
      </p:sp>
      <p:pic>
        <p:nvPicPr>
          <p:cNvPr id="5" name="Image 1" descr="/home/user/workspace/wroe-dallas-2026/deliverables/celebrations-loop/assets/blue_mint_hero.jpg">    </p:cNvPr>
          <p:cNvPicPr>
            <a:picLocks noChangeAspect="1"/>
          </p:cNvPicPr>
          <p:nvPr/>
        </p:nvPicPr>
        <p:blipFill>
          <a:blip r:embed="rId2"/>
          <a:srcRect l="0" r="0" t="0" b="0"/>
          <a:stretch/>
        </p:blipFill>
        <p:spPr>
          <a:xfrm>
            <a:off x="457200" y="457200"/>
            <a:ext cx="5212080" cy="5760720"/>
          </a:xfrm>
          <a:prstGeom prst="rect">
            <a:avLst/>
          </a:prstGeom>
        </p:spPr>
      </p:pic>
      <p:sp>
        <p:nvSpPr>
          <p:cNvPr id="6" name="Text 2"/>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7" name="Text 3"/>
          <p:cNvSpPr/>
          <p:nvPr/>
        </p:nvSpPr>
        <p:spPr>
          <a:xfrm>
            <a:off x="5943600" y="1143000"/>
            <a:ext cx="5790895" cy="1554480"/>
          </a:xfrm>
          <a:prstGeom prst="rect">
            <a:avLst/>
          </a:prstGeom>
          <a:noFill/>
          <a:ln/>
        </p:spPr>
        <p:txBody>
          <a:bodyPr wrap="square" rtlCol="0" anchor="t"/>
          <a:lstStyle/>
          <a:p>
            <a:pPr algn="l" indent="0" marL="0">
              <a:buNone/>
            </a:pPr>
            <a:r>
              <a:rPr lang="en-US" sz="3400" b="1" dirty="0">
                <a:solidFill>
                  <a:srgbClr val="FFFFFF"/>
                </a:solidFill>
                <a:latin typeface="Calibri" pitchFamily="34" charset="0"/>
                <a:ea typeface="Calibri" pitchFamily="34" charset="-122"/>
                <a:cs typeface="Calibri" pitchFamily="34" charset="-120"/>
              </a:rPr>
              <a:t>Blue Mint Thai</a:t>
            </a:r>
            <a:endParaRPr lang="en-US" sz="3400" dirty="0"/>
          </a:p>
        </p:txBody>
      </p:sp>
      <p:sp>
        <p:nvSpPr>
          <p:cNvPr id="8" name="Shape 4"/>
          <p:cNvSpPr/>
          <p:nvPr/>
        </p:nvSpPr>
        <p:spPr>
          <a:xfrm>
            <a:off x="5943600" y="2834640"/>
            <a:ext cx="914400" cy="45720"/>
          </a:xfrm>
          <a:prstGeom prst="rect">
            <a:avLst/>
          </a:prstGeom>
          <a:solidFill>
            <a:srgbClr val="E87722"/>
          </a:solidFill>
          <a:ln w="12700">
            <a:solidFill>
              <a:srgbClr val="E87722"/>
            </a:solidFill>
            <a:prstDash val="solid"/>
          </a:ln>
        </p:spPr>
      </p:sp>
      <p:sp>
        <p:nvSpPr>
          <p:cNvPr id="9" name="Text 5"/>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Multi-year Best of DFW, ESGR honors, and a House Resolution</a:t>
            </a:r>
            <a:endParaRPr lang="en-US" sz="1800" dirty="0"/>
          </a:p>
        </p:txBody>
      </p:sp>
      <p:sp>
        <p:nvSpPr>
          <p:cNvPr id="10" name="Text 6"/>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Midlothian. Best Asian Restaurant in South DFW five years running (2021–2026). ESGR Pro Patria, Patriot, and Above and Beyond awards (July 2026). House Resolution from Rep. Brian Harrison (August 2026).</a:t>
            </a:r>
            <a:endParaRPr lang="en-US" sz="1400" dirty="0"/>
          </a:p>
        </p:txBody>
      </p:sp>
      <p:sp>
        <p:nvSpPr>
          <p:cNvPr id="11" name="Text 7"/>
          <p:cNvSpPr/>
          <p:nvPr/>
        </p:nvSpPr>
        <p:spPr>
          <a:xfrm>
            <a:off x="5943600" y="5852160"/>
            <a:ext cx="5790895" cy="36576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Mike Wilson, CEO   ·   Alisa Dodenhoff</a:t>
            </a:r>
            <a:endParaRPr lang="en-US" sz="1200" dirty="0"/>
          </a:p>
        </p:txBody>
      </p:sp>
    </p:spTree>
  </p:cSld>
  <p:clrMapOvr>
    <a:masterClrMapping/>
  </p:clrMapOvr>
  <p:transition xmlns:p="http://schemas.openxmlformats.org/presentationml/2006/main" spd="med" advClick="0" advTm="8000">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COMMUNITY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4400" b="1" dirty="0">
                <a:solidFill>
                  <a:srgbClr val="FFFFFF"/>
                </a:solidFill>
                <a:latin typeface="Calibri" pitchFamily="34" charset="0"/>
                <a:ea typeface="Calibri" pitchFamily="34" charset="-122"/>
                <a:cs typeface="Calibri" pitchFamily="34" charset="-120"/>
              </a:rPr>
              <a:t>Rose Marketing Solutions</a:t>
            </a:r>
            <a:endParaRPr lang="en-US" sz="44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EO Dallas Forum Moderator of the Year</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Ruth Ann Rose named Forum Moderator of the Year by EO Dallas. Featured speaker at the Hinge Brokers Shift Early Childhood Conference. On track for the highest revenue year in company history.</a:t>
            </a:r>
            <a:endParaRPr lang="en-US" sz="1700" dirty="0"/>
          </a:p>
        </p:txBody>
      </p:sp>
      <p:sp>
        <p:nvSpPr>
          <p:cNvPr id="9" name="Text 6"/>
          <p:cNvSpPr/>
          <p:nvPr/>
        </p:nvSpPr>
        <p:spPr>
          <a:xfrm>
            <a:off x="914400" y="5989320"/>
            <a:ext cx="10362895" cy="36576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Ruth Ann Rose, Founder   ·   Implementer: Amanda Matthews</a:t>
            </a:r>
            <a:endParaRPr lang="en-US" sz="1400" dirty="0"/>
          </a:p>
        </p:txBody>
      </p:sp>
    </p:spTree>
  </p:cSld>
  <p:clrMapOvr>
    <a:masterClrMapping/>
  </p:clrMapOvr>
  <p:transition xmlns:p="http://schemas.openxmlformats.org/presentationml/2006/main" spd="med" advClick="0" advTm="8000">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jpg">    </p:cNvPr>
          <p:cNvPicPr>
            <a:picLocks noChangeAspect="1"/>
          </p:cNvPicPr>
          <p:nvPr/>
        </p:nvPicPr>
        <p:blipFill>
          <a:blip r:embed="rId1"/>
          <a:stretch>
            <a:fillRect/>
          </a:stretch>
        </p:blipFill>
        <p:spPr>
          <a:xfrm>
            <a:off x="9997135" y="6199632"/>
            <a:ext cx="1965960" cy="502920"/>
          </a:xfrm>
          <a:prstGeom prst="rect">
            <a:avLst/>
          </a:prstGeom>
        </p:spPr>
      </p:pic>
      <p:sp>
        <p:nvSpPr>
          <p:cNvPr id="4" name="Text 1"/>
          <p:cNvSpPr/>
          <p:nvPr/>
        </p:nvSpPr>
        <p:spPr>
          <a:xfrm>
            <a:off x="822960" y="1737360"/>
            <a:ext cx="10545775" cy="1097280"/>
          </a:xfrm>
          <a:prstGeom prst="rect">
            <a:avLst/>
          </a:prstGeom>
          <a:noFill/>
          <a:ln/>
        </p:spPr>
        <p:txBody>
          <a:bodyPr wrap="square" rtlCol="0" anchor="ctr"/>
          <a:lstStyle/>
          <a:p>
            <a:pPr algn="ctr" indent="0" marL="0">
              <a:buNone/>
            </a:pPr>
            <a:r>
              <a:rPr lang="en-US" sz="6000" i="1" dirty="0">
                <a:solidFill>
                  <a:srgbClr val="FFFFFF"/>
                </a:solidFill>
                <a:latin typeface="Calibri" pitchFamily="34" charset="0"/>
                <a:ea typeface="Calibri" pitchFamily="34" charset="-122"/>
                <a:cs typeface="Calibri" pitchFamily="34" charset="-120"/>
              </a:rPr>
              <a:t>Congratulations</a:t>
            </a:r>
            <a:endParaRPr lang="en-US" sz="6000" dirty="0"/>
          </a:p>
        </p:txBody>
      </p:sp>
      <p:sp>
        <p:nvSpPr>
          <p:cNvPr id="5" name="Text 2"/>
          <p:cNvSpPr/>
          <p:nvPr/>
        </p:nvSpPr>
        <p:spPr>
          <a:xfrm>
            <a:off x="822960" y="2743200"/>
            <a:ext cx="10545775" cy="914400"/>
          </a:xfrm>
          <a:prstGeom prst="rect">
            <a:avLst/>
          </a:prstGeom>
          <a:noFill/>
          <a:ln/>
        </p:spPr>
        <p:txBody>
          <a:bodyPr wrap="square" rtlCol="0" anchor="ctr"/>
          <a:lstStyle/>
          <a:p>
            <a:pPr algn="ctr" indent="0" marL="0">
              <a:buNone/>
            </a:pPr>
            <a:r>
              <a:rPr lang="en-US" sz="4000" b="1" dirty="0">
                <a:solidFill>
                  <a:srgbClr val="E87722"/>
                </a:solidFill>
                <a:latin typeface="Calibri" pitchFamily="34" charset="0"/>
                <a:ea typeface="Calibri" pitchFamily="34" charset="-122"/>
                <a:cs typeface="Calibri" pitchFamily="34" charset="-120"/>
              </a:rPr>
              <a:t>to our North Texas EOS Community</a:t>
            </a:r>
            <a:endParaRPr lang="en-US" sz="4000" dirty="0"/>
          </a:p>
        </p:txBody>
      </p:sp>
      <p:sp>
        <p:nvSpPr>
          <p:cNvPr id="6" name="Shape 3"/>
          <p:cNvSpPr/>
          <p:nvPr/>
        </p:nvSpPr>
        <p:spPr>
          <a:xfrm>
            <a:off x="4724248" y="3794760"/>
            <a:ext cx="2743200" cy="45720"/>
          </a:xfrm>
          <a:prstGeom prst="rect">
            <a:avLst/>
          </a:prstGeom>
          <a:solidFill>
            <a:srgbClr val="E87722"/>
          </a:solidFill>
          <a:ln w="12700">
            <a:solidFill>
              <a:srgbClr val="E87722"/>
            </a:solidFill>
            <a:prstDash val="solid"/>
          </a:ln>
        </p:spPr>
      </p:sp>
      <p:sp>
        <p:nvSpPr>
          <p:cNvPr id="7" name="Text 4"/>
          <p:cNvSpPr/>
          <p:nvPr/>
        </p:nvSpPr>
        <p:spPr>
          <a:xfrm>
            <a:off x="822960" y="4114800"/>
            <a:ext cx="10545775" cy="457200"/>
          </a:xfrm>
          <a:prstGeom prst="rect">
            <a:avLst/>
          </a:prstGeom>
          <a:noFill/>
          <a:ln/>
        </p:spPr>
        <p:txBody>
          <a:bodyPr wrap="square" rtlCol="0" anchor="ctr"/>
          <a:lstStyle/>
          <a:p>
            <a:pPr algn="ctr" indent="0" marL="0">
              <a:buNone/>
            </a:pPr>
            <a:r>
              <a:rPr lang="en-US" sz="2200" dirty="0">
                <a:solidFill>
                  <a:srgbClr val="FFFFFF"/>
                </a:solidFill>
                <a:latin typeface="Calibri" pitchFamily="34" charset="0"/>
                <a:ea typeface="Calibri" pitchFamily="34" charset="-122"/>
                <a:cs typeface="Calibri" pitchFamily="34" charset="-120"/>
              </a:rPr>
              <a:t>We Run on EOS North Texas 2026</a:t>
            </a:r>
            <a:endParaRPr lang="en-US" sz="2200" dirty="0"/>
          </a:p>
        </p:txBody>
      </p:sp>
      <p:sp>
        <p:nvSpPr>
          <p:cNvPr id="8" name="Text 5"/>
          <p:cNvSpPr/>
          <p:nvPr/>
        </p:nvSpPr>
        <p:spPr>
          <a:xfrm>
            <a:off x="822960" y="4617720"/>
            <a:ext cx="10545775" cy="365760"/>
          </a:xfrm>
          <a:prstGeom prst="rect">
            <a:avLst/>
          </a:prstGeom>
          <a:noFill/>
          <a:ln/>
        </p:spPr>
        <p:txBody>
          <a:bodyPr wrap="square" rtlCol="0" anchor="ctr"/>
          <a:lstStyle/>
          <a:p>
            <a:pPr algn="ctr" indent="0" marL="0">
              <a:buNone/>
            </a:pPr>
            <a:r>
              <a:rPr lang="en-US" sz="1600" dirty="0">
                <a:solidFill>
                  <a:srgbClr val="C9D2DE"/>
                </a:solidFill>
                <a:latin typeface="Calibri" pitchFamily="34" charset="0"/>
                <a:ea typeface="Calibri" pitchFamily="34" charset="-122"/>
                <a:cs typeface="Calibri" pitchFamily="34" charset="-120"/>
              </a:rPr>
              <a:t>The Statler, Dallas   ·   Monday, September 14, 2026</a:t>
            </a:r>
            <a:endParaRPr lang="en-US" sz="1600" dirty="0"/>
          </a:p>
        </p:txBody>
      </p:sp>
    </p:spTree>
  </p:cSld>
  <p:clrMapOvr>
    <a:masterClrMapping/>
  </p:clrMapOvr>
  <p:transition xmlns:p="http://schemas.openxmlformats.org/presentationml/2006/main" spd="med" advClick="0" advTm="80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EOS Worldwide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WRoEOS North Texas 2026 — Customer Celebrations</dc:title>
  <dc:subject>Break loop — customer celebrations</dc:subject>
  <dc:creator>We Run on EOS North Texas</dc:creator>
  <cp:lastModifiedBy>We Run on EOS North Texas</cp:lastModifiedBy>
  <cp:revision>1</cp:revision>
  <dcterms:created xsi:type="dcterms:W3CDTF">2026-09-09T16:00:54Z</dcterms:created>
  <dcterms:modified xsi:type="dcterms:W3CDTF">2026-09-09T16:00:54Z</dcterms:modified>
</cp:coreProperties>
</file>