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jp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jp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jp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jp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sp>
        <p:nvSpPr>
          <p:cNvPr id="4" name="Text 1"/>
          <p:cNvSpPr/>
          <p:nvPr/>
        </p:nvSpPr>
        <p:spPr>
          <a:xfrm>
            <a:off x="822960" y="1645920"/>
            <a:ext cx="10545775" cy="1097280"/>
          </a:xfrm>
          <a:prstGeom prst="rect">
            <a:avLst/>
          </a:prstGeom>
          <a:noFill/>
          <a:ln/>
        </p:spPr>
        <p:txBody>
          <a:bodyPr wrap="square" rtlCol="0" anchor="ctr"/>
          <a:lstStyle/>
          <a:p>
            <a:pPr algn="ctr" indent="0" marL="0">
              <a:buNone/>
            </a:pPr>
            <a:r>
              <a:rPr lang="en-US" sz="6800" b="1" dirty="0">
                <a:solidFill>
                  <a:srgbClr val="FFFFFF"/>
                </a:solidFill>
                <a:latin typeface="Calibri" pitchFamily="34" charset="0"/>
                <a:ea typeface="Calibri" pitchFamily="34" charset="-122"/>
                <a:cs typeface="Calibri" pitchFamily="34" charset="-120"/>
              </a:rPr>
              <a:t>Customer</a:t>
            </a:r>
            <a:endParaRPr lang="en-US" sz="6800" dirty="0"/>
          </a:p>
        </p:txBody>
      </p:sp>
      <p:sp>
        <p:nvSpPr>
          <p:cNvPr id="5" name="Text 2"/>
          <p:cNvSpPr/>
          <p:nvPr/>
        </p:nvSpPr>
        <p:spPr>
          <a:xfrm>
            <a:off x="822960" y="2560320"/>
            <a:ext cx="10545775" cy="1280160"/>
          </a:xfrm>
          <a:prstGeom prst="rect">
            <a:avLst/>
          </a:prstGeom>
          <a:noFill/>
          <a:ln/>
        </p:spPr>
        <p:txBody>
          <a:bodyPr wrap="square" rtlCol="0" anchor="ctr"/>
          <a:lstStyle/>
          <a:p>
            <a:pPr algn="ctr" indent="0" marL="0">
              <a:buNone/>
            </a:pPr>
            <a:r>
              <a:rPr lang="en-US" sz="10000" b="1" spc="600" kern="0" dirty="0">
                <a:solidFill>
                  <a:srgbClr val="E87722"/>
                </a:solidFill>
                <a:latin typeface="Calibri" pitchFamily="34" charset="0"/>
                <a:ea typeface="Calibri" pitchFamily="34" charset="-122"/>
                <a:cs typeface="Calibri" pitchFamily="34" charset="-120"/>
              </a:rPr>
              <a:t>CELEBRATIONS</a:t>
            </a:r>
            <a:endParaRPr lang="en-US" sz="10000" dirty="0"/>
          </a:p>
        </p:txBody>
      </p:sp>
      <p:sp>
        <p:nvSpPr>
          <p:cNvPr id="6" name="Text 3"/>
          <p:cNvSpPr/>
          <p:nvPr/>
        </p:nvSpPr>
        <p:spPr>
          <a:xfrm>
            <a:off x="822960" y="4023360"/>
            <a:ext cx="10545775" cy="457200"/>
          </a:xfrm>
          <a:prstGeom prst="rect">
            <a:avLst/>
          </a:prstGeom>
          <a:noFill/>
          <a:ln/>
        </p:spPr>
        <p:txBody>
          <a:bodyPr wrap="square" rtlCol="0" anchor="ctr"/>
          <a:lstStyle/>
          <a:p>
            <a:pPr algn="ctr" indent="0" marL="0">
              <a:buNone/>
            </a:pPr>
            <a:r>
              <a:rPr lang="en-US" sz="2600" dirty="0">
                <a:solidFill>
                  <a:srgbClr val="FFFFFF"/>
                </a:solidFill>
                <a:latin typeface="Calibri" pitchFamily="34" charset="0"/>
                <a:ea typeface="Calibri" pitchFamily="34" charset="-122"/>
                <a:cs typeface="Calibri" pitchFamily="34" charset="-120"/>
              </a:rPr>
              <a:t>We Run on EOS North Texas 2026</a:t>
            </a:r>
            <a:endParaRPr lang="en-US" sz="2600" dirty="0"/>
          </a:p>
        </p:txBody>
      </p:sp>
      <p:sp>
        <p:nvSpPr>
          <p:cNvPr id="7" name="Text 4"/>
          <p:cNvSpPr/>
          <p:nvPr/>
        </p:nvSpPr>
        <p:spPr>
          <a:xfrm>
            <a:off x="822960" y="4572000"/>
            <a:ext cx="10545775" cy="365760"/>
          </a:xfrm>
          <a:prstGeom prst="rect">
            <a:avLst/>
          </a:prstGeom>
          <a:noFill/>
          <a:ln/>
        </p:spPr>
        <p:txBody>
          <a:bodyPr wrap="square" rtlCol="0" anchor="ctr"/>
          <a:lstStyle/>
          <a:p>
            <a:pPr algn="ctr" indent="0" marL="0">
              <a:buNone/>
            </a:pPr>
            <a:r>
              <a:rPr lang="en-US" sz="1800" dirty="0">
                <a:solidFill>
                  <a:srgbClr val="C9D2DE"/>
                </a:solidFill>
                <a:latin typeface="Calibri" pitchFamily="34" charset="0"/>
                <a:ea typeface="Calibri" pitchFamily="34" charset="-122"/>
                <a:cs typeface="Calibri" pitchFamily="34" charset="-120"/>
              </a:rPr>
              <a:t>Monday, September 14, 2026   ·   The Statler, Dallas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sp>
        <p:nvSpPr>
          <p:cNvPr id="4" name="Text 1"/>
          <p:cNvSpPr/>
          <p:nvPr/>
        </p:nvSpPr>
        <p:spPr>
          <a:xfrm>
            <a:off x="914400" y="1280160"/>
            <a:ext cx="10362895" cy="457200"/>
          </a:xfrm>
          <a:prstGeom prst="rect">
            <a:avLst/>
          </a:prstGeom>
          <a:noFill/>
          <a:ln/>
        </p:spPr>
        <p:txBody>
          <a:bodyPr wrap="square" rtlCol="0" anchor="ctr"/>
          <a:lstStyle/>
          <a:p>
            <a:pPr algn="ctr" indent="0" marL="0">
              <a:buNone/>
            </a:pPr>
            <a:r>
              <a:rPr lang="en-US" sz="1600" b="1" spc="600" kern="0" dirty="0">
                <a:solidFill>
                  <a:srgbClr val="E87722"/>
                </a:solidFill>
                <a:latin typeface="Calibri" pitchFamily="34" charset="0"/>
                <a:ea typeface="Calibri" pitchFamily="34" charset="-122"/>
                <a:cs typeface="Calibri" pitchFamily="34" charset="-120"/>
              </a:rPr>
              <a:t>COMMUNITY WIN</a:t>
            </a:r>
            <a:endParaRPr lang="en-US" sz="1600" dirty="0"/>
          </a:p>
        </p:txBody>
      </p:sp>
      <p:sp>
        <p:nvSpPr>
          <p:cNvPr id="5" name="Text 2"/>
          <p:cNvSpPr/>
          <p:nvPr/>
        </p:nvSpPr>
        <p:spPr>
          <a:xfrm>
            <a:off x="731520" y="1828800"/>
            <a:ext cx="10728655" cy="1280160"/>
          </a:xfrm>
          <a:prstGeom prst="rect">
            <a:avLst/>
          </a:prstGeom>
          <a:noFill/>
          <a:ln/>
        </p:spPr>
        <p:txBody>
          <a:bodyPr wrap="square" rtlCol="0" anchor="t"/>
          <a:lstStyle/>
          <a:p>
            <a:pPr algn="ctr" indent="0" marL="0">
              <a:buNone/>
            </a:pPr>
            <a:r>
              <a:rPr lang="en-US" sz="6000" b="1" dirty="0">
                <a:solidFill>
                  <a:srgbClr val="FFFFFF"/>
                </a:solidFill>
                <a:latin typeface="Calibri" pitchFamily="34" charset="0"/>
                <a:ea typeface="Calibri" pitchFamily="34" charset="-122"/>
                <a:cs typeface="Calibri" pitchFamily="34" charset="-120"/>
              </a:rPr>
              <a:t>Artstillery</a:t>
            </a:r>
            <a:endParaRPr lang="en-US" sz="6000" dirty="0"/>
          </a:p>
        </p:txBody>
      </p:sp>
      <p:sp>
        <p:nvSpPr>
          <p:cNvPr id="6" name="Shape 3"/>
          <p:cNvSpPr/>
          <p:nvPr/>
        </p:nvSpPr>
        <p:spPr>
          <a:xfrm>
            <a:off x="5181448" y="3246120"/>
            <a:ext cx="1828800" cy="45720"/>
          </a:xfrm>
          <a:prstGeom prst="rect">
            <a:avLst/>
          </a:prstGeom>
          <a:solidFill>
            <a:srgbClr val="E87722"/>
          </a:solidFill>
          <a:ln w="12700">
            <a:solidFill>
              <a:srgbClr val="E87722"/>
            </a:solidFill>
            <a:prstDash val="solid"/>
          </a:ln>
        </p:spPr>
      </p:sp>
      <p:sp>
        <p:nvSpPr>
          <p:cNvPr id="7" name="Text 4"/>
          <p:cNvSpPr/>
          <p:nvPr/>
        </p:nvSpPr>
        <p:spPr>
          <a:xfrm>
            <a:off x="1371600" y="3520440"/>
            <a:ext cx="9448495" cy="914400"/>
          </a:xfrm>
          <a:prstGeom prst="rect">
            <a:avLst/>
          </a:prstGeom>
          <a:noFill/>
          <a:ln/>
        </p:spPr>
        <p:txBody>
          <a:bodyPr wrap="square" rtlCol="0" anchor="t"/>
          <a:lstStyle/>
          <a:p>
            <a:pPr algn="ctr" indent="0" marL="0">
              <a:buNone/>
            </a:pPr>
            <a:r>
              <a:rPr lang="en-US" sz="2400" b="1" dirty="0">
                <a:solidFill>
                  <a:srgbClr val="E87722"/>
                </a:solidFill>
                <a:latin typeface="Calibri" pitchFamily="34" charset="0"/>
                <a:ea typeface="Calibri" pitchFamily="34" charset="-122"/>
                <a:cs typeface="Calibri" pitchFamily="34" charset="-120"/>
              </a:rPr>
              <a:t>10 years and a 2026 Moody Fund for the Arts grant</a:t>
            </a:r>
            <a:endParaRPr lang="en-US" sz="2400" dirty="0"/>
          </a:p>
        </p:txBody>
      </p:sp>
      <p:sp>
        <p:nvSpPr>
          <p:cNvPr id="8" name="Text 5"/>
          <p:cNvSpPr/>
          <p:nvPr/>
        </p:nvSpPr>
        <p:spPr>
          <a:xfrm>
            <a:off x="1828800" y="4434840"/>
            <a:ext cx="8534095" cy="1463040"/>
          </a:xfrm>
          <a:prstGeom prst="rect">
            <a:avLst/>
          </a:prstGeom>
          <a:noFill/>
          <a:ln/>
        </p:spPr>
        <p:txBody>
          <a:bodyPr wrap="square" rtlCol="0" anchor="t"/>
          <a:lstStyle/>
          <a:p>
            <a:pPr algn="ctr" indent="0" marL="0">
              <a:buNone/>
            </a:pPr>
            <a:r>
              <a:rPr lang="en-US" sz="1700" dirty="0">
                <a:solidFill>
                  <a:srgbClr val="FFFFFF"/>
                </a:solidFill>
                <a:latin typeface="Calibri" pitchFamily="34" charset="0"/>
                <a:ea typeface="Calibri" pitchFamily="34" charset="-122"/>
                <a:cs typeface="Calibri" pitchFamily="34" charset="-120"/>
              </a:rPr>
              <a:t>Celebrating 10 years (June 27, 2026). The grant supports "Dichotomy of Compassion," the current immersive multimedia production. Now Dallas and Chicago.</a:t>
            </a:r>
            <a:endParaRPr lang="en-US" sz="1700" dirty="0"/>
          </a:p>
        </p:txBody>
      </p:sp>
      <p:sp>
        <p:nvSpPr>
          <p:cNvPr id="9" name="Text 6"/>
          <p:cNvSpPr/>
          <p:nvPr/>
        </p:nvSpPr>
        <p:spPr>
          <a:xfrm>
            <a:off x="914400" y="5760720"/>
            <a:ext cx="10362895" cy="320040"/>
          </a:xfrm>
          <a:prstGeom prst="rect">
            <a:avLst/>
          </a:prstGeom>
          <a:noFill/>
          <a:ln/>
        </p:spPr>
        <p:txBody>
          <a:bodyPr wrap="square" rtlCol="0" anchor="ctr"/>
          <a:lstStyle/>
          <a:p>
            <a:pPr algn="ctr" indent="0" marL="0">
              <a:buNone/>
            </a:pPr>
            <a:r>
              <a:rPr lang="en-US" sz="1400" i="1" dirty="0">
                <a:solidFill>
                  <a:srgbClr val="C9D2DE"/>
                </a:solidFill>
                <a:latin typeface="Calibri" pitchFamily="34" charset="0"/>
                <a:ea typeface="Calibri" pitchFamily="34" charset="-122"/>
                <a:cs typeface="Calibri" pitchFamily="34" charset="-120"/>
              </a:rPr>
              <a:t>Ilknur Nilufer Ozgur, Founder, Executive and Artistic Director</a:t>
            </a:r>
            <a:endParaRPr lang="en-US" sz="1400" dirty="0"/>
          </a:p>
        </p:txBody>
      </p:sp>
      <p:sp>
        <p:nvSpPr>
          <p:cNvPr id="10" name="Text 7"/>
          <p:cNvSpPr/>
          <p:nvPr/>
        </p:nvSpPr>
        <p:spPr>
          <a:xfrm>
            <a:off x="914400" y="6080760"/>
            <a:ext cx="10362895" cy="274320"/>
          </a:xfrm>
          <a:prstGeom prst="rect">
            <a:avLst/>
          </a:prstGeom>
          <a:noFill/>
          <a:ln/>
        </p:spPr>
        <p:txBody>
          <a:bodyPr wrap="square" rtlCol="0" anchor="ctr"/>
          <a:lstStyle/>
          <a:p>
            <a:pPr algn="ctr" indent="0" marL="0">
              <a:buNone/>
            </a:pPr>
            <a:r>
              <a:rPr lang="en-US" sz="1200" dirty="0">
                <a:solidFill>
                  <a:srgbClr val="E87722"/>
                </a:solidFill>
                <a:latin typeface="Calibri" pitchFamily="34" charset="0"/>
                <a:ea typeface="Calibri" pitchFamily="34" charset="-122"/>
                <a:cs typeface="Calibri" pitchFamily="34" charset="-120"/>
              </a:rPr>
              <a:t>Implementer:  Shane Spillers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pic>
        <p:nvPicPr>
          <p:cNvPr id="4" name="Image 1" descr="/home/user/workspace/wroe-dallas-2026/deliverables/celebrations-loop/assets/austin_street.jpg">    </p:cNvPr>
          <p:cNvPicPr>
            <a:picLocks noChangeAspect="1"/>
          </p:cNvPicPr>
          <p:nvPr/>
        </p:nvPicPr>
        <p:blipFill>
          <a:blip r:embed="rId2"/>
          <a:stretch>
            <a:fillRect/>
          </a:stretch>
        </p:blipFill>
        <p:spPr>
          <a:xfrm>
            <a:off x="758952" y="457200"/>
            <a:ext cx="4608576" cy="5760720"/>
          </a:xfrm>
          <a:prstGeom prst="rect">
            <a:avLst/>
          </a:prstGeom>
        </p:spPr>
      </p:pic>
      <p:sp>
        <p:nvSpPr>
          <p:cNvPr id="5" name="Text 1"/>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COMMUNITY WIN</a:t>
            </a:r>
            <a:endParaRPr lang="en-US" sz="1200" dirty="0"/>
          </a:p>
        </p:txBody>
      </p:sp>
      <p:sp>
        <p:nvSpPr>
          <p:cNvPr id="6" name="Text 2"/>
          <p:cNvSpPr/>
          <p:nvPr/>
        </p:nvSpPr>
        <p:spPr>
          <a:xfrm>
            <a:off x="5943600" y="1143000"/>
            <a:ext cx="5790895" cy="1554480"/>
          </a:xfrm>
          <a:prstGeom prst="rect">
            <a:avLst/>
          </a:prstGeom>
          <a:noFill/>
          <a:ln/>
        </p:spPr>
        <p:txBody>
          <a:bodyPr wrap="square" rtlCol="0" anchor="t"/>
          <a:lstStyle/>
          <a:p>
            <a:pPr algn="l" indent="0" marL="0">
              <a:buNone/>
            </a:pPr>
            <a:r>
              <a:rPr lang="en-US" sz="2800" b="1" dirty="0">
                <a:solidFill>
                  <a:srgbClr val="FFFFFF"/>
                </a:solidFill>
                <a:latin typeface="Calibri" pitchFamily="34" charset="0"/>
                <a:ea typeface="Calibri" pitchFamily="34" charset="-122"/>
                <a:cs typeface="Calibri" pitchFamily="34" charset="-120"/>
              </a:rPr>
              <a:t>Austin Street Center</a:t>
            </a:r>
            <a:endParaRPr lang="en-US" sz="2800" dirty="0"/>
          </a:p>
        </p:txBody>
      </p:sp>
      <p:sp>
        <p:nvSpPr>
          <p:cNvPr id="7" name="Shape 3"/>
          <p:cNvSpPr/>
          <p:nvPr/>
        </p:nvSpPr>
        <p:spPr>
          <a:xfrm>
            <a:off x="5943600" y="2834640"/>
            <a:ext cx="914400" cy="45720"/>
          </a:xfrm>
          <a:prstGeom prst="rect">
            <a:avLst/>
          </a:prstGeom>
          <a:solidFill>
            <a:srgbClr val="E87722"/>
          </a:solidFill>
          <a:ln w="12700">
            <a:solidFill>
              <a:srgbClr val="E87722"/>
            </a:solidFill>
            <a:prstDash val="solid"/>
          </a:ln>
        </p:spPr>
      </p:sp>
      <p:sp>
        <p:nvSpPr>
          <p:cNvPr id="8" name="Text 4"/>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D CEO 2026 Nonprofit and Corporate Citizenship Finalist</a:t>
            </a:r>
            <a:endParaRPr lang="en-US" sz="1800" dirty="0"/>
          </a:p>
        </p:txBody>
      </p:sp>
      <p:sp>
        <p:nvSpPr>
          <p:cNvPr id="9" name="Text 5"/>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Dallas. Record 640 housing placements in FY25 (up 25%). Record revenue in FY25, up 17% year-over-year and 36% over two years.</a:t>
            </a:r>
            <a:endParaRPr lang="en-US" sz="1400" dirty="0"/>
          </a:p>
        </p:txBody>
      </p:sp>
      <p:sp>
        <p:nvSpPr>
          <p:cNvPr id="10" name="Text 6"/>
          <p:cNvSpPr/>
          <p:nvPr/>
        </p:nvSpPr>
        <p:spPr>
          <a:xfrm>
            <a:off x="5943600" y="5623560"/>
            <a:ext cx="5790895" cy="32004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Daniel Roby, CEO</a:t>
            </a:r>
            <a:endParaRPr lang="en-US" sz="1200" dirty="0"/>
          </a:p>
        </p:txBody>
      </p:sp>
      <p:sp>
        <p:nvSpPr>
          <p:cNvPr id="11" name="Text 7"/>
          <p:cNvSpPr/>
          <p:nvPr/>
        </p:nvSpPr>
        <p:spPr>
          <a:xfrm>
            <a:off x="5943600" y="5943600"/>
            <a:ext cx="5790895" cy="274320"/>
          </a:xfrm>
          <a:prstGeom prst="rect">
            <a:avLst/>
          </a:prstGeom>
          <a:noFill/>
          <a:ln/>
        </p:spPr>
        <p:txBody>
          <a:bodyPr wrap="square" rtlCol="0" anchor="ctr"/>
          <a:lstStyle/>
          <a:p>
            <a:pPr algn="l" indent="0" marL="0">
              <a:buNone/>
            </a:pPr>
            <a:r>
              <a:rPr lang="en-US" sz="1100" dirty="0">
                <a:solidFill>
                  <a:srgbClr val="E87722"/>
                </a:solidFill>
                <a:latin typeface="Calibri" pitchFamily="34" charset="0"/>
                <a:ea typeface="Calibri" pitchFamily="34" charset="-122"/>
                <a:cs typeface="Calibri" pitchFamily="34" charset="-120"/>
              </a:rPr>
              <a:t>Implementer:  Kevin Taylor</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sp>
        <p:nvSpPr>
          <p:cNvPr id="4" name="Text 1"/>
          <p:cNvSpPr/>
          <p:nvPr/>
        </p:nvSpPr>
        <p:spPr>
          <a:xfrm>
            <a:off x="914400" y="1280160"/>
            <a:ext cx="10362895" cy="457200"/>
          </a:xfrm>
          <a:prstGeom prst="rect">
            <a:avLst/>
          </a:prstGeom>
          <a:noFill/>
          <a:ln/>
        </p:spPr>
        <p:txBody>
          <a:bodyPr wrap="square" rtlCol="0" anchor="ctr"/>
          <a:lstStyle/>
          <a:p>
            <a:pPr algn="ctr" indent="0" marL="0">
              <a:buNone/>
            </a:pPr>
            <a:r>
              <a:rPr lang="en-US" sz="1600" b="1" spc="600" kern="0" dirty="0">
                <a:solidFill>
                  <a:srgbClr val="E87722"/>
                </a:solidFill>
                <a:latin typeface="Calibri" pitchFamily="34" charset="0"/>
                <a:ea typeface="Calibri" pitchFamily="34" charset="-122"/>
                <a:cs typeface="Calibri" pitchFamily="34" charset="-120"/>
              </a:rPr>
              <a:t>COMMUNITY WIN</a:t>
            </a:r>
            <a:endParaRPr lang="en-US" sz="1600" dirty="0"/>
          </a:p>
        </p:txBody>
      </p:sp>
      <p:sp>
        <p:nvSpPr>
          <p:cNvPr id="5" name="Text 2"/>
          <p:cNvSpPr/>
          <p:nvPr/>
        </p:nvSpPr>
        <p:spPr>
          <a:xfrm>
            <a:off x="731520" y="1828800"/>
            <a:ext cx="10728655" cy="1280160"/>
          </a:xfrm>
          <a:prstGeom prst="rect">
            <a:avLst/>
          </a:prstGeom>
          <a:noFill/>
          <a:ln/>
        </p:spPr>
        <p:txBody>
          <a:bodyPr wrap="square" rtlCol="0" anchor="t"/>
          <a:lstStyle/>
          <a:p>
            <a:pPr algn="ctr" indent="0" marL="0">
              <a:buNone/>
            </a:pPr>
            <a:r>
              <a:rPr lang="en-US" sz="6000" b="1" dirty="0">
                <a:solidFill>
                  <a:srgbClr val="FFFFFF"/>
                </a:solidFill>
                <a:latin typeface="Calibri" pitchFamily="34" charset="0"/>
                <a:ea typeface="Calibri" pitchFamily="34" charset="-122"/>
                <a:cs typeface="Calibri" pitchFamily="34" charset="-120"/>
              </a:rPr>
              <a:t>B2 Design Co</a:t>
            </a:r>
            <a:endParaRPr lang="en-US" sz="6000" dirty="0"/>
          </a:p>
        </p:txBody>
      </p:sp>
      <p:sp>
        <p:nvSpPr>
          <p:cNvPr id="6" name="Shape 3"/>
          <p:cNvSpPr/>
          <p:nvPr/>
        </p:nvSpPr>
        <p:spPr>
          <a:xfrm>
            <a:off x="5181448" y="3246120"/>
            <a:ext cx="1828800" cy="45720"/>
          </a:xfrm>
          <a:prstGeom prst="rect">
            <a:avLst/>
          </a:prstGeom>
          <a:solidFill>
            <a:srgbClr val="E87722"/>
          </a:solidFill>
          <a:ln w="12700">
            <a:solidFill>
              <a:srgbClr val="E87722"/>
            </a:solidFill>
            <a:prstDash val="solid"/>
          </a:ln>
        </p:spPr>
      </p:sp>
      <p:sp>
        <p:nvSpPr>
          <p:cNvPr id="7" name="Text 4"/>
          <p:cNvSpPr/>
          <p:nvPr/>
        </p:nvSpPr>
        <p:spPr>
          <a:xfrm>
            <a:off x="1371600" y="3520440"/>
            <a:ext cx="9448495" cy="914400"/>
          </a:xfrm>
          <a:prstGeom prst="rect">
            <a:avLst/>
          </a:prstGeom>
          <a:noFill/>
          <a:ln/>
        </p:spPr>
        <p:txBody>
          <a:bodyPr wrap="square" rtlCol="0" anchor="t"/>
          <a:lstStyle/>
          <a:p>
            <a:pPr algn="ctr" indent="0" marL="0">
              <a:buNone/>
            </a:pPr>
            <a:r>
              <a:rPr lang="en-US" sz="2400" b="1" dirty="0">
                <a:solidFill>
                  <a:srgbClr val="E87722"/>
                </a:solidFill>
                <a:latin typeface="Calibri" pitchFamily="34" charset="0"/>
                <a:ea typeface="Calibri" pitchFamily="34" charset="-122"/>
                <a:cs typeface="Calibri" pitchFamily="34" charset="-120"/>
              </a:rPr>
              <a:t>Connect CRE 2025 Women in Real Estate, Texas honoree</a:t>
            </a:r>
            <a:endParaRPr lang="en-US" sz="2400" dirty="0"/>
          </a:p>
        </p:txBody>
      </p:sp>
      <p:sp>
        <p:nvSpPr>
          <p:cNvPr id="8" name="Text 5"/>
          <p:cNvSpPr/>
          <p:nvPr/>
        </p:nvSpPr>
        <p:spPr>
          <a:xfrm>
            <a:off x="1828800" y="4434840"/>
            <a:ext cx="8534095" cy="1463040"/>
          </a:xfrm>
          <a:prstGeom prst="rect">
            <a:avLst/>
          </a:prstGeom>
          <a:noFill/>
          <a:ln/>
        </p:spPr>
        <p:txBody>
          <a:bodyPr wrap="square" rtlCol="0" anchor="t"/>
          <a:lstStyle/>
          <a:p>
            <a:pPr algn="ctr" indent="0" marL="0">
              <a:buNone/>
            </a:pPr>
            <a:r>
              <a:rPr lang="en-US" sz="1700" dirty="0">
                <a:solidFill>
                  <a:srgbClr val="FFFFFF"/>
                </a:solidFill>
                <a:latin typeface="Calibri" pitchFamily="34" charset="0"/>
                <a:ea typeface="Calibri" pitchFamily="34" charset="-122"/>
                <a:cs typeface="Calibri" pitchFamily="34" charset="-120"/>
              </a:rPr>
              <a:t>Founder and CEO B. Allison Brooks, AIA (October 2025). Recently completed interiors for HALL Park Hotel and The Ludlow. Offices in Dallas, Chicago, Miami, and Chapel Hill.</a:t>
            </a:r>
            <a:endParaRPr lang="en-US" sz="1700" dirty="0"/>
          </a:p>
        </p:txBody>
      </p:sp>
      <p:sp>
        <p:nvSpPr>
          <p:cNvPr id="9" name="Text 6"/>
          <p:cNvSpPr/>
          <p:nvPr/>
        </p:nvSpPr>
        <p:spPr>
          <a:xfrm>
            <a:off x="914400" y="5760720"/>
            <a:ext cx="10362895" cy="320040"/>
          </a:xfrm>
          <a:prstGeom prst="rect">
            <a:avLst/>
          </a:prstGeom>
          <a:noFill/>
          <a:ln/>
        </p:spPr>
        <p:txBody>
          <a:bodyPr wrap="square" rtlCol="0" anchor="ctr"/>
          <a:lstStyle/>
          <a:p>
            <a:pPr algn="ctr" indent="0" marL="0">
              <a:buNone/>
            </a:pPr>
            <a:r>
              <a:rPr lang="en-US" sz="1400" i="1" dirty="0">
                <a:solidFill>
                  <a:srgbClr val="C9D2DE"/>
                </a:solidFill>
                <a:latin typeface="Calibri" pitchFamily="34" charset="0"/>
                <a:ea typeface="Calibri" pitchFamily="34" charset="-122"/>
                <a:cs typeface="Calibri" pitchFamily="34" charset="-120"/>
              </a:rPr>
              <a:t>B. Allison Brooks, Founder and CEO</a:t>
            </a:r>
            <a:endParaRPr lang="en-US" sz="1400" dirty="0"/>
          </a:p>
        </p:txBody>
      </p:sp>
      <p:sp>
        <p:nvSpPr>
          <p:cNvPr id="10" name="Text 7"/>
          <p:cNvSpPr/>
          <p:nvPr/>
        </p:nvSpPr>
        <p:spPr>
          <a:xfrm>
            <a:off x="914400" y="6080760"/>
            <a:ext cx="10362895" cy="274320"/>
          </a:xfrm>
          <a:prstGeom prst="rect">
            <a:avLst/>
          </a:prstGeom>
          <a:noFill/>
          <a:ln/>
        </p:spPr>
        <p:txBody>
          <a:bodyPr wrap="square" rtlCol="0" anchor="ctr"/>
          <a:lstStyle/>
          <a:p>
            <a:pPr algn="ctr" indent="0" marL="0">
              <a:buNone/>
            </a:pPr>
            <a:r>
              <a:rPr lang="en-US" sz="1200" dirty="0">
                <a:solidFill>
                  <a:srgbClr val="E87722"/>
                </a:solidFill>
                <a:latin typeface="Calibri" pitchFamily="34" charset="0"/>
                <a:ea typeface="Calibri" pitchFamily="34" charset="-122"/>
                <a:cs typeface="Calibri" pitchFamily="34" charset="-120"/>
              </a:rPr>
              <a:t>Implementer:  Shane Spillers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sp>
        <p:nvSpPr>
          <p:cNvPr id="4" name="Text 1"/>
          <p:cNvSpPr/>
          <p:nvPr/>
        </p:nvSpPr>
        <p:spPr>
          <a:xfrm>
            <a:off x="914400" y="1280160"/>
            <a:ext cx="10362895" cy="457200"/>
          </a:xfrm>
          <a:prstGeom prst="rect">
            <a:avLst/>
          </a:prstGeom>
          <a:noFill/>
          <a:ln/>
        </p:spPr>
        <p:txBody>
          <a:bodyPr wrap="square" rtlCol="0" anchor="ctr"/>
          <a:lstStyle/>
          <a:p>
            <a:pPr algn="ctr" indent="0" marL="0">
              <a:buNone/>
            </a:pPr>
            <a:r>
              <a:rPr lang="en-US" sz="1600" b="1" spc="600" kern="0" dirty="0">
                <a:solidFill>
                  <a:srgbClr val="E87722"/>
                </a:solidFill>
                <a:latin typeface="Calibri" pitchFamily="34" charset="0"/>
                <a:ea typeface="Calibri" pitchFamily="34" charset="-122"/>
                <a:cs typeface="Calibri" pitchFamily="34" charset="-120"/>
              </a:rPr>
              <a:t>COMMUNITY WIN</a:t>
            </a:r>
            <a:endParaRPr lang="en-US" sz="1600" dirty="0"/>
          </a:p>
        </p:txBody>
      </p:sp>
      <p:sp>
        <p:nvSpPr>
          <p:cNvPr id="5" name="Text 2"/>
          <p:cNvSpPr/>
          <p:nvPr/>
        </p:nvSpPr>
        <p:spPr>
          <a:xfrm>
            <a:off x="731520" y="1828800"/>
            <a:ext cx="10728655" cy="1280160"/>
          </a:xfrm>
          <a:prstGeom prst="rect">
            <a:avLst/>
          </a:prstGeom>
          <a:noFill/>
          <a:ln/>
        </p:spPr>
        <p:txBody>
          <a:bodyPr wrap="square" rtlCol="0" anchor="t"/>
          <a:lstStyle/>
          <a:p>
            <a:pPr algn="ctr" indent="0" marL="0">
              <a:buNone/>
            </a:pPr>
            <a:r>
              <a:rPr lang="en-US" sz="6000" b="1" dirty="0">
                <a:solidFill>
                  <a:srgbClr val="FFFFFF"/>
                </a:solidFill>
                <a:latin typeface="Calibri" pitchFamily="34" charset="0"/>
                <a:ea typeface="Calibri" pitchFamily="34" charset="-122"/>
                <a:cs typeface="Calibri" pitchFamily="34" charset="-120"/>
              </a:rPr>
              <a:t>BAT Security</a:t>
            </a:r>
            <a:endParaRPr lang="en-US" sz="6000" dirty="0"/>
          </a:p>
        </p:txBody>
      </p:sp>
      <p:sp>
        <p:nvSpPr>
          <p:cNvPr id="6" name="Shape 3"/>
          <p:cNvSpPr/>
          <p:nvPr/>
        </p:nvSpPr>
        <p:spPr>
          <a:xfrm>
            <a:off x="5181448" y="3246120"/>
            <a:ext cx="1828800" cy="45720"/>
          </a:xfrm>
          <a:prstGeom prst="rect">
            <a:avLst/>
          </a:prstGeom>
          <a:solidFill>
            <a:srgbClr val="E87722"/>
          </a:solidFill>
          <a:ln w="12700">
            <a:solidFill>
              <a:srgbClr val="E87722"/>
            </a:solidFill>
            <a:prstDash val="solid"/>
          </a:ln>
        </p:spPr>
      </p:sp>
      <p:sp>
        <p:nvSpPr>
          <p:cNvPr id="7" name="Text 4"/>
          <p:cNvSpPr/>
          <p:nvPr/>
        </p:nvSpPr>
        <p:spPr>
          <a:xfrm>
            <a:off x="1371600" y="3520440"/>
            <a:ext cx="9448495" cy="914400"/>
          </a:xfrm>
          <a:prstGeom prst="rect">
            <a:avLst/>
          </a:prstGeom>
          <a:noFill/>
          <a:ln/>
        </p:spPr>
        <p:txBody>
          <a:bodyPr wrap="square" rtlCol="0" anchor="t"/>
          <a:lstStyle/>
          <a:p>
            <a:pPr algn="ctr" indent="0" marL="0">
              <a:buNone/>
            </a:pPr>
            <a:r>
              <a:rPr lang="en-US" sz="2400" b="1" dirty="0">
                <a:solidFill>
                  <a:srgbClr val="E87722"/>
                </a:solidFill>
                <a:latin typeface="Calibri" pitchFamily="34" charset="0"/>
                <a:ea typeface="Calibri" pitchFamily="34" charset="-122"/>
                <a:cs typeface="Calibri" pitchFamily="34" charset="-120"/>
              </a:rPr>
              <a:t>Up 23% in gross revenue in the first 7 months on EOS</a:t>
            </a:r>
            <a:endParaRPr lang="en-US" sz="2400" dirty="0"/>
          </a:p>
        </p:txBody>
      </p:sp>
      <p:sp>
        <p:nvSpPr>
          <p:cNvPr id="8" name="Text 5"/>
          <p:cNvSpPr/>
          <p:nvPr/>
        </p:nvSpPr>
        <p:spPr>
          <a:xfrm>
            <a:off x="1828800" y="4434840"/>
            <a:ext cx="8534095" cy="1463040"/>
          </a:xfrm>
          <a:prstGeom prst="rect">
            <a:avLst/>
          </a:prstGeom>
          <a:noFill/>
          <a:ln/>
        </p:spPr>
        <p:txBody>
          <a:bodyPr wrap="square" rtlCol="0" anchor="t"/>
          <a:lstStyle/>
          <a:p>
            <a:pPr algn="ctr" indent="0" marL="0">
              <a:buNone/>
            </a:pPr>
            <a:r>
              <a:rPr lang="en-US" sz="1700" dirty="0">
                <a:solidFill>
                  <a:srgbClr val="FFFFFF"/>
                </a:solidFill>
                <a:latin typeface="Calibri" pitchFamily="34" charset="0"/>
                <a:ea typeface="Calibri" pitchFamily="34" charset="-122"/>
                <a:cs typeface="Calibri" pitchFamily="34" charset="-120"/>
              </a:rPr>
              <a:t>Waxahachie. Started Focus Day in January 2026 and posted Core Values throughout the office. Momentum has held all year.</a:t>
            </a:r>
            <a:endParaRPr lang="en-US" sz="1700" dirty="0"/>
          </a:p>
        </p:txBody>
      </p:sp>
      <p:sp>
        <p:nvSpPr>
          <p:cNvPr id="9" name="Text 6"/>
          <p:cNvSpPr/>
          <p:nvPr/>
        </p:nvSpPr>
        <p:spPr>
          <a:xfrm>
            <a:off x="914400" y="5760720"/>
            <a:ext cx="10362895" cy="320040"/>
          </a:xfrm>
          <a:prstGeom prst="rect">
            <a:avLst/>
          </a:prstGeom>
          <a:noFill/>
          <a:ln/>
        </p:spPr>
        <p:txBody>
          <a:bodyPr wrap="square" rtlCol="0" anchor="ctr"/>
          <a:lstStyle/>
          <a:p>
            <a:pPr algn="ctr" indent="0" marL="0">
              <a:buNone/>
            </a:pPr>
            <a:r>
              <a:rPr lang="en-US" sz="1400" i="1" dirty="0">
                <a:solidFill>
                  <a:srgbClr val="C9D2DE"/>
                </a:solidFill>
                <a:latin typeface="Calibri" pitchFamily="34" charset="0"/>
                <a:ea typeface="Calibri" pitchFamily="34" charset="-122"/>
                <a:cs typeface="Calibri" pitchFamily="34" charset="-120"/>
              </a:rPr>
              <a:t>Kyle Beller, President</a:t>
            </a:r>
            <a:endParaRPr lang="en-US" sz="1400" dirty="0"/>
          </a:p>
        </p:txBody>
      </p:sp>
      <p:sp>
        <p:nvSpPr>
          <p:cNvPr id="10" name="Text 7"/>
          <p:cNvSpPr/>
          <p:nvPr/>
        </p:nvSpPr>
        <p:spPr>
          <a:xfrm>
            <a:off x="914400" y="6080760"/>
            <a:ext cx="10362895" cy="274320"/>
          </a:xfrm>
          <a:prstGeom prst="rect">
            <a:avLst/>
          </a:prstGeom>
          <a:noFill/>
          <a:ln/>
        </p:spPr>
        <p:txBody>
          <a:bodyPr wrap="square" rtlCol="0" anchor="ctr"/>
          <a:lstStyle/>
          <a:p>
            <a:pPr algn="ctr" indent="0" marL="0">
              <a:buNone/>
            </a:pPr>
            <a:r>
              <a:rPr lang="en-US" sz="1200" dirty="0">
                <a:solidFill>
                  <a:srgbClr val="E87722"/>
                </a:solidFill>
                <a:latin typeface="Calibri" pitchFamily="34" charset="0"/>
                <a:ea typeface="Calibri" pitchFamily="34" charset="-122"/>
                <a:cs typeface="Calibri" pitchFamily="34" charset="-120"/>
              </a:rPr>
              <a:t>Implementer:  Kevin Taylor</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pic>
        <p:nvPicPr>
          <p:cNvPr id="4" name="Image 1" descr="/home/user/workspace/wroe-dallas-2026/deliverables/celebrations-loop/assets/blue_mint_hero.jpg">    </p:cNvPr>
          <p:cNvPicPr>
            <a:picLocks noChangeAspect="1"/>
          </p:cNvPicPr>
          <p:nvPr/>
        </p:nvPicPr>
        <p:blipFill>
          <a:blip r:embed="rId2"/>
          <a:stretch>
            <a:fillRect/>
          </a:stretch>
        </p:blipFill>
        <p:spPr>
          <a:xfrm>
            <a:off x="457200" y="1381401"/>
            <a:ext cx="5212080" cy="3912318"/>
          </a:xfrm>
          <a:prstGeom prst="rect">
            <a:avLst/>
          </a:prstGeom>
        </p:spPr>
      </p:pic>
      <p:sp>
        <p:nvSpPr>
          <p:cNvPr id="5" name="Text 1"/>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COMMUNITY WIN</a:t>
            </a:r>
            <a:endParaRPr lang="en-US" sz="1200" dirty="0"/>
          </a:p>
        </p:txBody>
      </p:sp>
      <p:sp>
        <p:nvSpPr>
          <p:cNvPr id="6" name="Text 2"/>
          <p:cNvSpPr/>
          <p:nvPr/>
        </p:nvSpPr>
        <p:spPr>
          <a:xfrm>
            <a:off x="5943600" y="1143000"/>
            <a:ext cx="5790895" cy="1554480"/>
          </a:xfrm>
          <a:prstGeom prst="rect">
            <a:avLst/>
          </a:prstGeom>
          <a:noFill/>
          <a:ln/>
        </p:spPr>
        <p:txBody>
          <a:bodyPr wrap="square" rtlCol="0" anchor="t"/>
          <a:lstStyle/>
          <a:p>
            <a:pPr algn="l" indent="0" marL="0">
              <a:buNone/>
            </a:pPr>
            <a:r>
              <a:rPr lang="en-US" sz="3400" b="1" dirty="0">
                <a:solidFill>
                  <a:srgbClr val="FFFFFF"/>
                </a:solidFill>
                <a:latin typeface="Calibri" pitchFamily="34" charset="0"/>
                <a:ea typeface="Calibri" pitchFamily="34" charset="-122"/>
                <a:cs typeface="Calibri" pitchFamily="34" charset="-120"/>
              </a:rPr>
              <a:t>Blue Mint Thai</a:t>
            </a:r>
            <a:endParaRPr lang="en-US" sz="3400" dirty="0"/>
          </a:p>
        </p:txBody>
      </p:sp>
      <p:sp>
        <p:nvSpPr>
          <p:cNvPr id="7" name="Shape 3"/>
          <p:cNvSpPr/>
          <p:nvPr/>
        </p:nvSpPr>
        <p:spPr>
          <a:xfrm>
            <a:off x="5943600" y="2834640"/>
            <a:ext cx="914400" cy="45720"/>
          </a:xfrm>
          <a:prstGeom prst="rect">
            <a:avLst/>
          </a:prstGeom>
          <a:solidFill>
            <a:srgbClr val="E87722"/>
          </a:solidFill>
          <a:ln w="12700">
            <a:solidFill>
              <a:srgbClr val="E87722"/>
            </a:solidFill>
            <a:prstDash val="solid"/>
          </a:ln>
        </p:spPr>
      </p:sp>
      <p:sp>
        <p:nvSpPr>
          <p:cNvPr id="8" name="Text 4"/>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Multi-year Best of DFW, ESGR honors, and a House Resolution</a:t>
            </a:r>
            <a:endParaRPr lang="en-US" sz="1800" dirty="0"/>
          </a:p>
        </p:txBody>
      </p:sp>
      <p:sp>
        <p:nvSpPr>
          <p:cNvPr id="9" name="Text 5"/>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Midlothian. Best Asian Restaurant in South DFW five years running (2021–2026). ESGR Pro Patria, Patriot, and Above and Beyond awards (July 2026). House Resolution from Rep. Brian Harrison (August 2026).</a:t>
            </a:r>
            <a:endParaRPr lang="en-US" sz="1400" dirty="0"/>
          </a:p>
        </p:txBody>
      </p:sp>
      <p:sp>
        <p:nvSpPr>
          <p:cNvPr id="10" name="Text 6"/>
          <p:cNvSpPr/>
          <p:nvPr/>
        </p:nvSpPr>
        <p:spPr>
          <a:xfrm>
            <a:off x="5943600" y="5623560"/>
            <a:ext cx="5790895" cy="32004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Mike Wilson, CEO   ·   Alisa Dodenhoff</a:t>
            </a:r>
            <a:endParaRPr lang="en-US" sz="1200" dirty="0"/>
          </a:p>
        </p:txBody>
      </p:sp>
      <p:sp>
        <p:nvSpPr>
          <p:cNvPr id="11" name="Text 7"/>
          <p:cNvSpPr/>
          <p:nvPr/>
        </p:nvSpPr>
        <p:spPr>
          <a:xfrm>
            <a:off x="5943600" y="5943600"/>
            <a:ext cx="5790895" cy="274320"/>
          </a:xfrm>
          <a:prstGeom prst="rect">
            <a:avLst/>
          </a:prstGeom>
          <a:noFill/>
          <a:ln/>
        </p:spPr>
        <p:txBody>
          <a:bodyPr wrap="square" rtlCol="0" anchor="ctr"/>
          <a:lstStyle/>
          <a:p>
            <a:pPr algn="l" indent="0" marL="0">
              <a:buNone/>
            </a:pPr>
            <a:r>
              <a:rPr lang="en-US" sz="1100" dirty="0">
                <a:solidFill>
                  <a:srgbClr val="E87722"/>
                </a:solidFill>
                <a:latin typeface="Calibri" pitchFamily="34" charset="0"/>
                <a:ea typeface="Calibri" pitchFamily="34" charset="-122"/>
                <a:cs typeface="Calibri" pitchFamily="34" charset="-120"/>
              </a:rPr>
              <a:t>Implementer:  Kevin Taylor</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pic>
        <p:nvPicPr>
          <p:cNvPr id="4" name="Image 1" descr="/home/user/workspace/wroe-dallas-2026/deliverables/celebrations-loop/assets/brainstorm_jason.jpg">    </p:cNvPr>
          <p:cNvPicPr>
            <a:picLocks noChangeAspect="1"/>
          </p:cNvPicPr>
          <p:nvPr/>
        </p:nvPicPr>
        <p:blipFill>
          <a:blip r:embed="rId2"/>
          <a:stretch>
            <a:fillRect/>
          </a:stretch>
        </p:blipFill>
        <p:spPr>
          <a:xfrm>
            <a:off x="457200" y="1599657"/>
            <a:ext cx="5212080" cy="3475806"/>
          </a:xfrm>
          <a:prstGeom prst="rect">
            <a:avLst/>
          </a:prstGeom>
        </p:spPr>
      </p:pic>
      <p:sp>
        <p:nvSpPr>
          <p:cNvPr id="5" name="Text 1"/>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EY EOY 2026 · SOUTHWEST FINALIST</a:t>
            </a:r>
            <a:endParaRPr lang="en-US" sz="1200" dirty="0"/>
          </a:p>
        </p:txBody>
      </p:sp>
      <p:sp>
        <p:nvSpPr>
          <p:cNvPr id="6" name="Text 2"/>
          <p:cNvSpPr/>
          <p:nvPr/>
        </p:nvSpPr>
        <p:spPr>
          <a:xfrm>
            <a:off x="5943600" y="1143000"/>
            <a:ext cx="5790895" cy="1554480"/>
          </a:xfrm>
          <a:prstGeom prst="rect">
            <a:avLst/>
          </a:prstGeom>
          <a:noFill/>
          <a:ln/>
        </p:spPr>
        <p:txBody>
          <a:bodyPr wrap="square" rtlCol="0" anchor="t"/>
          <a:lstStyle/>
          <a:p>
            <a:pPr algn="l" indent="0" marL="0">
              <a:buNone/>
            </a:pPr>
            <a:r>
              <a:rPr lang="en-US" sz="2200" b="1" dirty="0">
                <a:solidFill>
                  <a:srgbClr val="FFFFFF"/>
                </a:solidFill>
                <a:latin typeface="Calibri" pitchFamily="34" charset="0"/>
                <a:ea typeface="Calibri" pitchFamily="34" charset="-122"/>
                <a:cs typeface="Calibri" pitchFamily="34" charset="-120"/>
              </a:rPr>
              <a:t>Brain Storm Shelter Restaurants</a:t>
            </a:r>
            <a:endParaRPr lang="en-US" sz="2200" dirty="0"/>
          </a:p>
        </p:txBody>
      </p:sp>
      <p:sp>
        <p:nvSpPr>
          <p:cNvPr id="7" name="Shape 3"/>
          <p:cNvSpPr/>
          <p:nvPr/>
        </p:nvSpPr>
        <p:spPr>
          <a:xfrm>
            <a:off x="5943600" y="2834640"/>
            <a:ext cx="914400" cy="45720"/>
          </a:xfrm>
          <a:prstGeom prst="rect">
            <a:avLst/>
          </a:prstGeom>
          <a:solidFill>
            <a:srgbClr val="E87722"/>
          </a:solidFill>
          <a:ln w="12700">
            <a:solidFill>
              <a:srgbClr val="E87722"/>
            </a:solidFill>
            <a:prstDash val="solid"/>
          </a:ln>
        </p:spPr>
      </p:sp>
      <p:sp>
        <p:nvSpPr>
          <p:cNvPr id="8" name="Text 4"/>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Southwest Finalist</a:t>
            </a:r>
            <a:endParaRPr lang="en-US" sz="1800" dirty="0"/>
          </a:p>
        </p:txBody>
      </p:sp>
      <p:sp>
        <p:nvSpPr>
          <p:cNvPr id="9" name="Text 5"/>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Jason Boso — founder of Truck Yard, Twisted Root Burger Co., and more. Also a finalist in the Oklahoma City ULI Impact Awards.</a:t>
            </a:r>
            <a:endParaRPr lang="en-US" sz="1400" dirty="0"/>
          </a:p>
        </p:txBody>
      </p:sp>
      <p:sp>
        <p:nvSpPr>
          <p:cNvPr id="10" name="Text 6"/>
          <p:cNvSpPr/>
          <p:nvPr/>
        </p:nvSpPr>
        <p:spPr>
          <a:xfrm>
            <a:off x="5943600" y="5623560"/>
            <a:ext cx="5790895" cy="32004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Jason Boso, Founder</a:t>
            </a:r>
            <a:endParaRPr lang="en-US" sz="1200" dirty="0"/>
          </a:p>
        </p:txBody>
      </p:sp>
      <p:sp>
        <p:nvSpPr>
          <p:cNvPr id="11" name="Text 7"/>
          <p:cNvSpPr/>
          <p:nvPr/>
        </p:nvSpPr>
        <p:spPr>
          <a:xfrm>
            <a:off x="5943600" y="5943600"/>
            <a:ext cx="5790895" cy="274320"/>
          </a:xfrm>
          <a:prstGeom prst="rect">
            <a:avLst/>
          </a:prstGeom>
          <a:noFill/>
          <a:ln/>
        </p:spPr>
        <p:txBody>
          <a:bodyPr wrap="square" rtlCol="0" anchor="ctr"/>
          <a:lstStyle/>
          <a:p>
            <a:pPr algn="l" indent="0" marL="0">
              <a:buNone/>
            </a:pPr>
            <a:r>
              <a:rPr lang="en-US" sz="1100" dirty="0">
                <a:solidFill>
                  <a:srgbClr val="E87722"/>
                </a:solidFill>
                <a:latin typeface="Calibri" pitchFamily="34" charset="0"/>
                <a:ea typeface="Calibri" pitchFamily="34" charset="-122"/>
                <a:cs typeface="Calibri" pitchFamily="34" charset="-120"/>
              </a:rPr>
              <a:t>Implementer:  Amanda Matthews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pic>
        <p:nvPicPr>
          <p:cNvPr id="4" name="Image 1" descr="/home/user/workspace/wroe-dallas-2026/deliverables/celebrations-loop/assets/excel_gabe.jpg">    </p:cNvPr>
          <p:cNvPicPr>
            <a:picLocks noChangeAspect="1"/>
          </p:cNvPicPr>
          <p:nvPr/>
        </p:nvPicPr>
        <p:blipFill>
          <a:blip r:embed="rId2"/>
          <a:stretch>
            <a:fillRect/>
          </a:stretch>
        </p:blipFill>
        <p:spPr>
          <a:xfrm>
            <a:off x="457200" y="1599657"/>
            <a:ext cx="5212080" cy="3475806"/>
          </a:xfrm>
          <a:prstGeom prst="rect">
            <a:avLst/>
          </a:prstGeom>
        </p:spPr>
      </p:pic>
      <p:sp>
        <p:nvSpPr>
          <p:cNvPr id="5" name="Text 1"/>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EY EOY 2026 · SOUTHWEST FINALIST</a:t>
            </a:r>
            <a:endParaRPr lang="en-US" sz="1200" dirty="0"/>
          </a:p>
        </p:txBody>
      </p:sp>
      <p:sp>
        <p:nvSpPr>
          <p:cNvPr id="6" name="Text 2"/>
          <p:cNvSpPr/>
          <p:nvPr/>
        </p:nvSpPr>
        <p:spPr>
          <a:xfrm>
            <a:off x="5943600" y="1143000"/>
            <a:ext cx="5790895" cy="1554480"/>
          </a:xfrm>
          <a:prstGeom prst="rect">
            <a:avLst/>
          </a:prstGeom>
          <a:noFill/>
          <a:ln/>
        </p:spPr>
        <p:txBody>
          <a:bodyPr wrap="square" rtlCol="0" anchor="t"/>
          <a:lstStyle/>
          <a:p>
            <a:pPr algn="l" indent="0" marL="0">
              <a:buNone/>
            </a:pPr>
            <a:r>
              <a:rPr lang="en-US" sz="2800" b="1" dirty="0">
                <a:solidFill>
                  <a:srgbClr val="FFFFFF"/>
                </a:solidFill>
                <a:latin typeface="Calibri" pitchFamily="34" charset="0"/>
                <a:ea typeface="Calibri" pitchFamily="34" charset="-122"/>
                <a:cs typeface="Calibri" pitchFamily="34" charset="-120"/>
              </a:rPr>
              <a:t>Excel Medical Staffing</a:t>
            </a:r>
            <a:endParaRPr lang="en-US" sz="2800" dirty="0"/>
          </a:p>
        </p:txBody>
      </p:sp>
      <p:sp>
        <p:nvSpPr>
          <p:cNvPr id="7" name="Shape 3"/>
          <p:cNvSpPr/>
          <p:nvPr/>
        </p:nvSpPr>
        <p:spPr>
          <a:xfrm>
            <a:off x="5943600" y="2834640"/>
            <a:ext cx="914400" cy="45720"/>
          </a:xfrm>
          <a:prstGeom prst="rect">
            <a:avLst/>
          </a:prstGeom>
          <a:solidFill>
            <a:srgbClr val="E87722"/>
          </a:solidFill>
          <a:ln w="12700">
            <a:solidFill>
              <a:srgbClr val="E87722"/>
            </a:solidFill>
            <a:prstDash val="solid"/>
          </a:ln>
        </p:spPr>
      </p:sp>
      <p:sp>
        <p:nvSpPr>
          <p:cNvPr id="8" name="Text 4"/>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Southwest Finalist</a:t>
            </a:r>
            <a:endParaRPr lang="en-US" sz="1800" dirty="0"/>
          </a:p>
        </p:txBody>
      </p:sp>
      <p:sp>
        <p:nvSpPr>
          <p:cNvPr id="9" name="Text 5"/>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Founder and CEO Gabriel Griess, U.S. Air Force Academy graduate. Grapevine-based.</a:t>
            </a:r>
            <a:endParaRPr lang="en-US" sz="1400" dirty="0"/>
          </a:p>
        </p:txBody>
      </p:sp>
      <p:sp>
        <p:nvSpPr>
          <p:cNvPr id="10" name="Text 6"/>
          <p:cNvSpPr/>
          <p:nvPr/>
        </p:nvSpPr>
        <p:spPr>
          <a:xfrm>
            <a:off x="5943600" y="5623560"/>
            <a:ext cx="5790895" cy="32004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Gabriel Griess, Founder and CEO</a:t>
            </a:r>
            <a:endParaRPr lang="en-US" sz="1200" dirty="0"/>
          </a:p>
        </p:txBody>
      </p:sp>
      <p:sp>
        <p:nvSpPr>
          <p:cNvPr id="11" name="Text 7"/>
          <p:cNvSpPr/>
          <p:nvPr/>
        </p:nvSpPr>
        <p:spPr>
          <a:xfrm>
            <a:off x="5943600" y="5943600"/>
            <a:ext cx="5790895" cy="274320"/>
          </a:xfrm>
          <a:prstGeom prst="rect">
            <a:avLst/>
          </a:prstGeom>
          <a:noFill/>
          <a:ln/>
        </p:spPr>
        <p:txBody>
          <a:bodyPr wrap="square" rtlCol="0" anchor="ctr"/>
          <a:lstStyle/>
          <a:p>
            <a:pPr algn="l" indent="0" marL="0">
              <a:buNone/>
            </a:pPr>
            <a:r>
              <a:rPr lang="en-US" sz="1100" dirty="0">
                <a:solidFill>
                  <a:srgbClr val="E87722"/>
                </a:solidFill>
                <a:latin typeface="Calibri" pitchFamily="34" charset="0"/>
                <a:ea typeface="Calibri" pitchFamily="34" charset="-122"/>
                <a:cs typeface="Calibri" pitchFamily="34" charset="-120"/>
              </a:rPr>
              <a:t>Implementer:  Justin Mink</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sp>
        <p:nvSpPr>
          <p:cNvPr id="4" name="Text 1"/>
          <p:cNvSpPr/>
          <p:nvPr/>
        </p:nvSpPr>
        <p:spPr>
          <a:xfrm>
            <a:off x="914400" y="1280160"/>
            <a:ext cx="10362895" cy="457200"/>
          </a:xfrm>
          <a:prstGeom prst="rect">
            <a:avLst/>
          </a:prstGeom>
          <a:noFill/>
          <a:ln/>
        </p:spPr>
        <p:txBody>
          <a:bodyPr wrap="square" rtlCol="0" anchor="ctr"/>
          <a:lstStyle/>
          <a:p>
            <a:pPr algn="ctr" indent="0" marL="0">
              <a:buNone/>
            </a:pPr>
            <a:r>
              <a:rPr lang="en-US" sz="1600" b="1" spc="600" kern="0" dirty="0">
                <a:solidFill>
                  <a:srgbClr val="E87722"/>
                </a:solidFill>
                <a:latin typeface="Calibri" pitchFamily="34" charset="0"/>
                <a:ea typeface="Calibri" pitchFamily="34" charset="-122"/>
                <a:cs typeface="Calibri" pitchFamily="34" charset="-120"/>
              </a:rPr>
              <a:t>EY EOY 2026 · HEARTLAND FINALIST</a:t>
            </a:r>
            <a:endParaRPr lang="en-US" sz="1600" dirty="0"/>
          </a:p>
        </p:txBody>
      </p:sp>
      <p:sp>
        <p:nvSpPr>
          <p:cNvPr id="5" name="Text 2"/>
          <p:cNvSpPr/>
          <p:nvPr/>
        </p:nvSpPr>
        <p:spPr>
          <a:xfrm>
            <a:off x="731520" y="1828800"/>
            <a:ext cx="10728655" cy="1280160"/>
          </a:xfrm>
          <a:prstGeom prst="rect">
            <a:avLst/>
          </a:prstGeom>
          <a:noFill/>
          <a:ln/>
        </p:spPr>
        <p:txBody>
          <a:bodyPr wrap="square" rtlCol="0" anchor="t"/>
          <a:lstStyle/>
          <a:p>
            <a:pPr algn="ctr" indent="0" marL="0">
              <a:buNone/>
            </a:pPr>
            <a:r>
              <a:rPr lang="en-US" sz="5200" b="1" dirty="0">
                <a:solidFill>
                  <a:srgbClr val="FFFFFF"/>
                </a:solidFill>
                <a:latin typeface="Calibri" pitchFamily="34" charset="0"/>
                <a:ea typeface="Calibri" pitchFamily="34" charset="-122"/>
                <a:cs typeface="Calibri" pitchFamily="34" charset="-120"/>
              </a:rPr>
              <a:t>HorsePower Brands</a:t>
            </a:r>
            <a:endParaRPr lang="en-US" sz="5200" dirty="0"/>
          </a:p>
        </p:txBody>
      </p:sp>
      <p:sp>
        <p:nvSpPr>
          <p:cNvPr id="6" name="Shape 3"/>
          <p:cNvSpPr/>
          <p:nvPr/>
        </p:nvSpPr>
        <p:spPr>
          <a:xfrm>
            <a:off x="5181448" y="3246120"/>
            <a:ext cx="1828800" cy="45720"/>
          </a:xfrm>
          <a:prstGeom prst="rect">
            <a:avLst/>
          </a:prstGeom>
          <a:solidFill>
            <a:srgbClr val="E87722"/>
          </a:solidFill>
          <a:ln w="12700">
            <a:solidFill>
              <a:srgbClr val="E87722"/>
            </a:solidFill>
            <a:prstDash val="solid"/>
          </a:ln>
        </p:spPr>
      </p:sp>
      <p:sp>
        <p:nvSpPr>
          <p:cNvPr id="7" name="Text 4"/>
          <p:cNvSpPr/>
          <p:nvPr/>
        </p:nvSpPr>
        <p:spPr>
          <a:xfrm>
            <a:off x="1371600" y="3520440"/>
            <a:ext cx="9448495" cy="914400"/>
          </a:xfrm>
          <a:prstGeom prst="rect">
            <a:avLst/>
          </a:prstGeom>
          <a:noFill/>
          <a:ln/>
        </p:spPr>
        <p:txBody>
          <a:bodyPr wrap="square" rtlCol="0" anchor="t"/>
          <a:lstStyle/>
          <a:p>
            <a:pPr algn="ctr" indent="0" marL="0">
              <a:buNone/>
            </a:pPr>
            <a:r>
              <a:rPr lang="en-US" sz="2400" b="1" dirty="0">
                <a:solidFill>
                  <a:srgbClr val="E87722"/>
                </a:solidFill>
                <a:latin typeface="Calibri" pitchFamily="34" charset="0"/>
                <a:ea typeface="Calibri" pitchFamily="34" charset="-122"/>
                <a:cs typeface="Calibri" pitchFamily="34" charset="-120"/>
              </a:rPr>
              <a:t>Heartland Finalist</a:t>
            </a:r>
            <a:endParaRPr lang="en-US" sz="2400" dirty="0"/>
          </a:p>
        </p:txBody>
      </p:sp>
      <p:sp>
        <p:nvSpPr>
          <p:cNvPr id="8" name="Text 5"/>
          <p:cNvSpPr/>
          <p:nvPr/>
        </p:nvSpPr>
        <p:spPr>
          <a:xfrm>
            <a:off x="1828800" y="4434840"/>
            <a:ext cx="8534095" cy="1463040"/>
          </a:xfrm>
          <a:prstGeom prst="rect">
            <a:avLst/>
          </a:prstGeom>
          <a:noFill/>
          <a:ln/>
        </p:spPr>
        <p:txBody>
          <a:bodyPr wrap="square" rtlCol="0" anchor="t"/>
          <a:lstStyle/>
          <a:p>
            <a:pPr algn="ctr" indent="0" marL="0">
              <a:buNone/>
            </a:pPr>
            <a:r>
              <a:rPr lang="en-US" sz="1700" dirty="0">
                <a:solidFill>
                  <a:srgbClr val="FFFFFF"/>
                </a:solidFill>
                <a:latin typeface="Calibri" pitchFamily="34" charset="0"/>
                <a:ea typeface="Calibri" pitchFamily="34" charset="-122"/>
                <a:cs typeface="Calibri" pitchFamily="34" charset="-120"/>
              </a:rPr>
              <a:t>CEO Tony Hulbert. Nine home-service franchise brands, five of them on Entrepreneur magazine’s 2026 Franchise 500. Omaha-based.</a:t>
            </a:r>
            <a:endParaRPr lang="en-US" sz="1700" dirty="0"/>
          </a:p>
        </p:txBody>
      </p:sp>
      <p:sp>
        <p:nvSpPr>
          <p:cNvPr id="9" name="Text 6"/>
          <p:cNvSpPr/>
          <p:nvPr/>
        </p:nvSpPr>
        <p:spPr>
          <a:xfrm>
            <a:off x="914400" y="5760720"/>
            <a:ext cx="10362895" cy="320040"/>
          </a:xfrm>
          <a:prstGeom prst="rect">
            <a:avLst/>
          </a:prstGeom>
          <a:noFill/>
          <a:ln/>
        </p:spPr>
        <p:txBody>
          <a:bodyPr wrap="square" rtlCol="0" anchor="ctr"/>
          <a:lstStyle/>
          <a:p>
            <a:pPr algn="ctr" indent="0" marL="0">
              <a:buNone/>
            </a:pPr>
            <a:r>
              <a:rPr lang="en-US" sz="1400" i="1" dirty="0">
                <a:solidFill>
                  <a:srgbClr val="C9D2DE"/>
                </a:solidFill>
                <a:latin typeface="Calibri" pitchFamily="34" charset="0"/>
                <a:ea typeface="Calibri" pitchFamily="34" charset="-122"/>
                <a:cs typeface="Calibri" pitchFamily="34" charset="-120"/>
              </a:rPr>
              <a:t>Tony Hulbert, CEO</a:t>
            </a:r>
            <a:endParaRPr lang="en-US" sz="1400" dirty="0"/>
          </a:p>
        </p:txBody>
      </p:sp>
      <p:sp>
        <p:nvSpPr>
          <p:cNvPr id="10" name="Text 7"/>
          <p:cNvSpPr/>
          <p:nvPr/>
        </p:nvSpPr>
        <p:spPr>
          <a:xfrm>
            <a:off x="914400" y="6080760"/>
            <a:ext cx="10362895" cy="274320"/>
          </a:xfrm>
          <a:prstGeom prst="rect">
            <a:avLst/>
          </a:prstGeom>
          <a:noFill/>
          <a:ln/>
        </p:spPr>
        <p:txBody>
          <a:bodyPr wrap="square" rtlCol="0" anchor="ctr"/>
          <a:lstStyle/>
          <a:p>
            <a:pPr algn="ctr" indent="0" marL="0">
              <a:buNone/>
            </a:pPr>
            <a:r>
              <a:rPr lang="en-US" sz="1200" dirty="0">
                <a:solidFill>
                  <a:srgbClr val="E87722"/>
                </a:solidFill>
                <a:latin typeface="Calibri" pitchFamily="34" charset="0"/>
                <a:ea typeface="Calibri" pitchFamily="34" charset="-122"/>
                <a:cs typeface="Calibri" pitchFamily="34" charset="-120"/>
              </a:rPr>
              <a:t>Implementer:  Justin Mink</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sp>
        <p:nvSpPr>
          <p:cNvPr id="4" name="Text 1"/>
          <p:cNvSpPr/>
          <p:nvPr/>
        </p:nvSpPr>
        <p:spPr>
          <a:xfrm>
            <a:off x="914400" y="1280160"/>
            <a:ext cx="10362895" cy="457200"/>
          </a:xfrm>
          <a:prstGeom prst="rect">
            <a:avLst/>
          </a:prstGeom>
          <a:noFill/>
          <a:ln/>
        </p:spPr>
        <p:txBody>
          <a:bodyPr wrap="square" rtlCol="0" anchor="ctr"/>
          <a:lstStyle/>
          <a:p>
            <a:pPr algn="ctr" indent="0" marL="0">
              <a:buNone/>
            </a:pPr>
            <a:r>
              <a:rPr lang="en-US" sz="1600" b="1" spc="600" kern="0" dirty="0">
                <a:solidFill>
                  <a:srgbClr val="E87722"/>
                </a:solidFill>
                <a:latin typeface="Calibri" pitchFamily="34" charset="0"/>
                <a:ea typeface="Calibri" pitchFamily="34" charset="-122"/>
                <a:cs typeface="Calibri" pitchFamily="34" charset="-120"/>
              </a:rPr>
              <a:t>COMMUNITY WIN</a:t>
            </a:r>
            <a:endParaRPr lang="en-US" sz="1600" dirty="0"/>
          </a:p>
        </p:txBody>
      </p:sp>
      <p:sp>
        <p:nvSpPr>
          <p:cNvPr id="5" name="Text 2"/>
          <p:cNvSpPr/>
          <p:nvPr/>
        </p:nvSpPr>
        <p:spPr>
          <a:xfrm>
            <a:off x="731520" y="1828800"/>
            <a:ext cx="10728655" cy="1280160"/>
          </a:xfrm>
          <a:prstGeom prst="rect">
            <a:avLst/>
          </a:prstGeom>
          <a:noFill/>
          <a:ln/>
        </p:spPr>
        <p:txBody>
          <a:bodyPr wrap="square" rtlCol="0" anchor="t"/>
          <a:lstStyle/>
          <a:p>
            <a:pPr algn="ctr" indent="0" marL="0">
              <a:buNone/>
            </a:pPr>
            <a:r>
              <a:rPr lang="en-US" sz="4400" b="1" dirty="0">
                <a:solidFill>
                  <a:srgbClr val="FFFFFF"/>
                </a:solidFill>
                <a:latin typeface="Calibri" pitchFamily="34" charset="0"/>
                <a:ea typeface="Calibri" pitchFamily="34" charset="-122"/>
                <a:cs typeface="Calibri" pitchFamily="34" charset="-120"/>
              </a:rPr>
              <a:t>KPost Roofing &amp; Waterproofing</a:t>
            </a:r>
            <a:endParaRPr lang="en-US" sz="4400" dirty="0"/>
          </a:p>
        </p:txBody>
      </p:sp>
      <p:sp>
        <p:nvSpPr>
          <p:cNvPr id="6" name="Shape 3"/>
          <p:cNvSpPr/>
          <p:nvPr/>
        </p:nvSpPr>
        <p:spPr>
          <a:xfrm>
            <a:off x="5181448" y="3246120"/>
            <a:ext cx="1828800" cy="45720"/>
          </a:xfrm>
          <a:prstGeom prst="rect">
            <a:avLst/>
          </a:prstGeom>
          <a:solidFill>
            <a:srgbClr val="E87722"/>
          </a:solidFill>
          <a:ln w="12700">
            <a:solidFill>
              <a:srgbClr val="E87722"/>
            </a:solidFill>
            <a:prstDash val="solid"/>
          </a:ln>
        </p:spPr>
      </p:sp>
      <p:sp>
        <p:nvSpPr>
          <p:cNvPr id="7" name="Text 4"/>
          <p:cNvSpPr/>
          <p:nvPr/>
        </p:nvSpPr>
        <p:spPr>
          <a:xfrm>
            <a:off x="1371600" y="3520440"/>
            <a:ext cx="9448495" cy="914400"/>
          </a:xfrm>
          <a:prstGeom prst="rect">
            <a:avLst/>
          </a:prstGeom>
          <a:noFill/>
          <a:ln/>
        </p:spPr>
        <p:txBody>
          <a:bodyPr wrap="square" rtlCol="0" anchor="t"/>
          <a:lstStyle/>
          <a:p>
            <a:pPr algn="ctr" indent="0" marL="0">
              <a:buNone/>
            </a:pPr>
            <a:r>
              <a:rPr lang="en-US" sz="2400" b="1" dirty="0">
                <a:solidFill>
                  <a:srgbClr val="E87722"/>
                </a:solidFill>
                <a:latin typeface="Calibri" pitchFamily="34" charset="0"/>
                <a:ea typeface="Calibri" pitchFamily="34" charset="-122"/>
                <a:cs typeface="Calibri" pitchFamily="34" charset="-120"/>
              </a:rPr>
              <a:t>Best-in-Class, ARMA 2026 Excellence in Asphalt Roofing</a:t>
            </a:r>
            <a:endParaRPr lang="en-US" sz="2400" dirty="0"/>
          </a:p>
        </p:txBody>
      </p:sp>
      <p:sp>
        <p:nvSpPr>
          <p:cNvPr id="8" name="Text 5"/>
          <p:cNvSpPr/>
          <p:nvPr/>
        </p:nvSpPr>
        <p:spPr>
          <a:xfrm>
            <a:off x="1828800" y="4434840"/>
            <a:ext cx="8534095" cy="1463040"/>
          </a:xfrm>
          <a:prstGeom prst="rect">
            <a:avLst/>
          </a:prstGeom>
          <a:noFill/>
          <a:ln/>
        </p:spPr>
        <p:txBody>
          <a:bodyPr wrap="square" rtlCol="0" anchor="t"/>
          <a:lstStyle/>
          <a:p>
            <a:pPr algn="ctr" indent="0" marL="0">
              <a:buNone/>
            </a:pPr>
            <a:r>
              <a:rPr lang="en-US" sz="1700" dirty="0">
                <a:solidFill>
                  <a:srgbClr val="FFFFFF"/>
                </a:solidFill>
                <a:latin typeface="Calibri" pitchFamily="34" charset="0"/>
                <a:ea typeface="Calibri" pitchFamily="34" charset="-122"/>
                <a:cs typeface="Calibri" pitchFamily="34" charset="-120"/>
              </a:rPr>
              <a:t>Commercial/Mixed Use category winner for the National Medal of Honor Museum in Arlington. Honored at the International Roofing Expo in Las Vegas, January 2026.</a:t>
            </a:r>
            <a:endParaRPr lang="en-US" sz="1700" dirty="0"/>
          </a:p>
        </p:txBody>
      </p:sp>
      <p:sp>
        <p:nvSpPr>
          <p:cNvPr id="9" name="Text 6"/>
          <p:cNvSpPr/>
          <p:nvPr/>
        </p:nvSpPr>
        <p:spPr>
          <a:xfrm>
            <a:off x="914400" y="5760720"/>
            <a:ext cx="10362895" cy="320040"/>
          </a:xfrm>
          <a:prstGeom prst="rect">
            <a:avLst/>
          </a:prstGeom>
          <a:noFill/>
          <a:ln/>
        </p:spPr>
        <p:txBody>
          <a:bodyPr wrap="square" rtlCol="0" anchor="ctr"/>
          <a:lstStyle/>
          <a:p>
            <a:pPr algn="ctr" indent="0" marL="0">
              <a:buNone/>
            </a:pPr>
            <a:r>
              <a:rPr lang="en-US" sz="1400" i="1" dirty="0">
                <a:solidFill>
                  <a:srgbClr val="C9D2DE"/>
                </a:solidFill>
                <a:latin typeface="Calibri" pitchFamily="34" charset="0"/>
                <a:ea typeface="Calibri" pitchFamily="34" charset="-122"/>
                <a:cs typeface="Calibri" pitchFamily="34" charset="-120"/>
              </a:rPr>
              <a:t>Steve Little, Keith Post, and Jayne Williams, Founders</a:t>
            </a:r>
            <a:endParaRPr lang="en-US" sz="1400" dirty="0"/>
          </a:p>
        </p:txBody>
      </p:sp>
      <p:sp>
        <p:nvSpPr>
          <p:cNvPr id="10" name="Text 7"/>
          <p:cNvSpPr/>
          <p:nvPr/>
        </p:nvSpPr>
        <p:spPr>
          <a:xfrm>
            <a:off x="914400" y="6080760"/>
            <a:ext cx="10362895" cy="274320"/>
          </a:xfrm>
          <a:prstGeom prst="rect">
            <a:avLst/>
          </a:prstGeom>
          <a:noFill/>
          <a:ln/>
        </p:spPr>
        <p:txBody>
          <a:bodyPr wrap="square" rtlCol="0" anchor="ctr"/>
          <a:lstStyle/>
          <a:p>
            <a:pPr algn="ctr" indent="0" marL="0">
              <a:buNone/>
            </a:pPr>
            <a:r>
              <a:rPr lang="en-US" sz="1200" dirty="0">
                <a:solidFill>
                  <a:srgbClr val="E87722"/>
                </a:solidFill>
                <a:latin typeface="Calibri" pitchFamily="34" charset="0"/>
                <a:ea typeface="Calibri" pitchFamily="34" charset="-122"/>
                <a:cs typeface="Calibri" pitchFamily="34" charset="-120"/>
              </a:rPr>
              <a:t>Implementer:  Shane Spillers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pic>
        <p:nvPicPr>
          <p:cNvPr id="4" name="Image 1" descr="/home/user/workspace/wroe-dallas-2026/deliverables/celebrations-loop/assets/lime_heath.jpg">    </p:cNvPr>
          <p:cNvPicPr>
            <a:picLocks noChangeAspect="1"/>
          </p:cNvPicPr>
          <p:nvPr/>
        </p:nvPicPr>
        <p:blipFill>
          <a:blip r:embed="rId2"/>
          <a:stretch>
            <a:fillRect/>
          </a:stretch>
        </p:blipFill>
        <p:spPr>
          <a:xfrm>
            <a:off x="457200" y="1599657"/>
            <a:ext cx="5212080" cy="3475806"/>
          </a:xfrm>
          <a:prstGeom prst="rect">
            <a:avLst/>
          </a:prstGeom>
        </p:spPr>
      </p:pic>
      <p:sp>
        <p:nvSpPr>
          <p:cNvPr id="5" name="Text 1"/>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EY EOY 2026 · SOUTHWEST WINNER</a:t>
            </a:r>
            <a:endParaRPr lang="en-US" sz="1200" dirty="0"/>
          </a:p>
        </p:txBody>
      </p:sp>
      <p:sp>
        <p:nvSpPr>
          <p:cNvPr id="6" name="Text 2"/>
          <p:cNvSpPr/>
          <p:nvPr/>
        </p:nvSpPr>
        <p:spPr>
          <a:xfrm>
            <a:off x="5943600" y="1143000"/>
            <a:ext cx="5790895" cy="1554480"/>
          </a:xfrm>
          <a:prstGeom prst="rect">
            <a:avLst/>
          </a:prstGeom>
          <a:noFill/>
          <a:ln/>
        </p:spPr>
        <p:txBody>
          <a:bodyPr wrap="square" rtlCol="0" anchor="t"/>
          <a:lstStyle/>
          <a:p>
            <a:pPr algn="l" indent="0" marL="0">
              <a:buNone/>
            </a:pPr>
            <a:r>
              <a:rPr lang="en-US" sz="3400" b="1" dirty="0">
                <a:solidFill>
                  <a:srgbClr val="FFFFFF"/>
                </a:solidFill>
                <a:latin typeface="Calibri" pitchFamily="34" charset="0"/>
                <a:ea typeface="Calibri" pitchFamily="34" charset="-122"/>
                <a:cs typeface="Calibri" pitchFamily="34" charset="-120"/>
              </a:rPr>
              <a:t>Lime Media Group</a:t>
            </a:r>
            <a:endParaRPr lang="en-US" sz="3400" dirty="0"/>
          </a:p>
        </p:txBody>
      </p:sp>
      <p:sp>
        <p:nvSpPr>
          <p:cNvPr id="7" name="Shape 3"/>
          <p:cNvSpPr/>
          <p:nvPr/>
        </p:nvSpPr>
        <p:spPr>
          <a:xfrm>
            <a:off x="5943600" y="2834640"/>
            <a:ext cx="914400" cy="45720"/>
          </a:xfrm>
          <a:prstGeom prst="rect">
            <a:avLst/>
          </a:prstGeom>
          <a:solidFill>
            <a:srgbClr val="E87722"/>
          </a:solidFill>
          <a:ln w="12700">
            <a:solidFill>
              <a:srgbClr val="E87722"/>
            </a:solidFill>
            <a:prstDash val="solid"/>
          </a:ln>
        </p:spPr>
      </p:sp>
      <p:sp>
        <p:nvSpPr>
          <p:cNvPr id="8" name="Text 4"/>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Southwest Winner + 2026 Top Workplaces Culture Excellence</a:t>
            </a:r>
            <a:endParaRPr lang="en-US" sz="1800" dirty="0"/>
          </a:p>
        </p:txBody>
      </p:sp>
      <p:sp>
        <p:nvSpPr>
          <p:cNvPr id="9" name="Text 5"/>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Founder and CEO Heath Hill. Rockwall-based. Top Workplaces Culture Excellence winner (July 2026).</a:t>
            </a:r>
            <a:endParaRPr lang="en-US" sz="1400" dirty="0"/>
          </a:p>
        </p:txBody>
      </p:sp>
      <p:sp>
        <p:nvSpPr>
          <p:cNvPr id="10" name="Text 6"/>
          <p:cNvSpPr/>
          <p:nvPr/>
        </p:nvSpPr>
        <p:spPr>
          <a:xfrm>
            <a:off x="5943600" y="5623560"/>
            <a:ext cx="5790895" cy="32004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Heath Hill, Founder and CEO</a:t>
            </a:r>
            <a:endParaRPr lang="en-US" sz="1200" dirty="0"/>
          </a:p>
        </p:txBody>
      </p:sp>
      <p:sp>
        <p:nvSpPr>
          <p:cNvPr id="11" name="Text 7"/>
          <p:cNvSpPr/>
          <p:nvPr/>
        </p:nvSpPr>
        <p:spPr>
          <a:xfrm>
            <a:off x="5943600" y="5943600"/>
            <a:ext cx="5790895" cy="274320"/>
          </a:xfrm>
          <a:prstGeom prst="rect">
            <a:avLst/>
          </a:prstGeom>
          <a:noFill/>
          <a:ln/>
        </p:spPr>
        <p:txBody>
          <a:bodyPr wrap="square" rtlCol="0" anchor="ctr"/>
          <a:lstStyle/>
          <a:p>
            <a:pPr algn="l" indent="0" marL="0">
              <a:buNone/>
            </a:pPr>
            <a:r>
              <a:rPr lang="en-US" sz="1100" dirty="0">
                <a:solidFill>
                  <a:srgbClr val="E87722"/>
                </a:solidFill>
                <a:latin typeface="Calibri" pitchFamily="34" charset="0"/>
                <a:ea typeface="Calibri" pitchFamily="34" charset="-122"/>
                <a:cs typeface="Calibri" pitchFamily="34" charset="-120"/>
              </a:rPr>
              <a:t>Implementer:  Leonard Lynskey</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sp>
        <p:nvSpPr>
          <p:cNvPr id="4" name="Text 1"/>
          <p:cNvSpPr/>
          <p:nvPr/>
        </p:nvSpPr>
        <p:spPr>
          <a:xfrm>
            <a:off x="914400" y="1280160"/>
            <a:ext cx="10362895" cy="457200"/>
          </a:xfrm>
          <a:prstGeom prst="rect">
            <a:avLst/>
          </a:prstGeom>
          <a:noFill/>
          <a:ln/>
        </p:spPr>
        <p:txBody>
          <a:bodyPr wrap="square" rtlCol="0" anchor="ctr"/>
          <a:lstStyle/>
          <a:p>
            <a:pPr algn="ctr" indent="0" marL="0">
              <a:buNone/>
            </a:pPr>
            <a:r>
              <a:rPr lang="en-US" sz="1600" b="1" spc="600" kern="0" dirty="0">
                <a:solidFill>
                  <a:srgbClr val="E87722"/>
                </a:solidFill>
                <a:latin typeface="Calibri" pitchFamily="34" charset="0"/>
                <a:ea typeface="Calibri" pitchFamily="34" charset="-122"/>
                <a:cs typeface="Calibri" pitchFamily="34" charset="-120"/>
              </a:rPr>
              <a:t>HEADLINE WIN</a:t>
            </a:r>
            <a:endParaRPr lang="en-US" sz="1600" dirty="0"/>
          </a:p>
        </p:txBody>
      </p:sp>
      <p:sp>
        <p:nvSpPr>
          <p:cNvPr id="5" name="Text 2"/>
          <p:cNvSpPr/>
          <p:nvPr/>
        </p:nvSpPr>
        <p:spPr>
          <a:xfrm>
            <a:off x="731520" y="1828800"/>
            <a:ext cx="10728655" cy="1280160"/>
          </a:xfrm>
          <a:prstGeom prst="rect">
            <a:avLst/>
          </a:prstGeom>
          <a:noFill/>
          <a:ln/>
        </p:spPr>
        <p:txBody>
          <a:bodyPr wrap="square" rtlCol="0" anchor="t"/>
          <a:lstStyle/>
          <a:p>
            <a:pPr algn="ctr" indent="0" marL="0">
              <a:buNone/>
            </a:pPr>
            <a:r>
              <a:rPr lang="en-US" sz="6000" b="1" dirty="0">
                <a:solidFill>
                  <a:srgbClr val="FFFFFF"/>
                </a:solidFill>
                <a:latin typeface="Calibri" pitchFamily="34" charset="0"/>
                <a:ea typeface="Calibri" pitchFamily="34" charset="-122"/>
                <a:cs typeface="Calibri" pitchFamily="34" charset="-120"/>
              </a:rPr>
              <a:t>Maverick Power</a:t>
            </a:r>
            <a:endParaRPr lang="en-US" sz="6000" dirty="0"/>
          </a:p>
        </p:txBody>
      </p:sp>
      <p:sp>
        <p:nvSpPr>
          <p:cNvPr id="6" name="Shape 3"/>
          <p:cNvSpPr/>
          <p:nvPr/>
        </p:nvSpPr>
        <p:spPr>
          <a:xfrm>
            <a:off x="5181448" y="3246120"/>
            <a:ext cx="1828800" cy="45720"/>
          </a:xfrm>
          <a:prstGeom prst="rect">
            <a:avLst/>
          </a:prstGeom>
          <a:solidFill>
            <a:srgbClr val="E87722"/>
          </a:solidFill>
          <a:ln w="12700">
            <a:solidFill>
              <a:srgbClr val="E87722"/>
            </a:solidFill>
            <a:prstDash val="solid"/>
          </a:ln>
        </p:spPr>
      </p:sp>
      <p:sp>
        <p:nvSpPr>
          <p:cNvPr id="7" name="Text 4"/>
          <p:cNvSpPr/>
          <p:nvPr/>
        </p:nvSpPr>
        <p:spPr>
          <a:xfrm>
            <a:off x="1371600" y="3520440"/>
            <a:ext cx="9448495" cy="914400"/>
          </a:xfrm>
          <a:prstGeom prst="rect">
            <a:avLst/>
          </a:prstGeom>
          <a:noFill/>
          <a:ln/>
        </p:spPr>
        <p:txBody>
          <a:bodyPr wrap="square" rtlCol="0" anchor="t"/>
          <a:lstStyle/>
          <a:p>
            <a:pPr algn="ctr" indent="0" marL="0">
              <a:buNone/>
            </a:pPr>
            <a:r>
              <a:rPr lang="en-US" sz="2400" b="1" dirty="0">
                <a:solidFill>
                  <a:srgbClr val="E87722"/>
                </a:solidFill>
                <a:latin typeface="Calibri" pitchFamily="34" charset="0"/>
                <a:ea typeface="Calibri" pitchFamily="34" charset="-122"/>
                <a:cs typeface="Calibri" pitchFamily="34" charset="-120"/>
              </a:rPr>
              <a:t>Signs $1.75 billion acquisition agreement with nVent</a:t>
            </a:r>
            <a:endParaRPr lang="en-US" sz="2400" dirty="0"/>
          </a:p>
        </p:txBody>
      </p:sp>
      <p:sp>
        <p:nvSpPr>
          <p:cNvPr id="8" name="Text 5"/>
          <p:cNvSpPr/>
          <p:nvPr/>
        </p:nvSpPr>
        <p:spPr>
          <a:xfrm>
            <a:off x="1828800" y="4434840"/>
            <a:ext cx="8534095" cy="1463040"/>
          </a:xfrm>
          <a:prstGeom prst="rect">
            <a:avLst/>
          </a:prstGeom>
          <a:noFill/>
          <a:ln/>
        </p:spPr>
        <p:txBody>
          <a:bodyPr wrap="square" rtlCol="0" anchor="t"/>
          <a:lstStyle/>
          <a:p>
            <a:pPr algn="ctr" indent="0" marL="0">
              <a:buNone/>
            </a:pPr>
            <a:r>
              <a:rPr lang="en-US" sz="1700" dirty="0">
                <a:solidFill>
                  <a:srgbClr val="FFFFFF"/>
                </a:solidFill>
                <a:latin typeface="Calibri" pitchFamily="34" charset="0"/>
                <a:ea typeface="Calibri" pitchFamily="34" charset="-122"/>
                <a:cs typeface="Calibri" pitchFamily="34" charset="-120"/>
              </a:rPr>
              <a:t>Announced Aug 24, 2026 with up to $550M more tied to 2027–2028 performance. Also No. 7 on the 2026 Inc. Regionals: Southwest list (627% growth), a 2026 Inc. 5000 honoree, and Tom Currier named a 2026 DFW Titan 100 honoree.</a:t>
            </a:r>
            <a:endParaRPr lang="en-US" sz="1700" dirty="0"/>
          </a:p>
        </p:txBody>
      </p:sp>
      <p:sp>
        <p:nvSpPr>
          <p:cNvPr id="9" name="Text 6"/>
          <p:cNvSpPr/>
          <p:nvPr/>
        </p:nvSpPr>
        <p:spPr>
          <a:xfrm>
            <a:off x="914400" y="5760720"/>
            <a:ext cx="10362895" cy="320040"/>
          </a:xfrm>
          <a:prstGeom prst="rect">
            <a:avLst/>
          </a:prstGeom>
          <a:noFill/>
          <a:ln/>
        </p:spPr>
        <p:txBody>
          <a:bodyPr wrap="square" rtlCol="0" anchor="ctr"/>
          <a:lstStyle/>
          <a:p>
            <a:pPr algn="ctr" indent="0" marL="0">
              <a:buNone/>
            </a:pPr>
            <a:r>
              <a:rPr lang="en-US" sz="1400" i="1" dirty="0">
                <a:solidFill>
                  <a:srgbClr val="C9D2DE"/>
                </a:solidFill>
                <a:latin typeface="Calibri" pitchFamily="34" charset="0"/>
                <a:ea typeface="Calibri" pitchFamily="34" charset="-122"/>
                <a:cs typeface="Calibri" pitchFamily="34" charset="-120"/>
              </a:rPr>
              <a:t>Tom Currier, President and CEO</a:t>
            </a:r>
            <a:endParaRPr lang="en-US" sz="1400" dirty="0"/>
          </a:p>
        </p:txBody>
      </p:sp>
      <p:sp>
        <p:nvSpPr>
          <p:cNvPr id="10" name="Text 7"/>
          <p:cNvSpPr/>
          <p:nvPr/>
        </p:nvSpPr>
        <p:spPr>
          <a:xfrm>
            <a:off x="914400" y="6080760"/>
            <a:ext cx="10362895" cy="274320"/>
          </a:xfrm>
          <a:prstGeom prst="rect">
            <a:avLst/>
          </a:prstGeom>
          <a:noFill/>
          <a:ln/>
        </p:spPr>
        <p:txBody>
          <a:bodyPr wrap="square" rtlCol="0" anchor="ctr"/>
          <a:lstStyle/>
          <a:p>
            <a:pPr algn="ctr" indent="0" marL="0">
              <a:buNone/>
            </a:pPr>
            <a:r>
              <a:rPr lang="en-US" sz="1200" dirty="0">
                <a:solidFill>
                  <a:srgbClr val="E87722"/>
                </a:solidFill>
                <a:latin typeface="Calibri" pitchFamily="34" charset="0"/>
                <a:ea typeface="Calibri" pitchFamily="34" charset="-122"/>
                <a:cs typeface="Calibri" pitchFamily="34" charset="-120"/>
              </a:rPr>
              <a:t>Implementer:  Shane Spillers</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pic>
        <p:nvPicPr>
          <p:cNvPr id="4" name="Image 1" descr="/home/user/workspace/wroe-dallas-2026/deliverables/celebrations-loop/assets/moonshot_ethan.jpg">    </p:cNvPr>
          <p:cNvPicPr>
            <a:picLocks noChangeAspect="1"/>
          </p:cNvPicPr>
          <p:nvPr/>
        </p:nvPicPr>
        <p:blipFill>
          <a:blip r:embed="rId2"/>
          <a:stretch>
            <a:fillRect/>
          </a:stretch>
        </p:blipFill>
        <p:spPr>
          <a:xfrm>
            <a:off x="457200" y="1599657"/>
            <a:ext cx="5212080" cy="3475806"/>
          </a:xfrm>
          <a:prstGeom prst="rect">
            <a:avLst/>
          </a:prstGeom>
        </p:spPr>
      </p:pic>
      <p:sp>
        <p:nvSpPr>
          <p:cNvPr id="5" name="Text 1"/>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EY EOY 2026 · SOUTHWEST WINNER</a:t>
            </a:r>
            <a:endParaRPr lang="en-US" sz="1200" dirty="0"/>
          </a:p>
        </p:txBody>
      </p:sp>
      <p:sp>
        <p:nvSpPr>
          <p:cNvPr id="6" name="Text 2"/>
          <p:cNvSpPr/>
          <p:nvPr/>
        </p:nvSpPr>
        <p:spPr>
          <a:xfrm>
            <a:off x="5943600" y="1143000"/>
            <a:ext cx="5790895" cy="1554480"/>
          </a:xfrm>
          <a:prstGeom prst="rect">
            <a:avLst/>
          </a:prstGeom>
          <a:noFill/>
          <a:ln/>
        </p:spPr>
        <p:txBody>
          <a:bodyPr wrap="square" rtlCol="0" anchor="t"/>
          <a:lstStyle/>
          <a:p>
            <a:pPr algn="l" indent="0" marL="0">
              <a:buNone/>
            </a:pPr>
            <a:r>
              <a:rPr lang="en-US" sz="4000" b="1" dirty="0">
                <a:solidFill>
                  <a:srgbClr val="FFFFFF"/>
                </a:solidFill>
                <a:latin typeface="Calibri" pitchFamily="34" charset="0"/>
                <a:ea typeface="Calibri" pitchFamily="34" charset="-122"/>
                <a:cs typeface="Calibri" pitchFamily="34" charset="-120"/>
              </a:rPr>
              <a:t>Moonshot</a:t>
            </a:r>
            <a:endParaRPr lang="en-US" sz="4000" dirty="0"/>
          </a:p>
        </p:txBody>
      </p:sp>
      <p:sp>
        <p:nvSpPr>
          <p:cNvPr id="7" name="Shape 3"/>
          <p:cNvSpPr/>
          <p:nvPr/>
        </p:nvSpPr>
        <p:spPr>
          <a:xfrm>
            <a:off x="5943600" y="2834640"/>
            <a:ext cx="914400" cy="45720"/>
          </a:xfrm>
          <a:prstGeom prst="rect">
            <a:avLst/>
          </a:prstGeom>
          <a:solidFill>
            <a:srgbClr val="E87722"/>
          </a:solidFill>
          <a:ln w="12700">
            <a:solidFill>
              <a:srgbClr val="E87722"/>
            </a:solidFill>
            <a:prstDash val="solid"/>
          </a:ln>
        </p:spPr>
      </p:sp>
      <p:sp>
        <p:nvSpPr>
          <p:cNvPr id="8" name="Text 4"/>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Southwest Winner — advancing to National Awards</a:t>
            </a:r>
            <a:endParaRPr lang="en-US" sz="1800" dirty="0"/>
          </a:p>
        </p:txBody>
      </p:sp>
      <p:sp>
        <p:nvSpPr>
          <p:cNvPr id="9" name="Text 5"/>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Founder and CEO Ethan Ellenberg. Denton-based. Advances to the EY National Awards in November 2026.</a:t>
            </a:r>
            <a:endParaRPr lang="en-US" sz="1400" dirty="0"/>
          </a:p>
        </p:txBody>
      </p:sp>
      <p:sp>
        <p:nvSpPr>
          <p:cNvPr id="10" name="Text 6"/>
          <p:cNvSpPr/>
          <p:nvPr/>
        </p:nvSpPr>
        <p:spPr>
          <a:xfrm>
            <a:off x="5943600" y="5623560"/>
            <a:ext cx="5790895" cy="32004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Ethan Ellenberg, Founder and CEO</a:t>
            </a:r>
            <a:endParaRPr lang="en-US" sz="1200" dirty="0"/>
          </a:p>
        </p:txBody>
      </p:sp>
      <p:sp>
        <p:nvSpPr>
          <p:cNvPr id="11" name="Text 7"/>
          <p:cNvSpPr/>
          <p:nvPr/>
        </p:nvSpPr>
        <p:spPr>
          <a:xfrm>
            <a:off x="5943600" y="5943600"/>
            <a:ext cx="5790895" cy="274320"/>
          </a:xfrm>
          <a:prstGeom prst="rect">
            <a:avLst/>
          </a:prstGeom>
          <a:noFill/>
          <a:ln/>
        </p:spPr>
        <p:txBody>
          <a:bodyPr wrap="square" rtlCol="0" anchor="ctr"/>
          <a:lstStyle/>
          <a:p>
            <a:pPr algn="l" indent="0" marL="0">
              <a:buNone/>
            </a:pPr>
            <a:r>
              <a:rPr lang="en-US" sz="1100" dirty="0">
                <a:solidFill>
                  <a:srgbClr val="E87722"/>
                </a:solidFill>
                <a:latin typeface="Calibri" pitchFamily="34" charset="0"/>
                <a:ea typeface="Calibri" pitchFamily="34" charset="-122"/>
                <a:cs typeface="Calibri" pitchFamily="34" charset="-120"/>
              </a:rPr>
              <a:t>Implementer:  Ryan Wall</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pic>
        <p:nvPicPr>
          <p:cNvPr id="4" name="Image 1" descr="/home/user/workspace/wroe-dallas-2026/deliverables/celebrations-loop/assets/neighborhood_beverly.jpg">    </p:cNvPr>
          <p:cNvPicPr>
            <a:picLocks noChangeAspect="1"/>
          </p:cNvPicPr>
          <p:nvPr/>
        </p:nvPicPr>
        <p:blipFill>
          <a:blip r:embed="rId2"/>
          <a:stretch>
            <a:fillRect/>
          </a:stretch>
        </p:blipFill>
        <p:spPr>
          <a:xfrm>
            <a:off x="457200" y="1599657"/>
            <a:ext cx="5212080" cy="3475806"/>
          </a:xfrm>
          <a:prstGeom prst="rect">
            <a:avLst/>
          </a:prstGeom>
        </p:spPr>
      </p:pic>
      <p:sp>
        <p:nvSpPr>
          <p:cNvPr id="5" name="Text 1"/>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COMMUNITY WIN</a:t>
            </a:r>
            <a:endParaRPr lang="en-US" sz="1200" dirty="0"/>
          </a:p>
        </p:txBody>
      </p:sp>
      <p:sp>
        <p:nvSpPr>
          <p:cNvPr id="6" name="Text 2"/>
          <p:cNvSpPr/>
          <p:nvPr/>
        </p:nvSpPr>
        <p:spPr>
          <a:xfrm>
            <a:off x="5943600" y="1143000"/>
            <a:ext cx="5790895" cy="1554480"/>
          </a:xfrm>
          <a:prstGeom prst="rect">
            <a:avLst/>
          </a:prstGeom>
          <a:noFill/>
          <a:ln/>
        </p:spPr>
        <p:txBody>
          <a:bodyPr wrap="square" rtlCol="0" anchor="t"/>
          <a:lstStyle/>
          <a:p>
            <a:pPr algn="l" indent="0" marL="0">
              <a:buNone/>
            </a:pPr>
            <a:r>
              <a:rPr lang="en-US" sz="2400" b="1" dirty="0">
                <a:solidFill>
                  <a:srgbClr val="FFFFFF"/>
                </a:solidFill>
                <a:latin typeface="Calibri" pitchFamily="34" charset="0"/>
                <a:ea typeface="Calibri" pitchFamily="34" charset="-122"/>
                <a:cs typeface="Calibri" pitchFamily="34" charset="-120"/>
              </a:rPr>
              <a:t>Neighborhood Management, Inc.</a:t>
            </a:r>
            <a:endParaRPr lang="en-US" sz="2400" dirty="0"/>
          </a:p>
        </p:txBody>
      </p:sp>
      <p:sp>
        <p:nvSpPr>
          <p:cNvPr id="7" name="Shape 3"/>
          <p:cNvSpPr/>
          <p:nvPr/>
        </p:nvSpPr>
        <p:spPr>
          <a:xfrm>
            <a:off x="5943600" y="2834640"/>
            <a:ext cx="914400" cy="45720"/>
          </a:xfrm>
          <a:prstGeom prst="rect">
            <a:avLst/>
          </a:prstGeom>
          <a:solidFill>
            <a:srgbClr val="E87722"/>
          </a:solidFill>
          <a:ln w="12700">
            <a:solidFill>
              <a:srgbClr val="E87722"/>
            </a:solidFill>
            <a:prstDash val="solid"/>
          </a:ln>
        </p:spPr>
      </p:sp>
      <p:sp>
        <p:nvSpPr>
          <p:cNvPr id="8" name="Text 4"/>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EY Entrepreneur Of The Year 2026 Southwest Finalist</a:t>
            </a:r>
            <a:endParaRPr lang="en-US" sz="1800" dirty="0"/>
          </a:p>
        </p:txBody>
      </p:sp>
      <p:sp>
        <p:nvSpPr>
          <p:cNvPr id="9" name="Text 5"/>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President Beverly Coghlan, PCAM — one of 44 finalists from 41 companies, announced April 21, 2026.</a:t>
            </a:r>
            <a:endParaRPr lang="en-US" sz="1400" dirty="0"/>
          </a:p>
        </p:txBody>
      </p:sp>
      <p:sp>
        <p:nvSpPr>
          <p:cNvPr id="10" name="Text 6"/>
          <p:cNvSpPr/>
          <p:nvPr/>
        </p:nvSpPr>
        <p:spPr>
          <a:xfrm>
            <a:off x="5943600" y="5623560"/>
            <a:ext cx="5790895" cy="32004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Beverly Coghlan, President</a:t>
            </a:r>
            <a:endParaRPr lang="en-US" sz="1200" dirty="0"/>
          </a:p>
        </p:txBody>
      </p:sp>
      <p:sp>
        <p:nvSpPr>
          <p:cNvPr id="11" name="Text 7"/>
          <p:cNvSpPr/>
          <p:nvPr/>
        </p:nvSpPr>
        <p:spPr>
          <a:xfrm>
            <a:off x="5943600" y="5943600"/>
            <a:ext cx="5790895" cy="274320"/>
          </a:xfrm>
          <a:prstGeom prst="rect">
            <a:avLst/>
          </a:prstGeom>
          <a:noFill/>
          <a:ln/>
        </p:spPr>
        <p:txBody>
          <a:bodyPr wrap="square" rtlCol="0" anchor="ctr"/>
          <a:lstStyle/>
          <a:p>
            <a:pPr algn="l" indent="0" marL="0">
              <a:buNone/>
            </a:pPr>
            <a:r>
              <a:rPr lang="en-US" sz="1100" dirty="0">
                <a:solidFill>
                  <a:srgbClr val="E87722"/>
                </a:solidFill>
                <a:latin typeface="Calibri" pitchFamily="34" charset="0"/>
                <a:ea typeface="Calibri" pitchFamily="34" charset="-122"/>
                <a:cs typeface="Calibri" pitchFamily="34" charset="-120"/>
              </a:rPr>
              <a:t>Implementer:  Shane Spillers</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pic>
        <p:nvPicPr>
          <p:cNvPr id="4" name="Image 1" descr="/home/user/workspace/wroe-dallas-2026/deliverables/celebrations-loop/assets/ntoa_lasik_team.jpg">    </p:cNvPr>
          <p:cNvPicPr>
            <a:picLocks noChangeAspect="1"/>
          </p:cNvPicPr>
          <p:nvPr/>
        </p:nvPicPr>
        <p:blipFill>
          <a:blip r:embed="rId2"/>
          <a:stretch>
            <a:fillRect/>
          </a:stretch>
        </p:blipFill>
        <p:spPr>
          <a:xfrm>
            <a:off x="457200" y="1226668"/>
            <a:ext cx="5212080" cy="4221785"/>
          </a:xfrm>
          <a:prstGeom prst="rect">
            <a:avLst/>
          </a:prstGeom>
        </p:spPr>
      </p:pic>
      <p:sp>
        <p:nvSpPr>
          <p:cNvPr id="5" name="Text 1"/>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COMMUNITY WIN</a:t>
            </a:r>
            <a:endParaRPr lang="en-US" sz="1200" dirty="0"/>
          </a:p>
        </p:txBody>
      </p:sp>
      <p:sp>
        <p:nvSpPr>
          <p:cNvPr id="6" name="Text 2"/>
          <p:cNvSpPr/>
          <p:nvPr/>
        </p:nvSpPr>
        <p:spPr>
          <a:xfrm>
            <a:off x="5943600" y="1143000"/>
            <a:ext cx="5790895" cy="1554480"/>
          </a:xfrm>
          <a:prstGeom prst="rect">
            <a:avLst/>
          </a:prstGeom>
          <a:noFill/>
          <a:ln/>
        </p:spPr>
        <p:txBody>
          <a:bodyPr wrap="square" rtlCol="0" anchor="t"/>
          <a:lstStyle/>
          <a:p>
            <a:pPr algn="l" indent="0" marL="0">
              <a:buNone/>
            </a:pPr>
            <a:r>
              <a:rPr lang="en-US" sz="2400" b="1" dirty="0">
                <a:solidFill>
                  <a:srgbClr val="FFFFFF"/>
                </a:solidFill>
                <a:latin typeface="Calibri" pitchFamily="34" charset="0"/>
                <a:ea typeface="Calibri" pitchFamily="34" charset="-122"/>
                <a:cs typeface="Calibri" pitchFamily="34" charset="-120"/>
              </a:rPr>
              <a:t>North Texas Ophthalmology</a:t>
            </a:r>
            <a:endParaRPr lang="en-US" sz="2400" dirty="0"/>
          </a:p>
        </p:txBody>
      </p:sp>
      <p:sp>
        <p:nvSpPr>
          <p:cNvPr id="7" name="Shape 3"/>
          <p:cNvSpPr/>
          <p:nvPr/>
        </p:nvSpPr>
        <p:spPr>
          <a:xfrm>
            <a:off x="5943600" y="2834640"/>
            <a:ext cx="914400" cy="45720"/>
          </a:xfrm>
          <a:prstGeom prst="rect">
            <a:avLst/>
          </a:prstGeom>
          <a:solidFill>
            <a:srgbClr val="E87722"/>
          </a:solidFill>
          <a:ln w="12700">
            <a:solidFill>
              <a:srgbClr val="E87722"/>
            </a:solidFill>
            <a:prstDash val="solid"/>
          </a:ln>
        </p:spPr>
      </p:sp>
      <p:sp>
        <p:nvSpPr>
          <p:cNvPr id="8" name="Text 4"/>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Launched LASIK, opened a second location, turned a loss into profit</a:t>
            </a:r>
            <a:endParaRPr lang="en-US" sz="1800" dirty="0"/>
          </a:p>
        </p:txBody>
      </p:sp>
      <p:sp>
        <p:nvSpPr>
          <p:cNvPr id="9" name="Text 5"/>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Wichita Falls. Launched LASIK as a new service line, opened a second location, and turned a $300K loss in 2025 into roughly $150K profit YTD 2026 while paying down debt.</a:t>
            </a:r>
            <a:endParaRPr lang="en-US" sz="1400" dirty="0"/>
          </a:p>
        </p:txBody>
      </p:sp>
      <p:sp>
        <p:nvSpPr>
          <p:cNvPr id="10" name="Text 6"/>
          <p:cNvSpPr/>
          <p:nvPr/>
        </p:nvSpPr>
        <p:spPr>
          <a:xfrm>
            <a:off x="5943600" y="5623560"/>
            <a:ext cx="5790895" cy="32004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Matt Griffiths, Director of Marketing and Technology</a:t>
            </a:r>
            <a:endParaRPr lang="en-US" sz="1200" dirty="0"/>
          </a:p>
        </p:txBody>
      </p:sp>
      <p:sp>
        <p:nvSpPr>
          <p:cNvPr id="11" name="Text 7"/>
          <p:cNvSpPr/>
          <p:nvPr/>
        </p:nvSpPr>
        <p:spPr>
          <a:xfrm>
            <a:off x="5943600" y="5943600"/>
            <a:ext cx="5790895" cy="274320"/>
          </a:xfrm>
          <a:prstGeom prst="rect">
            <a:avLst/>
          </a:prstGeom>
          <a:noFill/>
          <a:ln/>
        </p:spPr>
        <p:txBody>
          <a:bodyPr wrap="square" rtlCol="0" anchor="ctr"/>
          <a:lstStyle/>
          <a:p>
            <a:pPr algn="l" indent="0" marL="0">
              <a:buNone/>
            </a:pPr>
            <a:r>
              <a:rPr lang="en-US" sz="1100" dirty="0">
                <a:solidFill>
                  <a:srgbClr val="E87722"/>
                </a:solidFill>
                <a:latin typeface="Calibri" pitchFamily="34" charset="0"/>
                <a:ea typeface="Calibri" pitchFamily="34" charset="-122"/>
                <a:cs typeface="Calibri" pitchFamily="34" charset="-120"/>
              </a:rPr>
              <a:t>Implementer:  Erin Thiem</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sp>
        <p:nvSpPr>
          <p:cNvPr id="4" name="Text 1"/>
          <p:cNvSpPr/>
          <p:nvPr/>
        </p:nvSpPr>
        <p:spPr>
          <a:xfrm>
            <a:off x="914400" y="1280160"/>
            <a:ext cx="10362895" cy="457200"/>
          </a:xfrm>
          <a:prstGeom prst="rect">
            <a:avLst/>
          </a:prstGeom>
          <a:noFill/>
          <a:ln/>
        </p:spPr>
        <p:txBody>
          <a:bodyPr wrap="square" rtlCol="0" anchor="ctr"/>
          <a:lstStyle/>
          <a:p>
            <a:pPr algn="ctr" indent="0" marL="0">
              <a:buNone/>
            </a:pPr>
            <a:r>
              <a:rPr lang="en-US" sz="1600" b="1" spc="600" kern="0" dirty="0">
                <a:solidFill>
                  <a:srgbClr val="E87722"/>
                </a:solidFill>
                <a:latin typeface="Calibri" pitchFamily="34" charset="0"/>
                <a:ea typeface="Calibri" pitchFamily="34" charset="-122"/>
                <a:cs typeface="Calibri" pitchFamily="34" charset="-120"/>
              </a:rPr>
              <a:t>COMMUNITY WIN</a:t>
            </a:r>
            <a:endParaRPr lang="en-US" sz="1600" dirty="0"/>
          </a:p>
        </p:txBody>
      </p:sp>
      <p:sp>
        <p:nvSpPr>
          <p:cNvPr id="5" name="Text 2"/>
          <p:cNvSpPr/>
          <p:nvPr/>
        </p:nvSpPr>
        <p:spPr>
          <a:xfrm>
            <a:off x="731520" y="1828800"/>
            <a:ext cx="10728655" cy="1280160"/>
          </a:xfrm>
          <a:prstGeom prst="rect">
            <a:avLst/>
          </a:prstGeom>
          <a:noFill/>
          <a:ln/>
        </p:spPr>
        <p:txBody>
          <a:bodyPr wrap="square" rtlCol="0" anchor="t"/>
          <a:lstStyle/>
          <a:p>
            <a:pPr algn="ctr" indent="0" marL="0">
              <a:buNone/>
            </a:pPr>
            <a:r>
              <a:rPr lang="en-US" sz="4400" b="1" dirty="0">
                <a:solidFill>
                  <a:srgbClr val="FFFFFF"/>
                </a:solidFill>
                <a:latin typeface="Calibri" pitchFamily="34" charset="0"/>
                <a:ea typeface="Calibri" pitchFamily="34" charset="-122"/>
                <a:cs typeface="Calibri" pitchFamily="34" charset="-120"/>
              </a:rPr>
              <a:t>Rose Marketing Solutions</a:t>
            </a:r>
            <a:endParaRPr lang="en-US" sz="4400" dirty="0"/>
          </a:p>
        </p:txBody>
      </p:sp>
      <p:sp>
        <p:nvSpPr>
          <p:cNvPr id="6" name="Shape 3"/>
          <p:cNvSpPr/>
          <p:nvPr/>
        </p:nvSpPr>
        <p:spPr>
          <a:xfrm>
            <a:off x="5181448" y="3246120"/>
            <a:ext cx="1828800" cy="45720"/>
          </a:xfrm>
          <a:prstGeom prst="rect">
            <a:avLst/>
          </a:prstGeom>
          <a:solidFill>
            <a:srgbClr val="E87722"/>
          </a:solidFill>
          <a:ln w="12700">
            <a:solidFill>
              <a:srgbClr val="E87722"/>
            </a:solidFill>
            <a:prstDash val="solid"/>
          </a:ln>
        </p:spPr>
      </p:sp>
      <p:sp>
        <p:nvSpPr>
          <p:cNvPr id="7" name="Text 4"/>
          <p:cNvSpPr/>
          <p:nvPr/>
        </p:nvSpPr>
        <p:spPr>
          <a:xfrm>
            <a:off x="1371600" y="3520440"/>
            <a:ext cx="9448495" cy="914400"/>
          </a:xfrm>
          <a:prstGeom prst="rect">
            <a:avLst/>
          </a:prstGeom>
          <a:noFill/>
          <a:ln/>
        </p:spPr>
        <p:txBody>
          <a:bodyPr wrap="square" rtlCol="0" anchor="t"/>
          <a:lstStyle/>
          <a:p>
            <a:pPr algn="ctr" indent="0" marL="0">
              <a:buNone/>
            </a:pPr>
            <a:r>
              <a:rPr lang="en-US" sz="2400" b="1" dirty="0">
                <a:solidFill>
                  <a:srgbClr val="E87722"/>
                </a:solidFill>
                <a:latin typeface="Calibri" pitchFamily="34" charset="0"/>
                <a:ea typeface="Calibri" pitchFamily="34" charset="-122"/>
                <a:cs typeface="Calibri" pitchFamily="34" charset="-120"/>
              </a:rPr>
              <a:t>EO Dallas Forum Moderator of the Year</a:t>
            </a:r>
            <a:endParaRPr lang="en-US" sz="2400" dirty="0"/>
          </a:p>
        </p:txBody>
      </p:sp>
      <p:sp>
        <p:nvSpPr>
          <p:cNvPr id="8" name="Text 5"/>
          <p:cNvSpPr/>
          <p:nvPr/>
        </p:nvSpPr>
        <p:spPr>
          <a:xfrm>
            <a:off x="1828800" y="4434840"/>
            <a:ext cx="8534095" cy="1463040"/>
          </a:xfrm>
          <a:prstGeom prst="rect">
            <a:avLst/>
          </a:prstGeom>
          <a:noFill/>
          <a:ln/>
        </p:spPr>
        <p:txBody>
          <a:bodyPr wrap="square" rtlCol="0" anchor="t"/>
          <a:lstStyle/>
          <a:p>
            <a:pPr algn="ctr" indent="0" marL="0">
              <a:buNone/>
            </a:pPr>
            <a:r>
              <a:rPr lang="en-US" sz="1700" dirty="0">
                <a:solidFill>
                  <a:srgbClr val="FFFFFF"/>
                </a:solidFill>
                <a:latin typeface="Calibri" pitchFamily="34" charset="0"/>
                <a:ea typeface="Calibri" pitchFamily="34" charset="-122"/>
                <a:cs typeface="Calibri" pitchFamily="34" charset="-120"/>
              </a:rPr>
              <a:t>Ruth Ann Rose named Forum Moderator of the Year by EO Dallas. Featured speaker at the Hinge Brokers Shift Early Childhood Conference. On track for the highest revenue year in company history.</a:t>
            </a:r>
            <a:endParaRPr lang="en-US" sz="1700" dirty="0"/>
          </a:p>
        </p:txBody>
      </p:sp>
      <p:sp>
        <p:nvSpPr>
          <p:cNvPr id="9" name="Text 6"/>
          <p:cNvSpPr/>
          <p:nvPr/>
        </p:nvSpPr>
        <p:spPr>
          <a:xfrm>
            <a:off x="914400" y="5760720"/>
            <a:ext cx="10362895" cy="320040"/>
          </a:xfrm>
          <a:prstGeom prst="rect">
            <a:avLst/>
          </a:prstGeom>
          <a:noFill/>
          <a:ln/>
        </p:spPr>
        <p:txBody>
          <a:bodyPr wrap="square" rtlCol="0" anchor="ctr"/>
          <a:lstStyle/>
          <a:p>
            <a:pPr algn="ctr" indent="0" marL="0">
              <a:buNone/>
            </a:pPr>
            <a:r>
              <a:rPr lang="en-US" sz="1400" i="1" dirty="0">
                <a:solidFill>
                  <a:srgbClr val="C9D2DE"/>
                </a:solidFill>
                <a:latin typeface="Calibri" pitchFamily="34" charset="0"/>
                <a:ea typeface="Calibri" pitchFamily="34" charset="-122"/>
                <a:cs typeface="Calibri" pitchFamily="34" charset="-120"/>
              </a:rPr>
              <a:t>Ruth Ann Rose, Founder</a:t>
            </a:r>
            <a:endParaRPr lang="en-US" sz="1400" dirty="0"/>
          </a:p>
        </p:txBody>
      </p:sp>
      <p:sp>
        <p:nvSpPr>
          <p:cNvPr id="10" name="Text 7"/>
          <p:cNvSpPr/>
          <p:nvPr/>
        </p:nvSpPr>
        <p:spPr>
          <a:xfrm>
            <a:off x="914400" y="6080760"/>
            <a:ext cx="10362895" cy="274320"/>
          </a:xfrm>
          <a:prstGeom prst="rect">
            <a:avLst/>
          </a:prstGeom>
          <a:noFill/>
          <a:ln/>
        </p:spPr>
        <p:txBody>
          <a:bodyPr wrap="square" rtlCol="0" anchor="ctr"/>
          <a:lstStyle/>
          <a:p>
            <a:pPr algn="ctr" indent="0" marL="0">
              <a:buNone/>
            </a:pPr>
            <a:r>
              <a:rPr lang="en-US" sz="1200" dirty="0">
                <a:solidFill>
                  <a:srgbClr val="E87722"/>
                </a:solidFill>
                <a:latin typeface="Calibri" pitchFamily="34" charset="0"/>
                <a:ea typeface="Calibri" pitchFamily="34" charset="-122"/>
                <a:cs typeface="Calibri" pitchFamily="34" charset="-120"/>
              </a:rPr>
              <a:t>Implementer:  Amanda Matthews</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pic>
        <p:nvPicPr>
          <p:cNvPr id="4" name="Image 1" descr="/home/user/workspace/wroe-dallas-2026/deliverables/celebrations-loop/assets/trulabs_pogues.jpg">    </p:cNvPr>
          <p:cNvPicPr>
            <a:picLocks noChangeAspect="1"/>
          </p:cNvPicPr>
          <p:nvPr/>
        </p:nvPicPr>
        <p:blipFill>
          <a:blip r:embed="rId2"/>
          <a:stretch>
            <a:fillRect/>
          </a:stretch>
        </p:blipFill>
        <p:spPr>
          <a:xfrm>
            <a:off x="457200" y="1599657"/>
            <a:ext cx="5212080" cy="3475806"/>
          </a:xfrm>
          <a:prstGeom prst="rect">
            <a:avLst/>
          </a:prstGeom>
        </p:spPr>
      </p:pic>
      <p:sp>
        <p:nvSpPr>
          <p:cNvPr id="5" name="Text 1"/>
          <p:cNvSpPr/>
          <p:nvPr/>
        </p:nvSpPr>
        <p:spPr>
          <a:xfrm>
            <a:off x="5943600" y="731520"/>
            <a:ext cx="5790895" cy="365760"/>
          </a:xfrm>
          <a:prstGeom prst="rect">
            <a:avLst/>
          </a:prstGeom>
          <a:noFill/>
          <a:ln/>
        </p:spPr>
        <p:txBody>
          <a:bodyPr wrap="square" rtlCol="0" anchor="ctr"/>
          <a:lstStyle/>
          <a:p>
            <a:pPr algn="l" indent="0" marL="0">
              <a:buNone/>
            </a:pPr>
            <a:r>
              <a:rPr lang="en-US" sz="1200" b="1" spc="400" kern="0" dirty="0">
                <a:solidFill>
                  <a:srgbClr val="E87722"/>
                </a:solidFill>
                <a:latin typeface="Calibri" pitchFamily="34" charset="0"/>
                <a:ea typeface="Calibri" pitchFamily="34" charset="-122"/>
                <a:cs typeface="Calibri" pitchFamily="34" charset="-120"/>
              </a:rPr>
              <a:t>EY EOY 2026 · SOUTHWEST FINALIST</a:t>
            </a:r>
            <a:endParaRPr lang="en-US" sz="1200" dirty="0"/>
          </a:p>
        </p:txBody>
      </p:sp>
      <p:sp>
        <p:nvSpPr>
          <p:cNvPr id="6" name="Text 2"/>
          <p:cNvSpPr/>
          <p:nvPr/>
        </p:nvSpPr>
        <p:spPr>
          <a:xfrm>
            <a:off x="5943600" y="1143000"/>
            <a:ext cx="5790895" cy="1554480"/>
          </a:xfrm>
          <a:prstGeom prst="rect">
            <a:avLst/>
          </a:prstGeom>
          <a:noFill/>
          <a:ln/>
        </p:spPr>
        <p:txBody>
          <a:bodyPr wrap="square" rtlCol="0" anchor="t"/>
          <a:lstStyle/>
          <a:p>
            <a:pPr algn="l" indent="0" marL="0">
              <a:buNone/>
            </a:pPr>
            <a:r>
              <a:rPr lang="en-US" sz="4000" b="1" dirty="0">
                <a:solidFill>
                  <a:srgbClr val="FFFFFF"/>
                </a:solidFill>
                <a:latin typeface="Calibri" pitchFamily="34" charset="0"/>
                <a:ea typeface="Calibri" pitchFamily="34" charset="-122"/>
                <a:cs typeface="Calibri" pitchFamily="34" charset="-120"/>
              </a:rPr>
              <a:t>TruLabs</a:t>
            </a:r>
            <a:endParaRPr lang="en-US" sz="4000" dirty="0"/>
          </a:p>
        </p:txBody>
      </p:sp>
      <p:sp>
        <p:nvSpPr>
          <p:cNvPr id="7" name="Shape 3"/>
          <p:cNvSpPr/>
          <p:nvPr/>
        </p:nvSpPr>
        <p:spPr>
          <a:xfrm>
            <a:off x="5943600" y="2834640"/>
            <a:ext cx="914400" cy="45720"/>
          </a:xfrm>
          <a:prstGeom prst="rect">
            <a:avLst/>
          </a:prstGeom>
          <a:solidFill>
            <a:srgbClr val="E87722"/>
          </a:solidFill>
          <a:ln w="12700">
            <a:solidFill>
              <a:srgbClr val="E87722"/>
            </a:solidFill>
            <a:prstDash val="solid"/>
          </a:ln>
        </p:spPr>
      </p:sp>
      <p:sp>
        <p:nvSpPr>
          <p:cNvPr id="8" name="Text 4"/>
          <p:cNvSpPr/>
          <p:nvPr/>
        </p:nvSpPr>
        <p:spPr>
          <a:xfrm>
            <a:off x="5943600" y="3017520"/>
            <a:ext cx="5790895" cy="1097280"/>
          </a:xfrm>
          <a:prstGeom prst="rect">
            <a:avLst/>
          </a:prstGeom>
          <a:noFill/>
          <a:ln/>
        </p:spPr>
        <p:txBody>
          <a:bodyPr wrap="square" rtlCol="0" anchor="t"/>
          <a:lstStyle/>
          <a:p>
            <a:pPr algn="l" indent="0" marL="0">
              <a:buNone/>
            </a:pPr>
            <a:r>
              <a:rPr lang="en-US" sz="1800" b="1" dirty="0">
                <a:solidFill>
                  <a:srgbClr val="E87722"/>
                </a:solidFill>
                <a:latin typeface="Calibri" pitchFamily="34" charset="0"/>
                <a:ea typeface="Calibri" pitchFamily="34" charset="-122"/>
                <a:cs typeface="Calibri" pitchFamily="34" charset="-120"/>
              </a:rPr>
              <a:t>Southwest Finalists</a:t>
            </a:r>
            <a:endParaRPr lang="en-US" sz="1800" dirty="0"/>
          </a:p>
        </p:txBody>
      </p:sp>
      <p:sp>
        <p:nvSpPr>
          <p:cNvPr id="9" name="Text 5"/>
          <p:cNvSpPr/>
          <p:nvPr/>
        </p:nvSpPr>
        <p:spPr>
          <a:xfrm>
            <a:off x="5943600" y="4206240"/>
            <a:ext cx="5790895" cy="1645920"/>
          </a:xfrm>
          <a:prstGeom prst="rect">
            <a:avLst/>
          </a:prstGeom>
          <a:noFill/>
          <a:ln/>
        </p:spPr>
        <p:txBody>
          <a:bodyPr wrap="square"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Co-founders Brandon Pogue (CEO) and Jennifer Pogue (CMO). McKinney-based.</a:t>
            </a:r>
            <a:endParaRPr lang="en-US" sz="1400" dirty="0"/>
          </a:p>
        </p:txBody>
      </p:sp>
      <p:sp>
        <p:nvSpPr>
          <p:cNvPr id="10" name="Text 6"/>
          <p:cNvSpPr/>
          <p:nvPr/>
        </p:nvSpPr>
        <p:spPr>
          <a:xfrm>
            <a:off x="5943600" y="5623560"/>
            <a:ext cx="5790895" cy="320040"/>
          </a:xfrm>
          <a:prstGeom prst="rect">
            <a:avLst/>
          </a:prstGeom>
          <a:noFill/>
          <a:ln/>
        </p:spPr>
        <p:txBody>
          <a:bodyPr wrap="square" rtlCol="0" anchor="ctr"/>
          <a:lstStyle/>
          <a:p>
            <a:pPr algn="l" indent="0" marL="0">
              <a:buNone/>
            </a:pPr>
            <a:r>
              <a:rPr lang="en-US" sz="1200" i="1" dirty="0">
                <a:solidFill>
                  <a:srgbClr val="C9D2DE"/>
                </a:solidFill>
                <a:latin typeface="Calibri" pitchFamily="34" charset="0"/>
                <a:ea typeface="Calibri" pitchFamily="34" charset="-122"/>
                <a:cs typeface="Calibri" pitchFamily="34" charset="-120"/>
              </a:rPr>
              <a:t>Brandon and Jennifer Pogue</a:t>
            </a:r>
            <a:endParaRPr lang="en-US" sz="1200" dirty="0"/>
          </a:p>
        </p:txBody>
      </p:sp>
      <p:sp>
        <p:nvSpPr>
          <p:cNvPr id="11" name="Text 7"/>
          <p:cNvSpPr/>
          <p:nvPr/>
        </p:nvSpPr>
        <p:spPr>
          <a:xfrm>
            <a:off x="5943600" y="5943600"/>
            <a:ext cx="5790895" cy="274320"/>
          </a:xfrm>
          <a:prstGeom prst="rect">
            <a:avLst/>
          </a:prstGeom>
          <a:noFill/>
          <a:ln/>
        </p:spPr>
        <p:txBody>
          <a:bodyPr wrap="square" rtlCol="0" anchor="ctr"/>
          <a:lstStyle/>
          <a:p>
            <a:pPr algn="l" indent="0" marL="0">
              <a:buNone/>
            </a:pPr>
            <a:r>
              <a:rPr lang="en-US" sz="1100" dirty="0">
                <a:solidFill>
                  <a:srgbClr val="E87722"/>
                </a:solidFill>
                <a:latin typeface="Calibri" pitchFamily="34" charset="0"/>
                <a:ea typeface="Calibri" pitchFamily="34" charset="-122"/>
                <a:cs typeface="Calibri" pitchFamily="34" charset="-120"/>
              </a:rPr>
              <a:t>Implementer:  Amy Johannesen</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6784848"/>
            <a:ext cx="12191695" cy="73152"/>
          </a:xfrm>
          <a:prstGeom prst="rect">
            <a:avLst/>
          </a:prstGeom>
          <a:solidFill>
            <a:srgbClr val="E87722"/>
          </a:solidFill>
          <a:ln w="12700">
            <a:solidFill>
              <a:srgbClr val="E87722"/>
            </a:solidFill>
            <a:prstDash val="solid"/>
          </a:ln>
        </p:spPr>
      </p:sp>
      <p:pic>
        <p:nvPicPr>
          <p:cNvPr id="3" name="Image 0" descr="/home/user/workspace/wroe-dallas-2026/deliverables/celebrations-loop/assets/wordmark_white.png">    </p:cNvPr>
          <p:cNvPicPr>
            <a:picLocks noChangeAspect="1"/>
          </p:cNvPicPr>
          <p:nvPr/>
        </p:nvPicPr>
        <p:blipFill>
          <a:blip r:embed="rId1"/>
          <a:stretch>
            <a:fillRect/>
          </a:stretch>
        </p:blipFill>
        <p:spPr>
          <a:xfrm>
            <a:off x="10999016" y="5934456"/>
            <a:ext cx="826919" cy="777240"/>
          </a:xfrm>
          <a:prstGeom prst="rect">
            <a:avLst/>
          </a:prstGeom>
        </p:spPr>
      </p:pic>
      <p:sp>
        <p:nvSpPr>
          <p:cNvPr id="4" name="Text 1"/>
          <p:cNvSpPr/>
          <p:nvPr/>
        </p:nvSpPr>
        <p:spPr>
          <a:xfrm>
            <a:off x="822960" y="1737360"/>
            <a:ext cx="10545775" cy="1097280"/>
          </a:xfrm>
          <a:prstGeom prst="rect">
            <a:avLst/>
          </a:prstGeom>
          <a:noFill/>
          <a:ln/>
        </p:spPr>
        <p:txBody>
          <a:bodyPr wrap="square" rtlCol="0" anchor="ctr"/>
          <a:lstStyle/>
          <a:p>
            <a:pPr algn="ctr" indent="0" marL="0">
              <a:buNone/>
            </a:pPr>
            <a:r>
              <a:rPr lang="en-US" sz="6000" i="1" dirty="0">
                <a:solidFill>
                  <a:srgbClr val="FFFFFF"/>
                </a:solidFill>
                <a:latin typeface="Calibri" pitchFamily="34" charset="0"/>
                <a:ea typeface="Calibri" pitchFamily="34" charset="-122"/>
                <a:cs typeface="Calibri" pitchFamily="34" charset="-120"/>
              </a:rPr>
              <a:t>Congratulations</a:t>
            </a:r>
            <a:endParaRPr lang="en-US" sz="6000" dirty="0"/>
          </a:p>
        </p:txBody>
      </p:sp>
      <p:sp>
        <p:nvSpPr>
          <p:cNvPr id="5" name="Text 2"/>
          <p:cNvSpPr/>
          <p:nvPr/>
        </p:nvSpPr>
        <p:spPr>
          <a:xfrm>
            <a:off x="822960" y="2743200"/>
            <a:ext cx="10545775" cy="914400"/>
          </a:xfrm>
          <a:prstGeom prst="rect">
            <a:avLst/>
          </a:prstGeom>
          <a:noFill/>
          <a:ln/>
        </p:spPr>
        <p:txBody>
          <a:bodyPr wrap="square" rtlCol="0" anchor="ctr"/>
          <a:lstStyle/>
          <a:p>
            <a:pPr algn="ctr" indent="0" marL="0">
              <a:buNone/>
            </a:pPr>
            <a:r>
              <a:rPr lang="en-US" sz="4000" b="1" dirty="0">
                <a:solidFill>
                  <a:srgbClr val="E87722"/>
                </a:solidFill>
                <a:latin typeface="Calibri" pitchFamily="34" charset="0"/>
                <a:ea typeface="Calibri" pitchFamily="34" charset="-122"/>
                <a:cs typeface="Calibri" pitchFamily="34" charset="-120"/>
              </a:rPr>
              <a:t>to our North Texas EOS Community</a:t>
            </a:r>
            <a:endParaRPr lang="en-US" sz="4000" dirty="0"/>
          </a:p>
        </p:txBody>
      </p:sp>
      <p:sp>
        <p:nvSpPr>
          <p:cNvPr id="6" name="Shape 3"/>
          <p:cNvSpPr/>
          <p:nvPr/>
        </p:nvSpPr>
        <p:spPr>
          <a:xfrm>
            <a:off x="4724248" y="3794760"/>
            <a:ext cx="2743200" cy="45720"/>
          </a:xfrm>
          <a:prstGeom prst="rect">
            <a:avLst/>
          </a:prstGeom>
          <a:solidFill>
            <a:srgbClr val="E87722"/>
          </a:solidFill>
          <a:ln w="12700">
            <a:solidFill>
              <a:srgbClr val="E87722"/>
            </a:solidFill>
            <a:prstDash val="solid"/>
          </a:ln>
        </p:spPr>
      </p:sp>
      <p:sp>
        <p:nvSpPr>
          <p:cNvPr id="7" name="Text 4"/>
          <p:cNvSpPr/>
          <p:nvPr/>
        </p:nvSpPr>
        <p:spPr>
          <a:xfrm>
            <a:off x="822960" y="4114800"/>
            <a:ext cx="10545775" cy="457200"/>
          </a:xfrm>
          <a:prstGeom prst="rect">
            <a:avLst/>
          </a:prstGeom>
          <a:noFill/>
          <a:ln/>
        </p:spPr>
        <p:txBody>
          <a:bodyPr wrap="square" rtlCol="0" anchor="ctr"/>
          <a:lstStyle/>
          <a:p>
            <a:pPr algn="ctr" indent="0" marL="0">
              <a:buNone/>
            </a:pPr>
            <a:r>
              <a:rPr lang="en-US" sz="2200" dirty="0">
                <a:solidFill>
                  <a:srgbClr val="FFFFFF"/>
                </a:solidFill>
                <a:latin typeface="Calibri" pitchFamily="34" charset="0"/>
                <a:ea typeface="Calibri" pitchFamily="34" charset="-122"/>
                <a:cs typeface="Calibri" pitchFamily="34" charset="-120"/>
              </a:rPr>
              <a:t>We Run on EOS North Texas 2026</a:t>
            </a:r>
            <a:endParaRPr lang="en-US" sz="2200" dirty="0"/>
          </a:p>
        </p:txBody>
      </p:sp>
      <p:sp>
        <p:nvSpPr>
          <p:cNvPr id="8" name="Text 5"/>
          <p:cNvSpPr/>
          <p:nvPr/>
        </p:nvSpPr>
        <p:spPr>
          <a:xfrm>
            <a:off x="822960" y="4617720"/>
            <a:ext cx="10545775" cy="365760"/>
          </a:xfrm>
          <a:prstGeom prst="rect">
            <a:avLst/>
          </a:prstGeom>
          <a:noFill/>
          <a:ln/>
        </p:spPr>
        <p:txBody>
          <a:bodyPr wrap="square" rtlCol="0" anchor="ctr"/>
          <a:lstStyle/>
          <a:p>
            <a:pPr algn="ctr" indent="0" marL="0">
              <a:buNone/>
            </a:pPr>
            <a:r>
              <a:rPr lang="en-US" sz="1600" dirty="0">
                <a:solidFill>
                  <a:srgbClr val="C9D2DE"/>
                </a:solidFill>
                <a:latin typeface="Calibri" pitchFamily="34" charset="0"/>
                <a:ea typeface="Calibri" pitchFamily="34" charset="-122"/>
                <a:cs typeface="Calibri" pitchFamily="34" charset="-120"/>
              </a:rPr>
              <a:t>The Statler, Dallas   ·   Monday, September 14, 2026</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EOS Worldwide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WRoEOS North Texas 2026 — Customer Celebrations</dc:title>
  <dc:subject>Break loop — customer celebrations</dc:subject>
  <dc:creator>We Run on EOS North Texas</dc:creator>
  <cp:lastModifiedBy>We Run on EOS North Texas</cp:lastModifiedBy>
  <cp:revision>1</cp:revision>
  <dcterms:created xsi:type="dcterms:W3CDTF">2026-09-09T16:21:12Z</dcterms:created>
  <dcterms:modified xsi:type="dcterms:W3CDTF">2026-09-09T16:21:12Z</dcterms:modified>
</cp:coreProperties>
</file>