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showPr showType="kiosk" loop="1" showNarration="0" showAnimation="1" useTimings="1">
    <p:sldAll/>
    <p:penClr>
      <a:srgbClr val="000000"/>
    </p:penClr>
  </p:showPr>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822960" y="1645920"/>
            <a:ext cx="10545775" cy="1097280"/>
          </a:xfrm>
          <a:prstGeom prst="rect">
            <a:avLst/>
          </a:prstGeom>
          <a:noFill/>
          <a:ln/>
        </p:spPr>
        <p:txBody>
          <a:bodyPr wrap="square" rtlCol="0" anchor="ctr"/>
          <a:lstStyle/>
          <a:p>
            <a:pPr algn="ctr" indent="0" marL="0">
              <a:buNone/>
            </a:pPr>
            <a:r>
              <a:rPr lang="en-US" sz="6800" b="1" dirty="0">
                <a:solidFill>
                  <a:srgbClr val="FFFFFF"/>
                </a:solidFill>
                <a:latin typeface="Calibri" pitchFamily="34" charset="0"/>
                <a:ea typeface="Calibri" pitchFamily="34" charset="-122"/>
                <a:cs typeface="Calibri" pitchFamily="34" charset="-120"/>
              </a:rPr>
              <a:t>Customer</a:t>
            </a:r>
            <a:endParaRPr lang="en-US" sz="6800" dirty="0"/>
          </a:p>
        </p:txBody>
      </p:sp>
      <p:sp>
        <p:nvSpPr>
          <p:cNvPr id="5" name="Text 2"/>
          <p:cNvSpPr/>
          <p:nvPr/>
        </p:nvSpPr>
        <p:spPr>
          <a:xfrm>
            <a:off x="822960" y="2560320"/>
            <a:ext cx="10545775" cy="1280160"/>
          </a:xfrm>
          <a:prstGeom prst="rect">
            <a:avLst/>
          </a:prstGeom>
          <a:noFill/>
          <a:ln/>
        </p:spPr>
        <p:txBody>
          <a:bodyPr wrap="square" rtlCol="0" anchor="ctr"/>
          <a:lstStyle/>
          <a:p>
            <a:pPr algn="ctr" indent="0" marL="0">
              <a:buNone/>
            </a:pPr>
            <a:r>
              <a:rPr lang="en-US" sz="10000" b="1" spc="600" kern="0" dirty="0">
                <a:solidFill>
                  <a:srgbClr val="E87722"/>
                </a:solidFill>
                <a:latin typeface="Calibri" pitchFamily="34" charset="0"/>
                <a:ea typeface="Calibri" pitchFamily="34" charset="-122"/>
                <a:cs typeface="Calibri" pitchFamily="34" charset="-120"/>
              </a:rPr>
              <a:t>CELEBRATIONS</a:t>
            </a:r>
            <a:endParaRPr lang="en-US" sz="10000" dirty="0"/>
          </a:p>
        </p:txBody>
      </p:sp>
      <p:sp>
        <p:nvSpPr>
          <p:cNvPr id="6" name="Text 3"/>
          <p:cNvSpPr/>
          <p:nvPr/>
        </p:nvSpPr>
        <p:spPr>
          <a:xfrm>
            <a:off x="822960" y="4023360"/>
            <a:ext cx="10545775" cy="457200"/>
          </a:xfrm>
          <a:prstGeom prst="rect">
            <a:avLst/>
          </a:prstGeom>
          <a:noFill/>
          <a:ln/>
        </p:spPr>
        <p:txBody>
          <a:bodyPr wrap="square" rtlCol="0" anchor="ctr"/>
          <a:lstStyle/>
          <a:p>
            <a:pPr algn="ctr" indent="0" marL="0">
              <a:buNone/>
            </a:pPr>
            <a:r>
              <a:rPr lang="en-US" sz="2600" dirty="0">
                <a:solidFill>
                  <a:srgbClr val="FFFFFF"/>
                </a:solidFill>
                <a:latin typeface="Calibri" pitchFamily="34" charset="0"/>
                <a:ea typeface="Calibri" pitchFamily="34" charset="-122"/>
                <a:cs typeface="Calibri" pitchFamily="34" charset="-120"/>
              </a:rPr>
              <a:t>We Run on EOS North Texas 2026</a:t>
            </a:r>
            <a:endParaRPr lang="en-US" sz="2600" dirty="0"/>
          </a:p>
        </p:txBody>
      </p:sp>
      <p:sp>
        <p:nvSpPr>
          <p:cNvPr id="7" name="Text 4"/>
          <p:cNvSpPr/>
          <p:nvPr/>
        </p:nvSpPr>
        <p:spPr>
          <a:xfrm>
            <a:off x="822960" y="4572000"/>
            <a:ext cx="10545775" cy="3657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Monday, September 14, 2026   ·   The Statler, Dallas</a:t>
            </a:r>
            <a:endParaRPr lang="en-US" sz="1800" dirty="0"/>
          </a:p>
        </p:txBody>
      </p:sp>
    </p:spTree>
  </p:cSld>
  <p:clrMapOvr>
    <a:masterClrMapping/>
  </p:clrMapOvr>
  <p:transition xmlns:p="http://schemas.openxmlformats.org/presentationml/2006/main" spd="med" advClick="0" advTm="8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5200" b="1" dirty="0">
                <a:solidFill>
                  <a:srgbClr val="FFFFFF"/>
                </a:solidFill>
                <a:latin typeface="Calibri" pitchFamily="34" charset="0"/>
                <a:ea typeface="Calibri" pitchFamily="34" charset="-122"/>
                <a:cs typeface="Calibri" pitchFamily="34" charset="-120"/>
              </a:rPr>
              <a:t>AMI Construction, Inc.</a:t>
            </a:r>
            <a:endParaRPr lang="en-US" sz="52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Nashville Business Journal 2025 Fastest-Growing Companies, #10 in Middle Tennessee</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Nashville. Also a National Top 50 Contractor in four categories (paving, striping, pavement repair, and sealcoating) through the Pavement Maintenance and Reconstruction Top Contractor program.</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AMI Construction leadership team</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Duke Revard</a:t>
            </a:r>
            <a:endParaRPr lang="en-US" sz="1200" dirty="0"/>
          </a:p>
        </p:txBody>
      </p:sp>
    </p:spTree>
  </p:cSld>
  <p:clrMapOvr>
    <a:masterClrMapping/>
  </p:clrMapOvr>
  <p:transition xmlns:p="http://schemas.openxmlformats.org/presentationml/2006/main" spd="med" advClick="0" advTm="800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arts_fort_worth.jpg">    </p:cNvPr>
          <p:cNvPicPr>
            <a:picLocks noChangeAspect="1"/>
          </p:cNvPicPr>
          <p:nvPr/>
        </p:nvPicPr>
        <p:blipFill>
          <a:blip r:embed="rId2"/>
          <a:stretch>
            <a:fillRect/>
          </a:stretch>
        </p:blipFill>
        <p:spPr>
          <a:xfrm>
            <a:off x="457200" y="1599331"/>
            <a:ext cx="5212080" cy="3476457"/>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Arts Fort Worth</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Heart of Gold 2026 raised the Philanthropist Award for Tarrant County Pearls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Fort Worth nonprofit. Heart of Gold event on February 27, 2026 recognized the Tarrant County Pearls Chapter of The Links, Incorporated with the Philanthropist Award, presented by Executive Director Wesley Gentle.</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Wesley Gentle, Executive Director</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Sandi Mitchell</a:t>
            </a:r>
            <a:endParaRPr lang="en-US" sz="1100" dirty="0"/>
          </a:p>
        </p:txBody>
      </p:sp>
    </p:spTree>
  </p:cSld>
  <p:clrMapOvr>
    <a:masterClrMapping/>
  </p:clrMapOvr>
  <p:transition xmlns:p="http://schemas.openxmlformats.org/presentationml/2006/main" spd="med" advClick="0" advTm="800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Artstillery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10 years and a 2026 Moody Fund for the Arts grant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Celebrating 10 years (June 27, 2026). The grant supports "Dichotomy of Compassion," the current immersive multimedia production. Now Dallas and Chicago.</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Ilknur Nilufer Ozgur, Founder, Executive and Artistic Director</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transition xmlns:p="http://schemas.openxmlformats.org/presentationml/2006/main" spd="med" advClick="0" advTm="800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austin_street.jpg">    </p:cNvPr>
          <p:cNvPicPr>
            <a:picLocks noChangeAspect="1"/>
          </p:cNvPicPr>
          <p:nvPr/>
        </p:nvPicPr>
        <p:blipFill>
          <a:blip r:embed="rId2"/>
          <a:stretch>
            <a:fillRect/>
          </a:stretch>
        </p:blipFill>
        <p:spPr>
          <a:xfrm>
            <a:off x="758952" y="457200"/>
            <a:ext cx="4608576" cy="576072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Austin Street Center</a:t>
            </a:r>
            <a:endParaRPr lang="en-US" sz="28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D CEO 2026 Nonprofit and Corporate Citizenship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Dallas. Record 640 housing placements in FY25 (up 25%). Record revenue in FY25, up 17% year-over-year and 36% over two years.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Daniel Roby,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Kevin Taylor</a:t>
            </a:r>
            <a:endParaRPr lang="en-US" sz="1100" dirty="0"/>
          </a:p>
        </p:txBody>
      </p:sp>
    </p:spTree>
  </p:cSld>
  <p:clrMapOvr>
    <a:masterClrMapping/>
  </p:clrMapOvr>
  <p:transition xmlns:p="http://schemas.openxmlformats.org/presentationml/2006/main" spd="med" advClick="0" advTm="8000">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B2 Design Co</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Connect CRE 2025 Women in Real Estate, Texas honoree</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Founder and CEO B. Allison Brooks, AIA (October 2025). Recently completed interiors for HALL Park Hotel and The Ludlow. Offices in Dallas, Chicago, Miami, and Chapel Hill.</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B. Allison Brooks, Founder and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transition xmlns:p="http://schemas.openxmlformats.org/presentationml/2006/main" spd="med" advClick="0" advTm="800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BAT Security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Up 23% in gross revenue in the first 7 months on EOS</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Waxahachie. Started Focus Day in January 2026 and posted Core Values throughout the office. Momentum has held all year.</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Kyle Beller, President</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Kevin Taylor</a:t>
            </a:r>
            <a:endParaRPr lang="en-US" sz="1200" dirty="0"/>
          </a:p>
        </p:txBody>
      </p:sp>
    </p:spTree>
  </p:cSld>
  <p:clrMapOvr>
    <a:masterClrMapping/>
  </p:clrMapOvr>
  <p:transition xmlns:p="http://schemas.openxmlformats.org/presentationml/2006/main" spd="med" advClick="0" advTm="8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beacon_hill_students.jpg">    </p:cNvPr>
          <p:cNvPicPr>
            <a:picLocks noChangeAspect="1"/>
          </p:cNvPicPr>
          <p:nvPr/>
        </p:nvPicPr>
        <p:blipFill>
          <a:blip r:embed="rId2"/>
          <a:stretch>
            <a:fillRect/>
          </a:stretch>
        </p:blipFill>
        <p:spPr>
          <a:xfrm>
            <a:off x="758809" y="457200"/>
            <a:ext cx="4608863" cy="576072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200" b="1" dirty="0">
                <a:solidFill>
                  <a:srgbClr val="FFFFFF"/>
                </a:solidFill>
                <a:latin typeface="Calibri" pitchFamily="34" charset="0"/>
                <a:ea typeface="Calibri" pitchFamily="34" charset="-122"/>
                <a:cs typeface="Calibri" pitchFamily="34" charset="-120"/>
              </a:rPr>
              <a:t>Beacon Hill Preparatory Institute</a:t>
            </a:r>
            <a:endParaRPr lang="en-US" sz="22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20 years serving North Texas students and families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Nonprofit celebrating its 20th Anniversary on July 6, 2026. Since 2006, Beacon Hill has delivered in-school, after-school, and summer literacy and math tutoring across North Texas.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Beacon Hill Preparatory Institute</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Sandi Mitchell</a:t>
            </a:r>
            <a:endParaRPr lang="en-US" sz="1100" dirty="0"/>
          </a:p>
        </p:txBody>
      </p:sp>
    </p:spTree>
  </p:cSld>
  <p:clrMapOvr>
    <a:masterClrMapping/>
  </p:clrMapOvr>
  <p:transition xmlns:p="http://schemas.openxmlformats.org/presentationml/2006/main" spd="med" advClick="0" advTm="800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blue_mint_hero.jpg">    </p:cNvPr>
          <p:cNvPicPr>
            <a:picLocks noChangeAspect="1"/>
          </p:cNvPicPr>
          <p:nvPr/>
        </p:nvPicPr>
        <p:blipFill>
          <a:blip r:embed="rId2"/>
          <a:stretch>
            <a:fillRect/>
          </a:stretch>
        </p:blipFill>
        <p:spPr>
          <a:xfrm>
            <a:off x="457200" y="1381401"/>
            <a:ext cx="5212080" cy="3912318"/>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Blue Mint Thai</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Multi-year Best of DFW, ESGR honors, and a House Resolution</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Midlothian. Best Asian Restaurant in South DFW five years running (2021–2026). ESGR Pro Patria, Patriot, and Above and Beyond awards (July 2026). House Resolution from Rep. Brian Harrison (August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Mike Wilson, CEO   ·   Alisa Dodenhoff</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Kevin Taylor</a:t>
            </a:r>
            <a:endParaRPr lang="en-US" sz="1100" dirty="0"/>
          </a:p>
        </p:txBody>
      </p:sp>
    </p:spTree>
  </p:cSld>
  <p:clrMapOvr>
    <a:masterClrMapping/>
  </p:clrMapOvr>
  <p:transition xmlns:p="http://schemas.openxmlformats.org/presentationml/2006/main" spd="med" advClick="0" advTm="8000">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brainstorm_jason.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200" b="1" dirty="0">
                <a:solidFill>
                  <a:srgbClr val="FFFFFF"/>
                </a:solidFill>
                <a:latin typeface="Calibri" pitchFamily="34" charset="0"/>
                <a:ea typeface="Calibri" pitchFamily="34" charset="-122"/>
                <a:cs typeface="Calibri" pitchFamily="34" charset="-120"/>
              </a:rPr>
              <a:t>Brain Storm Shelter Restaurants</a:t>
            </a:r>
            <a:endParaRPr lang="en-US" sz="22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Jason Boso — founder of Truck Yard, Twisted Root Burger Co., and more. Also a finalist in the Oklahoma City ULI Impact Awards.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Jason Boso, Founder</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Amanda Matthews</a:t>
            </a:r>
            <a:endParaRPr lang="en-US" sz="1100" dirty="0"/>
          </a:p>
        </p:txBody>
      </p:sp>
    </p:spTree>
  </p:cSld>
  <p:clrMapOvr>
    <a:masterClrMapping/>
  </p:clrMapOvr>
  <p:transition xmlns:p="http://schemas.openxmlformats.org/presentationml/2006/main" spd="med" advClick="0" advTm="800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c1m_vistage.png">    </p:cNvPr>
          <p:cNvPicPr>
            <a:picLocks noChangeAspect="1"/>
          </p:cNvPicPr>
          <p:nvPr/>
        </p:nvPicPr>
        <p:blipFill>
          <a:blip r:embed="rId2"/>
          <a:stretch>
            <a:fillRect/>
          </a:stretch>
        </p:blipFill>
        <p:spPr>
          <a:xfrm>
            <a:off x="457200" y="731520"/>
            <a:ext cx="5212080" cy="521208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C1M</a:t>
            </a:r>
            <a:endParaRPr lang="en-US" sz="40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2025 Vistage Top Performer, 4.96 speaker average</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CEO John Arnott recognized as a 2025 Vistage Top Performer for his speaking work with Vistage member CEO peer groups.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John Arnott,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Amy Johannesen</a:t>
            </a:r>
            <a:endParaRPr lang="en-US" sz="1100" dirty="0"/>
          </a:p>
        </p:txBody>
      </p:sp>
    </p:spTree>
  </p:cSld>
  <p:clrMapOvr>
    <a:masterClrMapping/>
  </p:clrMapOvr>
  <p:transition xmlns:p="http://schemas.openxmlformats.org/presentationml/2006/main" spd="med" advClick="0" advTm="8000">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HEADLINE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Catco</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Featured in the new Issues book, record calendar year, and patents pending</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Featured in the newly released EOS Issues book. Trailing-12-month orders broke the record three times. Record Q4, record Q1, record first half, record calendar year, and three record calendar months. Revenue posted a record Q2, record first half, and four record calendar months. Two patents pending plus a third application in progress. Two new leadership team hires with one more in recruitment.</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Travis Richards</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Jill Young</a:t>
            </a:r>
            <a:endParaRPr lang="en-US" sz="1200" dirty="0"/>
          </a:p>
        </p:txBody>
      </p:sp>
    </p:spTree>
  </p:cSld>
  <p:clrMapOvr>
    <a:masterClrMapping/>
  </p:clrMapOvr>
  <p:transition xmlns:p="http://schemas.openxmlformats.org/presentationml/2006/main" spd="med" advClick="0" advTm="8000">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crowther_team.jpg">    </p:cNvPr>
          <p:cNvPicPr>
            <a:picLocks noChangeAspect="1"/>
          </p:cNvPicPr>
          <p:nvPr/>
        </p:nvPicPr>
        <p:blipFill>
          <a:blip r:embed="rId2"/>
          <a:stretch>
            <a:fillRect/>
          </a:stretch>
        </p:blipFill>
        <p:spPr>
          <a:xfrm>
            <a:off x="457200" y="1600200"/>
            <a:ext cx="5212080" cy="347472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The Crowther Group</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Best Place to Work for Working Parents, three years running</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Ranked No. 56 on the Dallas Business Journal Largest General Contractors list (June 2026). Third consecutive year partnering with UTA’s Senior Capstone program and expanding K-12 pipelines with Dallas ISD, Garland ISD, DeSoto ISD, and P-TECH. April Crowther Foundation extended its philanthropic reach to The Bahamas.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Thomas and Trish Crowther</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Sandi Mitchell</a:t>
            </a:r>
            <a:endParaRPr lang="en-US" sz="1100" dirty="0"/>
          </a:p>
        </p:txBody>
      </p:sp>
    </p:spTree>
  </p:cSld>
  <p:clrMapOvr>
    <a:masterClrMapping/>
  </p:clrMapOvr>
  <p:transition xmlns:p="http://schemas.openxmlformats.org/presentationml/2006/main" spd="med" advClick="0" advTm="8000">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excel_gabe.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Excel Medical Staffing</a:t>
            </a:r>
            <a:endParaRPr lang="en-US" sz="28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Gabriel Griess, U.S. Air Force Academy graduate. Grapevine-based.</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Gabriel Griess,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Justin Mink</a:t>
            </a:r>
            <a:endParaRPr lang="en-US" sz="1100" dirty="0"/>
          </a:p>
        </p:txBody>
      </p:sp>
    </p:spTree>
  </p:cSld>
  <p:clrMapOvr>
    <a:masterClrMapping/>
  </p:clrMapOvr>
  <p:transition xmlns:p="http://schemas.openxmlformats.org/presentationml/2006/main" spd="med" advClick="0" advTm="8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EY EOY 2026 · HEARTLAND FINALIST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5200" b="1" dirty="0">
                <a:solidFill>
                  <a:srgbClr val="FFFFFF"/>
                </a:solidFill>
                <a:latin typeface="Calibri" pitchFamily="34" charset="0"/>
                <a:ea typeface="Calibri" pitchFamily="34" charset="-122"/>
                <a:cs typeface="Calibri" pitchFamily="34" charset="-120"/>
              </a:rPr>
              <a:t>HorsePower Brands</a:t>
            </a:r>
            <a:endParaRPr lang="en-US" sz="52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Heartland Finalist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CEO Tony Hulbert. Nine home-service franchise brands, five of them on Entrepreneur magazine’s 2026 Franchise 500. Omaha-based.</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Tony Hulbert,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Justin Mink</a:t>
            </a:r>
            <a:endParaRPr lang="en-US" sz="1200" dirty="0"/>
          </a:p>
        </p:txBody>
      </p:sp>
    </p:spTree>
  </p:cSld>
  <p:clrMapOvr>
    <a:masterClrMapping/>
  </p:clrMapOvr>
  <p:transition xmlns:p="http://schemas.openxmlformats.org/presentationml/2006/main" spd="med" advClick="0" advTm="8000">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5200" b="1" dirty="0">
                <a:solidFill>
                  <a:srgbClr val="FFFFFF"/>
                </a:solidFill>
                <a:latin typeface="Calibri" pitchFamily="34" charset="0"/>
                <a:ea typeface="Calibri" pitchFamily="34" charset="-122"/>
                <a:cs typeface="Calibri" pitchFamily="34" charset="-120"/>
              </a:rPr>
              <a:t>Hotchkiss Insurance</a:t>
            </a:r>
            <a:endParaRPr lang="en-US" sz="52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Six consecutive years on Houston Business Journal Best Places to Work</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Houston and Dallas. Houston Business Journal Best Places to Work 2018 through 2023 (#11 medium company in 2023). Insurance Journal Best Agency to Work For Gold, South Central, in 2015 and 2019. Dallas Morning News Top 100 Places to Work in 2018 (#17 small company).</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Hotchkiss Insurance leadership team</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Duke Revard</a:t>
            </a:r>
            <a:endParaRPr lang="en-US" sz="1200" dirty="0"/>
          </a:p>
        </p:txBody>
      </p:sp>
    </p:spTree>
  </p:cSld>
  <p:clrMapOvr>
    <a:masterClrMapping/>
  </p:clrMapOvr>
  <p:transition xmlns:p="http://schemas.openxmlformats.org/presentationml/2006/main" spd="med" advClick="0" advTm="800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KPost Roofing &amp; Waterproofing</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Best-in-Class, ARMA 2026 Excellence in Asphalt Roofing</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Commercial/Mixed Use category winner for the National Medal of Honor Museum in Arlington. Honored at the International Roofing Expo in Las Vegas, January 2026.</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Steve Little, Keith Post, and Jayne Williams, Founders</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transition xmlns:p="http://schemas.openxmlformats.org/presentationml/2006/main" spd="med" advClick="0" advTm="8000">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lime_heath.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Lime Media Group</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+ 2026 Top Workplaces Culture Excellence</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Heath Hill. Rockwall-based. Top Workplaces Culture Excellence winner (July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Heath Hill,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Leonard Lynskey</a:t>
            </a:r>
            <a:endParaRPr lang="en-US" sz="1100" dirty="0"/>
          </a:p>
        </p:txBody>
      </p:sp>
    </p:spTree>
  </p:cSld>
  <p:clrMapOvr>
    <a:masterClrMapping/>
  </p:clrMapOvr>
  <p:transition xmlns:p="http://schemas.openxmlformats.org/presentationml/2006/main" spd="med" advClick="0" advTm="8000">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local_profile_summit.jpg">    </p:cNvPr>
          <p:cNvPicPr>
            <a:picLocks noChangeAspect="1"/>
          </p:cNvPicPr>
          <p:nvPr/>
        </p:nvPicPr>
        <p:blipFill>
          <a:blip r:embed="rId2"/>
          <a:stretch>
            <a:fillRect/>
          </a:stretch>
        </p:blipFill>
        <p:spPr>
          <a:xfrm>
            <a:off x="1143000" y="457200"/>
            <a:ext cx="3840480" cy="576072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Local Profile</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25th Annual Women in Business Summit sold out two months early</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Plano-based media company. The September 18 flagship summit sold out in two weeks, two months before the event. Presented by Baylor Scott and White Health.</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Rebecca Silvestri, Publisher   ·   Philip Silvestri</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Sandi Mitchell</a:t>
            </a:r>
            <a:endParaRPr lang="en-US" sz="1100" dirty="0"/>
          </a:p>
        </p:txBody>
      </p:sp>
    </p:spTree>
  </p:cSld>
  <p:clrMapOvr>
    <a:masterClrMapping/>
  </p:clrMapOvr>
  <p:transition xmlns:p="http://schemas.openxmlformats.org/presentationml/2006/main" spd="med" advClick="0" advTm="8000">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HEADLINE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Maverick Power</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Signs $1.75 billion acquisition agreement with nVent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Announced Aug 24, 2026 with up to $550M more tied to 2027–2028 performance. Also No. 7 on the 2026 Inc. Regionals: Southwest list (627% growth), a 2026 Inc. 5000 honoree, and Tom Currier named a 2026 DFW Titan 100 honoree.</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Tom Currier, President and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transition xmlns:p="http://schemas.openxmlformats.org/presentationml/2006/main" spd="med" advClick="0" advTm="8000">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moonshot_ethan.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Moonshot</a:t>
            </a:r>
            <a:endParaRPr lang="en-US" sz="40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advancing to National Awards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Ethan Ellenberg. Denton-based. Advances to the EY National Awards in November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Ethan Ellenberg,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Ryan Wall</a:t>
            </a:r>
            <a:endParaRPr lang="en-US" sz="1100" dirty="0"/>
          </a:p>
        </p:txBody>
      </p:sp>
    </p:spTree>
  </p:cSld>
  <p:clrMapOvr>
    <a:masterClrMapping/>
  </p:clrMapOvr>
  <p:transition xmlns:p="http://schemas.openxmlformats.org/presentationml/2006/main" spd="med" advClick="0" advTm="8000">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neighborhood_beverly.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Neighborhood Management, Inc.</a:t>
            </a:r>
            <a:endParaRPr lang="en-US" sz="2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EY Entrepreneur Of The Year 2026 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President Beverly Coghlan, PCAM — one of 44 finalists from 41 companies, announced April 21,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Beverly Coghlan, President</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Shane Spillers</a:t>
            </a:r>
            <a:endParaRPr lang="en-US" sz="1100" dirty="0"/>
          </a:p>
        </p:txBody>
      </p:sp>
    </p:spTree>
  </p:cSld>
  <p:clrMapOvr>
    <a:masterClrMapping/>
  </p:clrMapOvr>
  <p:transition xmlns:p="http://schemas.openxmlformats.org/presentationml/2006/main" spd="med" advClick="0" advTm="8000">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ntoa_lasik_team.jpg">    </p:cNvPr>
          <p:cNvPicPr>
            <a:picLocks noChangeAspect="1"/>
          </p:cNvPicPr>
          <p:nvPr/>
        </p:nvPicPr>
        <p:blipFill>
          <a:blip r:embed="rId2"/>
          <a:stretch>
            <a:fillRect/>
          </a:stretch>
        </p:blipFill>
        <p:spPr>
          <a:xfrm>
            <a:off x="457200" y="1226668"/>
            <a:ext cx="5212080" cy="4221785"/>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North Texas Ophthalmology</a:t>
            </a:r>
            <a:endParaRPr lang="en-US" sz="2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Launched LASIK, opened a second location, turned a loss into profit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Wichita Falls. Launched LASIK as a new service line, opened a second location, and turned a $300K loss in 2025 into roughly $150K profit YTD 2026 while paying down debt.</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Matt Griffiths, Director of Marketing and Technology</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Erin Thiem</a:t>
            </a:r>
            <a:endParaRPr lang="en-US" sz="1100" dirty="0"/>
          </a:p>
        </p:txBody>
      </p:sp>
    </p:spTree>
  </p:cSld>
  <p:clrMapOvr>
    <a:masterClrMapping/>
  </p:clrMapOvr>
  <p:transition xmlns:p="http://schemas.openxmlformats.org/presentationml/2006/main" spd="med" advClick="0" advTm="8000">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rose_confetti.jpg">    </p:cNvPr>
          <p:cNvPicPr>
            <a:picLocks noChangeAspect="1"/>
          </p:cNvPicPr>
          <p:nvPr/>
        </p:nvPicPr>
        <p:blipFill>
          <a:blip r:embed="rId2"/>
          <a:stretch>
            <a:fillRect/>
          </a:stretch>
        </p:blipFill>
        <p:spPr>
          <a:xfrm>
            <a:off x="457200" y="1813241"/>
            <a:ext cx="5212080" cy="3048637"/>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Rose Marketing Solutions</a:t>
            </a:r>
            <a:endParaRPr lang="en-US" sz="28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EO Dallas Forum Moderator of the Year</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Ruth Ann Rose named Forum Moderator of the Year by EO Dallas. Featured speaker at the Hinge Brokers Shift Early Childhood Conference.</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Ruth Ann Rose, Founder</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Amanda Matthews</a:t>
            </a:r>
            <a:endParaRPr lang="en-US" sz="1100" dirty="0"/>
          </a:p>
        </p:txBody>
      </p:sp>
    </p:spTree>
  </p:cSld>
  <p:clrMapOvr>
    <a:masterClrMapping/>
  </p:clrMapOvr>
  <p:transition xmlns:p="http://schemas.openxmlformats.org/presentationml/2006/main" spd="med" advClick="0" advTm="8000">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HEADLINE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TEKConcierge</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MSP Titan of the Southwest 2025 and DBJ Fast 50 back-to-back</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Richardson-based managed IT provider. 2025 MSP Titan of the Southwest, Dallas Business Journal Fast 50 in both 2025 and 2026, Inc. Regionals: Southwest in 2025 (#104) and 2026 (#81), Inc. 5000 four years running (2023 through 2026), Channel Partners MSP 501 (2025), and FDI Insider Managed Intelligence Provider of the Year for Richardson (2026).</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TEKConcierge leadership team</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Aaron Garcia</a:t>
            </a:r>
            <a:endParaRPr lang="en-US" sz="1200" dirty="0"/>
          </a:p>
        </p:txBody>
      </p:sp>
    </p:spTree>
  </p:cSld>
  <p:clrMapOvr>
    <a:masterClrMapping/>
  </p:clrMapOvr>
  <p:transition xmlns:p="http://schemas.openxmlformats.org/presentationml/2006/main" spd="med" advClick="0" advTm="8000">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trulabs_pogues.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TruLabs</a:t>
            </a:r>
            <a:endParaRPr lang="en-US" sz="40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Co-founders Brandon Pogue (CEO) and Jennifer Pogue (CMO). McKinney-based.</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Brandon and Jennifer Pogue</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Amy Johannesen</a:t>
            </a:r>
            <a:endParaRPr lang="en-US" sz="1100" dirty="0"/>
          </a:p>
        </p:txBody>
      </p:sp>
    </p:spTree>
  </p:cSld>
  <p:clrMapOvr>
    <a:masterClrMapping/>
  </p:clrMapOvr>
  <p:transition xmlns:p="http://schemas.openxmlformats.org/presentationml/2006/main" spd="med" advClick="0" advTm="8000">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822960" y="1737360"/>
            <a:ext cx="10545775" cy="1097280"/>
          </a:xfrm>
          <a:prstGeom prst="rect">
            <a:avLst/>
          </a:prstGeom>
          <a:noFill/>
          <a:ln/>
        </p:spPr>
        <p:txBody>
          <a:bodyPr wrap="square" rtlCol="0" anchor="ctr"/>
          <a:lstStyle/>
          <a:p>
            <a:pPr algn="ctr" indent="0" marL="0">
              <a:buNone/>
            </a:pPr>
            <a:r>
              <a:rPr lang="en-US" sz="6000" i="1" dirty="0">
                <a:solidFill>
                  <a:srgbClr val="FFFFFF"/>
                </a:solidFill>
                <a:latin typeface="Calibri" pitchFamily="34" charset="0"/>
                <a:ea typeface="Calibri" pitchFamily="34" charset="-122"/>
                <a:cs typeface="Calibri" pitchFamily="34" charset="-120"/>
              </a:rPr>
              <a:t>Congratulations</a:t>
            </a:r>
            <a:endParaRPr lang="en-US" sz="6000" dirty="0"/>
          </a:p>
        </p:txBody>
      </p:sp>
      <p:sp>
        <p:nvSpPr>
          <p:cNvPr id="5" name="Text 2"/>
          <p:cNvSpPr/>
          <p:nvPr/>
        </p:nvSpPr>
        <p:spPr>
          <a:xfrm>
            <a:off x="822960" y="2743200"/>
            <a:ext cx="10545775" cy="914400"/>
          </a:xfrm>
          <a:prstGeom prst="rect">
            <a:avLst/>
          </a:prstGeom>
          <a:noFill/>
          <a:ln/>
        </p:spPr>
        <p:txBody>
          <a:bodyPr wrap="square" rtlCol="0" anchor="ctr"/>
          <a:lstStyle/>
          <a:p>
            <a:pPr algn="ctr" indent="0" marL="0">
              <a:buNone/>
            </a:pPr>
            <a:r>
              <a:rPr lang="en-US" sz="4000" b="1" dirty="0">
                <a:solidFill>
                  <a:srgbClr val="E87722"/>
                </a:solidFill>
                <a:latin typeface="Calibri" pitchFamily="34" charset="0"/>
                <a:ea typeface="Calibri" pitchFamily="34" charset="-122"/>
                <a:cs typeface="Calibri" pitchFamily="34" charset="-120"/>
              </a:rPr>
              <a:t>to our North Texas EOS Community</a:t>
            </a:r>
            <a:endParaRPr lang="en-US" sz="4000" dirty="0"/>
          </a:p>
        </p:txBody>
      </p:sp>
      <p:sp>
        <p:nvSpPr>
          <p:cNvPr id="6" name="Shape 3"/>
          <p:cNvSpPr/>
          <p:nvPr/>
        </p:nvSpPr>
        <p:spPr>
          <a:xfrm>
            <a:off x="4724248" y="3794760"/>
            <a:ext cx="2743200" cy="45720"/>
          </a:xfrm>
          <a:prstGeom prst="rect">
            <a:avLst/>
          </a:prstGeom>
          <a:solidFill>
            <a:srgbClr val="E87722"/>
          </a:solidFill>
          <a:ln w="12700">
            <a:solidFill>
              <a:srgbClr val="E87722"/>
            </a:solidFill>
            <a:prstDash val="solid"/>
          </a:ln>
        </p:spPr>
      </p:sp>
      <p:sp>
        <p:nvSpPr>
          <p:cNvPr id="7" name="Text 4"/>
          <p:cNvSpPr/>
          <p:nvPr/>
        </p:nvSpPr>
        <p:spPr>
          <a:xfrm>
            <a:off x="822960" y="4114800"/>
            <a:ext cx="10545775" cy="457200"/>
          </a:xfrm>
          <a:prstGeom prst="rect">
            <a:avLst/>
          </a:prstGeom>
          <a:noFill/>
          <a:ln/>
        </p:spPr>
        <p:txBody>
          <a:bodyPr wrap="square" rtlCol="0" anchor="ctr"/>
          <a:lstStyle/>
          <a:p>
            <a:pPr algn="ctr" indent="0" marL="0">
              <a:buNone/>
            </a:pPr>
            <a:r>
              <a:rPr lang="en-US" sz="2200" dirty="0">
                <a:solidFill>
                  <a:srgbClr val="FFFFFF"/>
                </a:solidFill>
                <a:latin typeface="Calibri" pitchFamily="34" charset="0"/>
                <a:ea typeface="Calibri" pitchFamily="34" charset="-122"/>
                <a:cs typeface="Calibri" pitchFamily="34" charset="-120"/>
              </a:rPr>
              <a:t>We Run on EOS North Texas 2026</a:t>
            </a:r>
            <a:endParaRPr lang="en-US" sz="2200" dirty="0"/>
          </a:p>
        </p:txBody>
      </p:sp>
      <p:sp>
        <p:nvSpPr>
          <p:cNvPr id="8" name="Text 5"/>
          <p:cNvSpPr/>
          <p:nvPr/>
        </p:nvSpPr>
        <p:spPr>
          <a:xfrm>
            <a:off x="822960" y="4617720"/>
            <a:ext cx="10545775" cy="365760"/>
          </a:xfrm>
          <a:prstGeom prst="rect">
            <a:avLst/>
          </a:prstGeom>
          <a:noFill/>
          <a:ln/>
        </p:spPr>
        <p:txBody>
          <a:bodyPr wrap="square" rtlCol="0" anchor="ctr"/>
          <a:lstStyle/>
          <a:p>
            <a:pPr algn="ctr" indent="0" marL="0">
              <a:buNone/>
            </a:pPr>
            <a:r>
              <a:rPr lang="en-US" sz="1600" dirty="0">
                <a:solidFill>
                  <a:srgbClr val="C9D2DE"/>
                </a:solidFill>
                <a:latin typeface="Calibri" pitchFamily="34" charset="0"/>
                <a:ea typeface="Calibri" pitchFamily="34" charset="-122"/>
                <a:cs typeface="Calibri" pitchFamily="34" charset="-120"/>
              </a:rPr>
              <a:t>The Statler, Dallas   ·   Monday, September 14, 2026</a:t>
            </a:r>
            <a:endParaRPr lang="en-US" sz="1600" dirty="0"/>
          </a:p>
        </p:txBody>
      </p:sp>
    </p:spTree>
  </p:cSld>
  <p:clrMapOvr>
    <a:masterClrMapping/>
  </p:clrMapOvr>
  <p:transition xmlns:p="http://schemas.openxmlformats.org/presentationml/2006/main" spd="med" advClick="0" advTm="8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EOS Worldwide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Customer Celebrations</dc:title>
  <dc:subject>Break loop — customer celebrations</dc:subject>
  <dc:creator>We Run on EOS North Texas</dc:creator>
  <cp:lastModifiedBy>We Run on EOS North Texas</cp:lastModifiedBy>
  <cp:revision>1</cp:revision>
  <dcterms:created xsi:type="dcterms:W3CDTF">2026-09-10T15:08:33Z</dcterms:created>
  <dcterms:modified xsi:type="dcterms:W3CDTF">2026-09-10T15:08:33Z</dcterms:modified>
</cp:coreProperties>
</file>