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showPr showType="kiosk" loop="1" showNarration="0" showAnimation="1" useTimings="1">
    <p:sldAll/>
    <p:penClr>
      <a:srgbClr val="000000"/>
    </p:penClr>
  </p:showPr>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jp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822960" y="1645920"/>
            <a:ext cx="10545775" cy="1097280"/>
          </a:xfrm>
          <a:prstGeom prst="rect">
            <a:avLst/>
          </a:prstGeom>
          <a:noFill/>
          <a:ln/>
        </p:spPr>
        <p:txBody>
          <a:bodyPr wrap="square" rtlCol="0" anchor="ctr"/>
          <a:lstStyle/>
          <a:p>
            <a:pPr algn="ctr" indent="0" marL="0">
              <a:buNone/>
            </a:pPr>
            <a:r>
              <a:rPr lang="en-US" sz="6800" b="1" dirty="0">
                <a:solidFill>
                  <a:srgbClr val="FFFFFF"/>
                </a:solidFill>
                <a:latin typeface="Calibri" pitchFamily="34" charset="0"/>
                <a:ea typeface="Calibri" pitchFamily="34" charset="-122"/>
                <a:cs typeface="Calibri" pitchFamily="34" charset="-120"/>
              </a:rPr>
              <a:t>Customer</a:t>
            </a:r>
            <a:endParaRPr lang="en-US" sz="6800" dirty="0"/>
          </a:p>
        </p:txBody>
      </p:sp>
      <p:sp>
        <p:nvSpPr>
          <p:cNvPr id="5" name="Text 2"/>
          <p:cNvSpPr/>
          <p:nvPr/>
        </p:nvSpPr>
        <p:spPr>
          <a:xfrm>
            <a:off x="822960" y="2560320"/>
            <a:ext cx="10545775" cy="1280160"/>
          </a:xfrm>
          <a:prstGeom prst="rect">
            <a:avLst/>
          </a:prstGeom>
          <a:noFill/>
          <a:ln/>
        </p:spPr>
        <p:txBody>
          <a:bodyPr wrap="square" rtlCol="0" anchor="ctr"/>
          <a:lstStyle/>
          <a:p>
            <a:pPr algn="ctr" indent="0" marL="0">
              <a:buNone/>
            </a:pPr>
            <a:r>
              <a:rPr lang="en-US" sz="10000" b="1" spc="600" kern="0" dirty="0">
                <a:solidFill>
                  <a:srgbClr val="E87722"/>
                </a:solidFill>
                <a:latin typeface="Calibri" pitchFamily="34" charset="0"/>
                <a:ea typeface="Calibri" pitchFamily="34" charset="-122"/>
                <a:cs typeface="Calibri" pitchFamily="34" charset="-120"/>
              </a:rPr>
              <a:t>CELEBRATIONS</a:t>
            </a:r>
            <a:endParaRPr lang="en-US" sz="10000" dirty="0"/>
          </a:p>
        </p:txBody>
      </p:sp>
      <p:sp>
        <p:nvSpPr>
          <p:cNvPr id="6" name="Text 3"/>
          <p:cNvSpPr/>
          <p:nvPr/>
        </p:nvSpPr>
        <p:spPr>
          <a:xfrm>
            <a:off x="822960" y="4023360"/>
            <a:ext cx="10545775" cy="457200"/>
          </a:xfrm>
          <a:prstGeom prst="rect">
            <a:avLst/>
          </a:prstGeom>
          <a:noFill/>
          <a:ln/>
        </p:spPr>
        <p:txBody>
          <a:bodyPr wrap="square" rtlCol="0" anchor="ctr"/>
          <a:lstStyle/>
          <a:p>
            <a:pPr algn="ctr" indent="0" marL="0">
              <a:buNone/>
            </a:pPr>
            <a:r>
              <a:rPr lang="en-US" sz="2600" dirty="0">
                <a:solidFill>
                  <a:srgbClr val="FFFFFF"/>
                </a:solidFill>
                <a:latin typeface="Calibri" pitchFamily="34" charset="0"/>
                <a:ea typeface="Calibri" pitchFamily="34" charset="-122"/>
                <a:cs typeface="Calibri" pitchFamily="34" charset="-120"/>
              </a:rPr>
              <a:t>We Run on EOS North Texas 2026</a:t>
            </a:r>
            <a:endParaRPr lang="en-US" sz="2600" dirty="0"/>
          </a:p>
        </p:txBody>
      </p:sp>
      <p:sp>
        <p:nvSpPr>
          <p:cNvPr id="7" name="Text 4"/>
          <p:cNvSpPr/>
          <p:nvPr/>
        </p:nvSpPr>
        <p:spPr>
          <a:xfrm>
            <a:off x="822960" y="4572000"/>
            <a:ext cx="10545775" cy="365760"/>
          </a:xfrm>
          <a:prstGeom prst="rect">
            <a:avLst/>
          </a:prstGeom>
          <a:noFill/>
          <a:ln/>
        </p:spPr>
        <p:txBody>
          <a:bodyPr wrap="square" rtlCol="0" anchor="ctr"/>
          <a:lstStyle/>
          <a:p>
            <a:pPr algn="ctr" indent="0" marL="0">
              <a:buNone/>
            </a:pPr>
            <a:r>
              <a:rPr lang="en-US" sz="1800" dirty="0">
                <a:solidFill>
                  <a:srgbClr val="C9D2DE"/>
                </a:solidFill>
                <a:latin typeface="Calibri" pitchFamily="34" charset="0"/>
                <a:ea typeface="Calibri" pitchFamily="34" charset="-122"/>
                <a:cs typeface="Calibri" pitchFamily="34" charset="-120"/>
              </a:rPr>
              <a:t>Monday, September 14, 2026   ·   The Statler, Dallas</a:t>
            </a:r>
            <a:endParaRPr lang="en-US" sz="1800" dirty="0"/>
          </a:p>
        </p:txBody>
      </p:sp>
    </p:spTree>
  </p:cSld>
  <p:clrMapOvr>
    <a:masterClrMapping/>
  </p:clrMapOvr>
  <p:transition xmlns:p="http://schemas.openxmlformats.org/presentationml/2006/main" spd="med" advClick="0" advTm="8000">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914400" y="1280160"/>
            <a:ext cx="10362895" cy="457200"/>
          </a:xfrm>
          <a:prstGeom prst="rect">
            <a:avLst/>
          </a:prstGeom>
          <a:noFill/>
          <a:ln/>
        </p:spPr>
        <p:txBody>
          <a:bodyPr wrap="square" rtlCol="0" anchor="ctr"/>
          <a:lstStyle/>
          <a:p>
            <a:pPr algn="ctr" indent="0" marL="0">
              <a:buNone/>
            </a:pPr>
            <a:r>
              <a:rPr lang="en-US" sz="1600" b="1" spc="600" kern="0" dirty="0">
                <a:solidFill>
                  <a:srgbClr val="E87722"/>
                </a:solidFill>
                <a:latin typeface="Calibri" pitchFamily="34" charset="0"/>
                <a:ea typeface="Calibri" pitchFamily="34" charset="-122"/>
                <a:cs typeface="Calibri" pitchFamily="34" charset="-120"/>
              </a:rPr>
              <a:t>HEADLINE WIN</a:t>
            </a:r>
            <a:endParaRPr lang="en-US" sz="1600" dirty="0"/>
          </a:p>
        </p:txBody>
      </p:sp>
      <p:sp>
        <p:nvSpPr>
          <p:cNvPr id="5" name="Text 2"/>
          <p:cNvSpPr/>
          <p:nvPr/>
        </p:nvSpPr>
        <p:spPr>
          <a:xfrm>
            <a:off x="731520" y="1828800"/>
            <a:ext cx="10728655" cy="1280160"/>
          </a:xfrm>
          <a:prstGeom prst="rect">
            <a:avLst/>
          </a:prstGeom>
          <a:noFill/>
          <a:ln/>
        </p:spPr>
        <p:txBody>
          <a:bodyPr wrap="square" rtlCol="0" anchor="t"/>
          <a:lstStyle/>
          <a:p>
            <a:pPr algn="ctr" indent="0" marL="0">
              <a:buNone/>
            </a:pPr>
            <a:r>
              <a:rPr lang="en-US" sz="6000" b="1" dirty="0">
                <a:solidFill>
                  <a:srgbClr val="FFFFFF"/>
                </a:solidFill>
                <a:latin typeface="Calibri" pitchFamily="34" charset="0"/>
                <a:ea typeface="Calibri" pitchFamily="34" charset="-122"/>
                <a:cs typeface="Calibri" pitchFamily="34" charset="-120"/>
              </a:rPr>
              <a:t>Maverick Power</a:t>
            </a:r>
            <a:endParaRPr lang="en-US" sz="6000" dirty="0"/>
          </a:p>
        </p:txBody>
      </p:sp>
      <p:sp>
        <p:nvSpPr>
          <p:cNvPr id="6" name="Shape 3"/>
          <p:cNvSpPr/>
          <p:nvPr/>
        </p:nvSpPr>
        <p:spPr>
          <a:xfrm>
            <a:off x="5181448" y="3246120"/>
            <a:ext cx="1828800" cy="45720"/>
          </a:xfrm>
          <a:prstGeom prst="rect">
            <a:avLst/>
          </a:prstGeom>
          <a:solidFill>
            <a:srgbClr val="E87722"/>
          </a:solidFill>
          <a:ln w="12700">
            <a:solidFill>
              <a:srgbClr val="E87722"/>
            </a:solidFill>
            <a:prstDash val="solid"/>
          </a:ln>
        </p:spPr>
      </p:sp>
      <p:sp>
        <p:nvSpPr>
          <p:cNvPr id="7" name="Text 4"/>
          <p:cNvSpPr/>
          <p:nvPr/>
        </p:nvSpPr>
        <p:spPr>
          <a:xfrm>
            <a:off x="1371600" y="3520440"/>
            <a:ext cx="9448495" cy="914400"/>
          </a:xfrm>
          <a:prstGeom prst="rect">
            <a:avLst/>
          </a:prstGeom>
          <a:noFill/>
          <a:ln/>
        </p:spPr>
        <p:txBody>
          <a:bodyPr wrap="square" rtlCol="0" anchor="t"/>
          <a:lstStyle/>
          <a:p>
            <a:pPr algn="ctr" indent="0" marL="0">
              <a:buNone/>
            </a:pPr>
            <a:r>
              <a:rPr lang="en-US" sz="2400" b="1" dirty="0">
                <a:solidFill>
                  <a:srgbClr val="E87722"/>
                </a:solidFill>
                <a:latin typeface="Calibri" pitchFamily="34" charset="0"/>
                <a:ea typeface="Calibri" pitchFamily="34" charset="-122"/>
                <a:cs typeface="Calibri" pitchFamily="34" charset="-120"/>
              </a:rPr>
              <a:t>Signs $1.75 billion acquisition agreement with nVent</a:t>
            </a:r>
            <a:endParaRPr lang="en-US" sz="2400" dirty="0"/>
          </a:p>
        </p:txBody>
      </p:sp>
      <p:sp>
        <p:nvSpPr>
          <p:cNvPr id="8" name="Text 5"/>
          <p:cNvSpPr/>
          <p:nvPr/>
        </p:nvSpPr>
        <p:spPr>
          <a:xfrm>
            <a:off x="1828800" y="4434840"/>
            <a:ext cx="8534095" cy="1463040"/>
          </a:xfrm>
          <a:prstGeom prst="rect">
            <a:avLst/>
          </a:prstGeom>
          <a:noFill/>
          <a:ln/>
        </p:spPr>
        <p:txBody>
          <a:bodyPr wrap="square" rtlCol="0" anchor="t"/>
          <a:lstStyle/>
          <a:p>
            <a:pPr algn="ctr" indent="0" marL="0">
              <a:buNone/>
            </a:pPr>
            <a:r>
              <a:rPr lang="en-US" sz="1700" dirty="0">
                <a:solidFill>
                  <a:srgbClr val="FFFFFF"/>
                </a:solidFill>
                <a:latin typeface="Calibri" pitchFamily="34" charset="0"/>
                <a:ea typeface="Calibri" pitchFamily="34" charset="-122"/>
                <a:cs typeface="Calibri" pitchFamily="34" charset="-120"/>
              </a:rPr>
              <a:t>Announced Aug 24, 2026 with up to $550M more tied to 2027–2028 performance. Also No. 7 on the 2026 Inc. Regionals: Southwest list (627% growth), a 2026 Inc. 5000 honoree, and Tom Currier named a 2026 DFW Titan 100 honoree.</a:t>
            </a:r>
            <a:endParaRPr lang="en-US" sz="1700" dirty="0"/>
          </a:p>
        </p:txBody>
      </p:sp>
      <p:sp>
        <p:nvSpPr>
          <p:cNvPr id="9" name="Text 6"/>
          <p:cNvSpPr/>
          <p:nvPr/>
        </p:nvSpPr>
        <p:spPr>
          <a:xfrm>
            <a:off x="914400" y="5760720"/>
            <a:ext cx="10362895" cy="320040"/>
          </a:xfrm>
          <a:prstGeom prst="rect">
            <a:avLst/>
          </a:prstGeom>
          <a:noFill/>
          <a:ln/>
        </p:spPr>
        <p:txBody>
          <a:bodyPr wrap="square" rtlCol="0" anchor="ctr"/>
          <a:lstStyle/>
          <a:p>
            <a:pPr algn="ctr" indent="0" marL="0">
              <a:buNone/>
            </a:pPr>
            <a:r>
              <a:rPr lang="en-US" sz="1400" i="1" dirty="0">
                <a:solidFill>
                  <a:srgbClr val="C9D2DE"/>
                </a:solidFill>
                <a:latin typeface="Calibri" pitchFamily="34" charset="0"/>
                <a:ea typeface="Calibri" pitchFamily="34" charset="-122"/>
                <a:cs typeface="Calibri" pitchFamily="34" charset="-120"/>
              </a:rPr>
              <a:t>Tom Currier, President and CEO</a:t>
            </a:r>
            <a:endParaRPr lang="en-US" sz="1400" dirty="0"/>
          </a:p>
        </p:txBody>
      </p:sp>
      <p:sp>
        <p:nvSpPr>
          <p:cNvPr id="10" name="Text 7"/>
          <p:cNvSpPr/>
          <p:nvPr/>
        </p:nvSpPr>
        <p:spPr>
          <a:xfrm>
            <a:off x="914400" y="6080760"/>
            <a:ext cx="10362895" cy="274320"/>
          </a:xfrm>
          <a:prstGeom prst="rect">
            <a:avLst/>
          </a:prstGeom>
          <a:noFill/>
          <a:ln/>
        </p:spPr>
        <p:txBody>
          <a:bodyPr wrap="square" rtlCol="0" anchor="ctr"/>
          <a:lstStyle/>
          <a:p>
            <a:pPr algn="ctr" indent="0" marL="0">
              <a:buNone/>
            </a:pPr>
            <a:r>
              <a:rPr lang="en-US" sz="1200" dirty="0">
                <a:solidFill>
                  <a:srgbClr val="E87722"/>
                </a:solidFill>
                <a:latin typeface="Calibri" pitchFamily="34" charset="0"/>
                <a:ea typeface="Calibri" pitchFamily="34" charset="-122"/>
                <a:cs typeface="Calibri" pitchFamily="34" charset="-120"/>
              </a:rPr>
              <a:t>Implementer:  Shane Spillers</a:t>
            </a:r>
            <a:endParaRPr lang="en-US" sz="1200" dirty="0"/>
          </a:p>
        </p:txBody>
      </p:sp>
    </p:spTree>
  </p:cSld>
  <p:clrMapOvr>
    <a:masterClrMapping/>
  </p:clrMapOvr>
  <p:transition xmlns:p="http://schemas.openxmlformats.org/presentationml/2006/main" spd="med" advClick="0" advTm="8000">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914400" y="1280160"/>
            <a:ext cx="10362895" cy="457200"/>
          </a:xfrm>
          <a:prstGeom prst="rect">
            <a:avLst/>
          </a:prstGeom>
          <a:noFill/>
          <a:ln/>
        </p:spPr>
        <p:txBody>
          <a:bodyPr wrap="square" rtlCol="0" anchor="ctr"/>
          <a:lstStyle/>
          <a:p>
            <a:pPr algn="ctr" indent="0" marL="0">
              <a:buNone/>
            </a:pPr>
            <a:r>
              <a:rPr lang="en-US" sz="1600" b="1" spc="600" kern="0" dirty="0">
                <a:solidFill>
                  <a:srgbClr val="E87722"/>
                </a:solidFill>
                <a:latin typeface="Calibri" pitchFamily="34" charset="0"/>
                <a:ea typeface="Calibri" pitchFamily="34" charset="-122"/>
                <a:cs typeface="Calibri" pitchFamily="34" charset="-120"/>
              </a:rPr>
              <a:t>COMMUNITY WIN</a:t>
            </a:r>
            <a:endParaRPr lang="en-US" sz="1600" dirty="0"/>
          </a:p>
        </p:txBody>
      </p:sp>
      <p:sp>
        <p:nvSpPr>
          <p:cNvPr id="5" name="Text 2"/>
          <p:cNvSpPr/>
          <p:nvPr/>
        </p:nvSpPr>
        <p:spPr>
          <a:xfrm>
            <a:off x="731520" y="1828800"/>
            <a:ext cx="10728655" cy="1280160"/>
          </a:xfrm>
          <a:prstGeom prst="rect">
            <a:avLst/>
          </a:prstGeom>
          <a:noFill/>
          <a:ln/>
        </p:spPr>
        <p:txBody>
          <a:bodyPr wrap="square" rtlCol="0" anchor="t"/>
          <a:lstStyle/>
          <a:p>
            <a:pPr algn="ctr" indent="0" marL="0">
              <a:buNone/>
            </a:pPr>
            <a:r>
              <a:rPr lang="en-US" sz="4400" b="1" dirty="0">
                <a:solidFill>
                  <a:srgbClr val="FFFFFF"/>
                </a:solidFill>
                <a:latin typeface="Calibri" pitchFamily="34" charset="0"/>
                <a:ea typeface="Calibri" pitchFamily="34" charset="-122"/>
                <a:cs typeface="Calibri" pitchFamily="34" charset="-120"/>
              </a:rPr>
              <a:t>KPost Roofing &amp; Waterproofing</a:t>
            </a:r>
            <a:endParaRPr lang="en-US" sz="4400" dirty="0"/>
          </a:p>
        </p:txBody>
      </p:sp>
      <p:sp>
        <p:nvSpPr>
          <p:cNvPr id="6" name="Shape 3"/>
          <p:cNvSpPr/>
          <p:nvPr/>
        </p:nvSpPr>
        <p:spPr>
          <a:xfrm>
            <a:off x="5181448" y="3246120"/>
            <a:ext cx="1828800" cy="45720"/>
          </a:xfrm>
          <a:prstGeom prst="rect">
            <a:avLst/>
          </a:prstGeom>
          <a:solidFill>
            <a:srgbClr val="E87722"/>
          </a:solidFill>
          <a:ln w="12700">
            <a:solidFill>
              <a:srgbClr val="E87722"/>
            </a:solidFill>
            <a:prstDash val="solid"/>
          </a:ln>
        </p:spPr>
      </p:sp>
      <p:sp>
        <p:nvSpPr>
          <p:cNvPr id="7" name="Text 4"/>
          <p:cNvSpPr/>
          <p:nvPr/>
        </p:nvSpPr>
        <p:spPr>
          <a:xfrm>
            <a:off x="1371600" y="3520440"/>
            <a:ext cx="9448495" cy="914400"/>
          </a:xfrm>
          <a:prstGeom prst="rect">
            <a:avLst/>
          </a:prstGeom>
          <a:noFill/>
          <a:ln/>
        </p:spPr>
        <p:txBody>
          <a:bodyPr wrap="square" rtlCol="0" anchor="t"/>
          <a:lstStyle/>
          <a:p>
            <a:pPr algn="ctr" indent="0" marL="0">
              <a:buNone/>
            </a:pPr>
            <a:r>
              <a:rPr lang="en-US" sz="2400" b="1" dirty="0">
                <a:solidFill>
                  <a:srgbClr val="E87722"/>
                </a:solidFill>
                <a:latin typeface="Calibri" pitchFamily="34" charset="0"/>
                <a:ea typeface="Calibri" pitchFamily="34" charset="-122"/>
                <a:cs typeface="Calibri" pitchFamily="34" charset="-120"/>
              </a:rPr>
              <a:t>Best-in-Class, ARMA 2026 Excellence in Asphalt Roofing</a:t>
            </a:r>
            <a:endParaRPr lang="en-US" sz="2400" dirty="0"/>
          </a:p>
        </p:txBody>
      </p:sp>
      <p:sp>
        <p:nvSpPr>
          <p:cNvPr id="8" name="Text 5"/>
          <p:cNvSpPr/>
          <p:nvPr/>
        </p:nvSpPr>
        <p:spPr>
          <a:xfrm>
            <a:off x="1828800" y="4434840"/>
            <a:ext cx="8534095" cy="1463040"/>
          </a:xfrm>
          <a:prstGeom prst="rect">
            <a:avLst/>
          </a:prstGeom>
          <a:noFill/>
          <a:ln/>
        </p:spPr>
        <p:txBody>
          <a:bodyPr wrap="square" rtlCol="0" anchor="t"/>
          <a:lstStyle/>
          <a:p>
            <a:pPr algn="ctr" indent="0" marL="0">
              <a:buNone/>
            </a:pPr>
            <a:r>
              <a:rPr lang="en-US" sz="1700" dirty="0">
                <a:solidFill>
                  <a:srgbClr val="FFFFFF"/>
                </a:solidFill>
                <a:latin typeface="Calibri" pitchFamily="34" charset="0"/>
                <a:ea typeface="Calibri" pitchFamily="34" charset="-122"/>
                <a:cs typeface="Calibri" pitchFamily="34" charset="-120"/>
              </a:rPr>
              <a:t>Commercial/Mixed Use category winner for the National Medal of Honor Museum in Arlington. Honored at the International Roofing Expo in Las Vegas, January 2026.</a:t>
            </a:r>
            <a:endParaRPr lang="en-US" sz="1700" dirty="0"/>
          </a:p>
        </p:txBody>
      </p:sp>
      <p:sp>
        <p:nvSpPr>
          <p:cNvPr id="9" name="Text 6"/>
          <p:cNvSpPr/>
          <p:nvPr/>
        </p:nvSpPr>
        <p:spPr>
          <a:xfrm>
            <a:off x="914400" y="5760720"/>
            <a:ext cx="10362895" cy="320040"/>
          </a:xfrm>
          <a:prstGeom prst="rect">
            <a:avLst/>
          </a:prstGeom>
          <a:noFill/>
          <a:ln/>
        </p:spPr>
        <p:txBody>
          <a:bodyPr wrap="square" rtlCol="0" anchor="ctr"/>
          <a:lstStyle/>
          <a:p>
            <a:pPr algn="ctr" indent="0" marL="0">
              <a:buNone/>
            </a:pPr>
            <a:r>
              <a:rPr lang="en-US" sz="1400" i="1" dirty="0">
                <a:solidFill>
                  <a:srgbClr val="C9D2DE"/>
                </a:solidFill>
                <a:latin typeface="Calibri" pitchFamily="34" charset="0"/>
                <a:ea typeface="Calibri" pitchFamily="34" charset="-122"/>
                <a:cs typeface="Calibri" pitchFamily="34" charset="-120"/>
              </a:rPr>
              <a:t>Steve Little, Keith Post, and Jayne Williams, Founders</a:t>
            </a:r>
            <a:endParaRPr lang="en-US" sz="1400" dirty="0"/>
          </a:p>
        </p:txBody>
      </p:sp>
      <p:sp>
        <p:nvSpPr>
          <p:cNvPr id="10" name="Text 7"/>
          <p:cNvSpPr/>
          <p:nvPr/>
        </p:nvSpPr>
        <p:spPr>
          <a:xfrm>
            <a:off x="914400" y="6080760"/>
            <a:ext cx="10362895" cy="274320"/>
          </a:xfrm>
          <a:prstGeom prst="rect">
            <a:avLst/>
          </a:prstGeom>
          <a:noFill/>
          <a:ln/>
        </p:spPr>
        <p:txBody>
          <a:bodyPr wrap="square" rtlCol="0" anchor="ctr"/>
          <a:lstStyle/>
          <a:p>
            <a:pPr algn="ctr" indent="0" marL="0">
              <a:buNone/>
            </a:pPr>
            <a:r>
              <a:rPr lang="en-US" sz="1200" dirty="0">
                <a:solidFill>
                  <a:srgbClr val="E87722"/>
                </a:solidFill>
                <a:latin typeface="Calibri" pitchFamily="34" charset="0"/>
                <a:ea typeface="Calibri" pitchFamily="34" charset="-122"/>
                <a:cs typeface="Calibri" pitchFamily="34" charset="-120"/>
              </a:rPr>
              <a:t>Implementer:  Shane Spillers</a:t>
            </a:r>
            <a:endParaRPr lang="en-US" sz="1200" dirty="0"/>
          </a:p>
        </p:txBody>
      </p:sp>
    </p:spTree>
  </p:cSld>
  <p:clrMapOvr>
    <a:masterClrMapping/>
  </p:clrMapOvr>
  <p:transition xmlns:p="http://schemas.openxmlformats.org/presentationml/2006/main" spd="med" advClick="0" advTm="8000">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neighborhood_beverly.jpg">    </p:cNvPr>
          <p:cNvPicPr>
            <a:picLocks noChangeAspect="1"/>
          </p:cNvPicPr>
          <p:nvPr/>
        </p:nvPicPr>
        <p:blipFill>
          <a:blip r:embed="rId2"/>
          <a:stretch>
            <a:fillRect/>
          </a:stretch>
        </p:blipFill>
        <p:spPr>
          <a:xfrm>
            <a:off x="457200" y="1599657"/>
            <a:ext cx="5212080" cy="3475806"/>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COMMUNITY WIN</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2400" b="1" dirty="0">
                <a:solidFill>
                  <a:srgbClr val="FFFFFF"/>
                </a:solidFill>
                <a:latin typeface="Calibri" pitchFamily="34" charset="0"/>
                <a:ea typeface="Calibri" pitchFamily="34" charset="-122"/>
                <a:cs typeface="Calibri" pitchFamily="34" charset="-120"/>
              </a:rPr>
              <a:t>Neighborhood Management, Inc.</a:t>
            </a:r>
            <a:endParaRPr lang="en-US" sz="24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EY Entrepreneur Of The Year 2026 Southwest Finalist</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President Beverly Coghlan, PCAM — one of 44 finalists from 41 companies, announced April 21, 2026.</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Beverly Coghlan, President</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Shane Spillers</a:t>
            </a:r>
            <a:endParaRPr lang="en-US" sz="1100" dirty="0"/>
          </a:p>
        </p:txBody>
      </p:sp>
    </p:spTree>
  </p:cSld>
  <p:clrMapOvr>
    <a:masterClrMapping/>
  </p:clrMapOvr>
  <p:transition xmlns:p="http://schemas.openxmlformats.org/presentationml/2006/main" spd="med" advClick="0" advTm="8000">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914400" y="1280160"/>
            <a:ext cx="10362895" cy="457200"/>
          </a:xfrm>
          <a:prstGeom prst="rect">
            <a:avLst/>
          </a:prstGeom>
          <a:noFill/>
          <a:ln/>
        </p:spPr>
        <p:txBody>
          <a:bodyPr wrap="square" rtlCol="0" anchor="ctr"/>
          <a:lstStyle/>
          <a:p>
            <a:pPr algn="ctr" indent="0" marL="0">
              <a:buNone/>
            </a:pPr>
            <a:r>
              <a:rPr lang="en-US" sz="1600" b="1" spc="600" kern="0" dirty="0">
                <a:solidFill>
                  <a:srgbClr val="E87722"/>
                </a:solidFill>
                <a:latin typeface="Calibri" pitchFamily="34" charset="0"/>
                <a:ea typeface="Calibri" pitchFamily="34" charset="-122"/>
                <a:cs typeface="Calibri" pitchFamily="34" charset="-120"/>
              </a:rPr>
              <a:t>COMMUNITY WIN</a:t>
            </a:r>
            <a:endParaRPr lang="en-US" sz="1600" dirty="0"/>
          </a:p>
        </p:txBody>
      </p:sp>
      <p:sp>
        <p:nvSpPr>
          <p:cNvPr id="5" name="Text 2"/>
          <p:cNvSpPr/>
          <p:nvPr/>
        </p:nvSpPr>
        <p:spPr>
          <a:xfrm>
            <a:off x="731520" y="1828800"/>
            <a:ext cx="10728655" cy="1280160"/>
          </a:xfrm>
          <a:prstGeom prst="rect">
            <a:avLst/>
          </a:prstGeom>
          <a:noFill/>
          <a:ln/>
        </p:spPr>
        <p:txBody>
          <a:bodyPr wrap="square" rtlCol="0" anchor="t"/>
          <a:lstStyle/>
          <a:p>
            <a:pPr algn="ctr" indent="0" marL="0">
              <a:buNone/>
            </a:pPr>
            <a:r>
              <a:rPr lang="en-US" sz="6000" b="1" dirty="0">
                <a:solidFill>
                  <a:srgbClr val="FFFFFF"/>
                </a:solidFill>
                <a:latin typeface="Calibri" pitchFamily="34" charset="0"/>
                <a:ea typeface="Calibri" pitchFamily="34" charset="-122"/>
                <a:cs typeface="Calibri" pitchFamily="34" charset="-120"/>
              </a:rPr>
              <a:t>B2 Design Co</a:t>
            </a:r>
            <a:endParaRPr lang="en-US" sz="6000" dirty="0"/>
          </a:p>
        </p:txBody>
      </p:sp>
      <p:sp>
        <p:nvSpPr>
          <p:cNvPr id="6" name="Shape 3"/>
          <p:cNvSpPr/>
          <p:nvPr/>
        </p:nvSpPr>
        <p:spPr>
          <a:xfrm>
            <a:off x="5181448" y="3246120"/>
            <a:ext cx="1828800" cy="45720"/>
          </a:xfrm>
          <a:prstGeom prst="rect">
            <a:avLst/>
          </a:prstGeom>
          <a:solidFill>
            <a:srgbClr val="E87722"/>
          </a:solidFill>
          <a:ln w="12700">
            <a:solidFill>
              <a:srgbClr val="E87722"/>
            </a:solidFill>
            <a:prstDash val="solid"/>
          </a:ln>
        </p:spPr>
      </p:sp>
      <p:sp>
        <p:nvSpPr>
          <p:cNvPr id="7" name="Text 4"/>
          <p:cNvSpPr/>
          <p:nvPr/>
        </p:nvSpPr>
        <p:spPr>
          <a:xfrm>
            <a:off x="1371600" y="3520440"/>
            <a:ext cx="9448495" cy="914400"/>
          </a:xfrm>
          <a:prstGeom prst="rect">
            <a:avLst/>
          </a:prstGeom>
          <a:noFill/>
          <a:ln/>
        </p:spPr>
        <p:txBody>
          <a:bodyPr wrap="square" rtlCol="0" anchor="t"/>
          <a:lstStyle/>
          <a:p>
            <a:pPr algn="ctr" indent="0" marL="0">
              <a:buNone/>
            </a:pPr>
            <a:r>
              <a:rPr lang="en-US" sz="2400" b="1" dirty="0">
                <a:solidFill>
                  <a:srgbClr val="E87722"/>
                </a:solidFill>
                <a:latin typeface="Calibri" pitchFamily="34" charset="0"/>
                <a:ea typeface="Calibri" pitchFamily="34" charset="-122"/>
                <a:cs typeface="Calibri" pitchFamily="34" charset="-120"/>
              </a:rPr>
              <a:t>Connect CRE 2025 Women in Real Estate, Texas honoree</a:t>
            </a:r>
            <a:endParaRPr lang="en-US" sz="2400" dirty="0"/>
          </a:p>
        </p:txBody>
      </p:sp>
      <p:sp>
        <p:nvSpPr>
          <p:cNvPr id="8" name="Text 5"/>
          <p:cNvSpPr/>
          <p:nvPr/>
        </p:nvSpPr>
        <p:spPr>
          <a:xfrm>
            <a:off x="1828800" y="4434840"/>
            <a:ext cx="8534095" cy="1463040"/>
          </a:xfrm>
          <a:prstGeom prst="rect">
            <a:avLst/>
          </a:prstGeom>
          <a:noFill/>
          <a:ln/>
        </p:spPr>
        <p:txBody>
          <a:bodyPr wrap="square" rtlCol="0" anchor="t"/>
          <a:lstStyle/>
          <a:p>
            <a:pPr algn="ctr" indent="0" marL="0">
              <a:buNone/>
            </a:pPr>
            <a:r>
              <a:rPr lang="en-US" sz="1700" dirty="0">
                <a:solidFill>
                  <a:srgbClr val="FFFFFF"/>
                </a:solidFill>
                <a:latin typeface="Calibri" pitchFamily="34" charset="0"/>
                <a:ea typeface="Calibri" pitchFamily="34" charset="-122"/>
                <a:cs typeface="Calibri" pitchFamily="34" charset="-120"/>
              </a:rPr>
              <a:t>Founder and CEO B. Allison Brooks, AIA (October 2025). Recently completed interiors for HALL Park Hotel and The Ludlow. Offices in Dallas, Chicago, Miami, and Chapel Hill.</a:t>
            </a:r>
            <a:endParaRPr lang="en-US" sz="1700" dirty="0"/>
          </a:p>
        </p:txBody>
      </p:sp>
      <p:sp>
        <p:nvSpPr>
          <p:cNvPr id="9" name="Text 6"/>
          <p:cNvSpPr/>
          <p:nvPr/>
        </p:nvSpPr>
        <p:spPr>
          <a:xfrm>
            <a:off x="914400" y="5760720"/>
            <a:ext cx="10362895" cy="320040"/>
          </a:xfrm>
          <a:prstGeom prst="rect">
            <a:avLst/>
          </a:prstGeom>
          <a:noFill/>
          <a:ln/>
        </p:spPr>
        <p:txBody>
          <a:bodyPr wrap="square" rtlCol="0" anchor="ctr"/>
          <a:lstStyle/>
          <a:p>
            <a:pPr algn="ctr" indent="0" marL="0">
              <a:buNone/>
            </a:pPr>
            <a:r>
              <a:rPr lang="en-US" sz="1400" i="1" dirty="0">
                <a:solidFill>
                  <a:srgbClr val="C9D2DE"/>
                </a:solidFill>
                <a:latin typeface="Calibri" pitchFamily="34" charset="0"/>
                <a:ea typeface="Calibri" pitchFamily="34" charset="-122"/>
                <a:cs typeface="Calibri" pitchFamily="34" charset="-120"/>
              </a:rPr>
              <a:t>B. Allison Brooks, Founder and CEO</a:t>
            </a:r>
            <a:endParaRPr lang="en-US" sz="1400" dirty="0"/>
          </a:p>
        </p:txBody>
      </p:sp>
      <p:sp>
        <p:nvSpPr>
          <p:cNvPr id="10" name="Text 7"/>
          <p:cNvSpPr/>
          <p:nvPr/>
        </p:nvSpPr>
        <p:spPr>
          <a:xfrm>
            <a:off x="914400" y="6080760"/>
            <a:ext cx="10362895" cy="274320"/>
          </a:xfrm>
          <a:prstGeom prst="rect">
            <a:avLst/>
          </a:prstGeom>
          <a:noFill/>
          <a:ln/>
        </p:spPr>
        <p:txBody>
          <a:bodyPr wrap="square" rtlCol="0" anchor="ctr"/>
          <a:lstStyle/>
          <a:p>
            <a:pPr algn="ctr" indent="0" marL="0">
              <a:buNone/>
            </a:pPr>
            <a:r>
              <a:rPr lang="en-US" sz="1200" dirty="0">
                <a:solidFill>
                  <a:srgbClr val="E87722"/>
                </a:solidFill>
                <a:latin typeface="Calibri" pitchFamily="34" charset="0"/>
                <a:ea typeface="Calibri" pitchFamily="34" charset="-122"/>
                <a:cs typeface="Calibri" pitchFamily="34" charset="-120"/>
              </a:rPr>
              <a:t>Implementer:  Shane Spillers</a:t>
            </a:r>
            <a:endParaRPr lang="en-US" sz="1200" dirty="0"/>
          </a:p>
        </p:txBody>
      </p:sp>
    </p:spTree>
  </p:cSld>
  <p:clrMapOvr>
    <a:masterClrMapping/>
  </p:clrMapOvr>
  <p:transition xmlns:p="http://schemas.openxmlformats.org/presentationml/2006/main" spd="med" advClick="0" advTm="8000">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914400" y="1280160"/>
            <a:ext cx="10362895" cy="457200"/>
          </a:xfrm>
          <a:prstGeom prst="rect">
            <a:avLst/>
          </a:prstGeom>
          <a:noFill/>
          <a:ln/>
        </p:spPr>
        <p:txBody>
          <a:bodyPr wrap="square" rtlCol="0" anchor="ctr"/>
          <a:lstStyle/>
          <a:p>
            <a:pPr algn="ctr" indent="0" marL="0">
              <a:buNone/>
            </a:pPr>
            <a:r>
              <a:rPr lang="en-US" sz="1600" b="1" spc="600" kern="0" dirty="0">
                <a:solidFill>
                  <a:srgbClr val="E87722"/>
                </a:solidFill>
                <a:latin typeface="Calibri" pitchFamily="34" charset="0"/>
                <a:ea typeface="Calibri" pitchFamily="34" charset="-122"/>
                <a:cs typeface="Calibri" pitchFamily="34" charset="-120"/>
              </a:rPr>
              <a:t>COMMUNITY WIN</a:t>
            </a:r>
            <a:endParaRPr lang="en-US" sz="1600" dirty="0"/>
          </a:p>
        </p:txBody>
      </p:sp>
      <p:sp>
        <p:nvSpPr>
          <p:cNvPr id="5" name="Text 2"/>
          <p:cNvSpPr/>
          <p:nvPr/>
        </p:nvSpPr>
        <p:spPr>
          <a:xfrm>
            <a:off x="731520" y="1828800"/>
            <a:ext cx="10728655" cy="1280160"/>
          </a:xfrm>
          <a:prstGeom prst="rect">
            <a:avLst/>
          </a:prstGeom>
          <a:noFill/>
          <a:ln/>
        </p:spPr>
        <p:txBody>
          <a:bodyPr wrap="square" rtlCol="0" anchor="t"/>
          <a:lstStyle/>
          <a:p>
            <a:pPr algn="ctr" indent="0" marL="0">
              <a:buNone/>
            </a:pPr>
            <a:r>
              <a:rPr lang="en-US" sz="6000" b="1" dirty="0">
                <a:solidFill>
                  <a:srgbClr val="FFFFFF"/>
                </a:solidFill>
                <a:latin typeface="Calibri" pitchFamily="34" charset="0"/>
                <a:ea typeface="Calibri" pitchFamily="34" charset="-122"/>
                <a:cs typeface="Calibri" pitchFamily="34" charset="-120"/>
              </a:rPr>
              <a:t>Artstillery</a:t>
            </a:r>
            <a:endParaRPr lang="en-US" sz="6000" dirty="0"/>
          </a:p>
        </p:txBody>
      </p:sp>
      <p:sp>
        <p:nvSpPr>
          <p:cNvPr id="6" name="Shape 3"/>
          <p:cNvSpPr/>
          <p:nvPr/>
        </p:nvSpPr>
        <p:spPr>
          <a:xfrm>
            <a:off x="5181448" y="3246120"/>
            <a:ext cx="1828800" cy="45720"/>
          </a:xfrm>
          <a:prstGeom prst="rect">
            <a:avLst/>
          </a:prstGeom>
          <a:solidFill>
            <a:srgbClr val="E87722"/>
          </a:solidFill>
          <a:ln w="12700">
            <a:solidFill>
              <a:srgbClr val="E87722"/>
            </a:solidFill>
            <a:prstDash val="solid"/>
          </a:ln>
        </p:spPr>
      </p:sp>
      <p:sp>
        <p:nvSpPr>
          <p:cNvPr id="7" name="Text 4"/>
          <p:cNvSpPr/>
          <p:nvPr/>
        </p:nvSpPr>
        <p:spPr>
          <a:xfrm>
            <a:off x="1371600" y="3520440"/>
            <a:ext cx="9448495" cy="914400"/>
          </a:xfrm>
          <a:prstGeom prst="rect">
            <a:avLst/>
          </a:prstGeom>
          <a:noFill/>
          <a:ln/>
        </p:spPr>
        <p:txBody>
          <a:bodyPr wrap="square" rtlCol="0" anchor="t"/>
          <a:lstStyle/>
          <a:p>
            <a:pPr algn="ctr" indent="0" marL="0">
              <a:buNone/>
            </a:pPr>
            <a:r>
              <a:rPr lang="en-US" sz="2400" b="1" dirty="0">
                <a:solidFill>
                  <a:srgbClr val="E87722"/>
                </a:solidFill>
                <a:latin typeface="Calibri" pitchFamily="34" charset="0"/>
                <a:ea typeface="Calibri" pitchFamily="34" charset="-122"/>
                <a:cs typeface="Calibri" pitchFamily="34" charset="-120"/>
              </a:rPr>
              <a:t>10 years and a 2026 Moody Fund for the Arts grant</a:t>
            </a:r>
            <a:endParaRPr lang="en-US" sz="2400" dirty="0"/>
          </a:p>
        </p:txBody>
      </p:sp>
      <p:sp>
        <p:nvSpPr>
          <p:cNvPr id="8" name="Text 5"/>
          <p:cNvSpPr/>
          <p:nvPr/>
        </p:nvSpPr>
        <p:spPr>
          <a:xfrm>
            <a:off x="1828800" y="4434840"/>
            <a:ext cx="8534095" cy="1463040"/>
          </a:xfrm>
          <a:prstGeom prst="rect">
            <a:avLst/>
          </a:prstGeom>
          <a:noFill/>
          <a:ln/>
        </p:spPr>
        <p:txBody>
          <a:bodyPr wrap="square" rtlCol="0" anchor="t"/>
          <a:lstStyle/>
          <a:p>
            <a:pPr algn="ctr" indent="0" marL="0">
              <a:buNone/>
            </a:pPr>
            <a:r>
              <a:rPr lang="en-US" sz="1700" dirty="0">
                <a:solidFill>
                  <a:srgbClr val="FFFFFF"/>
                </a:solidFill>
                <a:latin typeface="Calibri" pitchFamily="34" charset="0"/>
                <a:ea typeface="Calibri" pitchFamily="34" charset="-122"/>
                <a:cs typeface="Calibri" pitchFamily="34" charset="-120"/>
              </a:rPr>
              <a:t>Celebrating 10 years (June 27, 2026). The grant supports "Dichotomy of Compassion," the current immersive multimedia production. Now Dallas and Chicago.</a:t>
            </a:r>
            <a:endParaRPr lang="en-US" sz="1700" dirty="0"/>
          </a:p>
        </p:txBody>
      </p:sp>
      <p:sp>
        <p:nvSpPr>
          <p:cNvPr id="9" name="Text 6"/>
          <p:cNvSpPr/>
          <p:nvPr/>
        </p:nvSpPr>
        <p:spPr>
          <a:xfrm>
            <a:off x="914400" y="5760720"/>
            <a:ext cx="10362895" cy="320040"/>
          </a:xfrm>
          <a:prstGeom prst="rect">
            <a:avLst/>
          </a:prstGeom>
          <a:noFill/>
          <a:ln/>
        </p:spPr>
        <p:txBody>
          <a:bodyPr wrap="square" rtlCol="0" anchor="ctr"/>
          <a:lstStyle/>
          <a:p>
            <a:pPr algn="ctr" indent="0" marL="0">
              <a:buNone/>
            </a:pPr>
            <a:r>
              <a:rPr lang="en-US" sz="1400" i="1" dirty="0">
                <a:solidFill>
                  <a:srgbClr val="C9D2DE"/>
                </a:solidFill>
                <a:latin typeface="Calibri" pitchFamily="34" charset="0"/>
                <a:ea typeface="Calibri" pitchFamily="34" charset="-122"/>
                <a:cs typeface="Calibri" pitchFamily="34" charset="-120"/>
              </a:rPr>
              <a:t>Ilknur Nilufer Ozgur, Founder, Executive and Artistic Director</a:t>
            </a:r>
            <a:endParaRPr lang="en-US" sz="1400" dirty="0"/>
          </a:p>
        </p:txBody>
      </p:sp>
      <p:sp>
        <p:nvSpPr>
          <p:cNvPr id="10" name="Text 7"/>
          <p:cNvSpPr/>
          <p:nvPr/>
        </p:nvSpPr>
        <p:spPr>
          <a:xfrm>
            <a:off x="914400" y="6080760"/>
            <a:ext cx="10362895" cy="274320"/>
          </a:xfrm>
          <a:prstGeom prst="rect">
            <a:avLst/>
          </a:prstGeom>
          <a:noFill/>
          <a:ln/>
        </p:spPr>
        <p:txBody>
          <a:bodyPr wrap="square" rtlCol="0" anchor="ctr"/>
          <a:lstStyle/>
          <a:p>
            <a:pPr algn="ctr" indent="0" marL="0">
              <a:buNone/>
            </a:pPr>
            <a:r>
              <a:rPr lang="en-US" sz="1200" dirty="0">
                <a:solidFill>
                  <a:srgbClr val="E87722"/>
                </a:solidFill>
                <a:latin typeface="Calibri" pitchFamily="34" charset="0"/>
                <a:ea typeface="Calibri" pitchFamily="34" charset="-122"/>
                <a:cs typeface="Calibri" pitchFamily="34" charset="-120"/>
              </a:rPr>
              <a:t>Implementer:  Shane Spillers</a:t>
            </a:r>
            <a:endParaRPr lang="en-US" sz="1200" dirty="0"/>
          </a:p>
        </p:txBody>
      </p:sp>
    </p:spTree>
  </p:cSld>
  <p:clrMapOvr>
    <a:masterClrMapping/>
  </p:clrMapOvr>
  <p:transition xmlns:p="http://schemas.openxmlformats.org/presentationml/2006/main" spd="med" advClick="0" advTm="8000">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moonshot_ethan.jpg">    </p:cNvPr>
          <p:cNvPicPr>
            <a:picLocks noChangeAspect="1"/>
          </p:cNvPicPr>
          <p:nvPr/>
        </p:nvPicPr>
        <p:blipFill>
          <a:blip r:embed="rId2"/>
          <a:stretch>
            <a:fillRect/>
          </a:stretch>
        </p:blipFill>
        <p:spPr>
          <a:xfrm>
            <a:off x="457200" y="1599657"/>
            <a:ext cx="5212080" cy="3475806"/>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EY EOY 2026 · SOUTHWEST WINNER</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Moonshot</a:t>
            </a:r>
            <a:endParaRPr lang="en-US" sz="40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Southwest Winner — advancing to National Awards</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Founder and CEO Ethan Ellenberg. Denton-based. Advances to the EY National Awards in November 2026.</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Ethan Ellenberg, Founder and CEO</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Ryan Wall</a:t>
            </a:r>
            <a:endParaRPr lang="en-US" sz="1100" dirty="0"/>
          </a:p>
        </p:txBody>
      </p:sp>
    </p:spTree>
  </p:cSld>
  <p:clrMapOvr>
    <a:masterClrMapping/>
  </p:clrMapOvr>
  <p:transition xmlns:p="http://schemas.openxmlformats.org/presentationml/2006/main" spd="med" advClick="0" advTm="8000">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lime_heath.jpg">    </p:cNvPr>
          <p:cNvPicPr>
            <a:picLocks noChangeAspect="1"/>
          </p:cNvPicPr>
          <p:nvPr/>
        </p:nvPicPr>
        <p:blipFill>
          <a:blip r:embed="rId2"/>
          <a:stretch>
            <a:fillRect/>
          </a:stretch>
        </p:blipFill>
        <p:spPr>
          <a:xfrm>
            <a:off x="457200" y="1599657"/>
            <a:ext cx="5212080" cy="3475806"/>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EY EOY 2026 · SOUTHWEST WINNER</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3400" b="1" dirty="0">
                <a:solidFill>
                  <a:srgbClr val="FFFFFF"/>
                </a:solidFill>
                <a:latin typeface="Calibri" pitchFamily="34" charset="0"/>
                <a:ea typeface="Calibri" pitchFamily="34" charset="-122"/>
                <a:cs typeface="Calibri" pitchFamily="34" charset="-120"/>
              </a:rPr>
              <a:t>Lime Media Group</a:t>
            </a:r>
            <a:endParaRPr lang="en-US" sz="34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Southwest Winner + 2026 Top Workplaces Culture Excellence</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Founder and CEO Heath Hill. Rockwall-based. Top Workplaces Culture Excellence winner (July 2026).</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Heath Hill, Founder and CEO</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Leonard</a:t>
            </a:r>
            <a:endParaRPr lang="en-US" sz="1100" dirty="0"/>
          </a:p>
        </p:txBody>
      </p:sp>
    </p:spTree>
  </p:cSld>
  <p:clrMapOvr>
    <a:masterClrMapping/>
  </p:clrMapOvr>
  <p:transition xmlns:p="http://schemas.openxmlformats.org/presentationml/2006/main" spd="med" advClick="0" advTm="8000">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brainstorm_jason.jpg">    </p:cNvPr>
          <p:cNvPicPr>
            <a:picLocks noChangeAspect="1"/>
          </p:cNvPicPr>
          <p:nvPr/>
        </p:nvPicPr>
        <p:blipFill>
          <a:blip r:embed="rId2"/>
          <a:stretch>
            <a:fillRect/>
          </a:stretch>
        </p:blipFill>
        <p:spPr>
          <a:xfrm>
            <a:off x="457200" y="1599657"/>
            <a:ext cx="5212080" cy="3475806"/>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EY EOY 2026 · SOUTHWEST FINALIST</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2200" b="1" dirty="0">
                <a:solidFill>
                  <a:srgbClr val="FFFFFF"/>
                </a:solidFill>
                <a:latin typeface="Calibri" pitchFamily="34" charset="0"/>
                <a:ea typeface="Calibri" pitchFamily="34" charset="-122"/>
                <a:cs typeface="Calibri" pitchFamily="34" charset="-120"/>
              </a:rPr>
              <a:t>Brain Storm Shelter Restaurants</a:t>
            </a:r>
            <a:endParaRPr lang="en-US" sz="22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Southwest Finalist</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Jason Boso — founder of Truck Yard, Twisted Root Burger Co., and more. Also a finalist in the Oklahoma City ULI Impact Awards.</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Jason Boso, Founder</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Amanda Matthews</a:t>
            </a:r>
            <a:endParaRPr lang="en-US" sz="1100" dirty="0"/>
          </a:p>
        </p:txBody>
      </p:sp>
    </p:spTree>
  </p:cSld>
  <p:clrMapOvr>
    <a:masterClrMapping/>
  </p:clrMapOvr>
  <p:transition xmlns:p="http://schemas.openxmlformats.org/presentationml/2006/main" spd="med" advClick="0" advTm="8000">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trulabs_pogues.jpg">    </p:cNvPr>
          <p:cNvPicPr>
            <a:picLocks noChangeAspect="1"/>
          </p:cNvPicPr>
          <p:nvPr/>
        </p:nvPicPr>
        <p:blipFill>
          <a:blip r:embed="rId2"/>
          <a:stretch>
            <a:fillRect/>
          </a:stretch>
        </p:blipFill>
        <p:spPr>
          <a:xfrm>
            <a:off x="457200" y="1599657"/>
            <a:ext cx="5212080" cy="3475806"/>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EY EOY 2026 · SOUTHWEST FINALIST</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4000" b="1" dirty="0">
                <a:solidFill>
                  <a:srgbClr val="FFFFFF"/>
                </a:solidFill>
                <a:latin typeface="Calibri" pitchFamily="34" charset="0"/>
                <a:ea typeface="Calibri" pitchFamily="34" charset="-122"/>
                <a:cs typeface="Calibri" pitchFamily="34" charset="-120"/>
              </a:rPr>
              <a:t>TruLabs</a:t>
            </a:r>
            <a:endParaRPr lang="en-US" sz="40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Southwest Finalists</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Co-founders Brandon Pogue (CEO) and Jennifer Pogue (CMO). McKinney-based.</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Brandon and Jennifer Pogue</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Amy Johannesen</a:t>
            </a:r>
            <a:endParaRPr lang="en-US" sz="1100" dirty="0"/>
          </a:p>
        </p:txBody>
      </p:sp>
    </p:spTree>
  </p:cSld>
  <p:clrMapOvr>
    <a:masterClrMapping/>
  </p:clrMapOvr>
  <p:transition xmlns:p="http://schemas.openxmlformats.org/presentationml/2006/main" spd="med" advClick="0" advTm="8000">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excel_gabe.jpg">    </p:cNvPr>
          <p:cNvPicPr>
            <a:picLocks noChangeAspect="1"/>
          </p:cNvPicPr>
          <p:nvPr/>
        </p:nvPicPr>
        <p:blipFill>
          <a:blip r:embed="rId2"/>
          <a:stretch>
            <a:fillRect/>
          </a:stretch>
        </p:blipFill>
        <p:spPr>
          <a:xfrm>
            <a:off x="457200" y="1599657"/>
            <a:ext cx="5212080" cy="3475806"/>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EY EOY 2026 · SOUTHWEST FINALIST</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2800" b="1" dirty="0">
                <a:solidFill>
                  <a:srgbClr val="FFFFFF"/>
                </a:solidFill>
                <a:latin typeface="Calibri" pitchFamily="34" charset="0"/>
                <a:ea typeface="Calibri" pitchFamily="34" charset="-122"/>
                <a:cs typeface="Calibri" pitchFamily="34" charset="-120"/>
              </a:rPr>
              <a:t>Excel Medical Staffing</a:t>
            </a:r>
            <a:endParaRPr lang="en-US" sz="28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Southwest Finalist</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Founder and CEO Gabriel Griess, U.S. Air Force Academy graduate. Grapevine-based.</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Gabriel Griess, Founder and CEO</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Justin Mink</a:t>
            </a:r>
            <a:endParaRPr lang="en-US" sz="1100" dirty="0"/>
          </a:p>
        </p:txBody>
      </p:sp>
    </p:spTree>
  </p:cSld>
  <p:clrMapOvr>
    <a:masterClrMapping/>
  </p:clrMapOvr>
  <p:transition xmlns:p="http://schemas.openxmlformats.org/presentationml/2006/main" spd="med" advClick="0" advTm="8000">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914400" y="1280160"/>
            <a:ext cx="10362895" cy="457200"/>
          </a:xfrm>
          <a:prstGeom prst="rect">
            <a:avLst/>
          </a:prstGeom>
          <a:noFill/>
          <a:ln/>
        </p:spPr>
        <p:txBody>
          <a:bodyPr wrap="square" rtlCol="0" anchor="ctr"/>
          <a:lstStyle/>
          <a:p>
            <a:pPr algn="ctr" indent="0" marL="0">
              <a:buNone/>
            </a:pPr>
            <a:r>
              <a:rPr lang="en-US" sz="1600" b="1" spc="600" kern="0" dirty="0">
                <a:solidFill>
                  <a:srgbClr val="E87722"/>
                </a:solidFill>
                <a:latin typeface="Calibri" pitchFamily="34" charset="0"/>
                <a:ea typeface="Calibri" pitchFamily="34" charset="-122"/>
                <a:cs typeface="Calibri" pitchFamily="34" charset="-120"/>
              </a:rPr>
              <a:t>EY EOY 2026 · HEARTLAND FINALIST</a:t>
            </a:r>
            <a:endParaRPr lang="en-US" sz="1600" dirty="0"/>
          </a:p>
        </p:txBody>
      </p:sp>
      <p:sp>
        <p:nvSpPr>
          <p:cNvPr id="5" name="Text 2"/>
          <p:cNvSpPr/>
          <p:nvPr/>
        </p:nvSpPr>
        <p:spPr>
          <a:xfrm>
            <a:off x="731520" y="1828800"/>
            <a:ext cx="10728655" cy="1280160"/>
          </a:xfrm>
          <a:prstGeom prst="rect">
            <a:avLst/>
          </a:prstGeom>
          <a:noFill/>
          <a:ln/>
        </p:spPr>
        <p:txBody>
          <a:bodyPr wrap="square" rtlCol="0" anchor="t"/>
          <a:lstStyle/>
          <a:p>
            <a:pPr algn="ctr" indent="0" marL="0">
              <a:buNone/>
            </a:pPr>
            <a:r>
              <a:rPr lang="en-US" sz="5200" b="1" dirty="0">
                <a:solidFill>
                  <a:srgbClr val="FFFFFF"/>
                </a:solidFill>
                <a:latin typeface="Calibri" pitchFamily="34" charset="0"/>
                <a:ea typeface="Calibri" pitchFamily="34" charset="-122"/>
                <a:cs typeface="Calibri" pitchFamily="34" charset="-120"/>
              </a:rPr>
              <a:t>HorsePower Brands</a:t>
            </a:r>
            <a:endParaRPr lang="en-US" sz="5200" dirty="0"/>
          </a:p>
        </p:txBody>
      </p:sp>
      <p:sp>
        <p:nvSpPr>
          <p:cNvPr id="6" name="Shape 3"/>
          <p:cNvSpPr/>
          <p:nvPr/>
        </p:nvSpPr>
        <p:spPr>
          <a:xfrm>
            <a:off x="5181448" y="3246120"/>
            <a:ext cx="1828800" cy="45720"/>
          </a:xfrm>
          <a:prstGeom prst="rect">
            <a:avLst/>
          </a:prstGeom>
          <a:solidFill>
            <a:srgbClr val="E87722"/>
          </a:solidFill>
          <a:ln w="12700">
            <a:solidFill>
              <a:srgbClr val="E87722"/>
            </a:solidFill>
            <a:prstDash val="solid"/>
          </a:ln>
        </p:spPr>
      </p:sp>
      <p:sp>
        <p:nvSpPr>
          <p:cNvPr id="7" name="Text 4"/>
          <p:cNvSpPr/>
          <p:nvPr/>
        </p:nvSpPr>
        <p:spPr>
          <a:xfrm>
            <a:off x="1371600" y="3520440"/>
            <a:ext cx="9448495" cy="914400"/>
          </a:xfrm>
          <a:prstGeom prst="rect">
            <a:avLst/>
          </a:prstGeom>
          <a:noFill/>
          <a:ln/>
        </p:spPr>
        <p:txBody>
          <a:bodyPr wrap="square" rtlCol="0" anchor="t"/>
          <a:lstStyle/>
          <a:p>
            <a:pPr algn="ctr" indent="0" marL="0">
              <a:buNone/>
            </a:pPr>
            <a:r>
              <a:rPr lang="en-US" sz="2400" b="1" dirty="0">
                <a:solidFill>
                  <a:srgbClr val="E87722"/>
                </a:solidFill>
                <a:latin typeface="Calibri" pitchFamily="34" charset="0"/>
                <a:ea typeface="Calibri" pitchFamily="34" charset="-122"/>
                <a:cs typeface="Calibri" pitchFamily="34" charset="-120"/>
              </a:rPr>
              <a:t>Heartland Finalist</a:t>
            </a:r>
            <a:endParaRPr lang="en-US" sz="2400" dirty="0"/>
          </a:p>
        </p:txBody>
      </p:sp>
      <p:sp>
        <p:nvSpPr>
          <p:cNvPr id="8" name="Text 5"/>
          <p:cNvSpPr/>
          <p:nvPr/>
        </p:nvSpPr>
        <p:spPr>
          <a:xfrm>
            <a:off x="1828800" y="4434840"/>
            <a:ext cx="8534095" cy="1463040"/>
          </a:xfrm>
          <a:prstGeom prst="rect">
            <a:avLst/>
          </a:prstGeom>
          <a:noFill/>
          <a:ln/>
        </p:spPr>
        <p:txBody>
          <a:bodyPr wrap="square" rtlCol="0" anchor="t"/>
          <a:lstStyle/>
          <a:p>
            <a:pPr algn="ctr" indent="0" marL="0">
              <a:buNone/>
            </a:pPr>
            <a:r>
              <a:rPr lang="en-US" sz="1700" dirty="0">
                <a:solidFill>
                  <a:srgbClr val="FFFFFF"/>
                </a:solidFill>
                <a:latin typeface="Calibri" pitchFamily="34" charset="0"/>
                <a:ea typeface="Calibri" pitchFamily="34" charset="-122"/>
                <a:cs typeface="Calibri" pitchFamily="34" charset="-120"/>
              </a:rPr>
              <a:t>CEO Tony Hulbert. Nine home-service franchise brands, five of them on Entrepreneur magazine’s 2026 Franchise 500. Omaha-based.</a:t>
            </a:r>
            <a:endParaRPr lang="en-US" sz="1700" dirty="0"/>
          </a:p>
        </p:txBody>
      </p:sp>
      <p:sp>
        <p:nvSpPr>
          <p:cNvPr id="9" name="Text 6"/>
          <p:cNvSpPr/>
          <p:nvPr/>
        </p:nvSpPr>
        <p:spPr>
          <a:xfrm>
            <a:off x="914400" y="5760720"/>
            <a:ext cx="10362895" cy="320040"/>
          </a:xfrm>
          <a:prstGeom prst="rect">
            <a:avLst/>
          </a:prstGeom>
          <a:noFill/>
          <a:ln/>
        </p:spPr>
        <p:txBody>
          <a:bodyPr wrap="square" rtlCol="0" anchor="ctr"/>
          <a:lstStyle/>
          <a:p>
            <a:pPr algn="ctr" indent="0" marL="0">
              <a:buNone/>
            </a:pPr>
            <a:r>
              <a:rPr lang="en-US" sz="1400" i="1" dirty="0">
                <a:solidFill>
                  <a:srgbClr val="C9D2DE"/>
                </a:solidFill>
                <a:latin typeface="Calibri" pitchFamily="34" charset="0"/>
                <a:ea typeface="Calibri" pitchFamily="34" charset="-122"/>
                <a:cs typeface="Calibri" pitchFamily="34" charset="-120"/>
              </a:rPr>
              <a:t>Tony Hulbert, CEO</a:t>
            </a:r>
            <a:endParaRPr lang="en-US" sz="1400" dirty="0"/>
          </a:p>
        </p:txBody>
      </p:sp>
      <p:sp>
        <p:nvSpPr>
          <p:cNvPr id="10" name="Text 7"/>
          <p:cNvSpPr/>
          <p:nvPr/>
        </p:nvSpPr>
        <p:spPr>
          <a:xfrm>
            <a:off x="914400" y="6080760"/>
            <a:ext cx="10362895" cy="274320"/>
          </a:xfrm>
          <a:prstGeom prst="rect">
            <a:avLst/>
          </a:prstGeom>
          <a:noFill/>
          <a:ln/>
        </p:spPr>
        <p:txBody>
          <a:bodyPr wrap="square" rtlCol="0" anchor="ctr"/>
          <a:lstStyle/>
          <a:p>
            <a:pPr algn="ctr" indent="0" marL="0">
              <a:buNone/>
            </a:pPr>
            <a:r>
              <a:rPr lang="en-US" sz="1200" dirty="0">
                <a:solidFill>
                  <a:srgbClr val="E87722"/>
                </a:solidFill>
                <a:latin typeface="Calibri" pitchFamily="34" charset="0"/>
                <a:ea typeface="Calibri" pitchFamily="34" charset="-122"/>
                <a:cs typeface="Calibri" pitchFamily="34" charset="-120"/>
              </a:rPr>
              <a:t>Implementer:  Justin Mink</a:t>
            </a:r>
            <a:endParaRPr lang="en-US" sz="1200" dirty="0"/>
          </a:p>
        </p:txBody>
      </p:sp>
    </p:spTree>
  </p:cSld>
  <p:clrMapOvr>
    <a:masterClrMapping/>
  </p:clrMapOvr>
  <p:transition xmlns:p="http://schemas.openxmlformats.org/presentationml/2006/main" spd="med" advClick="0" advTm="8000">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ntoa_lasik_team.jpg">    </p:cNvPr>
          <p:cNvPicPr>
            <a:picLocks noChangeAspect="1"/>
          </p:cNvPicPr>
          <p:nvPr/>
        </p:nvPicPr>
        <p:blipFill>
          <a:blip r:embed="rId2"/>
          <a:stretch>
            <a:fillRect/>
          </a:stretch>
        </p:blipFill>
        <p:spPr>
          <a:xfrm>
            <a:off x="457200" y="1226668"/>
            <a:ext cx="5212080" cy="4221785"/>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COMMUNITY WIN</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2400" b="1" dirty="0">
                <a:solidFill>
                  <a:srgbClr val="FFFFFF"/>
                </a:solidFill>
                <a:latin typeface="Calibri" pitchFamily="34" charset="0"/>
                <a:ea typeface="Calibri" pitchFamily="34" charset="-122"/>
                <a:cs typeface="Calibri" pitchFamily="34" charset="-120"/>
              </a:rPr>
              <a:t>North Texas Ophthalmology</a:t>
            </a:r>
            <a:endParaRPr lang="en-US" sz="24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Launched LASIK, opened a second location, turned a loss into profit</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Wichita Falls. Launched LASIK as a new service line, opened a second location, and turned a $300K loss in 2025 into roughly $150K profit YTD 2026 while paying down debt.</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Matt Griffiths, Director of Marketing and Technology</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Erin Thiem</a:t>
            </a:r>
            <a:endParaRPr lang="en-US" sz="1100" dirty="0"/>
          </a:p>
        </p:txBody>
      </p:sp>
    </p:spTree>
  </p:cSld>
  <p:clrMapOvr>
    <a:masterClrMapping/>
  </p:clrMapOvr>
  <p:transition xmlns:p="http://schemas.openxmlformats.org/presentationml/2006/main" spd="med" advClick="0" advTm="8000">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austin_street.jpg">    </p:cNvPr>
          <p:cNvPicPr>
            <a:picLocks noChangeAspect="1"/>
          </p:cNvPicPr>
          <p:nvPr/>
        </p:nvPicPr>
        <p:blipFill>
          <a:blip r:embed="rId2"/>
          <a:stretch>
            <a:fillRect/>
          </a:stretch>
        </p:blipFill>
        <p:spPr>
          <a:xfrm>
            <a:off x="758952" y="457200"/>
            <a:ext cx="4608576" cy="5760720"/>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COMMUNITY WIN</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2800" b="1" dirty="0">
                <a:solidFill>
                  <a:srgbClr val="FFFFFF"/>
                </a:solidFill>
                <a:latin typeface="Calibri" pitchFamily="34" charset="0"/>
                <a:ea typeface="Calibri" pitchFamily="34" charset="-122"/>
                <a:cs typeface="Calibri" pitchFamily="34" charset="-120"/>
              </a:rPr>
              <a:t>Austin Street Center</a:t>
            </a:r>
            <a:endParaRPr lang="en-US" sz="28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D CEO 2026 Nonprofit and Corporate Citizenship Finalist</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Dallas. Record 640 housing placements in FY25 (up 25%). Record revenue in FY25, up 17% year-over-year and 36% over two years.</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Daniel Roby, CEO</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Kevin Taylor</a:t>
            </a:r>
            <a:endParaRPr lang="en-US" sz="1100" dirty="0"/>
          </a:p>
        </p:txBody>
      </p:sp>
    </p:spTree>
  </p:cSld>
  <p:clrMapOvr>
    <a:masterClrMapping/>
  </p:clrMapOvr>
  <p:transition xmlns:p="http://schemas.openxmlformats.org/presentationml/2006/main" spd="med" advClick="0" advTm="8000">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914400" y="1280160"/>
            <a:ext cx="10362895" cy="457200"/>
          </a:xfrm>
          <a:prstGeom prst="rect">
            <a:avLst/>
          </a:prstGeom>
          <a:noFill/>
          <a:ln/>
        </p:spPr>
        <p:txBody>
          <a:bodyPr wrap="square" rtlCol="0" anchor="ctr"/>
          <a:lstStyle/>
          <a:p>
            <a:pPr algn="ctr" indent="0" marL="0">
              <a:buNone/>
            </a:pPr>
            <a:r>
              <a:rPr lang="en-US" sz="1600" b="1" spc="600" kern="0" dirty="0">
                <a:solidFill>
                  <a:srgbClr val="E87722"/>
                </a:solidFill>
                <a:latin typeface="Calibri" pitchFamily="34" charset="0"/>
                <a:ea typeface="Calibri" pitchFamily="34" charset="-122"/>
                <a:cs typeface="Calibri" pitchFamily="34" charset="-120"/>
              </a:rPr>
              <a:t>COMMUNITY WIN</a:t>
            </a:r>
            <a:endParaRPr lang="en-US" sz="1600" dirty="0"/>
          </a:p>
        </p:txBody>
      </p:sp>
      <p:sp>
        <p:nvSpPr>
          <p:cNvPr id="5" name="Text 2"/>
          <p:cNvSpPr/>
          <p:nvPr/>
        </p:nvSpPr>
        <p:spPr>
          <a:xfrm>
            <a:off x="731520" y="1828800"/>
            <a:ext cx="10728655" cy="1280160"/>
          </a:xfrm>
          <a:prstGeom prst="rect">
            <a:avLst/>
          </a:prstGeom>
          <a:noFill/>
          <a:ln/>
        </p:spPr>
        <p:txBody>
          <a:bodyPr wrap="square" rtlCol="0" anchor="t"/>
          <a:lstStyle/>
          <a:p>
            <a:pPr algn="ctr" indent="0" marL="0">
              <a:buNone/>
            </a:pPr>
            <a:r>
              <a:rPr lang="en-US" sz="6000" b="1" dirty="0">
                <a:solidFill>
                  <a:srgbClr val="FFFFFF"/>
                </a:solidFill>
                <a:latin typeface="Calibri" pitchFamily="34" charset="0"/>
                <a:ea typeface="Calibri" pitchFamily="34" charset="-122"/>
                <a:cs typeface="Calibri" pitchFamily="34" charset="-120"/>
              </a:rPr>
              <a:t>BAT Security</a:t>
            </a:r>
            <a:endParaRPr lang="en-US" sz="6000" dirty="0"/>
          </a:p>
        </p:txBody>
      </p:sp>
      <p:sp>
        <p:nvSpPr>
          <p:cNvPr id="6" name="Shape 3"/>
          <p:cNvSpPr/>
          <p:nvPr/>
        </p:nvSpPr>
        <p:spPr>
          <a:xfrm>
            <a:off x="5181448" y="3246120"/>
            <a:ext cx="1828800" cy="45720"/>
          </a:xfrm>
          <a:prstGeom prst="rect">
            <a:avLst/>
          </a:prstGeom>
          <a:solidFill>
            <a:srgbClr val="E87722"/>
          </a:solidFill>
          <a:ln w="12700">
            <a:solidFill>
              <a:srgbClr val="E87722"/>
            </a:solidFill>
            <a:prstDash val="solid"/>
          </a:ln>
        </p:spPr>
      </p:sp>
      <p:sp>
        <p:nvSpPr>
          <p:cNvPr id="7" name="Text 4"/>
          <p:cNvSpPr/>
          <p:nvPr/>
        </p:nvSpPr>
        <p:spPr>
          <a:xfrm>
            <a:off x="1371600" y="3520440"/>
            <a:ext cx="9448495" cy="914400"/>
          </a:xfrm>
          <a:prstGeom prst="rect">
            <a:avLst/>
          </a:prstGeom>
          <a:noFill/>
          <a:ln/>
        </p:spPr>
        <p:txBody>
          <a:bodyPr wrap="square" rtlCol="0" anchor="t"/>
          <a:lstStyle/>
          <a:p>
            <a:pPr algn="ctr" indent="0" marL="0">
              <a:buNone/>
            </a:pPr>
            <a:r>
              <a:rPr lang="en-US" sz="2400" b="1" dirty="0">
                <a:solidFill>
                  <a:srgbClr val="E87722"/>
                </a:solidFill>
                <a:latin typeface="Calibri" pitchFamily="34" charset="0"/>
                <a:ea typeface="Calibri" pitchFamily="34" charset="-122"/>
                <a:cs typeface="Calibri" pitchFamily="34" charset="-120"/>
              </a:rPr>
              <a:t>Up 23% in gross revenue in the first 7 months on EOS</a:t>
            </a:r>
            <a:endParaRPr lang="en-US" sz="2400" dirty="0"/>
          </a:p>
        </p:txBody>
      </p:sp>
      <p:sp>
        <p:nvSpPr>
          <p:cNvPr id="8" name="Text 5"/>
          <p:cNvSpPr/>
          <p:nvPr/>
        </p:nvSpPr>
        <p:spPr>
          <a:xfrm>
            <a:off x="1828800" y="4434840"/>
            <a:ext cx="8534095" cy="1463040"/>
          </a:xfrm>
          <a:prstGeom prst="rect">
            <a:avLst/>
          </a:prstGeom>
          <a:noFill/>
          <a:ln/>
        </p:spPr>
        <p:txBody>
          <a:bodyPr wrap="square" rtlCol="0" anchor="t"/>
          <a:lstStyle/>
          <a:p>
            <a:pPr algn="ctr" indent="0" marL="0">
              <a:buNone/>
            </a:pPr>
            <a:r>
              <a:rPr lang="en-US" sz="1700" dirty="0">
                <a:solidFill>
                  <a:srgbClr val="FFFFFF"/>
                </a:solidFill>
                <a:latin typeface="Calibri" pitchFamily="34" charset="0"/>
                <a:ea typeface="Calibri" pitchFamily="34" charset="-122"/>
                <a:cs typeface="Calibri" pitchFamily="34" charset="-120"/>
              </a:rPr>
              <a:t>Waxahachie. Started Focus Day in January 2026 and posted Core Values throughout the office. Momentum has held all year.</a:t>
            </a:r>
            <a:endParaRPr lang="en-US" sz="1700" dirty="0"/>
          </a:p>
        </p:txBody>
      </p:sp>
      <p:sp>
        <p:nvSpPr>
          <p:cNvPr id="9" name="Text 6"/>
          <p:cNvSpPr/>
          <p:nvPr/>
        </p:nvSpPr>
        <p:spPr>
          <a:xfrm>
            <a:off x="914400" y="5760720"/>
            <a:ext cx="10362895" cy="320040"/>
          </a:xfrm>
          <a:prstGeom prst="rect">
            <a:avLst/>
          </a:prstGeom>
          <a:noFill/>
          <a:ln/>
        </p:spPr>
        <p:txBody>
          <a:bodyPr wrap="square" rtlCol="0" anchor="ctr"/>
          <a:lstStyle/>
          <a:p>
            <a:pPr algn="ctr" indent="0" marL="0">
              <a:buNone/>
            </a:pPr>
            <a:r>
              <a:rPr lang="en-US" sz="1400" i="1" dirty="0">
                <a:solidFill>
                  <a:srgbClr val="C9D2DE"/>
                </a:solidFill>
                <a:latin typeface="Calibri" pitchFamily="34" charset="0"/>
                <a:ea typeface="Calibri" pitchFamily="34" charset="-122"/>
                <a:cs typeface="Calibri" pitchFamily="34" charset="-120"/>
              </a:rPr>
              <a:t>Kyle Beller, President</a:t>
            </a:r>
            <a:endParaRPr lang="en-US" sz="1400" dirty="0"/>
          </a:p>
        </p:txBody>
      </p:sp>
      <p:sp>
        <p:nvSpPr>
          <p:cNvPr id="10" name="Text 7"/>
          <p:cNvSpPr/>
          <p:nvPr/>
        </p:nvSpPr>
        <p:spPr>
          <a:xfrm>
            <a:off x="914400" y="6080760"/>
            <a:ext cx="10362895" cy="274320"/>
          </a:xfrm>
          <a:prstGeom prst="rect">
            <a:avLst/>
          </a:prstGeom>
          <a:noFill/>
          <a:ln/>
        </p:spPr>
        <p:txBody>
          <a:bodyPr wrap="square" rtlCol="0" anchor="ctr"/>
          <a:lstStyle/>
          <a:p>
            <a:pPr algn="ctr" indent="0" marL="0">
              <a:buNone/>
            </a:pPr>
            <a:r>
              <a:rPr lang="en-US" sz="1200" dirty="0">
                <a:solidFill>
                  <a:srgbClr val="E87722"/>
                </a:solidFill>
                <a:latin typeface="Calibri" pitchFamily="34" charset="0"/>
                <a:ea typeface="Calibri" pitchFamily="34" charset="-122"/>
                <a:cs typeface="Calibri" pitchFamily="34" charset="-120"/>
              </a:rPr>
              <a:t>Implementer:  Kevin Taylor</a:t>
            </a:r>
            <a:endParaRPr lang="en-US" sz="1200" dirty="0"/>
          </a:p>
        </p:txBody>
      </p:sp>
    </p:spTree>
  </p:cSld>
  <p:clrMapOvr>
    <a:masterClrMapping/>
  </p:clrMapOvr>
  <p:transition xmlns:p="http://schemas.openxmlformats.org/presentationml/2006/main" spd="med" advClick="0" advTm="8000">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pic>
        <p:nvPicPr>
          <p:cNvPr id="4" name="Image 1" descr="/home/user/workspace/wroe-dallas-2026/deliverables/celebrations-loop/assets/blue_mint_hero.jpg">    </p:cNvPr>
          <p:cNvPicPr>
            <a:picLocks noChangeAspect="1"/>
          </p:cNvPicPr>
          <p:nvPr/>
        </p:nvPicPr>
        <p:blipFill>
          <a:blip r:embed="rId2"/>
          <a:stretch>
            <a:fillRect/>
          </a:stretch>
        </p:blipFill>
        <p:spPr>
          <a:xfrm>
            <a:off x="457200" y="1381401"/>
            <a:ext cx="5212080" cy="3912318"/>
          </a:xfrm>
          <a:prstGeom prst="rect">
            <a:avLst/>
          </a:prstGeom>
        </p:spPr>
      </p:pic>
      <p:sp>
        <p:nvSpPr>
          <p:cNvPr id="5" name="Text 1"/>
          <p:cNvSpPr/>
          <p:nvPr/>
        </p:nvSpPr>
        <p:spPr>
          <a:xfrm>
            <a:off x="5943600" y="731520"/>
            <a:ext cx="5790895" cy="365760"/>
          </a:xfrm>
          <a:prstGeom prst="rect">
            <a:avLst/>
          </a:prstGeom>
          <a:noFill/>
          <a:ln/>
        </p:spPr>
        <p:txBody>
          <a:bodyPr wrap="square" rtlCol="0" anchor="ctr"/>
          <a:lstStyle/>
          <a:p>
            <a:pPr algn="l" indent="0" marL="0">
              <a:buNone/>
            </a:pPr>
            <a:r>
              <a:rPr lang="en-US" sz="1200" b="1" spc="400" kern="0" dirty="0">
                <a:solidFill>
                  <a:srgbClr val="E87722"/>
                </a:solidFill>
                <a:latin typeface="Calibri" pitchFamily="34" charset="0"/>
                <a:ea typeface="Calibri" pitchFamily="34" charset="-122"/>
                <a:cs typeface="Calibri" pitchFamily="34" charset="-120"/>
              </a:rPr>
              <a:t>COMMUNITY WIN</a:t>
            </a:r>
            <a:endParaRPr lang="en-US" sz="1200" dirty="0"/>
          </a:p>
        </p:txBody>
      </p:sp>
      <p:sp>
        <p:nvSpPr>
          <p:cNvPr id="6" name="Text 2"/>
          <p:cNvSpPr/>
          <p:nvPr/>
        </p:nvSpPr>
        <p:spPr>
          <a:xfrm>
            <a:off x="5943600" y="1143000"/>
            <a:ext cx="5790895" cy="1554480"/>
          </a:xfrm>
          <a:prstGeom prst="rect">
            <a:avLst/>
          </a:prstGeom>
          <a:noFill/>
          <a:ln/>
        </p:spPr>
        <p:txBody>
          <a:bodyPr wrap="square" rtlCol="0" anchor="t"/>
          <a:lstStyle/>
          <a:p>
            <a:pPr algn="l" indent="0" marL="0">
              <a:buNone/>
            </a:pPr>
            <a:r>
              <a:rPr lang="en-US" sz="3400" b="1" dirty="0">
                <a:solidFill>
                  <a:srgbClr val="FFFFFF"/>
                </a:solidFill>
                <a:latin typeface="Calibri" pitchFamily="34" charset="0"/>
                <a:ea typeface="Calibri" pitchFamily="34" charset="-122"/>
                <a:cs typeface="Calibri" pitchFamily="34" charset="-120"/>
              </a:rPr>
              <a:t>Blue Mint Thai</a:t>
            </a:r>
            <a:endParaRPr lang="en-US" sz="3400" dirty="0"/>
          </a:p>
        </p:txBody>
      </p:sp>
      <p:sp>
        <p:nvSpPr>
          <p:cNvPr id="7" name="Shape 3"/>
          <p:cNvSpPr/>
          <p:nvPr/>
        </p:nvSpPr>
        <p:spPr>
          <a:xfrm>
            <a:off x="5943600" y="2834640"/>
            <a:ext cx="914400" cy="45720"/>
          </a:xfrm>
          <a:prstGeom prst="rect">
            <a:avLst/>
          </a:prstGeom>
          <a:solidFill>
            <a:srgbClr val="E87722"/>
          </a:solidFill>
          <a:ln w="12700">
            <a:solidFill>
              <a:srgbClr val="E87722"/>
            </a:solidFill>
            <a:prstDash val="solid"/>
          </a:ln>
        </p:spPr>
      </p:sp>
      <p:sp>
        <p:nvSpPr>
          <p:cNvPr id="8" name="Text 4"/>
          <p:cNvSpPr/>
          <p:nvPr/>
        </p:nvSpPr>
        <p:spPr>
          <a:xfrm>
            <a:off x="5943600" y="3017520"/>
            <a:ext cx="5790895" cy="1097280"/>
          </a:xfrm>
          <a:prstGeom prst="rect">
            <a:avLst/>
          </a:prstGeom>
          <a:noFill/>
          <a:ln/>
        </p:spPr>
        <p:txBody>
          <a:bodyPr wrap="square" rtlCol="0" anchor="t"/>
          <a:lstStyle/>
          <a:p>
            <a:pPr algn="l" indent="0" marL="0">
              <a:buNone/>
            </a:pPr>
            <a:r>
              <a:rPr lang="en-US" sz="1800" b="1" dirty="0">
                <a:solidFill>
                  <a:srgbClr val="E87722"/>
                </a:solidFill>
                <a:latin typeface="Calibri" pitchFamily="34" charset="0"/>
                <a:ea typeface="Calibri" pitchFamily="34" charset="-122"/>
                <a:cs typeface="Calibri" pitchFamily="34" charset="-120"/>
              </a:rPr>
              <a:t>Multi-year Best of DFW, ESGR honors, and a House Resolution</a:t>
            </a:r>
            <a:endParaRPr lang="en-US" sz="1800" dirty="0"/>
          </a:p>
        </p:txBody>
      </p:sp>
      <p:sp>
        <p:nvSpPr>
          <p:cNvPr id="9" name="Text 5"/>
          <p:cNvSpPr/>
          <p:nvPr/>
        </p:nvSpPr>
        <p:spPr>
          <a:xfrm>
            <a:off x="5943600" y="4206240"/>
            <a:ext cx="5790895" cy="1645920"/>
          </a:xfrm>
          <a:prstGeom prst="rect">
            <a:avLst/>
          </a:prstGeom>
          <a:noFill/>
          <a:ln/>
        </p:spPr>
        <p:txBody>
          <a:bodyPr wrap="square" rtlCol="0" anchor="t"/>
          <a:lstStyle/>
          <a:p>
            <a:pPr algn="l" indent="0" marL="0">
              <a:buNone/>
            </a:pPr>
            <a:r>
              <a:rPr lang="en-US" sz="1400" dirty="0">
                <a:solidFill>
                  <a:srgbClr val="FFFFFF"/>
                </a:solidFill>
                <a:latin typeface="Calibri" pitchFamily="34" charset="0"/>
                <a:ea typeface="Calibri" pitchFamily="34" charset="-122"/>
                <a:cs typeface="Calibri" pitchFamily="34" charset="-120"/>
              </a:rPr>
              <a:t>Midlothian. Best Asian Restaurant in South DFW five years running (2021–2026). ESGR Pro Patria, Patriot, and Above and Beyond awards (July 2026). House Resolution from Rep. Brian Harrison (August 2026).</a:t>
            </a:r>
            <a:endParaRPr lang="en-US" sz="1400" dirty="0"/>
          </a:p>
        </p:txBody>
      </p:sp>
      <p:sp>
        <p:nvSpPr>
          <p:cNvPr id="10" name="Text 6"/>
          <p:cNvSpPr/>
          <p:nvPr/>
        </p:nvSpPr>
        <p:spPr>
          <a:xfrm>
            <a:off x="5943600" y="5623560"/>
            <a:ext cx="5790895" cy="320040"/>
          </a:xfrm>
          <a:prstGeom prst="rect">
            <a:avLst/>
          </a:prstGeom>
          <a:noFill/>
          <a:ln/>
        </p:spPr>
        <p:txBody>
          <a:bodyPr wrap="square" rtlCol="0" anchor="ctr"/>
          <a:lstStyle/>
          <a:p>
            <a:pPr algn="l" indent="0" marL="0">
              <a:buNone/>
            </a:pPr>
            <a:r>
              <a:rPr lang="en-US" sz="1200" i="1" dirty="0">
                <a:solidFill>
                  <a:srgbClr val="C9D2DE"/>
                </a:solidFill>
                <a:latin typeface="Calibri" pitchFamily="34" charset="0"/>
                <a:ea typeface="Calibri" pitchFamily="34" charset="-122"/>
                <a:cs typeface="Calibri" pitchFamily="34" charset="-120"/>
              </a:rPr>
              <a:t>Mike Wilson, CEO   ·   Alisa Dodenhoff</a:t>
            </a:r>
            <a:endParaRPr lang="en-US" sz="1200" dirty="0"/>
          </a:p>
        </p:txBody>
      </p:sp>
      <p:sp>
        <p:nvSpPr>
          <p:cNvPr id="11" name="Text 7"/>
          <p:cNvSpPr/>
          <p:nvPr/>
        </p:nvSpPr>
        <p:spPr>
          <a:xfrm>
            <a:off x="5943600" y="5943600"/>
            <a:ext cx="5790895" cy="274320"/>
          </a:xfrm>
          <a:prstGeom prst="rect">
            <a:avLst/>
          </a:prstGeom>
          <a:noFill/>
          <a:ln/>
        </p:spPr>
        <p:txBody>
          <a:bodyPr wrap="square" rtlCol="0" anchor="ctr"/>
          <a:lstStyle/>
          <a:p>
            <a:pPr algn="l" indent="0" marL="0">
              <a:buNone/>
            </a:pPr>
            <a:r>
              <a:rPr lang="en-US" sz="1100" dirty="0">
                <a:solidFill>
                  <a:srgbClr val="E87722"/>
                </a:solidFill>
                <a:latin typeface="Calibri" pitchFamily="34" charset="0"/>
                <a:ea typeface="Calibri" pitchFamily="34" charset="-122"/>
                <a:cs typeface="Calibri" pitchFamily="34" charset="-120"/>
              </a:rPr>
              <a:t>Implementer:  Kevin Taylor</a:t>
            </a:r>
            <a:endParaRPr lang="en-US" sz="1100" dirty="0"/>
          </a:p>
        </p:txBody>
      </p:sp>
    </p:spTree>
  </p:cSld>
  <p:clrMapOvr>
    <a:masterClrMapping/>
  </p:clrMapOvr>
  <p:transition xmlns:p="http://schemas.openxmlformats.org/presentationml/2006/main" spd="med" advClick="0" advTm="8000">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914400" y="1280160"/>
            <a:ext cx="10362895" cy="457200"/>
          </a:xfrm>
          <a:prstGeom prst="rect">
            <a:avLst/>
          </a:prstGeom>
          <a:noFill/>
          <a:ln/>
        </p:spPr>
        <p:txBody>
          <a:bodyPr wrap="square" rtlCol="0" anchor="ctr"/>
          <a:lstStyle/>
          <a:p>
            <a:pPr algn="ctr" indent="0" marL="0">
              <a:buNone/>
            </a:pPr>
            <a:r>
              <a:rPr lang="en-US" sz="1600" b="1" spc="600" kern="0" dirty="0">
                <a:solidFill>
                  <a:srgbClr val="E87722"/>
                </a:solidFill>
                <a:latin typeface="Calibri" pitchFamily="34" charset="0"/>
                <a:ea typeface="Calibri" pitchFamily="34" charset="-122"/>
                <a:cs typeface="Calibri" pitchFamily="34" charset="-120"/>
              </a:rPr>
              <a:t>COMMUNITY WIN</a:t>
            </a:r>
            <a:endParaRPr lang="en-US" sz="1600" dirty="0"/>
          </a:p>
        </p:txBody>
      </p:sp>
      <p:sp>
        <p:nvSpPr>
          <p:cNvPr id="5" name="Text 2"/>
          <p:cNvSpPr/>
          <p:nvPr/>
        </p:nvSpPr>
        <p:spPr>
          <a:xfrm>
            <a:off x="731520" y="1828800"/>
            <a:ext cx="10728655" cy="1280160"/>
          </a:xfrm>
          <a:prstGeom prst="rect">
            <a:avLst/>
          </a:prstGeom>
          <a:noFill/>
          <a:ln/>
        </p:spPr>
        <p:txBody>
          <a:bodyPr wrap="square" rtlCol="0" anchor="t"/>
          <a:lstStyle/>
          <a:p>
            <a:pPr algn="ctr" indent="0" marL="0">
              <a:buNone/>
            </a:pPr>
            <a:r>
              <a:rPr lang="en-US" sz="4400" b="1" dirty="0">
                <a:solidFill>
                  <a:srgbClr val="FFFFFF"/>
                </a:solidFill>
                <a:latin typeface="Calibri" pitchFamily="34" charset="0"/>
                <a:ea typeface="Calibri" pitchFamily="34" charset="-122"/>
                <a:cs typeface="Calibri" pitchFamily="34" charset="-120"/>
              </a:rPr>
              <a:t>Rose Marketing Solutions</a:t>
            </a:r>
            <a:endParaRPr lang="en-US" sz="4400" dirty="0"/>
          </a:p>
        </p:txBody>
      </p:sp>
      <p:sp>
        <p:nvSpPr>
          <p:cNvPr id="6" name="Shape 3"/>
          <p:cNvSpPr/>
          <p:nvPr/>
        </p:nvSpPr>
        <p:spPr>
          <a:xfrm>
            <a:off x="5181448" y="3246120"/>
            <a:ext cx="1828800" cy="45720"/>
          </a:xfrm>
          <a:prstGeom prst="rect">
            <a:avLst/>
          </a:prstGeom>
          <a:solidFill>
            <a:srgbClr val="E87722"/>
          </a:solidFill>
          <a:ln w="12700">
            <a:solidFill>
              <a:srgbClr val="E87722"/>
            </a:solidFill>
            <a:prstDash val="solid"/>
          </a:ln>
        </p:spPr>
      </p:sp>
      <p:sp>
        <p:nvSpPr>
          <p:cNvPr id="7" name="Text 4"/>
          <p:cNvSpPr/>
          <p:nvPr/>
        </p:nvSpPr>
        <p:spPr>
          <a:xfrm>
            <a:off x="1371600" y="3520440"/>
            <a:ext cx="9448495" cy="914400"/>
          </a:xfrm>
          <a:prstGeom prst="rect">
            <a:avLst/>
          </a:prstGeom>
          <a:noFill/>
          <a:ln/>
        </p:spPr>
        <p:txBody>
          <a:bodyPr wrap="square" rtlCol="0" anchor="t"/>
          <a:lstStyle/>
          <a:p>
            <a:pPr algn="ctr" indent="0" marL="0">
              <a:buNone/>
            </a:pPr>
            <a:r>
              <a:rPr lang="en-US" sz="2400" b="1" dirty="0">
                <a:solidFill>
                  <a:srgbClr val="E87722"/>
                </a:solidFill>
                <a:latin typeface="Calibri" pitchFamily="34" charset="0"/>
                <a:ea typeface="Calibri" pitchFamily="34" charset="-122"/>
                <a:cs typeface="Calibri" pitchFamily="34" charset="-120"/>
              </a:rPr>
              <a:t>EO Dallas Forum Moderator of the Year</a:t>
            </a:r>
            <a:endParaRPr lang="en-US" sz="2400" dirty="0"/>
          </a:p>
        </p:txBody>
      </p:sp>
      <p:sp>
        <p:nvSpPr>
          <p:cNvPr id="8" name="Text 5"/>
          <p:cNvSpPr/>
          <p:nvPr/>
        </p:nvSpPr>
        <p:spPr>
          <a:xfrm>
            <a:off x="1828800" y="4434840"/>
            <a:ext cx="8534095" cy="1463040"/>
          </a:xfrm>
          <a:prstGeom prst="rect">
            <a:avLst/>
          </a:prstGeom>
          <a:noFill/>
          <a:ln/>
        </p:spPr>
        <p:txBody>
          <a:bodyPr wrap="square" rtlCol="0" anchor="t"/>
          <a:lstStyle/>
          <a:p>
            <a:pPr algn="ctr" indent="0" marL="0">
              <a:buNone/>
            </a:pPr>
            <a:r>
              <a:rPr lang="en-US" sz="1700" dirty="0">
                <a:solidFill>
                  <a:srgbClr val="FFFFFF"/>
                </a:solidFill>
                <a:latin typeface="Calibri" pitchFamily="34" charset="0"/>
                <a:ea typeface="Calibri" pitchFamily="34" charset="-122"/>
                <a:cs typeface="Calibri" pitchFamily="34" charset="-120"/>
              </a:rPr>
              <a:t>Ruth Ann Rose named Forum Moderator of the Year by EO Dallas. Featured speaker at the Hinge Brokers Shift Early Childhood Conference. On track for the highest revenue year in company history.</a:t>
            </a:r>
            <a:endParaRPr lang="en-US" sz="1700" dirty="0"/>
          </a:p>
        </p:txBody>
      </p:sp>
      <p:sp>
        <p:nvSpPr>
          <p:cNvPr id="9" name="Text 6"/>
          <p:cNvSpPr/>
          <p:nvPr/>
        </p:nvSpPr>
        <p:spPr>
          <a:xfrm>
            <a:off x="914400" y="5760720"/>
            <a:ext cx="10362895" cy="320040"/>
          </a:xfrm>
          <a:prstGeom prst="rect">
            <a:avLst/>
          </a:prstGeom>
          <a:noFill/>
          <a:ln/>
        </p:spPr>
        <p:txBody>
          <a:bodyPr wrap="square" rtlCol="0" anchor="ctr"/>
          <a:lstStyle/>
          <a:p>
            <a:pPr algn="ctr" indent="0" marL="0">
              <a:buNone/>
            </a:pPr>
            <a:r>
              <a:rPr lang="en-US" sz="1400" i="1" dirty="0">
                <a:solidFill>
                  <a:srgbClr val="C9D2DE"/>
                </a:solidFill>
                <a:latin typeface="Calibri" pitchFamily="34" charset="0"/>
                <a:ea typeface="Calibri" pitchFamily="34" charset="-122"/>
                <a:cs typeface="Calibri" pitchFamily="34" charset="-120"/>
              </a:rPr>
              <a:t>Ruth Ann Rose, Founder</a:t>
            </a:r>
            <a:endParaRPr lang="en-US" sz="1400" dirty="0"/>
          </a:p>
        </p:txBody>
      </p:sp>
      <p:sp>
        <p:nvSpPr>
          <p:cNvPr id="10" name="Text 7"/>
          <p:cNvSpPr/>
          <p:nvPr/>
        </p:nvSpPr>
        <p:spPr>
          <a:xfrm>
            <a:off x="914400" y="6080760"/>
            <a:ext cx="10362895" cy="274320"/>
          </a:xfrm>
          <a:prstGeom prst="rect">
            <a:avLst/>
          </a:prstGeom>
          <a:noFill/>
          <a:ln/>
        </p:spPr>
        <p:txBody>
          <a:bodyPr wrap="square" rtlCol="0" anchor="ctr"/>
          <a:lstStyle/>
          <a:p>
            <a:pPr algn="ctr" indent="0" marL="0">
              <a:buNone/>
            </a:pPr>
            <a:r>
              <a:rPr lang="en-US" sz="1200" dirty="0">
                <a:solidFill>
                  <a:srgbClr val="E87722"/>
                </a:solidFill>
                <a:latin typeface="Calibri" pitchFamily="34" charset="0"/>
                <a:ea typeface="Calibri" pitchFamily="34" charset="-122"/>
                <a:cs typeface="Calibri" pitchFamily="34" charset="-120"/>
              </a:rPr>
              <a:t>Implementer:  Amanda Matthews</a:t>
            </a:r>
            <a:endParaRPr lang="en-US" sz="1200" dirty="0"/>
          </a:p>
        </p:txBody>
      </p:sp>
    </p:spTree>
  </p:cSld>
  <p:clrMapOvr>
    <a:masterClrMapping/>
  </p:clrMapOvr>
  <p:transition xmlns:p="http://schemas.openxmlformats.org/presentationml/2006/main" spd="med" advClick="0" advTm="8000">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6784848"/>
            <a:ext cx="12191695" cy="73152"/>
          </a:xfrm>
          <a:prstGeom prst="rect">
            <a:avLst/>
          </a:prstGeom>
          <a:solidFill>
            <a:srgbClr val="E87722"/>
          </a:solidFill>
          <a:ln w="12700">
            <a:solidFill>
              <a:srgbClr val="E87722"/>
            </a:solidFill>
            <a:prstDash val="solid"/>
          </a:ln>
        </p:spPr>
      </p:sp>
      <p:pic>
        <p:nvPicPr>
          <p:cNvPr id="3" name="Image 0" descr="/home/user/workspace/wroe-dallas-2026/deliverables/celebrations-loop/assets/wordmark_white.png">    </p:cNvPr>
          <p:cNvPicPr>
            <a:picLocks noChangeAspect="1"/>
          </p:cNvPicPr>
          <p:nvPr/>
        </p:nvPicPr>
        <p:blipFill>
          <a:blip r:embed="rId1"/>
          <a:stretch>
            <a:fillRect/>
          </a:stretch>
        </p:blipFill>
        <p:spPr>
          <a:xfrm>
            <a:off x="10999016" y="5934456"/>
            <a:ext cx="826919" cy="777240"/>
          </a:xfrm>
          <a:prstGeom prst="rect">
            <a:avLst/>
          </a:prstGeom>
        </p:spPr>
      </p:pic>
      <p:sp>
        <p:nvSpPr>
          <p:cNvPr id="4" name="Text 1"/>
          <p:cNvSpPr/>
          <p:nvPr/>
        </p:nvSpPr>
        <p:spPr>
          <a:xfrm>
            <a:off x="822960" y="1737360"/>
            <a:ext cx="10545775" cy="1097280"/>
          </a:xfrm>
          <a:prstGeom prst="rect">
            <a:avLst/>
          </a:prstGeom>
          <a:noFill/>
          <a:ln/>
        </p:spPr>
        <p:txBody>
          <a:bodyPr wrap="square" rtlCol="0" anchor="ctr"/>
          <a:lstStyle/>
          <a:p>
            <a:pPr algn="ctr" indent="0" marL="0">
              <a:buNone/>
            </a:pPr>
            <a:r>
              <a:rPr lang="en-US" sz="6000" i="1" dirty="0">
                <a:solidFill>
                  <a:srgbClr val="FFFFFF"/>
                </a:solidFill>
                <a:latin typeface="Calibri" pitchFamily="34" charset="0"/>
                <a:ea typeface="Calibri" pitchFamily="34" charset="-122"/>
                <a:cs typeface="Calibri" pitchFamily="34" charset="-120"/>
              </a:rPr>
              <a:t>Congratulations</a:t>
            </a:r>
            <a:endParaRPr lang="en-US" sz="6000" dirty="0"/>
          </a:p>
        </p:txBody>
      </p:sp>
      <p:sp>
        <p:nvSpPr>
          <p:cNvPr id="5" name="Text 2"/>
          <p:cNvSpPr/>
          <p:nvPr/>
        </p:nvSpPr>
        <p:spPr>
          <a:xfrm>
            <a:off x="822960" y="2743200"/>
            <a:ext cx="10545775" cy="914400"/>
          </a:xfrm>
          <a:prstGeom prst="rect">
            <a:avLst/>
          </a:prstGeom>
          <a:noFill/>
          <a:ln/>
        </p:spPr>
        <p:txBody>
          <a:bodyPr wrap="square" rtlCol="0" anchor="ctr"/>
          <a:lstStyle/>
          <a:p>
            <a:pPr algn="ctr" indent="0" marL="0">
              <a:buNone/>
            </a:pPr>
            <a:r>
              <a:rPr lang="en-US" sz="4000" b="1" dirty="0">
                <a:solidFill>
                  <a:srgbClr val="E87722"/>
                </a:solidFill>
                <a:latin typeface="Calibri" pitchFamily="34" charset="0"/>
                <a:ea typeface="Calibri" pitchFamily="34" charset="-122"/>
                <a:cs typeface="Calibri" pitchFamily="34" charset="-120"/>
              </a:rPr>
              <a:t>to our North Texas EOS Community</a:t>
            </a:r>
            <a:endParaRPr lang="en-US" sz="4000" dirty="0"/>
          </a:p>
        </p:txBody>
      </p:sp>
      <p:sp>
        <p:nvSpPr>
          <p:cNvPr id="6" name="Shape 3"/>
          <p:cNvSpPr/>
          <p:nvPr/>
        </p:nvSpPr>
        <p:spPr>
          <a:xfrm>
            <a:off x="4724248" y="3794760"/>
            <a:ext cx="2743200" cy="45720"/>
          </a:xfrm>
          <a:prstGeom prst="rect">
            <a:avLst/>
          </a:prstGeom>
          <a:solidFill>
            <a:srgbClr val="E87722"/>
          </a:solidFill>
          <a:ln w="12700">
            <a:solidFill>
              <a:srgbClr val="E87722"/>
            </a:solidFill>
            <a:prstDash val="solid"/>
          </a:ln>
        </p:spPr>
      </p:sp>
      <p:sp>
        <p:nvSpPr>
          <p:cNvPr id="7" name="Text 4"/>
          <p:cNvSpPr/>
          <p:nvPr/>
        </p:nvSpPr>
        <p:spPr>
          <a:xfrm>
            <a:off x="822960" y="4114800"/>
            <a:ext cx="10545775" cy="45720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We Run on EOS North Texas 2026</a:t>
            </a:r>
            <a:endParaRPr lang="en-US" sz="2200" dirty="0"/>
          </a:p>
        </p:txBody>
      </p:sp>
      <p:sp>
        <p:nvSpPr>
          <p:cNvPr id="8" name="Text 5"/>
          <p:cNvSpPr/>
          <p:nvPr/>
        </p:nvSpPr>
        <p:spPr>
          <a:xfrm>
            <a:off x="822960" y="4617720"/>
            <a:ext cx="10545775" cy="365760"/>
          </a:xfrm>
          <a:prstGeom prst="rect">
            <a:avLst/>
          </a:prstGeom>
          <a:noFill/>
          <a:ln/>
        </p:spPr>
        <p:txBody>
          <a:bodyPr wrap="square" rtlCol="0" anchor="ctr"/>
          <a:lstStyle/>
          <a:p>
            <a:pPr algn="ctr" indent="0" marL="0">
              <a:buNone/>
            </a:pPr>
            <a:r>
              <a:rPr lang="en-US" sz="1600" dirty="0">
                <a:solidFill>
                  <a:srgbClr val="C9D2DE"/>
                </a:solidFill>
                <a:latin typeface="Calibri" pitchFamily="34" charset="0"/>
                <a:ea typeface="Calibri" pitchFamily="34" charset="-122"/>
                <a:cs typeface="Calibri" pitchFamily="34" charset="-120"/>
              </a:rPr>
              <a:t>The Statler, Dallas   ·   Monday, September 14, 2026</a:t>
            </a:r>
            <a:endParaRPr lang="en-US" sz="1600" dirty="0"/>
          </a:p>
        </p:txBody>
      </p:sp>
    </p:spTree>
  </p:cSld>
  <p:clrMapOvr>
    <a:masterClrMapping/>
  </p:clrMapOvr>
  <p:transition xmlns:p="http://schemas.openxmlformats.org/presentationml/2006/main" spd="med" advClick="0" advTm="80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EOS Worldwide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WRoEOS North Texas 2026 — Customer Celebrations</dc:title>
  <dc:subject>Break loop — customer celebrations</dc:subject>
  <dc:creator>We Run on EOS North Texas</dc:creator>
  <cp:lastModifiedBy>We Run on EOS North Texas</cp:lastModifiedBy>
  <cp:revision>1</cp:revision>
  <dcterms:created xsi:type="dcterms:W3CDTF">2026-09-09T16:15:45Z</dcterms:created>
  <dcterms:modified xsi:type="dcterms:W3CDTF">2026-09-09T16:15:45Z</dcterms:modified>
</cp:coreProperties>
</file>