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showPr showType="kiosk" loop="1" showNarration="0" showAnimation="1" useTimings="1">
    <p:sldAll/>
    <p:penClr>
      <a:srgbClr val="000000"/>
    </p:penClr>
  </p:showPr>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822960" y="1645920"/>
            <a:ext cx="10545775" cy="1097280"/>
          </a:xfrm>
          <a:prstGeom prst="rect">
            <a:avLst/>
          </a:prstGeom>
          <a:noFill/>
          <a:ln/>
        </p:spPr>
        <p:txBody>
          <a:bodyPr wrap="square" rtlCol="0" anchor="ctr"/>
          <a:lstStyle/>
          <a:p>
            <a:pPr algn="ctr" indent="0" marL="0">
              <a:buNone/>
            </a:pPr>
            <a:r>
              <a:rPr lang="en-US" sz="6800" b="1" dirty="0">
                <a:solidFill>
                  <a:srgbClr val="FFFFFF"/>
                </a:solidFill>
                <a:latin typeface="Calibri" pitchFamily="34" charset="0"/>
                <a:ea typeface="Calibri" pitchFamily="34" charset="-122"/>
                <a:cs typeface="Calibri" pitchFamily="34" charset="-120"/>
              </a:rPr>
              <a:t>Customer</a:t>
            </a:r>
            <a:endParaRPr lang="en-US" sz="6800" dirty="0"/>
          </a:p>
        </p:txBody>
      </p:sp>
      <p:sp>
        <p:nvSpPr>
          <p:cNvPr id="5" name="Text 2"/>
          <p:cNvSpPr/>
          <p:nvPr/>
        </p:nvSpPr>
        <p:spPr>
          <a:xfrm>
            <a:off x="822960" y="2560320"/>
            <a:ext cx="10545775" cy="1280160"/>
          </a:xfrm>
          <a:prstGeom prst="rect">
            <a:avLst/>
          </a:prstGeom>
          <a:noFill/>
          <a:ln/>
        </p:spPr>
        <p:txBody>
          <a:bodyPr wrap="square" rtlCol="0" anchor="ctr"/>
          <a:lstStyle/>
          <a:p>
            <a:pPr algn="ctr" indent="0" marL="0">
              <a:buNone/>
            </a:pPr>
            <a:r>
              <a:rPr lang="en-US" sz="10000" b="1" spc="600" kern="0" dirty="0">
                <a:solidFill>
                  <a:srgbClr val="E87722"/>
                </a:solidFill>
                <a:latin typeface="Calibri" pitchFamily="34" charset="0"/>
                <a:ea typeface="Calibri" pitchFamily="34" charset="-122"/>
                <a:cs typeface="Calibri" pitchFamily="34" charset="-120"/>
              </a:rPr>
              <a:t>CELEBRATIONS</a:t>
            </a:r>
            <a:endParaRPr lang="en-US" sz="10000" dirty="0"/>
          </a:p>
        </p:txBody>
      </p:sp>
      <p:sp>
        <p:nvSpPr>
          <p:cNvPr id="6" name="Text 3"/>
          <p:cNvSpPr/>
          <p:nvPr/>
        </p:nvSpPr>
        <p:spPr>
          <a:xfrm>
            <a:off x="822960" y="4023360"/>
            <a:ext cx="10545775" cy="457200"/>
          </a:xfrm>
          <a:prstGeom prst="rect">
            <a:avLst/>
          </a:prstGeom>
          <a:noFill/>
          <a:ln/>
        </p:spPr>
        <p:txBody>
          <a:bodyPr wrap="square" rtlCol="0" anchor="ctr"/>
          <a:lstStyle/>
          <a:p>
            <a:pPr algn="ctr" indent="0" marL="0">
              <a:buNone/>
            </a:pPr>
            <a:r>
              <a:rPr lang="en-US" sz="2600" dirty="0">
                <a:solidFill>
                  <a:srgbClr val="FFFFFF"/>
                </a:solidFill>
                <a:latin typeface="Calibri" pitchFamily="34" charset="0"/>
                <a:ea typeface="Calibri" pitchFamily="34" charset="-122"/>
                <a:cs typeface="Calibri" pitchFamily="34" charset="-120"/>
              </a:rPr>
              <a:t>We Run on EOS North Texas 2026</a:t>
            </a:r>
            <a:endParaRPr lang="en-US" sz="2600" dirty="0"/>
          </a:p>
        </p:txBody>
      </p:sp>
      <p:sp>
        <p:nvSpPr>
          <p:cNvPr id="7" name="Text 4"/>
          <p:cNvSpPr/>
          <p:nvPr/>
        </p:nvSpPr>
        <p:spPr>
          <a:xfrm>
            <a:off x="822960" y="4572000"/>
            <a:ext cx="10545775" cy="365760"/>
          </a:xfrm>
          <a:prstGeom prst="rect">
            <a:avLst/>
          </a:prstGeom>
          <a:noFill/>
          <a:ln/>
        </p:spPr>
        <p:txBody>
          <a:bodyPr wrap="square" rtlCol="0" anchor="ctr"/>
          <a:lstStyle/>
          <a:p>
            <a:pPr algn="ctr" indent="0" marL="0">
              <a:buNone/>
            </a:pPr>
            <a:r>
              <a:rPr lang="en-US" sz="1800" dirty="0">
                <a:solidFill>
                  <a:srgbClr val="C9D2DE"/>
                </a:solidFill>
                <a:latin typeface="Calibri" pitchFamily="34" charset="0"/>
                <a:ea typeface="Calibri" pitchFamily="34" charset="-122"/>
                <a:cs typeface="Calibri" pitchFamily="34" charset="-120"/>
              </a:rPr>
              <a:t>Monday, September 14, 2026   ·   The Statler, Dallas</a:t>
            </a:r>
            <a:endParaRPr lang="en-US" sz="1800" dirty="0"/>
          </a:p>
        </p:txBody>
      </p:sp>
    </p:spTree>
  </p:cSld>
  <p:clrMapOvr>
    <a:masterClrMapping/>
  </p:clrMapOvr>
  <p:transition xmlns:p="http://schemas.openxmlformats.org/presentationml/2006/main" spd="med" advClick="0" advTm="8000">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822960" y="2377440"/>
            <a:ext cx="10545775" cy="457200"/>
          </a:xfrm>
          <a:prstGeom prst="rect">
            <a:avLst/>
          </a:prstGeom>
          <a:noFill/>
          <a:ln/>
        </p:spPr>
        <p:txBody>
          <a:bodyPr wrap="square" rtlCol="0" anchor="ctr"/>
          <a:lstStyle/>
          <a:p>
            <a:pPr algn="ctr" indent="0" marL="0">
              <a:buNone/>
            </a:pPr>
            <a:r>
              <a:rPr lang="en-US" sz="1800" b="1" spc="400" kern="0" dirty="0">
                <a:solidFill>
                  <a:srgbClr val="E87722"/>
                </a:solidFill>
                <a:latin typeface="Calibri" pitchFamily="34" charset="0"/>
                <a:ea typeface="Calibri" pitchFamily="34" charset="-122"/>
                <a:cs typeface="Calibri" pitchFamily="34" charset="-120"/>
              </a:rPr>
              <a:t>SECTION</a:t>
            </a:r>
            <a:endParaRPr lang="en-US" sz="1800" dirty="0"/>
          </a:p>
        </p:txBody>
      </p:sp>
      <p:sp>
        <p:nvSpPr>
          <p:cNvPr id="5" name="Text 2"/>
          <p:cNvSpPr/>
          <p:nvPr/>
        </p:nvSpPr>
        <p:spPr>
          <a:xfrm>
            <a:off x="822960" y="2834640"/>
            <a:ext cx="10545775" cy="1280160"/>
          </a:xfrm>
          <a:prstGeom prst="rect">
            <a:avLst/>
          </a:prstGeom>
          <a:noFill/>
          <a:ln/>
        </p:spPr>
        <p:txBody>
          <a:bodyPr wrap="square" rtlCol="0" anchor="ctr"/>
          <a:lstStyle/>
          <a:p>
            <a:pPr algn="ctr" indent="0" marL="0">
              <a:buNone/>
            </a:pPr>
            <a:r>
              <a:rPr lang="en-US" sz="5400" b="1" dirty="0">
                <a:solidFill>
                  <a:srgbClr val="FFFFFF"/>
                </a:solidFill>
                <a:latin typeface="Calibri" pitchFamily="34" charset="0"/>
                <a:ea typeface="Calibri" pitchFamily="34" charset="-122"/>
                <a:cs typeface="Calibri" pitchFamily="34" charset="-120"/>
              </a:rPr>
              <a:t>Spillers Clients</a:t>
            </a:r>
            <a:endParaRPr lang="en-US" sz="5400" dirty="0"/>
          </a:p>
        </p:txBody>
      </p:sp>
      <p:sp>
        <p:nvSpPr>
          <p:cNvPr id="6" name="Text 3"/>
          <p:cNvSpPr/>
          <p:nvPr/>
        </p:nvSpPr>
        <p:spPr>
          <a:xfrm>
            <a:off x="1463040" y="4206240"/>
            <a:ext cx="9265615" cy="822960"/>
          </a:xfrm>
          <a:prstGeom prst="rect">
            <a:avLst/>
          </a:prstGeom>
          <a:noFill/>
          <a:ln/>
        </p:spPr>
        <p:txBody>
          <a:bodyPr wrap="square" rtlCol="0" anchor="ctr"/>
          <a:lstStyle/>
          <a:p>
            <a:pPr algn="ctr" indent="0" marL="0">
              <a:buNone/>
            </a:pPr>
            <a:r>
              <a:rPr lang="en-US" sz="1800" dirty="0">
                <a:solidFill>
                  <a:srgbClr val="C9D2DE"/>
                </a:solidFill>
                <a:latin typeface="Calibri" pitchFamily="34" charset="0"/>
                <a:ea typeface="Calibri" pitchFamily="34" charset="-122"/>
                <a:cs typeface="Calibri" pitchFamily="34" charset="-120"/>
              </a:rPr>
              <a:t>North Texas businesses winning at their craft</a:t>
            </a:r>
            <a:endParaRPr lang="en-US" sz="1800" dirty="0"/>
          </a:p>
        </p:txBody>
      </p:sp>
    </p:spTree>
  </p:cSld>
  <p:clrMapOvr>
    <a:masterClrMapping/>
  </p:clrMapOvr>
  <p:transition xmlns:p="http://schemas.openxmlformats.org/presentationml/2006/main" spd="med" advClick="0" advTm="8000">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HEADLINE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Maverick Power</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Signs $1.75 billion acquisition agreement with nVent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Announced Aug 24, 2026 with up to $550M more tied to 2027–2028 performance. Also No. 7 on the 2026 Inc. Regionals: Southwest list (627% growth), a 2026 Inc. 5000 honoree, and Tom Currier named a 2026 DFW Titan 100 honoree.</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Tom Currier, President and CEO</a:t>
            </a:r>
            <a:endParaRPr lang="en-US" sz="1400" dirty="0"/>
          </a:p>
        </p:txBody>
      </p:sp>
    </p:spTree>
  </p:cSld>
  <p:clrMapOvr>
    <a:masterClrMapping/>
  </p:clrMapOvr>
  <p:transition xmlns:p="http://schemas.openxmlformats.org/presentationml/2006/main" spd="med" advClick="0" advTm="8000">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SPILLERS CLIENT</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4400" b="1" dirty="0">
                <a:solidFill>
                  <a:srgbClr val="FFFFFF"/>
                </a:solidFill>
                <a:latin typeface="Calibri" pitchFamily="34" charset="0"/>
                <a:ea typeface="Calibri" pitchFamily="34" charset="-122"/>
                <a:cs typeface="Calibri" pitchFamily="34" charset="-120"/>
              </a:rPr>
              <a:t>KPost Roofing &amp; Waterproofing</a:t>
            </a:r>
            <a:endParaRPr lang="en-US" sz="44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Best-in-Class, ARMA 2026 Excellence in Asphalt Roofing</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Commercial/Mixed Use category winner for the National Medal of Honor Museum in Arlington. Honored at the International Roofing Expo in Las Vegas, January 2026.</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Steve Little, Keith Post, and Jayne Williams, Founders</a:t>
            </a:r>
            <a:endParaRPr lang="en-US" sz="1400" dirty="0"/>
          </a:p>
        </p:txBody>
      </p:sp>
    </p:spTree>
  </p:cSld>
  <p:clrMapOvr>
    <a:masterClrMapping/>
  </p:clrMapOvr>
  <p:transition xmlns:p="http://schemas.openxmlformats.org/presentationml/2006/main" spd="med" advClick="0" advTm="8000">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neighborhood_beverly.jpg">    </p:cNvPr>
          <p:cNvPicPr>
            <a:picLocks noChangeAspect="1"/>
          </p:cNvPicPr>
          <p:nvPr/>
        </p:nvPicPr>
        <p:blipFill>
          <a:blip r:embed="rId2"/>
          <a:srcRect l="0" r="0" t="0" b="0"/>
          <a:stretch/>
        </p:blipFill>
        <p:spPr>
          <a:xfrm>
            <a:off x="457200" y="457200"/>
            <a:ext cx="5212080" cy="5760720"/>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SPILLERS CLIENT</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Neighborhood Management, Inc.</a:t>
            </a:r>
            <a:endParaRPr lang="en-US" sz="24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EY Entrepreneur Of The Year 2026 Southwest Finalist</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President Beverly Coghlan, PCAM — one of 44 finalists from 41 companies, announced April 21, 2026.</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Beverly Coghlan, President</a:t>
            </a:r>
            <a:endParaRPr lang="en-US" sz="1200" dirty="0"/>
          </a:p>
        </p:txBody>
      </p:sp>
    </p:spTree>
  </p:cSld>
  <p:clrMapOvr>
    <a:masterClrMapping/>
  </p:clrMapOvr>
  <p:transition xmlns:p="http://schemas.openxmlformats.org/presentationml/2006/main" spd="med" advClick="0" advTm="8000">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SPILLERS CLIENT</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B2 Design Co</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Connect CRE 2025 Women in Real Estate, Texas honoree</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Founder and CEO B. Allison Brooks, AIA (October 2025). Recently completed interiors for HALL Park Hotel and The Ludlow. Offices in Dallas, Chicago, Miami, and Chapel Hill.</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B. Allison Brooks, Founder and CEO</a:t>
            </a:r>
            <a:endParaRPr lang="en-US" sz="1400" dirty="0"/>
          </a:p>
        </p:txBody>
      </p:sp>
    </p:spTree>
  </p:cSld>
  <p:clrMapOvr>
    <a:masterClrMapping/>
  </p:clrMapOvr>
  <p:transition xmlns:p="http://schemas.openxmlformats.org/presentationml/2006/main" spd="med" advClick="0" advTm="8000">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SPILLERS CLIENT</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Artstillery</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10 years and a 2026 Moody Fund for the Arts grant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Celebrating 10 years (June 27, 2026). The grant supports "Dichotomy of Compassion," the current immersive multimedia production. Now Dallas and Chicago.</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Ilknur Nilufer Ozgur, Founder, Executive and Artistic Director</a:t>
            </a:r>
            <a:endParaRPr lang="en-US" sz="1400" dirty="0"/>
          </a:p>
        </p:txBody>
      </p:sp>
    </p:spTree>
  </p:cSld>
  <p:clrMapOvr>
    <a:masterClrMapping/>
  </p:clrMapOvr>
  <p:transition xmlns:p="http://schemas.openxmlformats.org/presentationml/2006/main" spd="med" advClick="0" advTm="8000">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822960" y="2377440"/>
            <a:ext cx="10545775" cy="457200"/>
          </a:xfrm>
          <a:prstGeom prst="rect">
            <a:avLst/>
          </a:prstGeom>
          <a:noFill/>
          <a:ln/>
        </p:spPr>
        <p:txBody>
          <a:bodyPr wrap="square" rtlCol="0" anchor="ctr"/>
          <a:lstStyle/>
          <a:p>
            <a:pPr algn="ctr" indent="0" marL="0">
              <a:buNone/>
            </a:pPr>
            <a:r>
              <a:rPr lang="en-US" sz="1800" b="1" spc="400" kern="0" dirty="0">
                <a:solidFill>
                  <a:srgbClr val="E87722"/>
                </a:solidFill>
                <a:latin typeface="Calibri" pitchFamily="34" charset="0"/>
                <a:ea typeface="Calibri" pitchFamily="34" charset="-122"/>
                <a:cs typeface="Calibri" pitchFamily="34" charset="-120"/>
              </a:rPr>
              <a:t>SECTION</a:t>
            </a:r>
            <a:endParaRPr lang="en-US" sz="1800" dirty="0"/>
          </a:p>
        </p:txBody>
      </p:sp>
      <p:sp>
        <p:nvSpPr>
          <p:cNvPr id="5" name="Text 2"/>
          <p:cNvSpPr/>
          <p:nvPr/>
        </p:nvSpPr>
        <p:spPr>
          <a:xfrm>
            <a:off x="822960" y="2834640"/>
            <a:ext cx="10545775" cy="1280160"/>
          </a:xfrm>
          <a:prstGeom prst="rect">
            <a:avLst/>
          </a:prstGeom>
          <a:noFill/>
          <a:ln/>
        </p:spPr>
        <p:txBody>
          <a:bodyPr wrap="square" rtlCol="0" anchor="ctr"/>
          <a:lstStyle/>
          <a:p>
            <a:pPr algn="ctr" indent="0" marL="0">
              <a:buNone/>
            </a:pPr>
            <a:r>
              <a:rPr lang="en-US" sz="5400" b="1" dirty="0">
                <a:solidFill>
                  <a:srgbClr val="FFFFFF"/>
                </a:solidFill>
                <a:latin typeface="Calibri" pitchFamily="34" charset="0"/>
                <a:ea typeface="Calibri" pitchFamily="34" charset="-122"/>
                <a:cs typeface="Calibri" pitchFamily="34" charset="-120"/>
              </a:rPr>
              <a:t>EY Entrepreneur Of The Year</a:t>
            </a:r>
            <a:pPr algn="ctr" indent="0" marL="0">
              <a:buNone/>
            </a:pPr>
            <a:r>
              <a:rPr lang="en-US" sz="2400" b="1" baseline="30000" dirty="0">
                <a:solidFill>
                  <a:srgbClr val="FFFFFF"/>
                </a:solidFill>
                <a:latin typeface="Calibri" pitchFamily="34" charset="0"/>
                <a:ea typeface="Calibri" pitchFamily="34" charset="-122"/>
                <a:cs typeface="Calibri" pitchFamily="34" charset="-120"/>
              </a:rPr>
              <a:t>®</a:t>
            </a:r>
            <a:pPr algn="ctr" indent="0" marL="0">
              <a:buNone/>
            </a:pPr>
            <a:r>
              <a:rPr lang="en-US" sz="5400" b="1" dirty="0">
                <a:solidFill>
                  <a:srgbClr val="FFFFFF"/>
                </a:solidFill>
                <a:latin typeface="Calibri" pitchFamily="34" charset="0"/>
                <a:ea typeface="Calibri" pitchFamily="34" charset="-122"/>
                <a:cs typeface="Calibri" pitchFamily="34" charset="-120"/>
              </a:rPr>
              <a:t> 2026</a:t>
            </a:r>
            <a:endParaRPr lang="en-US" sz="5400" dirty="0"/>
          </a:p>
        </p:txBody>
      </p:sp>
      <p:sp>
        <p:nvSpPr>
          <p:cNvPr id="6" name="Text 3"/>
          <p:cNvSpPr/>
          <p:nvPr/>
        </p:nvSpPr>
        <p:spPr>
          <a:xfrm>
            <a:off x="1463040" y="4206240"/>
            <a:ext cx="9265615" cy="822960"/>
          </a:xfrm>
          <a:prstGeom prst="rect">
            <a:avLst/>
          </a:prstGeom>
          <a:noFill/>
          <a:ln/>
        </p:spPr>
        <p:txBody>
          <a:bodyPr wrap="square" rtlCol="0" anchor="ctr"/>
          <a:lstStyle/>
          <a:p>
            <a:pPr algn="ctr" indent="0" marL="0">
              <a:buNone/>
            </a:pPr>
            <a:r>
              <a:rPr lang="en-US" sz="1800" dirty="0">
                <a:solidFill>
                  <a:srgbClr val="C9D2DE"/>
                </a:solidFill>
                <a:latin typeface="Calibri" pitchFamily="34" charset="0"/>
                <a:ea typeface="Calibri" pitchFamily="34" charset="-122"/>
                <a:cs typeface="Calibri" pitchFamily="34" charset="-120"/>
              </a:rPr>
              <a:t>North Texas EOS community winners and finalists</a:t>
            </a:r>
            <a:endParaRPr lang="en-US" sz="1800" dirty="0"/>
          </a:p>
        </p:txBody>
      </p:sp>
    </p:spTree>
  </p:cSld>
  <p:clrMapOvr>
    <a:masterClrMapping/>
  </p:clrMapOvr>
  <p:transition xmlns:p="http://schemas.openxmlformats.org/presentationml/2006/main" spd="med" advClick="0" advTm="8000">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moonshot_ethan.jpg">    </p:cNvPr>
          <p:cNvPicPr>
            <a:picLocks noChangeAspect="1"/>
          </p:cNvPicPr>
          <p:nvPr/>
        </p:nvPicPr>
        <p:blipFill>
          <a:blip r:embed="rId2"/>
          <a:srcRect l="0" r="0" t="0" b="0"/>
          <a:stretch/>
        </p:blipFill>
        <p:spPr>
          <a:xfrm>
            <a:off x="457200" y="457200"/>
            <a:ext cx="5212080" cy="5760720"/>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WINNER</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Moonshot</a:t>
            </a:r>
            <a:endParaRPr lang="en-US" sz="40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Winner — advancing to National Awards</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Ethan Ellenberg. Denton-based. Advances to the EY National Awards in November 2026.</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Ethan Ellenberg, Founder and CEO   ·   Implementer: Ryan Wall</a:t>
            </a:r>
            <a:endParaRPr lang="en-US" sz="1200" dirty="0"/>
          </a:p>
        </p:txBody>
      </p:sp>
    </p:spTree>
  </p:cSld>
  <p:clrMapOvr>
    <a:masterClrMapping/>
  </p:clrMapOvr>
  <p:transition xmlns:p="http://schemas.openxmlformats.org/presentationml/2006/main" spd="med" advClick="0" advTm="8000">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lime_heath.jpg">    </p:cNvPr>
          <p:cNvPicPr>
            <a:picLocks noChangeAspect="1"/>
          </p:cNvPicPr>
          <p:nvPr/>
        </p:nvPicPr>
        <p:blipFill>
          <a:blip r:embed="rId2"/>
          <a:srcRect l="0" r="0" t="0" b="0"/>
          <a:stretch/>
        </p:blipFill>
        <p:spPr>
          <a:xfrm>
            <a:off x="457200" y="457200"/>
            <a:ext cx="5212080" cy="5760720"/>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WINNER</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Lime Media Group</a:t>
            </a:r>
            <a:endParaRPr lang="en-US" sz="34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Winner + 2026 Top Workplaces Culture Excellence</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Heath Hill. Rockwall-based. Top Workplaces Culture Excellence winner (July 2026).</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Heath Hill, Founder and CEO   ·   Implementer: Leonard</a:t>
            </a:r>
            <a:endParaRPr lang="en-US" sz="1200" dirty="0"/>
          </a:p>
        </p:txBody>
      </p:sp>
    </p:spTree>
  </p:cSld>
  <p:clrMapOvr>
    <a:masterClrMapping/>
  </p:clrMapOvr>
  <p:transition xmlns:p="http://schemas.openxmlformats.org/presentationml/2006/main" spd="med" advClick="0" advTm="8000">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brainstorm_jason.jpg">    </p:cNvPr>
          <p:cNvPicPr>
            <a:picLocks noChangeAspect="1"/>
          </p:cNvPicPr>
          <p:nvPr/>
        </p:nvPicPr>
        <p:blipFill>
          <a:blip r:embed="rId2"/>
          <a:srcRect l="0" r="0" t="0" b="0"/>
          <a:stretch/>
        </p:blipFill>
        <p:spPr>
          <a:xfrm>
            <a:off x="457200" y="457200"/>
            <a:ext cx="5212080" cy="5760720"/>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2200" b="1" dirty="0">
                <a:solidFill>
                  <a:srgbClr val="FFFFFF"/>
                </a:solidFill>
                <a:latin typeface="Calibri" pitchFamily="34" charset="0"/>
                <a:ea typeface="Calibri" pitchFamily="34" charset="-122"/>
                <a:cs typeface="Calibri" pitchFamily="34" charset="-120"/>
              </a:rPr>
              <a:t>Brain Storm Shelter Restaurants</a:t>
            </a:r>
            <a:endParaRPr lang="en-US" sz="22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Jason Boso — founder of Truck Yard, Twisted Root Burger Co., and more. Also a finalist in the Oklahoma City ULI Impact Awards.</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Jason Boso, Founder   ·   Implementer: Amanda</a:t>
            </a:r>
            <a:endParaRPr lang="en-US" sz="1200" dirty="0"/>
          </a:p>
        </p:txBody>
      </p:sp>
    </p:spTree>
  </p:cSld>
  <p:clrMapOvr>
    <a:masterClrMapping/>
  </p:clrMapOvr>
  <p:transition xmlns:p="http://schemas.openxmlformats.org/presentationml/2006/main" spd="med" advClick="0" advTm="8000">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trulabs_pogues.jpg">    </p:cNvPr>
          <p:cNvPicPr>
            <a:picLocks noChangeAspect="1"/>
          </p:cNvPicPr>
          <p:nvPr/>
        </p:nvPicPr>
        <p:blipFill>
          <a:blip r:embed="rId2"/>
          <a:srcRect l="0" r="0" t="0" b="0"/>
          <a:stretch/>
        </p:blipFill>
        <p:spPr>
          <a:xfrm>
            <a:off x="457200" y="457200"/>
            <a:ext cx="5212080" cy="5760720"/>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TruLabs</a:t>
            </a:r>
            <a:endParaRPr lang="en-US" sz="40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Finalists</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Co-founders Brandon Pogue (CEO) and Jennifer Pogue (CMO). McKinney-based.</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Brandon and Jennifer Pogue   ·   Implementer: Amy</a:t>
            </a:r>
            <a:endParaRPr lang="en-US" sz="1200" dirty="0"/>
          </a:p>
        </p:txBody>
      </p:sp>
    </p:spTree>
  </p:cSld>
  <p:clrMapOvr>
    <a:masterClrMapping/>
  </p:clrMapOvr>
  <p:transition xmlns:p="http://schemas.openxmlformats.org/presentationml/2006/main" spd="med" advClick="0" advTm="8000">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excel_gabe.jpg">    </p:cNvPr>
          <p:cNvPicPr>
            <a:picLocks noChangeAspect="1"/>
          </p:cNvPicPr>
          <p:nvPr/>
        </p:nvPicPr>
        <p:blipFill>
          <a:blip r:embed="rId2"/>
          <a:srcRect l="0" r="0" t="0" b="0"/>
          <a:stretch/>
        </p:blipFill>
        <p:spPr>
          <a:xfrm>
            <a:off x="457200" y="457200"/>
            <a:ext cx="5212080" cy="5760720"/>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Excel Medical Staffing</a:t>
            </a:r>
            <a:endParaRPr lang="en-US" sz="28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Gabriel Griess, U.S. Air Force Academy graduate. Grapevine-based.</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Gabriel Griess, Founder and CEO   ·   Implementer: Justin Mink</a:t>
            </a:r>
            <a:endParaRPr lang="en-US" sz="1200" dirty="0"/>
          </a:p>
        </p:txBody>
      </p:sp>
    </p:spTree>
  </p:cSld>
  <p:clrMapOvr>
    <a:masterClrMapping/>
  </p:clrMapOvr>
  <p:transition xmlns:p="http://schemas.openxmlformats.org/presentationml/2006/main" spd="med" advClick="0" advTm="8000">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EY EOY 2026 · HEARTLAND FINALIST</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5200" b="1" dirty="0">
                <a:solidFill>
                  <a:srgbClr val="FFFFFF"/>
                </a:solidFill>
                <a:latin typeface="Calibri" pitchFamily="34" charset="0"/>
                <a:ea typeface="Calibri" pitchFamily="34" charset="-122"/>
                <a:cs typeface="Calibri" pitchFamily="34" charset="-120"/>
              </a:rPr>
              <a:t>HorsePower Brands</a:t>
            </a:r>
            <a:endParaRPr lang="en-US" sz="52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Heartland Finalist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CEO Tony Hulbert. Nine home-service franchise brands, five of them on Entrepreneur magazine’s 2026 Franchise 500. Omaha-based.</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Tony Hulbert, CEO   ·   Implementer: Justin Mink</a:t>
            </a:r>
            <a:endParaRPr lang="en-US" sz="1400" dirty="0"/>
          </a:p>
        </p:txBody>
      </p:sp>
    </p:spTree>
  </p:cSld>
  <p:clrMapOvr>
    <a:masterClrMapping/>
  </p:clrMapOvr>
  <p:transition xmlns:p="http://schemas.openxmlformats.org/presentationml/2006/main" spd="med" advClick="0" advTm="8000">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822960" y="2377440"/>
            <a:ext cx="10545775" cy="457200"/>
          </a:xfrm>
          <a:prstGeom prst="rect">
            <a:avLst/>
          </a:prstGeom>
          <a:noFill/>
          <a:ln/>
        </p:spPr>
        <p:txBody>
          <a:bodyPr wrap="square" rtlCol="0" anchor="ctr"/>
          <a:lstStyle/>
          <a:p>
            <a:pPr algn="ctr" indent="0" marL="0">
              <a:buNone/>
            </a:pPr>
            <a:r>
              <a:rPr lang="en-US" sz="1800" b="1" spc="400" kern="0" dirty="0">
                <a:solidFill>
                  <a:srgbClr val="E87722"/>
                </a:solidFill>
                <a:latin typeface="Calibri" pitchFamily="34" charset="0"/>
                <a:ea typeface="Calibri" pitchFamily="34" charset="-122"/>
                <a:cs typeface="Calibri" pitchFamily="34" charset="-120"/>
              </a:rPr>
              <a:t>SECTION</a:t>
            </a:r>
            <a:endParaRPr lang="en-US" sz="1800" dirty="0"/>
          </a:p>
        </p:txBody>
      </p:sp>
      <p:sp>
        <p:nvSpPr>
          <p:cNvPr id="5" name="Text 2"/>
          <p:cNvSpPr/>
          <p:nvPr/>
        </p:nvSpPr>
        <p:spPr>
          <a:xfrm>
            <a:off x="822960" y="2834640"/>
            <a:ext cx="10545775" cy="1280160"/>
          </a:xfrm>
          <a:prstGeom prst="rect">
            <a:avLst/>
          </a:prstGeom>
          <a:noFill/>
          <a:ln/>
        </p:spPr>
        <p:txBody>
          <a:bodyPr wrap="square" rtlCol="0" anchor="ctr"/>
          <a:lstStyle/>
          <a:p>
            <a:pPr algn="ctr" indent="0" marL="0">
              <a:buNone/>
            </a:pPr>
            <a:r>
              <a:rPr lang="en-US" sz="5400" b="1" dirty="0">
                <a:solidFill>
                  <a:srgbClr val="FFFFFF"/>
                </a:solidFill>
                <a:latin typeface="Calibri" pitchFamily="34" charset="0"/>
                <a:ea typeface="Calibri" pitchFamily="34" charset="-122"/>
                <a:cs typeface="Calibri" pitchFamily="34" charset="-120"/>
              </a:rPr>
              <a:t>More Community Celebrations</a:t>
            </a:r>
            <a:endParaRPr lang="en-US" sz="5400" dirty="0"/>
          </a:p>
        </p:txBody>
      </p:sp>
      <p:sp>
        <p:nvSpPr>
          <p:cNvPr id="6" name="Text 3"/>
          <p:cNvSpPr/>
          <p:nvPr/>
        </p:nvSpPr>
        <p:spPr>
          <a:xfrm>
            <a:off x="1463040" y="4206240"/>
            <a:ext cx="9265615" cy="822960"/>
          </a:xfrm>
          <a:prstGeom prst="rect">
            <a:avLst/>
          </a:prstGeom>
          <a:noFill/>
          <a:ln/>
        </p:spPr>
        <p:txBody>
          <a:bodyPr wrap="square" rtlCol="0" anchor="ctr"/>
          <a:lstStyle/>
          <a:p>
            <a:pPr algn="ctr" indent="0" marL="0">
              <a:buNone/>
            </a:pPr>
            <a:r>
              <a:rPr lang="en-US" sz="1800" dirty="0">
                <a:solidFill>
                  <a:srgbClr val="C9D2DE"/>
                </a:solidFill>
                <a:latin typeface="Calibri" pitchFamily="34" charset="0"/>
                <a:ea typeface="Calibri" pitchFamily="34" charset="-122"/>
                <a:cs typeface="Calibri" pitchFamily="34" charset="-120"/>
              </a:rPr>
              <a:t>Wins from across the North Texas EOS community</a:t>
            </a:r>
            <a:endParaRPr lang="en-US" sz="1800" dirty="0"/>
          </a:p>
        </p:txBody>
      </p:sp>
    </p:spTree>
  </p:cSld>
  <p:clrMapOvr>
    <a:masterClrMapping/>
  </p:clrMapOvr>
  <p:transition xmlns:p="http://schemas.openxmlformats.org/presentationml/2006/main" spd="med" advClick="0" advTm="8000">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ntoa_lasik_team.jpg">    </p:cNvPr>
          <p:cNvPicPr>
            <a:picLocks noChangeAspect="1"/>
          </p:cNvPicPr>
          <p:nvPr/>
        </p:nvPicPr>
        <p:blipFill>
          <a:blip r:embed="rId2"/>
          <a:srcRect l="0" r="0" t="0" b="0"/>
          <a:stretch/>
        </p:blipFill>
        <p:spPr>
          <a:xfrm>
            <a:off x="457200" y="457200"/>
            <a:ext cx="5212080" cy="5760720"/>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North Texas Ophthalmology</a:t>
            </a:r>
            <a:endParaRPr lang="en-US" sz="24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Launched LASIK, opened a second location, turned a loss into profit</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Wichita Falls. Launched LASIK as a new service line, opened a second location, and turned a $300K loss in 2025 into roughly $150K profit YTD 2026 while paying down debt.</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Matt Griffiths, Director of Marketing and Technology</a:t>
            </a:r>
            <a:endParaRPr lang="en-US" sz="1200" dirty="0"/>
          </a:p>
        </p:txBody>
      </p:sp>
    </p:spTree>
  </p:cSld>
  <p:clrMapOvr>
    <a:masterClrMapping/>
  </p:clrMapOvr>
  <p:transition xmlns:p="http://schemas.openxmlformats.org/presentationml/2006/main" spd="med" advClick="0" advTm="8000">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austin_street.jpg">    </p:cNvPr>
          <p:cNvPicPr>
            <a:picLocks noChangeAspect="1"/>
          </p:cNvPicPr>
          <p:nvPr/>
        </p:nvPicPr>
        <p:blipFill>
          <a:blip r:embed="rId2"/>
          <a:srcRect l="0" r="0" t="0" b="0"/>
          <a:stretch/>
        </p:blipFill>
        <p:spPr>
          <a:xfrm>
            <a:off x="457200" y="457200"/>
            <a:ext cx="5212080" cy="5760720"/>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Austin Street Center</a:t>
            </a:r>
            <a:endParaRPr lang="en-US" sz="28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D CEO 2026 Nonprofit and Corporate Citizenship Finalist</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Dallas. Record 640 housing placements in FY25 (up 25%). Record revenue in FY25, up 17% year-over-year and 36% over two years.</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Daniel Roby, CEO</a:t>
            </a:r>
            <a:endParaRPr lang="en-US" sz="1200" dirty="0"/>
          </a:p>
        </p:txBody>
      </p:sp>
    </p:spTree>
  </p:cSld>
  <p:clrMapOvr>
    <a:masterClrMapping/>
  </p:clrMapOvr>
  <p:transition xmlns:p="http://schemas.openxmlformats.org/presentationml/2006/main" spd="med" advClick="0" advTm="8000">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BAT Security</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Up 23% in gross revenue in the first 7 months on EOS</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Waxahachie. Started Focus Day in January 2026 and posted Core Values throughout the office. Momentum has held all year.</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Kyle Beller, President</a:t>
            </a:r>
            <a:endParaRPr lang="en-US" sz="1400" dirty="0"/>
          </a:p>
        </p:txBody>
      </p:sp>
    </p:spTree>
  </p:cSld>
  <p:clrMapOvr>
    <a:masterClrMapping/>
  </p:clrMapOvr>
  <p:transition xmlns:p="http://schemas.openxmlformats.org/presentationml/2006/main" spd="med" advClick="0" advTm="8000">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blue_mint_hero.jpg">    </p:cNvPr>
          <p:cNvPicPr>
            <a:picLocks noChangeAspect="1"/>
          </p:cNvPicPr>
          <p:nvPr/>
        </p:nvPicPr>
        <p:blipFill>
          <a:blip r:embed="rId2"/>
          <a:srcRect l="0" r="0" t="0" b="0"/>
          <a:stretch/>
        </p:blipFill>
        <p:spPr>
          <a:xfrm>
            <a:off x="457200" y="457200"/>
            <a:ext cx="5212080" cy="5760720"/>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Blue Mint Thai</a:t>
            </a:r>
            <a:endParaRPr lang="en-US" sz="34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Multi-year Best of DFW, ESGR honors, and a House Resolution</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Midlothian. Best Asian Restaurant in South DFW five years running (2021–2026). ESGR Pro Patria, Patriot, and Above and Beyond awards (July 2026). House Resolution from Rep. Brian Harrison (August 2026).</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Mike Wilson, CEO   ·   Alisa Dodenhoff</a:t>
            </a:r>
            <a:endParaRPr lang="en-US" sz="1200" dirty="0"/>
          </a:p>
        </p:txBody>
      </p:sp>
    </p:spTree>
  </p:cSld>
  <p:clrMapOvr>
    <a:masterClrMapping/>
  </p:clrMapOvr>
  <p:transition xmlns:p="http://schemas.openxmlformats.org/presentationml/2006/main" spd="med" advClick="0" advTm="8000">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4400" b="1" dirty="0">
                <a:solidFill>
                  <a:srgbClr val="FFFFFF"/>
                </a:solidFill>
                <a:latin typeface="Calibri" pitchFamily="34" charset="0"/>
                <a:ea typeface="Calibri" pitchFamily="34" charset="-122"/>
                <a:cs typeface="Calibri" pitchFamily="34" charset="-120"/>
              </a:rPr>
              <a:t>Rose Marketing Solutions</a:t>
            </a:r>
            <a:endParaRPr lang="en-US" sz="44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EO Dallas Forum Moderator of the Year</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Ruth Ann Rose named Forum Moderator of the Year by EO Dallas. Featured speaker at the Hinge Brokers Shift Early Childhood Conference. On track for the highest revenue year in company history.</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Ruth Ann Rose, Founder   ·   Implementer: Amanda Matthews</a:t>
            </a:r>
            <a:endParaRPr lang="en-US" sz="1400" dirty="0"/>
          </a:p>
        </p:txBody>
      </p:sp>
    </p:spTree>
  </p:cSld>
  <p:clrMapOvr>
    <a:masterClrMapping/>
  </p:clrMapOvr>
  <p:transition xmlns:p="http://schemas.openxmlformats.org/presentationml/2006/main" spd="med" advClick="0" advTm="8000">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822960" y="1737360"/>
            <a:ext cx="10545775" cy="1097280"/>
          </a:xfrm>
          <a:prstGeom prst="rect">
            <a:avLst/>
          </a:prstGeom>
          <a:noFill/>
          <a:ln/>
        </p:spPr>
        <p:txBody>
          <a:bodyPr wrap="square" rtlCol="0" anchor="ctr"/>
          <a:lstStyle/>
          <a:p>
            <a:pPr algn="ctr" indent="0" marL="0">
              <a:buNone/>
            </a:pPr>
            <a:r>
              <a:rPr lang="en-US" sz="6000" i="1" dirty="0">
                <a:solidFill>
                  <a:srgbClr val="FFFFFF"/>
                </a:solidFill>
                <a:latin typeface="Calibri" pitchFamily="34" charset="0"/>
                <a:ea typeface="Calibri" pitchFamily="34" charset="-122"/>
                <a:cs typeface="Calibri" pitchFamily="34" charset="-120"/>
              </a:rPr>
              <a:t>Congratulations</a:t>
            </a:r>
            <a:endParaRPr lang="en-US" sz="6000" dirty="0"/>
          </a:p>
        </p:txBody>
      </p:sp>
      <p:sp>
        <p:nvSpPr>
          <p:cNvPr id="5" name="Text 2"/>
          <p:cNvSpPr/>
          <p:nvPr/>
        </p:nvSpPr>
        <p:spPr>
          <a:xfrm>
            <a:off x="822960" y="2743200"/>
            <a:ext cx="10545775" cy="914400"/>
          </a:xfrm>
          <a:prstGeom prst="rect">
            <a:avLst/>
          </a:prstGeom>
          <a:noFill/>
          <a:ln/>
        </p:spPr>
        <p:txBody>
          <a:bodyPr wrap="square" rtlCol="0" anchor="ctr"/>
          <a:lstStyle/>
          <a:p>
            <a:pPr algn="ctr" indent="0" marL="0">
              <a:buNone/>
            </a:pPr>
            <a:r>
              <a:rPr lang="en-US" sz="4000" b="1" dirty="0">
                <a:solidFill>
                  <a:srgbClr val="E87722"/>
                </a:solidFill>
                <a:latin typeface="Calibri" pitchFamily="34" charset="0"/>
                <a:ea typeface="Calibri" pitchFamily="34" charset="-122"/>
                <a:cs typeface="Calibri" pitchFamily="34" charset="-120"/>
              </a:rPr>
              <a:t>to our North Texas EOS Community</a:t>
            </a:r>
            <a:endParaRPr lang="en-US" sz="4000" dirty="0"/>
          </a:p>
        </p:txBody>
      </p:sp>
      <p:sp>
        <p:nvSpPr>
          <p:cNvPr id="6" name="Shape 3"/>
          <p:cNvSpPr/>
          <p:nvPr/>
        </p:nvSpPr>
        <p:spPr>
          <a:xfrm>
            <a:off x="4724248" y="3794760"/>
            <a:ext cx="2743200" cy="45720"/>
          </a:xfrm>
          <a:prstGeom prst="rect">
            <a:avLst/>
          </a:prstGeom>
          <a:solidFill>
            <a:srgbClr val="E87722"/>
          </a:solidFill>
          <a:ln w="12700">
            <a:solidFill>
              <a:srgbClr val="E87722"/>
            </a:solidFill>
            <a:prstDash val="solid"/>
          </a:ln>
        </p:spPr>
      </p:sp>
      <p:sp>
        <p:nvSpPr>
          <p:cNvPr id="7" name="Text 4"/>
          <p:cNvSpPr/>
          <p:nvPr/>
        </p:nvSpPr>
        <p:spPr>
          <a:xfrm>
            <a:off x="822960" y="4114800"/>
            <a:ext cx="10545775" cy="457200"/>
          </a:xfrm>
          <a:prstGeom prst="rect">
            <a:avLst/>
          </a:prstGeom>
          <a:noFill/>
          <a:ln/>
        </p:spPr>
        <p:txBody>
          <a:bodyPr wrap="square" rtlCol="0" anchor="ctr"/>
          <a:lstStyle/>
          <a:p>
            <a:pPr algn="ctr" indent="0" marL="0">
              <a:buNone/>
            </a:pPr>
            <a:r>
              <a:rPr lang="en-US" sz="2200" dirty="0">
                <a:solidFill>
                  <a:srgbClr val="FFFFFF"/>
                </a:solidFill>
                <a:latin typeface="Calibri" pitchFamily="34" charset="0"/>
                <a:ea typeface="Calibri" pitchFamily="34" charset="-122"/>
                <a:cs typeface="Calibri" pitchFamily="34" charset="-120"/>
              </a:rPr>
              <a:t>We Run on EOS North Texas 2026</a:t>
            </a:r>
            <a:endParaRPr lang="en-US" sz="2200" dirty="0"/>
          </a:p>
        </p:txBody>
      </p:sp>
      <p:sp>
        <p:nvSpPr>
          <p:cNvPr id="8" name="Text 5"/>
          <p:cNvSpPr/>
          <p:nvPr/>
        </p:nvSpPr>
        <p:spPr>
          <a:xfrm>
            <a:off x="822960" y="4617720"/>
            <a:ext cx="10545775" cy="365760"/>
          </a:xfrm>
          <a:prstGeom prst="rect">
            <a:avLst/>
          </a:prstGeom>
          <a:noFill/>
          <a:ln/>
        </p:spPr>
        <p:txBody>
          <a:bodyPr wrap="square" rtlCol="0" anchor="ctr"/>
          <a:lstStyle/>
          <a:p>
            <a:pPr algn="ctr" indent="0" marL="0">
              <a:buNone/>
            </a:pPr>
            <a:r>
              <a:rPr lang="en-US" sz="1600" dirty="0">
                <a:solidFill>
                  <a:srgbClr val="C9D2DE"/>
                </a:solidFill>
                <a:latin typeface="Calibri" pitchFamily="34" charset="0"/>
                <a:ea typeface="Calibri" pitchFamily="34" charset="-122"/>
                <a:cs typeface="Calibri" pitchFamily="34" charset="-120"/>
              </a:rPr>
              <a:t>The Statler, Dallas   ·   Monday, September 14, 2026</a:t>
            </a:r>
            <a:endParaRPr lang="en-US" sz="1600" dirty="0"/>
          </a:p>
        </p:txBody>
      </p:sp>
    </p:spTree>
  </p:cSld>
  <p:clrMapOvr>
    <a:masterClrMapping/>
  </p:clrMapOvr>
  <p:transition xmlns:p="http://schemas.openxmlformats.org/presentationml/2006/main" spd="med" advClick="0" advTm="80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EOS Worldwide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WRoEOS North Texas 2026 — Customer Celebrations</dc:title>
  <dc:subject>Break loop — customer celebrations</dc:subject>
  <dc:creator>We Run on EOS North Texas</dc:creator>
  <cp:lastModifiedBy>We Run on EOS North Texas</cp:lastModifiedBy>
  <cp:revision>1</cp:revision>
  <dcterms:created xsi:type="dcterms:W3CDTF">2026-09-09T16:00:54Z</dcterms:created>
  <dcterms:modified xsi:type="dcterms:W3CDTF">2026-09-09T16:00:54Z</dcterms:modified>
</cp:coreProperties>
</file>