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showPr showType="kiosk" loop="1" showNarration="0" showAnimation="1" useTimings="1">
    <p:sldAll/>
    <p:penClr>
      <a:srgbClr val="000000"/>
    </p:penClr>
  </p:showPr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pic>
        <p:nvPicPr>
          <p:cNvPr id="3" name="Image 0" descr="/home/user/workspace/wroe-dallas-2026/deliverables/celebrations-loop/assets/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016" y="5934456"/>
            <a:ext cx="826919" cy="777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645920"/>
            <a:ext cx="105457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6800" dirty="0"/>
          </a:p>
        </p:txBody>
      </p:sp>
      <p:sp>
        <p:nvSpPr>
          <p:cNvPr id="5" name="Text 2"/>
          <p:cNvSpPr/>
          <p:nvPr/>
        </p:nvSpPr>
        <p:spPr>
          <a:xfrm>
            <a:off x="822960" y="2560320"/>
            <a:ext cx="1054577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0" b="1" spc="60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CELEBRATIONS</a:t>
            </a:r>
            <a:endParaRPr lang="en-US" sz="10000" dirty="0"/>
          </a:p>
        </p:txBody>
      </p:sp>
      <p:sp>
        <p:nvSpPr>
          <p:cNvPr id="6" name="Text 3"/>
          <p:cNvSpPr/>
          <p:nvPr/>
        </p:nvSpPr>
        <p:spPr>
          <a:xfrm>
            <a:off x="822960" y="4023360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Run on EOS North Texas 2026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22960" y="457200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Monday, September 14, 2026   ·   The Statler, Dallas</a:t>
            </a:r>
            <a:endParaRPr lang="en-US" sz="1800" dirty="0"/>
          </a:p>
        </p:txBody>
      </p:sp>
    </p:spTree>
  </p:cSld>
  <p:clrMapOvr>
    <a:masterClrMapping/>
  </p:clrMapOvr>
  <p:transition xmlns:p="http://schemas.openxmlformats.org/presentationml/2006/main" spd="med" advClick="0" advTm="80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pic>
        <p:nvPicPr>
          <p:cNvPr id="3" name="Image 0" descr="/home/user/workspace/wroe-dallas-2026/deliverables/celebrations-loop/assets/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016" y="5934456"/>
            <a:ext cx="826919" cy="777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28016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WIN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Artstillery</a:t>
            </a:r>
            <a:endParaRPr lang="en-US" sz="6000" dirty="0"/>
          </a:p>
        </p:txBody>
      </p:sp>
      <p:sp>
        <p:nvSpPr>
          <p:cNvPr id="6" name="Shape 3"/>
          <p:cNvSpPr/>
          <p:nvPr/>
        </p:nvSpPr>
        <p:spPr>
          <a:xfrm>
            <a:off x="5181448" y="3246120"/>
            <a:ext cx="18288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371600" y="3520440"/>
            <a:ext cx="944849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years and a 2026 Moody Fund for the Arts grant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828800" y="4434840"/>
            <a:ext cx="853409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Celebrating 10 years (June 27, 2026). The grant supports "Dichotomy of Compassion," the current immersive multimedia production. Now Dallas and Chicago.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57607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9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Ilknur Nilufer Ozgur, Founder, Executive and Artistic Director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4400" y="608076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Implementer:  Shane Spillers</a:t>
            </a:r>
            <a:endParaRPr lang="en-US" sz="1200" dirty="0"/>
          </a:p>
        </p:txBody>
      </p:sp>
    </p:spTree>
  </p:cSld>
  <p:clrMapOvr>
    <a:masterClrMapping/>
  </p:clrMapOvr>
  <p:transition xmlns:p="http://schemas.openxmlformats.org/presentationml/2006/main" spd="med" advClick="0" advTm="80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pic>
        <p:nvPicPr>
          <p:cNvPr id="3" name="Image 0" descr="/home/user/workspace/wroe-dallas-2026/deliverables/celebrations-loop/assets/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016" y="5934456"/>
            <a:ext cx="826919" cy="777240"/>
          </a:xfrm>
          <a:prstGeom prst="rect">
            <a:avLst/>
          </a:prstGeom>
        </p:spPr>
      </p:pic>
      <p:pic>
        <p:nvPicPr>
          <p:cNvPr id="4" name="Image 1" descr="/home/user/workspace/wroe-dallas-2026/deliverables/celebrations-loop/assets/austin_stre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57200"/>
            <a:ext cx="4608576" cy="5760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731520"/>
            <a:ext cx="5790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WIN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943600" y="1143000"/>
            <a:ext cx="579089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 Street Center</a:t>
            </a:r>
            <a:endParaRPr lang="en-US" sz="2800" dirty="0"/>
          </a:p>
        </p:txBody>
      </p:sp>
      <p:sp>
        <p:nvSpPr>
          <p:cNvPr id="7" name="Shape 3"/>
          <p:cNvSpPr/>
          <p:nvPr/>
        </p:nvSpPr>
        <p:spPr>
          <a:xfrm>
            <a:off x="5943600" y="2834640"/>
            <a:ext cx="9144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0" y="3017520"/>
            <a:ext cx="57908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CEO 2026 Nonprofit and Corporate Citizenship Finalist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943600" y="4206240"/>
            <a:ext cx="57908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Dallas. Record 640 housing placements in FY25 (up 25%). Record revenue in FY25, up 17% year-over-year and 36% over two years.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943600" y="5623560"/>
            <a:ext cx="5790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9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Roby, CEO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943600" y="5943600"/>
            <a:ext cx="5790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Implementer:  Kevin Taylor</a:t>
            </a:r>
            <a:endParaRPr lang="en-US" sz="1100" dirty="0"/>
          </a:p>
        </p:txBody>
      </p:sp>
    </p:spTree>
  </p:cSld>
  <p:clrMapOvr>
    <a:masterClrMapping/>
  </p:clrMapOvr>
  <p:transition xmlns:p="http://schemas.openxmlformats.org/presentationml/2006/main" spd="med" advClick="0" advTm="80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pic>
        <p:nvPicPr>
          <p:cNvPr id="3" name="Image 0" descr="/home/user/workspace/wroe-dallas-2026/deliverables/celebrations-loop/assets/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016" y="5934456"/>
            <a:ext cx="826919" cy="777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28016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WIN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 Design Co</a:t>
            </a:r>
            <a:endParaRPr lang="en-US" sz="6000" dirty="0"/>
          </a:p>
        </p:txBody>
      </p:sp>
      <p:sp>
        <p:nvSpPr>
          <p:cNvPr id="6" name="Shape 3"/>
          <p:cNvSpPr/>
          <p:nvPr/>
        </p:nvSpPr>
        <p:spPr>
          <a:xfrm>
            <a:off x="5181448" y="3246120"/>
            <a:ext cx="18288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371600" y="3520440"/>
            <a:ext cx="944849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CRE 2025 Women in Real Estate, Texas honoree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828800" y="4434840"/>
            <a:ext cx="853409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and CEO B. Allison Brooks, AIA (October 2025). Recently completed interiors for HALL Park Hotel and The Ludlow. Offices in Dallas, Chicago, Miami, and Chapel Hill.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57607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9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Allison Brooks, Founder and CEO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4400" y="608076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Implementer:  Shane Spillers</a:t>
            </a:r>
            <a:endParaRPr lang="en-US" sz="1200" dirty="0"/>
          </a:p>
        </p:txBody>
      </p:sp>
    </p:spTree>
  </p:cSld>
  <p:clrMapOvr>
    <a:masterClrMapping/>
  </p:clrMapOvr>
  <p:transition xmlns:p="http://schemas.openxmlformats.org/presentationml/2006/main" spd="med" advClick="0" advTm="80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pic>
        <p:nvPicPr>
          <p:cNvPr id="3" name="Image 0" descr="/home/user/workspace/wroe-dallas-2026/deliverables/celebrations-loop/assets/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016" y="5934456"/>
            <a:ext cx="826919" cy="777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28016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WIN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 Security</a:t>
            </a:r>
            <a:endParaRPr lang="en-US" sz="6000" dirty="0"/>
          </a:p>
        </p:txBody>
      </p:sp>
      <p:sp>
        <p:nvSpPr>
          <p:cNvPr id="6" name="Shape 3"/>
          <p:cNvSpPr/>
          <p:nvPr/>
        </p:nvSpPr>
        <p:spPr>
          <a:xfrm>
            <a:off x="5181448" y="3246120"/>
            <a:ext cx="18288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371600" y="3520440"/>
            <a:ext cx="944849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23% in gross revenue in the first 7 months on EOS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828800" y="4434840"/>
            <a:ext cx="853409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Waxahachie. Started Focus Day in January 2026 and posted Core Values throughout the office. Momentum has held all year.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57607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9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Kyle Beller, President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4400" y="608076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Implementer:  Kevin Taylor</a:t>
            </a:r>
            <a:endParaRPr lang="en-US" sz="1200" dirty="0"/>
          </a:p>
        </p:txBody>
      </p:sp>
    </p:spTree>
  </p:cSld>
  <p:clrMapOvr>
    <a:masterClrMapping/>
  </p:clrMapOvr>
  <p:transition xmlns:p="http://schemas.openxmlformats.org/presentationml/2006/main" spd="med" advClick="0" advTm="80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pic>
        <p:nvPicPr>
          <p:cNvPr id="3" name="Image 0" descr="/home/user/workspace/wroe-dallas-2026/deliverables/celebrations-loop/assets/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016" y="5934456"/>
            <a:ext cx="826919" cy="777240"/>
          </a:xfrm>
          <a:prstGeom prst="rect">
            <a:avLst/>
          </a:prstGeom>
        </p:spPr>
      </p:pic>
      <p:pic>
        <p:nvPicPr>
          <p:cNvPr id="4" name="Image 1" descr="/home/user/workspace/wroe-dallas-2026/deliverables/celebrations-loop/assets/beacon_hill_student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09" y="457200"/>
            <a:ext cx="4608863" cy="5760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731520"/>
            <a:ext cx="5790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WIN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943600" y="1143000"/>
            <a:ext cx="579089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Hill Preparatory Institute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5943600" y="2834640"/>
            <a:ext cx="9144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0" y="3017520"/>
            <a:ext cx="57908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years serving North Texas students and families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943600" y="4206240"/>
            <a:ext cx="57908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Nonprofit celebrating its 20th Anniversary on July 6, 2026. Since 2006, Beacon Hill has delivered in-school, after-school, and summer literacy and math tutoring across North Texas.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943600" y="5623560"/>
            <a:ext cx="5790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9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Hill Preparatory Institute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943600" y="5943600"/>
            <a:ext cx="5790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Implementer:  Sandi Mitchell</a:t>
            </a:r>
            <a:endParaRPr lang="en-US" sz="1100" dirty="0"/>
          </a:p>
        </p:txBody>
      </p:sp>
    </p:spTree>
  </p:cSld>
  <p:clrMapOvr>
    <a:masterClrMapping/>
  </p:clrMapOvr>
  <p:transition xmlns:p="http://schemas.openxmlformats.org/presentationml/2006/main" spd="med" advClick="0" advTm="80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pic>
        <p:nvPicPr>
          <p:cNvPr id="3" name="Image 0" descr="/home/user/workspace/wroe-dallas-2026/deliverables/celebrations-loop/assets/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016" y="5934456"/>
            <a:ext cx="826919" cy="777240"/>
          </a:xfrm>
          <a:prstGeom prst="rect">
            <a:avLst/>
          </a:prstGeom>
        </p:spPr>
      </p:pic>
      <p:pic>
        <p:nvPicPr>
          <p:cNvPr id="4" name="Image 1" descr="/home/user/workspace/wroe-dallas-2026/deliverables/celebrations-loop/assets/blue_mint_he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81401"/>
            <a:ext cx="5212080" cy="391231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731520"/>
            <a:ext cx="5790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WIN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943600" y="1143000"/>
            <a:ext cx="579089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Mint Thai</a:t>
            </a:r>
            <a:endParaRPr lang="en-US" sz="3400" dirty="0"/>
          </a:p>
        </p:txBody>
      </p:sp>
      <p:sp>
        <p:nvSpPr>
          <p:cNvPr id="7" name="Shape 3"/>
          <p:cNvSpPr/>
          <p:nvPr/>
        </p:nvSpPr>
        <p:spPr>
          <a:xfrm>
            <a:off x="5943600" y="2834640"/>
            <a:ext cx="9144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0" y="3017520"/>
            <a:ext cx="57908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Multi-year Best of DFW, ESGR honors, and a House Resolution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943600" y="4206240"/>
            <a:ext cx="57908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Midlothian. Best Asian Restaurant in South DFW five years running (2021–2026). ESGR Pro Patria, Patriot, and Above and Beyond awards (July 2026). House Resolution from Rep. Brian Harrison (August 2026).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943600" y="5623560"/>
            <a:ext cx="5790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9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Wilson, CEO   ·   Alisa Dodenhoff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943600" y="5943600"/>
            <a:ext cx="5790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Implementer:  Kevin Taylor</a:t>
            </a:r>
            <a:endParaRPr lang="en-US" sz="1100" dirty="0"/>
          </a:p>
        </p:txBody>
      </p:sp>
    </p:spTree>
  </p:cSld>
  <p:clrMapOvr>
    <a:masterClrMapping/>
  </p:clrMapOvr>
  <p:transition xmlns:p="http://schemas.openxmlformats.org/presentationml/2006/main" spd="med" advClick="0" advTm="80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pic>
        <p:nvPicPr>
          <p:cNvPr id="3" name="Image 0" descr="/home/user/workspace/wroe-dallas-2026/deliverables/celebrations-loop/assets/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016" y="5934456"/>
            <a:ext cx="826919" cy="777240"/>
          </a:xfrm>
          <a:prstGeom prst="rect">
            <a:avLst/>
          </a:prstGeom>
        </p:spPr>
      </p:pic>
      <p:pic>
        <p:nvPicPr>
          <p:cNvPr id="4" name="Image 1" descr="/home/user/workspace/wroe-dallas-2026/deliverables/celebrations-loop/assets/brainstorm_jas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99657"/>
            <a:ext cx="5212080" cy="347580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731520"/>
            <a:ext cx="5790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 EOY 2026 · SOUTHWEST FINALIST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943600" y="1143000"/>
            <a:ext cx="579089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Storm Shelter Restaurants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5943600" y="2834640"/>
            <a:ext cx="9144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0" y="3017520"/>
            <a:ext cx="57908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Southwest Finalist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943600" y="4206240"/>
            <a:ext cx="57908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Jason Boso — founder of Truck Yard, Twisted Root Burger Co., and more. Also a finalist in the Oklahoma City ULI Impact Awards.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943600" y="5623560"/>
            <a:ext cx="5790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9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Jason Boso, Founder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943600" y="5943600"/>
            <a:ext cx="5790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Implementer:  Amanda Matthews</a:t>
            </a:r>
            <a:endParaRPr lang="en-US" sz="1100" dirty="0"/>
          </a:p>
        </p:txBody>
      </p:sp>
    </p:spTree>
  </p:cSld>
  <p:clrMapOvr>
    <a:masterClrMapping/>
  </p:clrMapOvr>
  <p:transition xmlns:p="http://schemas.openxmlformats.org/presentationml/2006/main" spd="med" advClick="0" advTm="80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pic>
        <p:nvPicPr>
          <p:cNvPr id="3" name="Image 0" descr="/home/user/workspace/wroe-dallas-2026/deliverables/celebrations-loop/assets/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016" y="5934456"/>
            <a:ext cx="826919" cy="777240"/>
          </a:xfrm>
          <a:prstGeom prst="rect">
            <a:avLst/>
          </a:prstGeom>
        </p:spPr>
      </p:pic>
      <p:pic>
        <p:nvPicPr>
          <p:cNvPr id="4" name="Image 1" descr="/home/user/workspace/wroe-dallas-2026/deliverables/celebrations-loop/assets/crowther_tea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5212080" cy="3474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731520"/>
            <a:ext cx="5790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WIN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943600" y="1143000"/>
            <a:ext cx="579089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Crowther Group</a:t>
            </a:r>
            <a:endParaRPr lang="en-US" sz="3400" dirty="0"/>
          </a:p>
        </p:txBody>
      </p:sp>
      <p:sp>
        <p:nvSpPr>
          <p:cNvPr id="7" name="Shape 3"/>
          <p:cNvSpPr/>
          <p:nvPr/>
        </p:nvSpPr>
        <p:spPr>
          <a:xfrm>
            <a:off x="5943600" y="2834640"/>
            <a:ext cx="9144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0" y="3017520"/>
            <a:ext cx="57908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Place to Work for Working Parents, three years running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943600" y="4206240"/>
            <a:ext cx="57908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No. 56 on the Dallas Business Journal Largest General Contractors list (June 2026). Third consecutive year partnering with UTA’s Senior Capstone program and expanding K-12 pipelines with Dallas ISD, Garland ISD, DeSoto ISD, and P-TECH. April Crowther Foundation extended its philanthropic reach to The Bahamas.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943600" y="5623560"/>
            <a:ext cx="5790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9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and Trish Crowther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943600" y="5943600"/>
            <a:ext cx="5790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Implementer:  Sandi Mitchell</a:t>
            </a:r>
            <a:endParaRPr lang="en-US" sz="1100" dirty="0"/>
          </a:p>
        </p:txBody>
      </p:sp>
    </p:spTree>
  </p:cSld>
  <p:clrMapOvr>
    <a:masterClrMapping/>
  </p:clrMapOvr>
  <p:transition xmlns:p="http://schemas.openxmlformats.org/presentationml/2006/main" spd="med" advClick="0" advTm="80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pic>
        <p:nvPicPr>
          <p:cNvPr id="3" name="Image 0" descr="/home/user/workspace/wroe-dallas-2026/deliverables/celebrations-loop/assets/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016" y="5934456"/>
            <a:ext cx="826919" cy="777240"/>
          </a:xfrm>
          <a:prstGeom prst="rect">
            <a:avLst/>
          </a:prstGeom>
        </p:spPr>
      </p:pic>
      <p:pic>
        <p:nvPicPr>
          <p:cNvPr id="4" name="Image 1" descr="/home/user/workspace/wroe-dallas-2026/deliverables/celebrations-loop/assets/excel_gab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99657"/>
            <a:ext cx="5212080" cy="347580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731520"/>
            <a:ext cx="5790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 EOY 2026 · SOUTHWEST FINALIST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943600" y="1143000"/>
            <a:ext cx="579089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Medical Staffing</a:t>
            </a:r>
            <a:endParaRPr lang="en-US" sz="2800" dirty="0"/>
          </a:p>
        </p:txBody>
      </p:sp>
      <p:sp>
        <p:nvSpPr>
          <p:cNvPr id="7" name="Shape 3"/>
          <p:cNvSpPr/>
          <p:nvPr/>
        </p:nvSpPr>
        <p:spPr>
          <a:xfrm>
            <a:off x="5943600" y="2834640"/>
            <a:ext cx="9144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0" y="3017520"/>
            <a:ext cx="57908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Southwest Finalist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943600" y="4206240"/>
            <a:ext cx="57908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and CEO Gabriel Griess, U.S. Air Force Academy graduate. Grapevine-based.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943600" y="5623560"/>
            <a:ext cx="5790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9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Griess, Founder and CEO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943600" y="5943600"/>
            <a:ext cx="5790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Implementer:  Justin Mink</a:t>
            </a:r>
            <a:endParaRPr lang="en-US" sz="1100" dirty="0"/>
          </a:p>
        </p:txBody>
      </p:sp>
    </p:spTree>
  </p:cSld>
  <p:clrMapOvr>
    <a:masterClrMapping/>
  </p:clrMapOvr>
  <p:transition xmlns:p="http://schemas.openxmlformats.org/presentationml/2006/main" spd="med" advClick="0" advTm="80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pic>
        <p:nvPicPr>
          <p:cNvPr id="3" name="Image 0" descr="/home/user/workspace/wroe-dallas-2026/deliverables/celebrations-loop/assets/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016" y="5934456"/>
            <a:ext cx="826919" cy="777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28016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 EOY 2026 · HEARTLAND FINALIST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HorsePower Brands</a:t>
            </a:r>
            <a:endParaRPr lang="en-US" sz="5200" dirty="0"/>
          </a:p>
        </p:txBody>
      </p:sp>
      <p:sp>
        <p:nvSpPr>
          <p:cNvPr id="6" name="Shape 3"/>
          <p:cNvSpPr/>
          <p:nvPr/>
        </p:nvSpPr>
        <p:spPr>
          <a:xfrm>
            <a:off x="5181448" y="3246120"/>
            <a:ext cx="18288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371600" y="3520440"/>
            <a:ext cx="944849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Heartland Finalist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828800" y="4434840"/>
            <a:ext cx="853409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Tony Hulbert. Nine home-service franchise brands, five of them on Entrepreneur magazine’s 2026 Franchise 500. Omaha-based.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57607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9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Tony Hulbert, CEO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4400" y="608076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Implementer:  Justin Mink</a:t>
            </a:r>
            <a:endParaRPr lang="en-US" sz="1200" dirty="0"/>
          </a:p>
        </p:txBody>
      </p:sp>
    </p:spTree>
  </p:cSld>
  <p:clrMapOvr>
    <a:masterClrMapping/>
  </p:clrMapOvr>
  <p:transition xmlns:p="http://schemas.openxmlformats.org/presentationml/2006/main" spd="med" advClick="0" advTm="80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pic>
        <p:nvPicPr>
          <p:cNvPr id="3" name="Image 0" descr="/home/user/workspace/wroe-dallas-2026/deliverables/celebrations-loop/assets/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016" y="5934456"/>
            <a:ext cx="826919" cy="777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28016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WIN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KPost Roofing &amp; Waterproofing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5181448" y="3246120"/>
            <a:ext cx="18288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371600" y="3520440"/>
            <a:ext cx="944849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Best-in-Class, ARMA 2026 Excellence in Asphalt Roofing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828800" y="4434840"/>
            <a:ext cx="853409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Commercial/Mixed Use category winner for the National Medal of Honor Museum in Arlington. Honored at the International Roofing Expo in Las Vegas, January 2026.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57607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9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 Little, Keith Post, and Jayne Williams, Founders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4400" y="608076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Implementer:  Shane Spillers</a:t>
            </a:r>
            <a:endParaRPr lang="en-US" sz="1200" dirty="0"/>
          </a:p>
        </p:txBody>
      </p:sp>
    </p:spTree>
  </p:cSld>
  <p:clrMapOvr>
    <a:masterClrMapping/>
  </p:clrMapOvr>
  <p:transition xmlns:p="http://schemas.openxmlformats.org/presentationml/2006/main" spd="med" advClick="0" advTm="80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pic>
        <p:nvPicPr>
          <p:cNvPr id="3" name="Image 0" descr="/home/user/workspace/wroe-dallas-2026/deliverables/celebrations-loop/assets/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016" y="5934456"/>
            <a:ext cx="826919" cy="777240"/>
          </a:xfrm>
          <a:prstGeom prst="rect">
            <a:avLst/>
          </a:prstGeom>
        </p:spPr>
      </p:pic>
      <p:pic>
        <p:nvPicPr>
          <p:cNvPr id="4" name="Image 1" descr="/home/user/workspace/wroe-dallas-2026/deliverables/celebrations-loop/assets/lime_heat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99657"/>
            <a:ext cx="5212080" cy="347580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731520"/>
            <a:ext cx="5790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 EOY 2026 · SOUTHWEST WINNER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943600" y="1143000"/>
            <a:ext cx="579089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Lime Media Group</a:t>
            </a:r>
            <a:endParaRPr lang="en-US" sz="3400" dirty="0"/>
          </a:p>
        </p:txBody>
      </p:sp>
      <p:sp>
        <p:nvSpPr>
          <p:cNvPr id="7" name="Shape 3"/>
          <p:cNvSpPr/>
          <p:nvPr/>
        </p:nvSpPr>
        <p:spPr>
          <a:xfrm>
            <a:off x="5943600" y="2834640"/>
            <a:ext cx="9144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0" y="3017520"/>
            <a:ext cx="57908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Southwest Winner + 2026 Top Workplaces Culture Excellence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943600" y="4206240"/>
            <a:ext cx="57908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and CEO Heath Hill. Rockwall-based. Top Workplaces Culture Excellence winner (July 2026).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943600" y="5623560"/>
            <a:ext cx="5790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9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Heath Hill, Founder and CEO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943600" y="5943600"/>
            <a:ext cx="5790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Implementer:  Leonard Lynskey</a:t>
            </a:r>
            <a:endParaRPr lang="en-US" sz="1100" dirty="0"/>
          </a:p>
        </p:txBody>
      </p:sp>
    </p:spTree>
  </p:cSld>
  <p:clrMapOvr>
    <a:masterClrMapping/>
  </p:clrMapOvr>
  <p:transition xmlns:p="http://schemas.openxmlformats.org/presentationml/2006/main" spd="med" advClick="0" advTm="80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pic>
        <p:nvPicPr>
          <p:cNvPr id="3" name="Image 0" descr="/home/user/workspace/wroe-dallas-2026/deliverables/celebrations-loop/assets/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016" y="5934456"/>
            <a:ext cx="826919" cy="777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28016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WIN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Maverick Power</a:t>
            </a:r>
            <a:endParaRPr lang="en-US" sz="6000" dirty="0"/>
          </a:p>
        </p:txBody>
      </p:sp>
      <p:sp>
        <p:nvSpPr>
          <p:cNvPr id="6" name="Shape 3"/>
          <p:cNvSpPr/>
          <p:nvPr/>
        </p:nvSpPr>
        <p:spPr>
          <a:xfrm>
            <a:off x="5181448" y="3246120"/>
            <a:ext cx="18288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371600" y="3520440"/>
            <a:ext cx="944849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$1.75 billion acquisition agreement with nVent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828800" y="4434840"/>
            <a:ext cx="853409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Aug 24, 2026 with up to $550M more tied to 2027–2028 performance. Also No. 7 on the 2026 Inc. Regionals: Southwest list (627% growth), a 2026 Inc. 5000 honoree, and Tom Currier named a 2026 DFW Titan 100 honoree.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57607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9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Currier, President and CEO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4400" y="608076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Implementer:  Shane Spillers</a:t>
            </a:r>
            <a:endParaRPr lang="en-US" sz="1200" dirty="0"/>
          </a:p>
        </p:txBody>
      </p:sp>
    </p:spTree>
  </p:cSld>
  <p:clrMapOvr>
    <a:masterClrMapping/>
  </p:clrMapOvr>
  <p:transition xmlns:p="http://schemas.openxmlformats.org/presentationml/2006/main" spd="med" advClick="0" advTm="80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pic>
        <p:nvPicPr>
          <p:cNvPr id="3" name="Image 0" descr="/home/user/workspace/wroe-dallas-2026/deliverables/celebrations-loop/assets/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016" y="5934456"/>
            <a:ext cx="826919" cy="777240"/>
          </a:xfrm>
          <a:prstGeom prst="rect">
            <a:avLst/>
          </a:prstGeom>
        </p:spPr>
      </p:pic>
      <p:pic>
        <p:nvPicPr>
          <p:cNvPr id="4" name="Image 1" descr="/home/user/workspace/wroe-dallas-2026/deliverables/celebrations-loop/assets/moonshot_etha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99657"/>
            <a:ext cx="5212080" cy="347580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731520"/>
            <a:ext cx="5790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 EOY 2026 · SOUTHWEST WINNER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943600" y="1143000"/>
            <a:ext cx="579089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Moonshot</a:t>
            </a:r>
            <a:endParaRPr lang="en-US" sz="4000" dirty="0"/>
          </a:p>
        </p:txBody>
      </p:sp>
      <p:sp>
        <p:nvSpPr>
          <p:cNvPr id="7" name="Shape 3"/>
          <p:cNvSpPr/>
          <p:nvPr/>
        </p:nvSpPr>
        <p:spPr>
          <a:xfrm>
            <a:off x="5943600" y="2834640"/>
            <a:ext cx="9144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0" y="3017520"/>
            <a:ext cx="57908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Southwest Winner — advancing to National Awards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943600" y="4206240"/>
            <a:ext cx="57908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and CEO Ethan Ellenberg. Denton-based. Advances to the EY National Awards in November 2026.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943600" y="5623560"/>
            <a:ext cx="5790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9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 Ellenberg, Founder and CEO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943600" y="5943600"/>
            <a:ext cx="5790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Implementer:  Ryan Wall</a:t>
            </a:r>
            <a:endParaRPr lang="en-US" sz="1100" dirty="0"/>
          </a:p>
        </p:txBody>
      </p:sp>
    </p:spTree>
  </p:cSld>
  <p:clrMapOvr>
    <a:masterClrMapping/>
  </p:clrMapOvr>
  <p:transition xmlns:p="http://schemas.openxmlformats.org/presentationml/2006/main" spd="med" advClick="0" advTm="80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pic>
        <p:nvPicPr>
          <p:cNvPr id="3" name="Image 0" descr="/home/user/workspace/wroe-dallas-2026/deliverables/celebrations-loop/assets/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016" y="5934456"/>
            <a:ext cx="826919" cy="777240"/>
          </a:xfrm>
          <a:prstGeom prst="rect">
            <a:avLst/>
          </a:prstGeom>
        </p:spPr>
      </p:pic>
      <p:pic>
        <p:nvPicPr>
          <p:cNvPr id="4" name="Image 1" descr="/home/user/workspace/wroe-dallas-2026/deliverables/celebrations-loop/assets/neighborhood_beverl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99657"/>
            <a:ext cx="5212080" cy="347580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731520"/>
            <a:ext cx="5790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WIN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943600" y="1143000"/>
            <a:ext cx="579089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Neighborhood Management, Inc.</a:t>
            </a:r>
            <a:endParaRPr lang="en-US" sz="2400" dirty="0"/>
          </a:p>
        </p:txBody>
      </p:sp>
      <p:sp>
        <p:nvSpPr>
          <p:cNvPr id="7" name="Shape 3"/>
          <p:cNvSpPr/>
          <p:nvPr/>
        </p:nvSpPr>
        <p:spPr>
          <a:xfrm>
            <a:off x="5943600" y="2834640"/>
            <a:ext cx="9144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0" y="3017520"/>
            <a:ext cx="57908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 Entrepreneur Of The Year 2026 Southwest Finalist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943600" y="4206240"/>
            <a:ext cx="57908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 Beverly Coghlan, PCAM — one of 44 finalists from 41 companies, announced April 21, 2026.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943600" y="5623560"/>
            <a:ext cx="5790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9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Beverly Coghlan, President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943600" y="5943600"/>
            <a:ext cx="5790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Implementer:  Shane Spillers</a:t>
            </a:r>
            <a:endParaRPr lang="en-US" sz="1100" dirty="0"/>
          </a:p>
        </p:txBody>
      </p:sp>
    </p:spTree>
  </p:cSld>
  <p:clrMapOvr>
    <a:masterClrMapping/>
  </p:clrMapOvr>
  <p:transition xmlns:p="http://schemas.openxmlformats.org/presentationml/2006/main" spd="med" advClick="0" advTm="80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pic>
        <p:nvPicPr>
          <p:cNvPr id="3" name="Image 0" descr="/home/user/workspace/wroe-dallas-2026/deliverables/celebrations-loop/assets/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016" y="5934456"/>
            <a:ext cx="826919" cy="777240"/>
          </a:xfrm>
          <a:prstGeom prst="rect">
            <a:avLst/>
          </a:prstGeom>
        </p:spPr>
      </p:pic>
      <p:pic>
        <p:nvPicPr>
          <p:cNvPr id="4" name="Image 1" descr="/home/user/workspace/wroe-dallas-2026/deliverables/celebrations-loop/assets/ntoa_lasik_tea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26668"/>
            <a:ext cx="5212080" cy="422178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731520"/>
            <a:ext cx="5790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WIN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943600" y="1143000"/>
            <a:ext cx="579089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Texas Ophthalmology</a:t>
            </a:r>
            <a:endParaRPr lang="en-US" sz="2400" dirty="0"/>
          </a:p>
        </p:txBody>
      </p:sp>
      <p:sp>
        <p:nvSpPr>
          <p:cNvPr id="7" name="Shape 3"/>
          <p:cNvSpPr/>
          <p:nvPr/>
        </p:nvSpPr>
        <p:spPr>
          <a:xfrm>
            <a:off x="5943600" y="2834640"/>
            <a:ext cx="9144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0" y="3017520"/>
            <a:ext cx="57908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LASIK, opened a second location, turned a loss into profit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943600" y="4206240"/>
            <a:ext cx="57908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Wichita Falls. Launched LASIK as a new service line, opened a second location, and turned a $300K loss in 2025 into roughly $150K profit YTD 2026 while paying down debt.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943600" y="5623560"/>
            <a:ext cx="5790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9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 Griffiths, Director of Marketing and Technology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943600" y="5943600"/>
            <a:ext cx="5790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Implementer:  Erin Thiem</a:t>
            </a:r>
            <a:endParaRPr lang="en-US" sz="1100" dirty="0"/>
          </a:p>
        </p:txBody>
      </p:sp>
    </p:spTree>
  </p:cSld>
  <p:clrMapOvr>
    <a:masterClrMapping/>
  </p:clrMapOvr>
  <p:transition xmlns:p="http://schemas.openxmlformats.org/presentationml/2006/main" spd="med" advClick="0" advTm="80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pic>
        <p:nvPicPr>
          <p:cNvPr id="3" name="Image 0" descr="/home/user/workspace/wroe-dallas-2026/deliverables/celebrations-loop/assets/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016" y="5934456"/>
            <a:ext cx="826919" cy="777240"/>
          </a:xfrm>
          <a:prstGeom prst="rect">
            <a:avLst/>
          </a:prstGeom>
        </p:spPr>
      </p:pic>
      <p:pic>
        <p:nvPicPr>
          <p:cNvPr id="4" name="Image 1" descr="/home/user/workspace/wroe-dallas-2026/deliverables/celebrations-loop/assets/rose_confett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13241"/>
            <a:ext cx="5212080" cy="304863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731520"/>
            <a:ext cx="5790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WIN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943600" y="1143000"/>
            <a:ext cx="579089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Marketing Solutions</a:t>
            </a:r>
            <a:endParaRPr lang="en-US" sz="2800" dirty="0"/>
          </a:p>
        </p:txBody>
      </p:sp>
      <p:sp>
        <p:nvSpPr>
          <p:cNvPr id="7" name="Shape 3"/>
          <p:cNvSpPr/>
          <p:nvPr/>
        </p:nvSpPr>
        <p:spPr>
          <a:xfrm>
            <a:off x="5943600" y="2834640"/>
            <a:ext cx="9144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0" y="3017520"/>
            <a:ext cx="57908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 Dallas Forum Moderator of the Year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943600" y="4206240"/>
            <a:ext cx="57908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Ruth Ann Rose named Forum Moderator of the Year by EO Dallas. Featured speaker at the Hinge Brokers Shift Early Childhood Conference.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943600" y="5623560"/>
            <a:ext cx="5790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9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Ruth Ann Rose, Founder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943600" y="5943600"/>
            <a:ext cx="5790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Implementer:  Amanda Matthews</a:t>
            </a:r>
            <a:endParaRPr lang="en-US" sz="1100" dirty="0"/>
          </a:p>
        </p:txBody>
      </p:sp>
    </p:spTree>
  </p:cSld>
  <p:clrMapOvr>
    <a:masterClrMapping/>
  </p:clrMapOvr>
  <p:transition xmlns:p="http://schemas.openxmlformats.org/presentationml/2006/main" spd="med" advClick="0" advTm="80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pic>
        <p:nvPicPr>
          <p:cNvPr id="3" name="Image 0" descr="/home/user/workspace/wroe-dallas-2026/deliverables/celebrations-loop/assets/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016" y="5934456"/>
            <a:ext cx="826919" cy="777240"/>
          </a:xfrm>
          <a:prstGeom prst="rect">
            <a:avLst/>
          </a:prstGeom>
        </p:spPr>
      </p:pic>
      <p:pic>
        <p:nvPicPr>
          <p:cNvPr id="4" name="Image 1" descr="/home/user/workspace/wroe-dallas-2026/deliverables/celebrations-loop/assets/trulabs_pogu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99657"/>
            <a:ext cx="5212080" cy="347580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731520"/>
            <a:ext cx="5790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 EOY 2026 · SOUTHWEST FINALIST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943600" y="1143000"/>
            <a:ext cx="579089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TruLabs</a:t>
            </a:r>
            <a:endParaRPr lang="en-US" sz="4000" dirty="0"/>
          </a:p>
        </p:txBody>
      </p:sp>
      <p:sp>
        <p:nvSpPr>
          <p:cNvPr id="7" name="Shape 3"/>
          <p:cNvSpPr/>
          <p:nvPr/>
        </p:nvSpPr>
        <p:spPr>
          <a:xfrm>
            <a:off x="5943600" y="2834640"/>
            <a:ext cx="9144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0" y="3017520"/>
            <a:ext cx="57908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Southwest Finalists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943600" y="4206240"/>
            <a:ext cx="57908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Co-founders Brandon Pogue (CEO) and Jennifer Pogue (CMO). McKinney-based.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943600" y="5623560"/>
            <a:ext cx="5790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9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Brandon and Jennifer Pogue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943600" y="5943600"/>
            <a:ext cx="5790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Implementer:  Amy Johannesen</a:t>
            </a:r>
            <a:endParaRPr lang="en-US" sz="1100" dirty="0"/>
          </a:p>
        </p:txBody>
      </p:sp>
    </p:spTree>
  </p:cSld>
  <p:clrMapOvr>
    <a:masterClrMapping/>
  </p:clrMapOvr>
  <p:transition xmlns:p="http://schemas.openxmlformats.org/presentationml/2006/main" spd="med" advClick="0" advTm="80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pic>
        <p:nvPicPr>
          <p:cNvPr id="3" name="Image 0" descr="/home/user/workspace/wroe-dallas-2026/deliverables/celebrations-loop/assets/wordmar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016" y="5934456"/>
            <a:ext cx="826919" cy="777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737360"/>
            <a:ext cx="105457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Congratulations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822960" y="2743200"/>
            <a:ext cx="1054577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our North Texas EOS Community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4724248" y="3794760"/>
            <a:ext cx="27432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4114800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Run on EOS North Texas 2026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22960" y="4617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Statler, Dallas   ·   Monday, September 14, 2026</a:t>
            </a:r>
            <a:endParaRPr lang="en-US" sz="1600" dirty="0"/>
          </a:p>
        </p:txBody>
      </p:sp>
    </p:spTree>
  </p:cSld>
  <p:clrMapOvr>
    <a:masterClrMapping/>
  </p:clrMapOvr>
  <p:transition xmlns:p="http://schemas.openxmlformats.org/presentationml/2006/main" spd="med" advClick="0" advTm="80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EOS Worldwide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WRoEOS North Texas 2026 — Customer Celebrations</dc:title>
  <dc:subject>Break loop — customer celebrations</dc:subject>
  <dc:creator>We Run on EOS North Texas</dc:creator>
  <cp:lastModifiedBy>We Run on EOS North Texas</cp:lastModifiedBy>
  <cp:revision>1</cp:revision>
  <dcterms:created xsi:type="dcterms:W3CDTF">2026-09-10T14:38:41Z</dcterms:created>
  <dcterms:modified xsi:type="dcterms:W3CDTF">2026-09-10T14:38:41Z</dcterms:modified>
</cp:coreProperties>
</file>