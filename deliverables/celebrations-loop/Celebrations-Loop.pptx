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showPr showType="kiosk" loop="1" showNarration="0" showAnimation="1" useTimings="1">
    <p:sldAll/>
    <p:penClr>
      <a:srgbClr val="000000"/>
    </p:penClr>
  </p:showPr>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transition xmlns:p="http://schemas.openxmlformats.org/presentationml/2006/main" spd="med" advClick="0" advTm="8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AMI Construction, Inc.</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Nashville Business Journal 2025 Fastest-Growing Companies, #10 in Middle Tennessee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Nashville. Also a National Top 50 Contractor in four categories (paving, striping, pavement repair, and sealcoating) through the Pavement Maintenance and Reconstruction Top Contractor program.</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AMI Construction leadership team</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Duke Revard</a:t>
            </a:r>
            <a:endParaRPr lang="en-US" sz="1200" dirty="0"/>
          </a:p>
        </p:txBody>
      </p:sp>
    </p:spTree>
  </p:cSld>
  <p:clrMapOvr>
    <a:masterClrMapping/>
  </p:clrMapOvr>
  <p:transition xmlns:p="http://schemas.openxmlformats.org/presentationml/2006/main" spd="med" advClick="0" advTm="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arts_fort_worth.jpg">    </p:cNvPr>
          <p:cNvPicPr>
            <a:picLocks noChangeAspect="1"/>
          </p:cNvPicPr>
          <p:nvPr/>
        </p:nvPicPr>
        <p:blipFill>
          <a:blip r:embed="rId2"/>
          <a:stretch>
            <a:fillRect/>
          </a:stretch>
        </p:blipFill>
        <p:spPr>
          <a:xfrm>
            <a:off x="457200" y="1599331"/>
            <a:ext cx="5212080" cy="3476457"/>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Arts Fort Worth</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Heart of Gold 2026 raised the Philanthropist Award for Tarrant County Pearls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Fort Worth nonprofit. Heart of Gold event on February 27, 2026 recognized the Tarrant County Pearls Chapter of The Links, Incorporated with the Philanthropist Award, presented by Executive Director Wesley Gentle.</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Wesley Gentle, Executive Director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austin_street.jpg">    </p:cNvPr>
          <p:cNvPicPr>
            <a:picLocks noChangeAspect="1"/>
          </p:cNvPicPr>
          <p:nvPr/>
        </p:nvPicPr>
        <p:blipFill>
          <a:blip r:embed="rId2"/>
          <a:stretch>
            <a:fillRect/>
          </a:stretch>
        </p:blipFill>
        <p:spPr>
          <a:xfrm>
            <a:off x="758952" y="457200"/>
            <a:ext cx="4608576"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transition xmlns:p="http://schemas.openxmlformats.org/presentationml/2006/main" spd="med" advClick="0" advTm="8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Kevin Taylor</a:t>
            </a:r>
            <a:endParaRPr lang="en-US" sz="1200" dirty="0"/>
          </a:p>
        </p:txBody>
      </p:sp>
    </p:spTree>
  </p:cSld>
  <p:clrMapOvr>
    <a:masterClrMapping/>
  </p:clrMapOvr>
  <p:transition xmlns:p="http://schemas.openxmlformats.org/presentationml/2006/main" spd="med" advClick="0" advTm="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eacon_hill_students.jpg">    </p:cNvPr>
          <p:cNvPicPr>
            <a:picLocks noChangeAspect="1"/>
          </p:cNvPicPr>
          <p:nvPr/>
        </p:nvPicPr>
        <p:blipFill>
          <a:blip r:embed="rId2"/>
          <a:stretch>
            <a:fillRect/>
          </a:stretch>
        </p:blipFill>
        <p:spPr>
          <a:xfrm>
            <a:off x="758809" y="457200"/>
            <a:ext cx="4608863"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Beacon Hill Preparatory Institute</a:t>
            </a:r>
            <a:endParaRPr lang="en-US" sz="22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20 years serving North Texas students and families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Nonprofit celebrating its 20th Anniversary on July 6, 2026. Since 2006, Beacon Hill has delivered in-school, after-school, and summer literacy and math tutoring across North Texas.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Beacon Hill Preparatory Institute</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lue_mint_hero.jpg">    </p:cNvPr>
          <p:cNvPicPr>
            <a:picLocks noChangeAspect="1"/>
          </p:cNvPicPr>
          <p:nvPr/>
        </p:nvPicPr>
        <p:blipFill>
          <a:blip r:embed="rId2"/>
          <a:stretch>
            <a:fillRect/>
          </a:stretch>
        </p:blipFill>
        <p:spPr>
          <a:xfrm>
            <a:off x="457200" y="1381401"/>
            <a:ext cx="5212080" cy="3912318"/>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transition xmlns:p="http://schemas.openxmlformats.org/presentationml/2006/main" spd="med" advClick="0" advTm="8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rainstorm_jaso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Amanda Matthews</a:t>
            </a:r>
            <a:endParaRPr lang="en-US" sz="1100" dirty="0"/>
          </a:p>
        </p:txBody>
      </p:sp>
    </p:spTree>
  </p:cSld>
  <p:clrMapOvr>
    <a:masterClrMapping/>
  </p:clrMapOvr>
  <p:transition xmlns:p="http://schemas.openxmlformats.org/presentationml/2006/main" spd="med" advClick="0" advTm="8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c1m_vistage.png">    </p:cNvPr>
          <p:cNvPicPr>
            <a:picLocks noChangeAspect="1"/>
          </p:cNvPicPr>
          <p:nvPr/>
        </p:nvPicPr>
        <p:blipFill>
          <a:blip r:embed="rId2"/>
          <a:stretch>
            <a:fillRect/>
          </a:stretch>
        </p:blipFill>
        <p:spPr>
          <a:xfrm>
            <a:off x="457200" y="731520"/>
            <a:ext cx="5212080" cy="521208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C1M</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2025 Vistage Top Performer, 4.96 speaker average</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CEO John Arnott recognized as a 2025 Vistage Top Performer for his speaking work with Vistage member CEO peer groups.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John Arnott,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transition xmlns:p="http://schemas.openxmlformats.org/presentationml/2006/main" spd="med" advClick="0" advTm="8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Catco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Featured in the new Issues book, record calendar year, and patents pending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Featured in the newly released EOS Issues book. Trailing-12-month orders broke the record three times. Record Q4, record Q1, record first half, record calendar year, and three record calendar months. Revenue posted a record Q2, record first half, and four record calendar months. Two patents pending plus a third application in progress. Two new leadership team hires with one more in recruitment.</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Travis Richards</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Jill Young</a:t>
            </a:r>
            <a:endParaRPr lang="en-US" sz="1200" dirty="0"/>
          </a:p>
        </p:txBody>
      </p:sp>
    </p:spTree>
  </p:cSld>
  <p:clrMapOvr>
    <a:masterClrMapping/>
  </p:clrMapOvr>
  <p:transition xmlns:p="http://schemas.openxmlformats.org/presentationml/2006/main" spd="med" advClick="0" advTm="8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covingtons_team.jpg">    </p:cNvPr>
          <p:cNvPicPr>
            <a:picLocks noChangeAspect="1"/>
          </p:cNvPicPr>
          <p:nvPr/>
        </p:nvPicPr>
        <p:blipFill>
          <a:blip r:embed="rId2"/>
          <a:stretch>
            <a:fillRect/>
          </a:stretch>
        </p:blipFill>
        <p:spPr>
          <a:xfrm>
            <a:off x="457200" y="1383030"/>
            <a:ext cx="5212080" cy="390906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Covington's Nursery</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Rowlett Chamber of Commerce Small Business of the Year</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Rowlett-based garden center and landscape design company. Recognized by the Rowlett Chamber of Commerce as Small Business of the Year.</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Covington's Nursery team</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transition xmlns:p="http://schemas.openxmlformats.org/presentationml/2006/main" spd="med" advClick="0" advTm="8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crowther_team.jpg">    </p:cNvPr>
          <p:cNvPicPr>
            <a:picLocks noChangeAspect="1"/>
          </p:cNvPicPr>
          <p:nvPr/>
        </p:nvPicPr>
        <p:blipFill>
          <a:blip r:embed="rId2"/>
          <a:stretch>
            <a:fillRect/>
          </a:stretch>
        </p:blipFill>
        <p:spPr>
          <a:xfrm>
            <a:off x="457200" y="1600200"/>
            <a:ext cx="5212080" cy="3474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The Crowther Group</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Best Place to Work for Working Parents, three years running</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Ranked No. 56 on the Dallas Business Journal Largest General Contractors list (June 2026). Third consecutive year partnering with UTA’s Senior Capstone program and expanding K-12 pipelines with Dallas ISD, Garland ISD, DeSoto ISD, and P-TECH. April Crowther Foundation extended its philanthropic reach to The Bahamas.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Thomas and Trish Crowther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excel_gabe.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Justin Mink</a:t>
            </a:r>
            <a:endParaRPr lang="en-US" sz="1100" dirty="0"/>
          </a:p>
        </p:txBody>
      </p:sp>
    </p:spTree>
  </p:cSld>
  <p:clrMapOvr>
    <a:masterClrMapping/>
  </p:clrMapOvr>
  <p:transition xmlns:p="http://schemas.openxmlformats.org/presentationml/2006/main" spd="med" advClick="0" advTm="8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Justin Mink</a:t>
            </a:r>
            <a:endParaRPr lang="en-US" sz="1200" dirty="0"/>
          </a:p>
        </p:txBody>
      </p:sp>
    </p:spTree>
  </p:cSld>
  <p:clrMapOvr>
    <a:masterClrMapping/>
  </p:clrMapOvr>
  <p:transition xmlns:p="http://schemas.openxmlformats.org/presentationml/2006/main" spd="med" advClick="0" advTm="8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Hotchkiss Insurance</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Six consecutive years on Houston Business Journal Best Places to Work</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Houston and Dallas. Houston Business Journal Best Places to Work 2018 through 2023 (#11 medium company in 2023). Insurance Journal Best Agency to Work For Gold, South Central, in 2015 and 2019. Dallas Morning News Top 100 Places to Work in 2018 (#17 small company).</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Hotchkiss Insurance leadership team</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Duke Revard</a:t>
            </a:r>
            <a:endParaRPr lang="en-US" sz="1200" dirty="0"/>
          </a:p>
        </p:txBody>
      </p:sp>
    </p:spTree>
  </p:cSld>
  <p:clrMapOvr>
    <a:masterClrMapping/>
  </p:clrMapOvr>
  <p:transition xmlns:p="http://schemas.openxmlformats.org/presentationml/2006/main" spd="med" advClick="0" advTm="800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lime_heath.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Leonard Lynskey</a:t>
            </a:r>
            <a:endParaRPr lang="en-US" sz="1100" dirty="0"/>
          </a:p>
        </p:txBody>
      </p:sp>
    </p:spTree>
  </p:cSld>
  <p:clrMapOvr>
    <a:masterClrMapping/>
  </p:clrMapOvr>
  <p:transition xmlns:p="http://schemas.openxmlformats.org/presentationml/2006/main" spd="med" advClick="0" advTm="8000">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local_profile_summit.jpg">    </p:cNvPr>
          <p:cNvPicPr>
            <a:picLocks noChangeAspect="1"/>
          </p:cNvPicPr>
          <p:nvPr/>
        </p:nvPicPr>
        <p:blipFill>
          <a:blip r:embed="rId2"/>
          <a:stretch>
            <a:fillRect/>
          </a:stretch>
        </p:blipFill>
        <p:spPr>
          <a:xfrm>
            <a:off x="1143000" y="457200"/>
            <a:ext cx="3840480"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Local Profile</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25th Annual Women in Business Summit sold out two months early</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Plano-based media company. The September 18 flagship summit sold out in two weeks, two months before the event. Presented by Baylor Scott and White Health.</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Rebecca Silvestri, Publisher   ·   Philip Silvestri</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moonshot_etha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Ryan Wall</a:t>
            </a:r>
            <a:endParaRPr lang="en-US" sz="1100" dirty="0"/>
          </a:p>
        </p:txBody>
      </p:sp>
    </p:spTree>
  </p:cSld>
  <p:clrMapOvr>
    <a:masterClrMapping/>
  </p:clrMapOvr>
  <p:transition xmlns:p="http://schemas.openxmlformats.org/presentationml/2006/main" spd="med" advClick="0" advTm="8000">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eighborhood_beverly.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Shane Spillers</a:t>
            </a:r>
            <a:endParaRPr lang="en-US" sz="1100" dirty="0"/>
          </a:p>
        </p:txBody>
      </p:sp>
    </p:spTree>
  </p:cSld>
  <p:clrMapOvr>
    <a:masterClrMapping/>
  </p:clrMapOvr>
  <p:transition xmlns:p="http://schemas.openxmlformats.org/presentationml/2006/main" spd="med" advClick="0" advTm="8000">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toa_lasik_team.jpg">    </p:cNvPr>
          <p:cNvPicPr>
            <a:picLocks noChangeAspect="1"/>
          </p:cNvPicPr>
          <p:nvPr/>
        </p:nvPicPr>
        <p:blipFill>
          <a:blip r:embed="rId2"/>
          <a:stretch>
            <a:fillRect/>
          </a:stretch>
        </p:blipFill>
        <p:spPr>
          <a:xfrm>
            <a:off x="457200" y="1226668"/>
            <a:ext cx="5212080" cy="4221785"/>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Erin Thiem</a:t>
            </a:r>
            <a:endParaRPr lang="en-US" sz="1100" dirty="0"/>
          </a:p>
        </p:txBody>
      </p:sp>
    </p:spTree>
  </p:cSld>
  <p:clrMapOvr>
    <a:masterClrMapping/>
  </p:clrMapOvr>
  <p:transition xmlns:p="http://schemas.openxmlformats.org/presentationml/2006/main" spd="med" advClick="0" advTm="8000">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rose_confetti.jpg">    </p:cNvPr>
          <p:cNvPicPr>
            <a:picLocks noChangeAspect="1"/>
          </p:cNvPicPr>
          <p:nvPr/>
        </p:nvPicPr>
        <p:blipFill>
          <a:blip r:embed="rId2"/>
          <a:stretch>
            <a:fillRect/>
          </a:stretch>
        </p:blipFill>
        <p:spPr>
          <a:xfrm>
            <a:off x="457200" y="1813241"/>
            <a:ext cx="5212080" cy="3048637"/>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Rose Marketing Solutions</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EO Dallas Forum Moderator of the Year</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Ruth Ann Rose, Founder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Amanda Matthews</a:t>
            </a:r>
            <a:endParaRPr lang="en-US" sz="1100" dirty="0"/>
          </a:p>
        </p:txBody>
      </p:sp>
    </p:spTree>
  </p:cSld>
  <p:clrMapOvr>
    <a:masterClrMapping/>
  </p:clrMapOvr>
  <p:transition xmlns:p="http://schemas.openxmlformats.org/presentationml/2006/main" spd="med" advClick="0" advTm="8000">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TEKConcierge</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MSP Titan of the Southwest 2025 and DBJ Fast 50 back-to-back</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Richardson-based managed IT provider. 2025 MSP Titan of the Southwest, Dallas Business Journal Fast 50 in both 2025 and 2026, Inc. Regionals: Southwest in 2025 (#104) and 2026 (#81), Inc. 5000 four years running (2023 through 2026), Channel Partners MSP 501 (2025), and FDI Insider Managed Intelligence Provider of the Year for Richardson (2026).</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TEKConcierge leadership team</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Aaron Garcia</a:t>
            </a:r>
            <a:endParaRPr lang="en-US" sz="1200" dirty="0"/>
          </a:p>
        </p:txBody>
      </p:sp>
    </p:spTree>
  </p:cSld>
  <p:clrMapOvr>
    <a:masterClrMapping/>
  </p:clrMapOvr>
  <p:transition xmlns:p="http://schemas.openxmlformats.org/presentationml/2006/main" spd="med" advClick="0" advTm="8000">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trulabs_pogues.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transition xmlns:p="http://schemas.openxmlformats.org/presentationml/2006/main" spd="med" advClick="0" advTm="8000">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transition xmlns:p="http://schemas.openxmlformats.org/presentationml/2006/main" spd="med" advClick="0" advTm="8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2026-09-10T18:43:48Z</dcterms:created>
  <dcterms:modified xsi:type="dcterms:W3CDTF">2026-09-10T18:43:48Z</dcterms:modified>
</cp:coreProperties>
</file>