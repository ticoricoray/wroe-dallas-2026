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02" d="100"/>
          <a:sy n="102" d="100"/>
        </p:scale>
        <p:origin x="20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00" cy="960120"/>
          </a:xfrm>
          <a:prstGeom prst="rect">
            <a:avLst/>
          </a:prstGeom>
          <a:solidFill>
            <a:srgbClr val="14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League Spartan"/>
              </a:rPr>
              <a:t>Profit Power: Stronger — or Just Bigger?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5E8EB"/>
                </a:solidFill>
                <a:latin typeface="League Spartan"/>
              </a:rPr>
              <a:t>Mark Stanley · We Run on EOS® North Texas · September 14, 2026 · The Statler Dallas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0" y="118872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FF7900"/>
                </a:solidFill>
                <a:latin typeface="League Spartan"/>
              </a:rPr>
              <a:t>HANDOUT · PAGE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512064"/>
            <a:ext cx="224028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A5AA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79" y="576072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303B4F"/>
                </a:solidFill>
                <a:latin typeface="League Spartan"/>
              </a:rPr>
              <a:t>Name: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42233"/>
                </a:solidFill>
                <a:latin typeface="League Spartan"/>
              </a:rPr>
              <a:t>1  ·  YOUR FIVE NUMBER 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536192"/>
            <a:ext cx="9235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303B4F"/>
                </a:solidFill>
                <a:latin typeface="League Spartan"/>
              </a:rPr>
              <a:t>Best guess — this isn't a finance test. Use last year's P&amp;L or two numbers from it. This is where clarity begins.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920240"/>
            <a:ext cx="5394960" cy="566928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06654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7900"/>
                </a:solidFill>
                <a:latin typeface="League Spartan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1168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42233"/>
                </a:solidFill>
                <a:latin typeface="League Spartan"/>
              </a:rPr>
              <a:t>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26564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303B4F"/>
                </a:solidFill>
                <a:latin typeface="League Spartan"/>
              </a:rPr>
              <a:t>What you sell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066544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42233"/>
                </a:solidFill>
                <a:latin typeface="League Spartan"/>
              </a:rPr>
              <a:t>$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2029968"/>
            <a:ext cx="13716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5AA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1480" y="2578608"/>
            <a:ext cx="5394960" cy="566928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2724912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7900"/>
                </a:solidFill>
                <a:latin typeface="League Spartan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670048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42233"/>
                </a:solidFill>
                <a:latin typeface="League Spartan"/>
              </a:rPr>
              <a:t>Directly Variable Costs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88493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303B4F"/>
                </a:solidFill>
                <a:latin typeface="League Spartan"/>
              </a:rPr>
              <a:t>Costs that move with revenue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2724912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42233"/>
                </a:solidFill>
                <a:latin typeface="League Spartan"/>
              </a:rPr>
              <a:t>$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2688336"/>
            <a:ext cx="13716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5AA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1480" y="3236976"/>
            <a:ext cx="5394960" cy="566928"/>
          </a:xfrm>
          <a:prstGeom prst="rect">
            <a:avLst/>
          </a:prstGeom>
          <a:solidFill>
            <a:srgbClr val="14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3832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7900"/>
                </a:solidFill>
                <a:latin typeface="League Spartan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328416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League Spartan"/>
              </a:rPr>
              <a:t>Gross Profit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543300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E5E8EB"/>
                </a:solidFill>
                <a:latin typeface="League Spartan"/>
              </a:rPr>
              <a:t>Revenue − DVC. The fuel.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69080" y="3383280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League Spartan"/>
              </a:rPr>
              <a:t>$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3346704"/>
            <a:ext cx="13716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5AA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1480" y="3895344"/>
            <a:ext cx="5394960" cy="566928"/>
          </a:xfrm>
          <a:prstGeom prst="rect">
            <a:avLst/>
          </a:prstGeom>
          <a:solidFill>
            <a:srgbClr val="14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404164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7900"/>
                </a:solidFill>
                <a:latin typeface="League Spartan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3986783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League Spartan"/>
              </a:rPr>
              <a:t>Operating Expenses (OPEX)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20166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E5E8EB"/>
                </a:solidFill>
                <a:latin typeface="League Spartan"/>
              </a:rPr>
              <a:t>The weight. Your nut.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80" y="4041648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League Spartan"/>
              </a:rPr>
              <a:t>$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4005072"/>
            <a:ext cx="13716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5AA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11480" y="4553712"/>
            <a:ext cx="5394960" cy="566928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" y="4700016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7900"/>
                </a:solidFill>
                <a:latin typeface="League Spartan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645151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42233"/>
                </a:solidFill>
                <a:latin typeface="League Spartan"/>
              </a:rPr>
              <a:t>Net Profit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4860035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>
                <a:solidFill>
                  <a:srgbClr val="303B4F"/>
                </a:solidFill>
                <a:latin typeface="League Spartan"/>
              </a:rPr>
              <a:t>What's left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69080" y="4700016"/>
            <a:ext cx="182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142233"/>
                </a:solidFill>
                <a:latin typeface="League Spartan"/>
              </a:rPr>
              <a:t>$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60" y="4663440"/>
            <a:ext cx="13716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5AA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53328" y="181051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303B4F"/>
                </a:solidFill>
                <a:latin typeface="League Spartan"/>
              </a:rPr>
              <a:t>% of rev.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2029968"/>
            <a:ext cx="6858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5AA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766559" y="2093976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03B4F"/>
                </a:solidFill>
                <a:latin typeface="League Spartan"/>
              </a:rPr>
              <a:t>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0" y="2688336"/>
            <a:ext cx="6858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5AA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766559" y="2752344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03B4F"/>
                </a:solidFill>
                <a:latin typeface="League Spartan"/>
              </a:rPr>
              <a:t>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0" y="3346704"/>
            <a:ext cx="6858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5AA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766559" y="3410712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03B4F"/>
                </a:solidFill>
                <a:latin typeface="League Spartan"/>
              </a:rPr>
              <a:t>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4005072"/>
            <a:ext cx="6858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5AA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766559" y="4069080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03B4F"/>
                </a:solidFill>
                <a:latin typeface="League Spartan"/>
              </a:rPr>
              <a:t>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0" y="4663440"/>
            <a:ext cx="6858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A5AA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766559" y="4727448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303B4F"/>
                </a:solidFill>
                <a:latin typeface="League Spartan"/>
              </a:rPr>
              <a:t>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78040" y="1188720"/>
            <a:ext cx="2468880" cy="4206240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360920" y="137160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142233"/>
                </a:solidFill>
                <a:latin typeface="League Spartan"/>
              </a:rPr>
              <a:t>2  ·  YOUR PROFIT</a:t>
            </a:r>
          </a:p>
          <a:p>
            <a:pPr algn="l"/>
            <a:r>
              <a:rPr sz="1400" b="1">
                <a:solidFill>
                  <a:srgbClr val="142233"/>
                </a:solidFill>
                <a:latin typeface="League Spartan"/>
              </a:rPr>
              <a:t>POWER RATIO™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60920" y="2057400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303B4F"/>
                </a:solidFill>
                <a:latin typeface="League Spartan"/>
              </a:rPr>
              <a:t>Gross Profit  ÷  OPEX</a:t>
            </a:r>
          </a:p>
          <a:p>
            <a:pPr algn="l"/>
            <a:r>
              <a:rPr sz="900" b="0">
                <a:solidFill>
                  <a:srgbClr val="303B4F"/>
                </a:solidFill>
                <a:latin typeface="League Spartan"/>
              </a:rPr>
              <a:t>(numbers 3 and 4)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0920" y="26974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F7900"/>
                </a:solidFill>
                <a:latin typeface="League Spartan"/>
              </a:rPr>
              <a:t>THIS YEAR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60920" y="2971800"/>
            <a:ext cx="2103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5AA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360920" y="36118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FF7900"/>
                </a:solidFill>
                <a:latin typeface="League Spartan"/>
              </a:rPr>
              <a:t>LAST YEAR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60920" y="3886200"/>
            <a:ext cx="21031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5AA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360920" y="4526280"/>
            <a:ext cx="21031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142233"/>
                </a:solidFill>
                <a:latin typeface="League Spartan"/>
              </a:rPr>
              <a:t>Above 1.0 — winning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303B4F"/>
                </a:solidFill>
                <a:latin typeface="League Spartan"/>
              </a:rPr>
              <a:t>Around 1.0 — surviving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F04E23"/>
                </a:solidFill>
                <a:latin typeface="League Spartan"/>
              </a:rPr>
              <a:t>Below 1.0 — losing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5623560"/>
            <a:ext cx="9235440" cy="685800"/>
          </a:xfrm>
          <a:prstGeom prst="rect">
            <a:avLst/>
          </a:prstGeom>
          <a:solidFill>
            <a:srgbClr val="14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40080" y="5760720"/>
            <a:ext cx="60350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League Spartan"/>
              </a:rPr>
              <a:t>Which way is your number moving?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55080" y="576072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FF7900"/>
                </a:solidFill>
                <a:latin typeface="League Spartan"/>
              </a:rPr>
              <a:t>□  Rising — stronger      □  Falling — weaker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480" y="649224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42233"/>
                </a:solidFill>
                <a:latin typeface="League Spartan"/>
              </a:rPr>
              <a:t>Notes: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371600" y="6693408"/>
            <a:ext cx="8275320" cy="14630"/>
          </a:xfrm>
          <a:prstGeom prst="rect">
            <a:avLst/>
          </a:prstGeom>
          <a:solidFill>
            <a:srgbClr val="A5A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411480" y="7059168"/>
            <a:ext cx="9235440" cy="14630"/>
          </a:xfrm>
          <a:prstGeom prst="rect">
            <a:avLst/>
          </a:prstGeom>
          <a:solidFill>
            <a:srgbClr val="A5A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11480" y="7424927"/>
            <a:ext cx="9235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A5AAAF"/>
                </a:solidFill>
                <a:latin typeface="League Spartan"/>
              </a:rPr>
              <a:t>© 2025–2026 Unstoppable, LLC · Clarus, LLC  ·  The 5-Number Income Statement™, Profit Power Ratio™ and The Power of X™ are trademarks  ·  unstoppable-biz.com · askclarus.com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58400" cy="960120"/>
          </a:xfrm>
          <a:prstGeom prst="rect">
            <a:avLst/>
          </a:prstGeom>
          <a:solidFill>
            <a:srgbClr val="14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46304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League Spartan"/>
              </a:rPr>
              <a:t>Profit Power: Stronger — or Just Bigger?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E5E8EB"/>
                </a:solidFill>
                <a:latin typeface="League Spartan"/>
              </a:rPr>
              <a:t>Mark Stanley · We Run on EOS® North Texas · September 14, 2026 · The Statler Dallas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0" y="118872"/>
            <a:ext cx="2240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FF7900"/>
                </a:solidFill>
                <a:latin typeface="League Spartan"/>
              </a:rPr>
              <a:t>HANDOUT · PAGE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0" y="512064"/>
            <a:ext cx="2240280" cy="301752"/>
          </a:xfrm>
          <a:prstGeom prst="rect">
            <a:avLst/>
          </a:prstGeom>
          <a:solidFill>
            <a:srgbClr val="FFFFFF"/>
          </a:solidFill>
          <a:ln w="9525">
            <a:solidFill>
              <a:srgbClr val="A5AA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79" y="576072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303B4F"/>
                </a:solidFill>
                <a:latin typeface="League Spartan"/>
              </a:rPr>
              <a:t>Name: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11480" y="7479792"/>
            <a:ext cx="9235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A5AAAF"/>
                </a:solidFill>
                <a:latin typeface="League Spartan"/>
              </a:rPr>
              <a:t>© 2025–2026 Unstoppable, LLC · Clarus, LLC  ·  The 5-Number Income Statement™, Profit Power Ratio™ and The Power of X™ are trademarks  ·  unstoppable-biz.com · askclarus.com</a:t>
            </a:r>
          </a:p>
        </p:txBody>
      </p:sp>
      <p:pic>
        <p:nvPicPr>
          <p:cNvPr id="80" name="Picture 79" descr="QR_unstoppable_bra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6711696"/>
            <a:ext cx="621792" cy="621792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1170432" y="6766559"/>
            <a:ext cx="3566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FF7900"/>
                </a:solidFill>
                <a:latin typeface="League Spartan"/>
              </a:rPr>
              <a:t>DATA-DRIVEN LEADER WORKSHOP</a:t>
            </a:r>
          </a:p>
          <a:p>
            <a:pPr algn="l"/>
            <a:r>
              <a:rPr sz="900" b="0">
                <a:solidFill>
                  <a:srgbClr val="303B4F"/>
                </a:solidFill>
                <a:latin typeface="League Spartan"/>
              </a:rPr>
              <a:t>Scan for the 2026 tour — unstoppable-biz.com</a:t>
            </a:r>
          </a:p>
          <a:p>
            <a:pPr algn="l"/>
            <a:r>
              <a:rPr sz="850" b="0">
                <a:solidFill>
                  <a:srgbClr val="A5AAAF"/>
                </a:solidFill>
                <a:latin typeface="League Spartan"/>
              </a:rPr>
              <a:t>Full day on your numbers · The 10X Guarantee</a:t>
            </a:r>
          </a:p>
        </p:txBody>
      </p:sp>
      <p:pic>
        <p:nvPicPr>
          <p:cNvPr id="82" name="Picture 81" descr="clarus_front-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6711696"/>
            <a:ext cx="621792" cy="621792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5879592" y="6766559"/>
            <a:ext cx="37490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FF7900"/>
                </a:solidFill>
                <a:latin typeface="League Spartan"/>
              </a:rPr>
              <a:t>CLARUS PLATFORM WAITLIST</a:t>
            </a:r>
          </a:p>
          <a:p>
            <a:pPr algn="l"/>
            <a:r>
              <a:rPr sz="900" b="0">
                <a:solidFill>
                  <a:srgbClr val="303B4F"/>
                </a:solidFill>
                <a:latin typeface="League Spartan"/>
              </a:rPr>
              <a:t>Scan to join — askclarus.com</a:t>
            </a:r>
          </a:p>
          <a:p>
            <a:pPr algn="l"/>
            <a:r>
              <a:rPr sz="850" b="0">
                <a:solidFill>
                  <a:srgbClr val="A5AAAF"/>
                </a:solidFill>
                <a:latin typeface="League Spartan"/>
              </a:rPr>
              <a:t>First 100 take home The Profit Power Ratio, Book One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1480" y="1170432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42233"/>
                </a:solidFill>
                <a:latin typeface="League Spartan"/>
              </a:rPr>
              <a:t>3  ·  THE 7 POWER MOVES — THE MATH FOR EACH ONE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1480" y="1499616"/>
            <a:ext cx="9235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303B4F"/>
                </a:solidFill>
                <a:latin typeface="League Spartan"/>
              </a:rPr>
              <a:t>Run the math on your numbers — best guess, today's figures. Then rank your top two. Examples use a $10M business at 50% margin, $4M OPEX.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1480" y="1828800"/>
            <a:ext cx="9235440" cy="274320"/>
          </a:xfrm>
          <a:prstGeom prst="rect">
            <a:avLst/>
          </a:prstGeom>
          <a:solidFill>
            <a:srgbClr val="303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48640" y="1892807"/>
            <a:ext cx="274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League Spartan"/>
              </a:rPr>
              <a:t>#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18368" y="1892807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FFFFFF"/>
                </a:solidFill>
                <a:latin typeface="League Spartan"/>
              </a:rPr>
              <a:t>POWER MOVE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337986" y="1892807"/>
            <a:ext cx="3749039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dirty="0">
                <a:solidFill>
                  <a:srgbClr val="FFFFFF"/>
                </a:solidFill>
                <a:latin typeface="League Spartan"/>
              </a:rPr>
              <a:t>THE MATH  ·  EXAMPLE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543800" y="1892807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League Spartan"/>
              </a:rPr>
              <a:t>EST. $ IMPACT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06840" y="1892807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League Spartan"/>
              </a:rPr>
              <a:t>RANK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1480" y="2103120"/>
            <a:ext cx="9235440" cy="493776"/>
          </a:xfrm>
          <a:prstGeom prst="rect">
            <a:avLst/>
          </a:prstGeom>
          <a:solidFill>
            <a:srgbClr val="E5E8EB"/>
          </a:solidFill>
          <a:ln w="6350">
            <a:solidFill>
              <a:srgbClr val="A5AA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548640" y="2231136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7900"/>
                </a:solidFill>
                <a:latin typeface="League Spartan"/>
              </a:rP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18368" y="217627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42233"/>
                </a:solidFill>
                <a:latin typeface="League Spartan"/>
              </a:rPr>
              <a:t>Increase Price</a:t>
            </a:r>
          </a:p>
          <a:p>
            <a:pPr algn="l">
              <a:lnSpc>
                <a:spcPct val="105000"/>
              </a:lnSpc>
            </a:pPr>
            <a:r>
              <a:rPr sz="750" b="0" i="1">
                <a:solidFill>
                  <a:srgbClr val="303B4F"/>
                </a:solidFill>
                <a:latin typeface="League Spartan"/>
              </a:rPr>
              <a:t>Be bold · fix the leaks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337986" y="2176272"/>
            <a:ext cx="374903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1" i="0">
                <a:solidFill>
                  <a:srgbClr val="142233"/>
                </a:solidFill>
                <a:latin typeface="League Spartan"/>
              </a:rPr>
              <a:t>Δ price % × Revenue = added gross profit (100% drops through)</a:t>
            </a:r>
          </a:p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303B4F"/>
                </a:solidFill>
                <a:latin typeface="League Spartan"/>
              </a:rPr>
              <a:t>1% × $10M = +$100,000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543800" y="2240279"/>
            <a:ext cx="182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303B4F"/>
                </a:solidFill>
                <a:latin typeface="League Spartan"/>
              </a:rPr>
              <a:t>$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726679" y="2450591"/>
            <a:ext cx="1188720" cy="14630"/>
          </a:xfrm>
          <a:prstGeom prst="rect">
            <a:avLst/>
          </a:prstGeom>
          <a:solidFill>
            <a:srgbClr val="A5A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9125712" y="2212848"/>
            <a:ext cx="29260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303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411480" y="2596896"/>
            <a:ext cx="92354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A5AA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548640" y="2724912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7900"/>
                </a:solidFill>
                <a:latin typeface="League Spartan"/>
              </a:rPr>
              <a:t>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18368" y="267004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42233"/>
                </a:solidFill>
                <a:latin typeface="League Spartan"/>
              </a:rPr>
              <a:t>Increase Volume</a:t>
            </a:r>
          </a:p>
          <a:p>
            <a:pPr algn="l">
              <a:lnSpc>
                <a:spcPct val="105000"/>
              </a:lnSpc>
            </a:pPr>
            <a:r>
              <a:rPr sz="750" b="0" i="1">
                <a:solidFill>
                  <a:srgbClr val="303B4F"/>
                </a:solidFill>
                <a:latin typeface="League Spartan"/>
              </a:rPr>
              <a:t>Find the drivers · mine the gold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337986" y="2670048"/>
            <a:ext cx="374903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1" i="0">
                <a:solidFill>
                  <a:srgbClr val="142233"/>
                </a:solidFill>
                <a:latin typeface="League Spartan"/>
              </a:rPr>
              <a:t>Revenue = Customers × Units × Price — grow one of the three</a:t>
            </a:r>
          </a:p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303B4F"/>
                </a:solidFill>
                <a:latin typeface="League Spartan"/>
              </a:rPr>
              <a:t>100×5×$500 → 120×6×$550 = +58%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543800" y="2734056"/>
            <a:ext cx="182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303B4F"/>
                </a:solidFill>
                <a:latin typeface="League Spartan"/>
              </a:rPr>
              <a:t>$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726679" y="2944368"/>
            <a:ext cx="1188720" cy="14630"/>
          </a:xfrm>
          <a:prstGeom prst="rect">
            <a:avLst/>
          </a:prstGeom>
          <a:solidFill>
            <a:srgbClr val="A5A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9125712" y="2706624"/>
            <a:ext cx="29260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303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411480" y="3090672"/>
            <a:ext cx="9235440" cy="493776"/>
          </a:xfrm>
          <a:prstGeom prst="rect">
            <a:avLst/>
          </a:prstGeom>
          <a:solidFill>
            <a:srgbClr val="E5E8EB"/>
          </a:solidFill>
          <a:ln w="6350">
            <a:solidFill>
              <a:srgbClr val="A5AA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548640" y="3218688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7900"/>
                </a:solidFill>
                <a:latin typeface="League Spartan"/>
              </a:rPr>
              <a:t>3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18368" y="3163824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42233"/>
                </a:solidFill>
                <a:latin typeface="League Spartan"/>
              </a:rPr>
              <a:t>Reduce DVC</a:t>
            </a:r>
          </a:p>
          <a:p>
            <a:pPr algn="l">
              <a:lnSpc>
                <a:spcPct val="105000"/>
              </a:lnSpc>
            </a:pPr>
            <a:r>
              <a:rPr sz="750" b="0" i="1">
                <a:solidFill>
                  <a:srgbClr val="303B4F"/>
                </a:solidFill>
                <a:latin typeface="League Spartan"/>
              </a:rPr>
              <a:t>Remove waste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2337986" y="3163824"/>
            <a:ext cx="374903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1" i="0">
                <a:solidFill>
                  <a:srgbClr val="142233"/>
                </a:solidFill>
                <a:latin typeface="League Spartan"/>
              </a:rPr>
              <a:t>Revenue × % waste found = added gross profit</a:t>
            </a:r>
          </a:p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303B4F"/>
                </a:solidFill>
                <a:latin typeface="League Spartan"/>
              </a:rPr>
              <a:t>$10M × 5% = +$500,000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543800" y="3227832"/>
            <a:ext cx="182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303B4F"/>
                </a:solidFill>
                <a:latin typeface="League Spartan"/>
              </a:rPr>
              <a:t>$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726679" y="3438144"/>
            <a:ext cx="1188720" cy="14630"/>
          </a:xfrm>
          <a:prstGeom prst="rect">
            <a:avLst/>
          </a:prstGeom>
          <a:solidFill>
            <a:srgbClr val="A5A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9125712" y="3200400"/>
            <a:ext cx="29260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303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411480" y="3584448"/>
            <a:ext cx="92354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A5AA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548640" y="3712463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7900"/>
                </a:solidFill>
                <a:latin typeface="League Spartan"/>
              </a:rPr>
              <a:t>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18368" y="36576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42233"/>
                </a:solidFill>
                <a:latin typeface="League Spartan"/>
              </a:rPr>
              <a:t>Reduce OPEX</a:t>
            </a:r>
          </a:p>
          <a:p>
            <a:pPr algn="l">
              <a:lnSpc>
                <a:spcPct val="105000"/>
              </a:lnSpc>
            </a:pPr>
            <a:r>
              <a:rPr sz="750" b="0" i="1">
                <a:solidFill>
                  <a:srgbClr val="303B4F"/>
                </a:solidFill>
                <a:latin typeface="League Spartan"/>
              </a:rPr>
              <a:t>Get lean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337986" y="3657600"/>
            <a:ext cx="374903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1" i="0">
                <a:solidFill>
                  <a:srgbClr val="142233"/>
                </a:solidFill>
                <a:latin typeface="League Spartan"/>
              </a:rPr>
              <a:t>OPEX × % savings = added net income (and PPR rises)</a:t>
            </a:r>
          </a:p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303B4F"/>
                </a:solidFill>
                <a:latin typeface="League Spartan"/>
              </a:rPr>
              <a:t>$4M × 5% = +$200,000  ·  PPR 1.25 → 1.32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543800" y="3721608"/>
            <a:ext cx="182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303B4F"/>
                </a:solidFill>
                <a:latin typeface="League Spartan"/>
              </a:rPr>
              <a:t>$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726679" y="3931920"/>
            <a:ext cx="1188720" cy="14630"/>
          </a:xfrm>
          <a:prstGeom prst="rect">
            <a:avLst/>
          </a:prstGeom>
          <a:solidFill>
            <a:srgbClr val="A5A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9125712" y="3694176"/>
            <a:ext cx="29260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303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411480" y="4078224"/>
            <a:ext cx="9235440" cy="493776"/>
          </a:xfrm>
          <a:prstGeom prst="rect">
            <a:avLst/>
          </a:prstGeom>
          <a:solidFill>
            <a:srgbClr val="E5E8EB"/>
          </a:solidFill>
          <a:ln w="6350">
            <a:solidFill>
              <a:srgbClr val="A5AA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548640" y="4206240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7900"/>
                </a:solidFill>
                <a:latin typeface="League Spartan"/>
              </a:rPr>
              <a:t>5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18368" y="4151376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42233"/>
                </a:solidFill>
                <a:latin typeface="League Spartan"/>
              </a:rPr>
              <a:t>DSO — Collect Faster</a:t>
            </a:r>
          </a:p>
          <a:p>
            <a:pPr algn="l">
              <a:lnSpc>
                <a:spcPct val="105000"/>
              </a:lnSpc>
            </a:pPr>
            <a:r>
              <a:rPr sz="750" b="0" i="1">
                <a:solidFill>
                  <a:srgbClr val="303B4F"/>
                </a:solidFill>
                <a:latin typeface="League Spartan"/>
              </a:rPr>
              <a:t>Days Sales Outstanding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337986" y="4151376"/>
            <a:ext cx="374903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1" i="0">
                <a:solidFill>
                  <a:srgbClr val="142233"/>
                </a:solidFill>
                <a:latin typeface="League Spartan"/>
              </a:rPr>
              <a:t>DSO = A/R ÷ Revenue × 365  ·  days cut × (Revenue ÷ 365) = cash</a:t>
            </a:r>
          </a:p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303B4F"/>
                </a:solidFill>
                <a:latin typeface="League Spartan"/>
              </a:rPr>
              <a:t>$1.2M ÷ $10M × 365 = 43.8 d  ·  5 d × $27,400 = $137,000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543800" y="4215384"/>
            <a:ext cx="182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303B4F"/>
                </a:solidFill>
                <a:latin typeface="League Spartan"/>
              </a:rPr>
              <a:t>$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726679" y="4425696"/>
            <a:ext cx="1188720" cy="14630"/>
          </a:xfrm>
          <a:prstGeom prst="rect">
            <a:avLst/>
          </a:prstGeom>
          <a:solidFill>
            <a:srgbClr val="A5A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9125712" y="4187952"/>
            <a:ext cx="29260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303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411480" y="4572000"/>
            <a:ext cx="92354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A5AA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548640" y="4700016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7900"/>
                </a:solidFill>
                <a:latin typeface="League Spartan"/>
              </a:rPr>
              <a:t>6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18368" y="464515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42233"/>
                </a:solidFill>
                <a:latin typeface="League Spartan"/>
              </a:rPr>
              <a:t>DPO — Hold Cash Longer</a:t>
            </a:r>
          </a:p>
          <a:p>
            <a:pPr algn="l">
              <a:lnSpc>
                <a:spcPct val="105000"/>
              </a:lnSpc>
            </a:pPr>
            <a:r>
              <a:rPr sz="750" b="0" i="1">
                <a:solidFill>
                  <a:srgbClr val="303B4F"/>
                </a:solidFill>
                <a:latin typeface="League Spartan"/>
              </a:rPr>
              <a:t>Days Payable Outstanding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337986" y="4645152"/>
            <a:ext cx="374903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1" i="0">
                <a:solidFill>
                  <a:srgbClr val="142233"/>
                </a:solidFill>
                <a:latin typeface="League Spartan"/>
              </a:rPr>
              <a:t>DPO = A/P ÷ COGS × 365  ·  days added × (COGS ÷ 365) = cash</a:t>
            </a:r>
          </a:p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303B4F"/>
                </a:solidFill>
                <a:latin typeface="League Spartan"/>
              </a:rPr>
              <a:t>$410K ÷ $5M × 365 = 29.9 d  ·  5 d × $13,700 = $68,500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543800" y="4709160"/>
            <a:ext cx="182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303B4F"/>
                </a:solidFill>
                <a:latin typeface="League Spartan"/>
              </a:rPr>
              <a:t>$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726679" y="4919472"/>
            <a:ext cx="1188720" cy="14630"/>
          </a:xfrm>
          <a:prstGeom prst="rect">
            <a:avLst/>
          </a:prstGeom>
          <a:solidFill>
            <a:srgbClr val="A5A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9125712" y="4681728"/>
            <a:ext cx="29260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303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411480" y="5065776"/>
            <a:ext cx="9235440" cy="493776"/>
          </a:xfrm>
          <a:prstGeom prst="rect">
            <a:avLst/>
          </a:prstGeom>
          <a:solidFill>
            <a:srgbClr val="E5E8EB"/>
          </a:solidFill>
          <a:ln w="6350">
            <a:solidFill>
              <a:srgbClr val="A5AA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548640" y="5193792"/>
            <a:ext cx="2743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F7900"/>
                </a:solidFill>
                <a:latin typeface="League Spartan"/>
              </a:rPr>
              <a:t>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18368" y="513892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 i="0">
                <a:solidFill>
                  <a:srgbClr val="142233"/>
                </a:solidFill>
                <a:latin typeface="League Spartan"/>
              </a:rPr>
              <a:t>DIO — Move Inventory Faster</a:t>
            </a:r>
          </a:p>
          <a:p>
            <a:pPr algn="l">
              <a:lnSpc>
                <a:spcPct val="105000"/>
              </a:lnSpc>
            </a:pPr>
            <a:r>
              <a:rPr sz="750" b="0" i="1">
                <a:solidFill>
                  <a:srgbClr val="303B4F"/>
                </a:solidFill>
                <a:latin typeface="League Spartan"/>
              </a:rPr>
              <a:t>Days of Inventory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337986" y="5138928"/>
            <a:ext cx="374903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80" b="1" i="0" dirty="0">
                <a:solidFill>
                  <a:srgbClr val="142233"/>
                </a:solidFill>
                <a:latin typeface="League Spartan"/>
              </a:rPr>
              <a:t>DIO = Inventory ÷ COGS × 365  ·  days cut × (COGS ÷ 365) = cash</a:t>
            </a:r>
          </a:p>
          <a:p>
            <a:pPr algn="l">
              <a:lnSpc>
                <a:spcPct val="105000"/>
              </a:lnSpc>
            </a:pPr>
            <a:r>
              <a:rPr sz="750" b="0" i="0" dirty="0">
                <a:solidFill>
                  <a:srgbClr val="303B4F"/>
                </a:solidFill>
                <a:latin typeface="League Spartan"/>
              </a:rPr>
              <a:t>$820K ÷ $5M × 365 = 59.9 d  ·  15 d × $13,700 = $205,500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543800" y="5202936"/>
            <a:ext cx="182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303B4F"/>
                </a:solidFill>
                <a:latin typeface="League Spartan"/>
              </a:rPr>
              <a:t>$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726679" y="5413248"/>
            <a:ext cx="1188720" cy="14630"/>
          </a:xfrm>
          <a:prstGeom prst="rect">
            <a:avLst/>
          </a:prstGeom>
          <a:solidFill>
            <a:srgbClr val="A5A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9125712" y="5175504"/>
            <a:ext cx="29260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303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411480" y="5669280"/>
            <a:ext cx="9235440" cy="914400"/>
          </a:xfrm>
          <a:prstGeom prst="rect">
            <a:avLst/>
          </a:prstGeom>
          <a:solidFill>
            <a:srgbClr val="14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640080" y="577900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7900"/>
                </a:solidFill>
                <a:latin typeface="League Spartan"/>
              </a:rPr>
              <a:t>4  ·  FIRST MOVE MONDAY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40080" y="612648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League Spartan"/>
              </a:rPr>
              <a:t>My first move: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2011680" y="6080760"/>
            <a:ext cx="3749039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5897880" y="612648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League Spartan"/>
              </a:rPr>
              <a:t>Owner: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537960" y="6080760"/>
            <a:ext cx="146304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8138160" y="6126480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League Spartan"/>
              </a:rPr>
              <a:t>Qtr: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595360" y="6080760"/>
            <a:ext cx="82296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4572000" y="5779008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 i="1">
                <a:solidFill>
                  <a:srgbClr val="E5E8EB"/>
                </a:solidFill>
                <a:latin typeface="League Spartan"/>
              </a:rPr>
              <a:t>Connect it to your Scorecard so red triggers action.  Nothing happens if nothing happens.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06F252-4268-6246-E46D-BBBE902B7134}"/>
              </a:ext>
            </a:extLst>
          </p:cNvPr>
          <p:cNvSpPr txBox="1"/>
          <p:nvPr/>
        </p:nvSpPr>
        <p:spPr>
          <a:xfrm>
            <a:off x="5877844" y="1909216"/>
            <a:ext cx="1099154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850" b="1" i="0" dirty="0">
                <a:solidFill>
                  <a:srgbClr val="FFFFFF"/>
                </a:solidFill>
                <a:latin typeface="League Spartan"/>
              </a:rPr>
              <a:t>WORKSPACE</a:t>
            </a:r>
            <a:endParaRPr sz="850" b="1" i="0" dirty="0">
              <a:solidFill>
                <a:srgbClr val="FFFFFF"/>
              </a:solidFill>
              <a:latin typeface="League Spart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675</Words>
  <Application>Microsoft Macintosh PowerPoint</Application>
  <PresentationFormat>Custom</PresentationFormat>
  <Paragraphs>111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League Spartan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Mark Stanley</cp:lastModifiedBy>
  <cp:revision>2</cp:revision>
  <dcterms:created xsi:type="dcterms:W3CDTF">2013-01-27T09:14:16Z</dcterms:created>
  <dcterms:modified xsi:type="dcterms:W3CDTF">2026-08-31T13:41:41Z</dcterms:modified>
  <cp:category/>
</cp:coreProperties>
</file>